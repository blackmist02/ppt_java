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90" r:id="rId2"/>
    <p:sldId id="391" r:id="rId43"/>
    <p:sldId id="392" r:id="rId44"/>
    <p:sldId id="270" r:id="rId5"/>
    <p:sldId id="347" r:id="rId6"/>
    <p:sldId id="348" r:id="rId7"/>
    <p:sldId id="349" r:id="rId8"/>
    <p:sldId id="327" r:id="rId9"/>
    <p:sldId id="350" r:id="rId10"/>
    <p:sldId id="351" r:id="rId11"/>
    <p:sldId id="362" r:id="rId12"/>
    <p:sldId id="363" r:id="rId13"/>
    <p:sldId id="364" r:id="rId14"/>
    <p:sldId id="365" r:id="rId15"/>
    <p:sldId id="366" r:id="rId16"/>
    <p:sldId id="367" r:id="rId17"/>
    <p:sldId id="368" r:id="rId18"/>
    <p:sldId id="393" r:id="rId45"/>
    <p:sldId id="370" r:id="rId20"/>
    <p:sldId id="369" r:id="rId21"/>
    <p:sldId id="371" r:id="rId22"/>
    <p:sldId id="372" r:id="rId23"/>
    <p:sldId id="373" r:id="rId24"/>
    <p:sldId id="374" r:id="rId25"/>
    <p:sldId id="376" r:id="rId26"/>
    <p:sldId id="377" r:id="rId27"/>
    <p:sldId id="378" r:id="rId28"/>
    <p:sldId id="375" r:id="rId29"/>
    <p:sldId id="379" r:id="rId30"/>
    <p:sldId id="380" r:id="rId31"/>
    <p:sldId id="394" r:id="rId46"/>
    <p:sldId id="388" r:id="rId33"/>
    <p:sldId id="395" r:id="rId47"/>
    <p:sldId id="389" r:id="rId35"/>
    <p:sldId id="408" r:id="rId60"/>
    <p:sldId id="398" r:id="rId50"/>
    <p:sldId id="399" r:id="rId51"/>
    <p:sldId id="400" r:id="rId52"/>
    <p:sldId id="401" r:id="rId53"/>
    <p:sldId id="402" r:id="rId54"/>
    <p:sldId id="403" r:id="rId55"/>
    <p:sldId id="404" r:id="rId56"/>
    <p:sldId id="405" r:id="rId57"/>
    <p:sldId id="406" r:id="rId58"/>
    <p:sldId id="396" r:id="rId48"/>
    <p:sldId id="397" r:id="rId49"/>
    <p:sldId id="407" r:id="rId5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5" Type="http://schemas.openxmlformats.org/officeDocument/2006/relationships/slide" Target="slides/slide34.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xml"/><Relationship Id="rId44" Type="http://schemas.openxmlformats.org/officeDocument/2006/relationships/slide" Target="slides/slide3.xml"/><Relationship Id="rId45" Type="http://schemas.openxmlformats.org/officeDocument/2006/relationships/slide" Target="slides/slide18.xml"/><Relationship Id="rId46" Type="http://schemas.openxmlformats.org/officeDocument/2006/relationships/slide" Target="slides/slide31.xml"/><Relationship Id="rId47" Type="http://schemas.openxmlformats.org/officeDocument/2006/relationships/slide" Target="slides/slide33.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7.xml"/><Relationship Id="rId60"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FE9F6-861F-4FC2-B933-23594B9CF9B6}" type="datetimeFigureOut">
              <a:rPr lang="es-CL" smtClean="0"/>
              <a:t>31-08-2025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93A10-DD44-49F0-8561-951F0851CD74}" type="slidenum">
              <a:rPr lang="es-CL" smtClean="0"/>
              <a:t>‹Nº›</a:t>
            </a:fld>
            <a:endParaRPr lang="es-CL"/>
          </a:p>
        </p:txBody>
      </p:sp>
    </p:spTree>
    <p:extLst>
      <p:ext uri="{BB962C8B-B14F-4D97-AF65-F5344CB8AC3E}">
        <p14:creationId xmlns:p14="http://schemas.microsoft.com/office/powerpoint/2010/main" val="392997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26</a:t>
            </a:fld>
            <a:endParaRPr lang="es-CL"/>
          </a:p>
        </p:txBody>
      </p:sp>
    </p:spTree>
    <p:extLst>
      <p:ext uri="{BB962C8B-B14F-4D97-AF65-F5344CB8AC3E}">
        <p14:creationId xmlns:p14="http://schemas.microsoft.com/office/powerpoint/2010/main" val="4066919718"/>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inicial: ¿qué cosas hay en su videojuego favorito? Anotar en la pizarra personajes, armas, ítems. Cada uno es un objeto: tiene datos (vida, nivel) y acciones (atacar, saltar).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clase es la receta o el molde; el objeto es la galleta concreta. Las tres galletas salieron del mismo molde, pero cada una tiene sus propios valores (distinta vida, distinto ataque). En Java, los objetos se crean con la palabra new.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Juego rápido: pedir a los estudiantes 3 atributos y 3 métodos de una zapatilla, de una mascota o de su personaje favorito.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 videojuegos, bancos, Netflix-like, todo está hecho con objetos. Preguntar: ¿qué objetos habría en una app de delivery? (Pedido, Repartidor, Restaurante, Cliente).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es necesario dominar los 4 pilares hoy: la idea es que los reconozcan. En las próximas clases los programaremos uno por uno.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Herencia: Perro, Gato y Loro no vuelven a escribir nombre, edad ni comer(): lo reciben de Mascota. Además cada uno agrega lo suyo (traerPelota, ignorarte, repetir). Polimorfismo: todos responden a hacerSonido(), pero cada uno a su manera.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Crear en NetBeans un archivo nuevo Personaje.java dentro del mismo paquete. Recalcar que la clase NO crea personajes por sí sola: solo describe cómo serán.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Desafío en vivo: pedir a los estudiantes que agreguen un tercer personaje y que Draco contraataque. ¿Cuánta vida le queda a Luna? (100 - 30 = 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Respuestas: Perro = clase; Firulais = objeto. Auto = clase; el auto rojo AB-CD-12 = objeto. Canción = clase; la canción pegada = objeto. Estudiante = clase; tú = objeto. Bonus: atributos nombre, rut, curso, promedio; métodos estudiar(), rendirPrueba(), saludar().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bonus necesitarán un if dentro de jugar(). Si aún no lo han visto, se puede dar como adelanto o dejarlo para la próxima clase.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619245-5200-0F84-B594-298ECB1C9D2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27D30BC-10AD-ABBD-BCA1-BEF4B2A5B0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5C846E3-0385-2936-A2C7-69F1D63626F0}"/>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46C1049C-53CB-19DC-4CEF-AC612DEC570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54AD47D-B054-9C5F-DD00-06E92EE7949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012164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2B68B-F587-E966-1BC9-C4416CB31A1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7CC1B44-92AD-E4F9-BAB6-2A5555EB2F1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4E18C4B-07BD-1A38-D43A-F4A7714F52FC}"/>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C3BDDD7F-F299-F965-5403-7344E151792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B0F26F-6FBC-62B7-3F13-366585A4BC71}"/>
              </a:ext>
            </a:extLst>
          </p:cNvPr>
          <p:cNvSpPr>
            <a:spLocks noGrp="1"/>
          </p:cNvSpPr>
          <p:nvPr>
            <p:ph type="sldNum" sz="quarter" idx="12"/>
          </p:nvPr>
        </p:nvSpPr>
        <p:spPr/>
        <p:txBody>
          <a:bodyPr/>
          <a:lstStyle/>
          <a:p>
            <a:fld id="{51438CEF-6BB3-4815-B68E-007761976F9F}" type="slidenum">
              <a:rPr lang="es-CL" smtClean="0"/>
              <a:t>‹Nº›</a:t>
            </a:fld>
            <a:endParaRPr lang="es-CL"/>
          </a:p>
        </p:txBody>
      </p:sp>
      <p:sp>
        <p:nvSpPr>
          <p:cNvPr id="7" name="object 3">
            <a:extLst>
              <a:ext uri="{FF2B5EF4-FFF2-40B4-BE49-F238E27FC236}">
                <a16:creationId xmlns:a16="http://schemas.microsoft.com/office/drawing/2014/main" id="{A3DB0969-266A-A56E-EB41-FAE424FFBEBF}"/>
              </a:ext>
            </a:extLst>
          </p:cNvPr>
          <p:cNvSpPr/>
          <p:nvPr userDrawn="1"/>
        </p:nvSpPr>
        <p:spPr>
          <a:xfrm>
            <a:off x="10272195" y="6186690"/>
            <a:ext cx="955797" cy="309977"/>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sz="1092"/>
          </a:p>
        </p:txBody>
      </p:sp>
      <p:sp>
        <p:nvSpPr>
          <p:cNvPr id="8" name="object 4">
            <a:extLst>
              <a:ext uri="{FF2B5EF4-FFF2-40B4-BE49-F238E27FC236}">
                <a16:creationId xmlns:a16="http://schemas.microsoft.com/office/drawing/2014/main" id="{6E90078F-DEC9-EF47-6D44-CBF4BADB26B2}"/>
              </a:ext>
            </a:extLst>
          </p:cNvPr>
          <p:cNvSpPr/>
          <p:nvPr userDrawn="1"/>
        </p:nvSpPr>
        <p:spPr>
          <a:xfrm>
            <a:off x="11294124" y="6212763"/>
            <a:ext cx="229515" cy="284948"/>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sz="1092"/>
          </a:p>
        </p:txBody>
      </p:sp>
      <p:grpSp>
        <p:nvGrpSpPr>
          <p:cNvPr id="9" name="object 5">
            <a:extLst>
              <a:ext uri="{FF2B5EF4-FFF2-40B4-BE49-F238E27FC236}">
                <a16:creationId xmlns:a16="http://schemas.microsoft.com/office/drawing/2014/main" id="{E8419BAA-03F0-63F6-A245-33AB3CF4CF90}"/>
              </a:ext>
            </a:extLst>
          </p:cNvPr>
          <p:cNvGrpSpPr/>
          <p:nvPr userDrawn="1"/>
        </p:nvGrpSpPr>
        <p:grpSpPr>
          <a:xfrm>
            <a:off x="11555125" y="6135384"/>
            <a:ext cx="259167" cy="362346"/>
            <a:chOff x="19053919" y="10117702"/>
            <a:chExt cx="427355" cy="597535"/>
          </a:xfrm>
        </p:grpSpPr>
        <p:sp>
          <p:nvSpPr>
            <p:cNvPr id="10" name="object 6">
              <a:extLst>
                <a:ext uri="{FF2B5EF4-FFF2-40B4-BE49-F238E27FC236}">
                  <a16:creationId xmlns:a16="http://schemas.microsoft.com/office/drawing/2014/main" id="{9B50919C-3AE2-0C0D-EBAA-1CB180460659}"/>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sz="1092"/>
            </a:p>
          </p:txBody>
        </p:sp>
        <p:pic>
          <p:nvPicPr>
            <p:cNvPr id="11" name="object 7">
              <a:extLst>
                <a:ext uri="{FF2B5EF4-FFF2-40B4-BE49-F238E27FC236}">
                  <a16:creationId xmlns:a16="http://schemas.microsoft.com/office/drawing/2014/main" id="{E05A50E1-7B05-C0C1-443F-AF49C9A6DC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349647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C1214F-6D95-8443-C9E5-BB6367D6C3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FE34EB-6DC0-2189-4E68-0A8B2F8CF6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D12363B-9BEF-AC9E-35E1-063E179CFD28}"/>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CB53C768-9FAD-A3FB-ACAB-5EE747CC7CD1}"/>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054BAB5-0BBC-25E4-6875-99E127E6BD98}"/>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472206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4520-2811-A379-239C-F6A22EFE33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479B7879-45F3-DB1E-AD82-FB097659E0E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C23B72BE-8027-0565-3989-D088D98DEA6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3960710D-2EC9-6E44-C815-CD008875BEA2}"/>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6" name="Marcador de pie de página 5">
            <a:extLst>
              <a:ext uri="{FF2B5EF4-FFF2-40B4-BE49-F238E27FC236}">
                <a16:creationId xmlns:a16="http://schemas.microsoft.com/office/drawing/2014/main" id="{8E518E10-14FE-4A87-F6CA-88B677D82EA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C85C094-009B-63B0-445C-DD6C4F401F59}"/>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6318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43BF1E-4990-6296-5EBD-D50C3357F47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92628024-7C4B-6617-F897-F3AF48608B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2047FFC-289C-A493-2538-BA0DE9A0E9E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35F429A-326C-C674-B4DF-277FCA78E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C0A17C-F15C-168D-C3C2-55F2B769B3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BBBB7E82-0F6E-156A-6158-4FE9290A4267}"/>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8" name="Marcador de pie de página 7">
            <a:extLst>
              <a:ext uri="{FF2B5EF4-FFF2-40B4-BE49-F238E27FC236}">
                <a16:creationId xmlns:a16="http://schemas.microsoft.com/office/drawing/2014/main" id="{9BA20003-22CE-4A6B-025D-A6F9B934411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C52741B2-F41F-2271-E5E3-F09291E2EC0C}"/>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896262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074EE-2149-C30B-2500-3CB3070AE82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D30C0AFD-E73D-0C89-9CB0-8680FF8D93F6}"/>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4" name="Marcador de pie de página 3">
            <a:extLst>
              <a:ext uri="{FF2B5EF4-FFF2-40B4-BE49-F238E27FC236}">
                <a16:creationId xmlns:a16="http://schemas.microsoft.com/office/drawing/2014/main" id="{292E69E1-58BB-5BE7-C352-912DD00E78E0}"/>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DA42902E-4A47-87FB-3C4F-2B7C497994E6}"/>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886926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C60048B-6EED-9B21-1083-9B3E1C8D40C4}"/>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3" name="Marcador de pie de página 2">
            <a:extLst>
              <a:ext uri="{FF2B5EF4-FFF2-40B4-BE49-F238E27FC236}">
                <a16:creationId xmlns:a16="http://schemas.microsoft.com/office/drawing/2014/main" id="{5AF4EC23-0D42-E7DE-A692-11B536DDC4BC}"/>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F0C05B5B-28A1-213A-743F-4AFBEC08C28F}"/>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96587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B0F5D-41FD-BCA1-06A2-A07C8D2C1E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21C57E9-1E6B-E0B0-5DA4-3A46E6F48D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06870ECE-6EF0-E44D-F7E2-AD65F2198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597560-007F-2E61-48E5-F7BDCD0FBB1F}"/>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6" name="Marcador de pie de página 5">
            <a:extLst>
              <a:ext uri="{FF2B5EF4-FFF2-40B4-BE49-F238E27FC236}">
                <a16:creationId xmlns:a16="http://schemas.microsoft.com/office/drawing/2014/main" id="{BB3D21BC-BADC-F659-3118-D4B202EAB56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378DB99-11AE-D511-2F01-C9A01F739CE1}"/>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1105886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DF84B-748C-3957-0E9F-DB492CEC6D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C7FCC81-EF2F-8771-41A6-0A1375FBC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A11AE73-8AF0-9827-6FE3-5384F67C1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9004257-EF09-F265-7A45-B479C4A91B09}"/>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6" name="Marcador de pie de página 5">
            <a:extLst>
              <a:ext uri="{FF2B5EF4-FFF2-40B4-BE49-F238E27FC236}">
                <a16:creationId xmlns:a16="http://schemas.microsoft.com/office/drawing/2014/main" id="{A1D2E04C-01EE-1F74-CC92-B3600A93C0A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09D9DC6-B1E9-6BCB-244A-EF8DC2D4FF20}"/>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199465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94A83C-6FA5-2CA3-B778-581AE7E9D4D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A31AA43B-5380-F470-722B-FFF1D21C275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902BEAC-308B-6315-458C-A20C69C99CC9}"/>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6DE893F7-DE9C-4EAF-9069-2A3E0D4FEFA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32EC5A8-92BF-F588-CB68-CAAF7116A25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169698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1BC8EB8-6D01-3ED9-7DCB-21E9E0AD3DA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2DF85CBE-88D2-DCFD-D822-DC3891CF496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D52A970-740D-1C6E-7A1D-73833E79B639}"/>
              </a:ext>
            </a:extLst>
          </p:cNvPr>
          <p:cNvSpPr>
            <a:spLocks noGrp="1"/>
          </p:cNvSpPr>
          <p:nvPr>
            <p:ph type="dt" sz="half" idx="10"/>
          </p:nvPr>
        </p:nvSpPr>
        <p:spPr/>
        <p:txBody>
          <a:body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6A192F3A-4730-5009-6ADC-3DA4783AFB9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B01C1B8-E8D3-5BB7-CB12-7C3DC2C03D7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795004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41"/>
            <a:ext cx="12192431" cy="6857759"/>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2026"/>
            <a:ext cx="12195179" cy="685573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458259" y="3798662"/>
            <a:ext cx="5999202" cy="1386232"/>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718289" y="3997032"/>
            <a:ext cx="5470133" cy="933180"/>
          </a:xfrm>
        </p:spPr>
        <p:txBody>
          <a:bodyPr/>
          <a:lstStyle>
            <a:lvl1pPr algn="l">
              <a:defRPr sz="3032">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237138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1474901" y="433330"/>
            <a:ext cx="10302421" cy="447927"/>
          </a:xfrm>
        </p:spPr>
        <p:txBody>
          <a:bodyPr/>
          <a:lstStyle>
            <a:lvl1pPr>
              <a:defRPr sz="2911"/>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3851" y="397869"/>
            <a:ext cx="1360529" cy="643058"/>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sz="1092"/>
          </a:p>
        </p:txBody>
      </p:sp>
      <p:sp>
        <p:nvSpPr>
          <p:cNvPr id="7" name="object 3">
            <a:extLst>
              <a:ext uri="{FF2B5EF4-FFF2-40B4-BE49-F238E27FC236}">
                <a16:creationId xmlns:a16="http://schemas.microsoft.com/office/drawing/2014/main" id="{7932DF43-D838-5B47-A92B-B88C568B4A19}"/>
              </a:ext>
            </a:extLst>
          </p:cNvPr>
          <p:cNvSpPr/>
          <p:nvPr userDrawn="1"/>
        </p:nvSpPr>
        <p:spPr>
          <a:xfrm>
            <a:off x="10272195" y="6186690"/>
            <a:ext cx="955797" cy="309977"/>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sz="1092"/>
          </a:p>
        </p:txBody>
      </p:sp>
      <p:sp>
        <p:nvSpPr>
          <p:cNvPr id="8" name="object 4">
            <a:extLst>
              <a:ext uri="{FF2B5EF4-FFF2-40B4-BE49-F238E27FC236}">
                <a16:creationId xmlns:a16="http://schemas.microsoft.com/office/drawing/2014/main" id="{9DEB8F4A-6C01-284B-B123-A27D152597CD}"/>
              </a:ext>
            </a:extLst>
          </p:cNvPr>
          <p:cNvSpPr/>
          <p:nvPr userDrawn="1"/>
        </p:nvSpPr>
        <p:spPr>
          <a:xfrm>
            <a:off x="11294124" y="6212763"/>
            <a:ext cx="229515" cy="284948"/>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sz="1092"/>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1555125" y="6135384"/>
            <a:ext cx="259167" cy="362346"/>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sz="1092"/>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239640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025"/>
            <a:ext cx="12195607" cy="6855975"/>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504470" y="4353155"/>
            <a:ext cx="5932243" cy="933180"/>
          </a:xfrm>
        </p:spPr>
        <p:txBody>
          <a:bodyPr/>
          <a:lstStyle>
            <a:lvl1pPr algn="r">
              <a:defRPr sz="3032"/>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906124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41"/>
            <a:ext cx="12192431" cy="6857759"/>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39" y="0"/>
            <a:ext cx="12187922" cy="685800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4386193" y="4778652"/>
            <a:ext cx="5999202" cy="1386232"/>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4646223" y="4977021"/>
            <a:ext cx="5470133" cy="933180"/>
          </a:xfrm>
        </p:spPr>
        <p:txBody>
          <a:bodyPr/>
          <a:lstStyle>
            <a:lvl1pPr algn="l">
              <a:defRPr sz="3032">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057029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0CB82F3-E627-4A41-F854-F5BB6AEB26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16312B1-57F2-2962-C9AB-6A6F09038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11A8B46-26F9-ED33-4B34-426BF373D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10A1EB-F764-4C4E-B6AB-DC567886DCD6}" type="datetimeFigureOut">
              <a:rPr lang="es-CL" smtClean="0"/>
              <a:t>31-08-2025</a:t>
            </a:fld>
            <a:endParaRPr lang="es-CL"/>
          </a:p>
        </p:txBody>
      </p:sp>
      <p:sp>
        <p:nvSpPr>
          <p:cNvPr id="5" name="Marcador de pie de página 4">
            <a:extLst>
              <a:ext uri="{FF2B5EF4-FFF2-40B4-BE49-F238E27FC236}">
                <a16:creationId xmlns:a16="http://schemas.microsoft.com/office/drawing/2014/main" id="{4C4C4362-D1FF-66AB-652A-7B97D5CA50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19400665-1A2E-244A-22E8-1F1B75D43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438CEF-6BB3-4815-B68E-007761976F9F}" type="slidenum">
              <a:rPr lang="es-CL" smtClean="0"/>
              <a:t>‹Nº›</a:t>
            </a:fld>
            <a:endParaRPr lang="es-CL"/>
          </a:p>
        </p:txBody>
      </p:sp>
    </p:spTree>
    <p:extLst>
      <p:ext uri="{BB962C8B-B14F-4D97-AF65-F5344CB8AC3E}">
        <p14:creationId xmlns:p14="http://schemas.microsoft.com/office/powerpoint/2010/main" val="2505304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3.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netbeans.org/downloads/8.2/" TargetMode="Externa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0.png"/><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www.oracle.com/technetwork/java/javase/downloads/jdk8-downloads-2133151.html" TargetMode="Externa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40.png"/><Relationship Id="rId5"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5.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4.png"/><Relationship Id="rId3" Type="http://schemas.openxmlformats.org/officeDocument/2006/relationships/image" Target="../media/image42.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notesSlide" Target="../notesSlides/notes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9.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60.png"/><Relationship Id="rId7" Type="http://schemas.openxmlformats.org/officeDocument/2006/relationships/notesSlide" Target="../notesSlides/notes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53.png"/><Relationship Id="rId6" Type="http://schemas.openxmlformats.org/officeDocument/2006/relationships/notesSlide" Target="../notesSlides/notes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48.png"/><Relationship Id="rId7" Type="http://schemas.openxmlformats.org/officeDocument/2006/relationships/image" Target="../media/image43.png"/><Relationship Id="rId8" Type="http://schemas.openxmlformats.org/officeDocument/2006/relationships/image" Target="../media/image68.png"/><Relationship Id="rId9" Type="http://schemas.openxmlformats.org/officeDocument/2006/relationships/notesSlide" Target="../notesSlides/notesSlid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66.png"/><Relationship Id="rId6" Type="http://schemas.openxmlformats.org/officeDocument/2006/relationships/image" Target="../media/image53.png"/><Relationship Id="rId7"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4.png"/><Relationship Id="rId3" Type="http://schemas.openxmlformats.org/officeDocument/2006/relationships/image" Target="../media/image78.png"/><Relationship Id="rId4" Type="http://schemas.openxmlformats.org/officeDocument/2006/relationships/image" Target="../media/image70.png"/><Relationship Id="rId5" Type="http://schemas.openxmlformats.org/officeDocument/2006/relationships/image" Target="../media/image79.png"/><Relationship Id="rId6" Type="http://schemas.openxmlformats.org/officeDocument/2006/relationships/image" Target="../media/image64.png"/><Relationship Id="rId7" Type="http://schemas.openxmlformats.org/officeDocument/2006/relationships/image" Target="../media/image80.png"/><Relationship Id="rId8"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4.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44.png"/><Relationship Id="rId6" Type="http://schemas.openxmlformats.org/officeDocument/2006/relationships/image" Target="../media/image83.png"/><Relationship Id="rId7"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8.png"/><Relationship Id="rId3" Type="http://schemas.openxmlformats.org/officeDocument/2006/relationships/image" Target="../media/image8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8.png"/><Relationship Id="rId3" Type="http://schemas.openxmlformats.org/officeDocument/2006/relationships/image" Target="../media/image80.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C151-B85B-04D5-A763-1ADF90ED7FF0}"/>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7C7949C-363D-89CD-2F8B-128C86A62651}"/>
              </a:ext>
            </a:extLst>
          </p:cNvPr>
          <p:cNvSpPr txBox="1"/>
          <p:nvPr/>
        </p:nvSpPr>
        <p:spPr>
          <a:xfrm>
            <a:off x="818388" y="4153389"/>
            <a:ext cx="6099048" cy="954107"/>
          </a:xfrm>
          <a:prstGeom prst="rect">
            <a:avLst/>
          </a:prstGeom>
          <a:noFill/>
        </p:spPr>
        <p:txBody>
          <a:bodyPr wrap="square">
            <a:spAutoFit/>
          </a:bodyPr>
          <a:lstStyle/>
          <a:p>
            <a:pPr marL="0" indent="0">
              <a:buNone/>
              <a:defRPr sz="1800"/>
            </a:pPr>
            <a:r>
              <a:rPr lang="es-CL" sz="2800" dirty="0">
                <a:solidFill>
                  <a:schemeClr val="bg1"/>
                </a:solidFill>
                <a:latin typeface="+mj-lt"/>
                <a:ea typeface="+mj-ea"/>
                <a:cs typeface="+mj-cs"/>
              </a:rPr>
              <a:t>Fundamentos de Java</a:t>
            </a:r>
          </a:p>
          <a:p>
            <a:pPr marL="0" indent="0">
              <a:buNone/>
              <a:defRPr sz="1800"/>
            </a:pPr>
            <a:r>
              <a:rPr lang="es-CL" sz="2800" dirty="0">
                <a:solidFill>
                  <a:schemeClr val="bg1"/>
                </a:solidFill>
                <a:latin typeface="+mj-lt"/>
                <a:ea typeface="+mj-ea"/>
                <a:cs typeface="+mj-cs"/>
              </a:rPr>
              <a:t>Día 1: 23-09-2026</a:t>
            </a:r>
          </a:p>
        </p:txBody>
      </p:sp>
    </p:spTree>
    <p:extLst>
      <p:ext uri="{BB962C8B-B14F-4D97-AF65-F5344CB8AC3E}">
        <p14:creationId xmlns:p14="http://schemas.microsoft.com/office/powerpoint/2010/main" val="352351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Objetivo del Curso</a:t>
            </a:r>
          </a:p>
        </p:txBody>
      </p:sp>
      <p:sp>
        <p:nvSpPr>
          <p:cNvPr id="3" name="TextBox 2"/>
          <p:cNvSpPr txBox="1"/>
          <p:nvPr/>
        </p:nvSpPr>
        <p:spPr>
          <a:xfrm>
            <a:off x="640080" y="1325880"/>
            <a:ext cx="10972800" cy="457200"/>
          </a:xfrm>
          <a:prstGeom prst="rect">
            <a:avLst/>
          </a:prstGeom>
          <a:noFill/>
        </p:spPr>
        <p:txBody>
          <a:bodyPr wrap="square" lIns="0" rIns="0" tIns="0" bIns="0" anchor="t">
            <a:spAutoFit/>
          </a:bodyPr>
          <a:lstStyle/>
          <a:p>
            <a:pPr algn="l">
              <a:spcAft>
                <a:spcPts val="400"/>
              </a:spcAft>
            </a:pPr>
            <a:r>
              <a:rPr sz="2000" b="0" i="0">
                <a:solidFill>
                  <a:srgbClr val="4A5A6A"/>
                </a:solidFill>
                <a:latin typeface="Arial"/>
              </a:rPr>
              <a:t>Al terminar este curso vas a ser capaz de…</a:t>
            </a:r>
          </a:p>
        </p:txBody>
      </p:sp>
      <p:sp>
        <p:nvSpPr>
          <p:cNvPr id="4" name="Rounded Rectangle 3"/>
          <p:cNvSpPr/>
          <p:nvPr/>
        </p:nvSpPr>
        <p:spPr>
          <a:xfrm>
            <a:off x="640080" y="2011680"/>
            <a:ext cx="5303520" cy="25146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33172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de_w.png"/>
          <p:cNvPicPr>
            <a:picLocks noChangeAspect="1"/>
          </p:cNvPicPr>
          <p:nvPr/>
        </p:nvPicPr>
        <p:blipFill>
          <a:blip r:embed="rId2"/>
          <a:stretch>
            <a:fillRect/>
          </a:stretch>
        </p:blipFill>
        <p:spPr>
          <a:xfrm>
            <a:off x="1225296" y="2551176"/>
            <a:ext cx="475488" cy="475488"/>
          </a:xfrm>
          <a:prstGeom prst="rect">
            <a:avLst/>
          </a:prstGeom>
        </p:spPr>
      </p:pic>
      <p:sp>
        <p:nvSpPr>
          <p:cNvPr id="7" name="TextBox 6"/>
          <p:cNvSpPr txBox="1"/>
          <p:nvPr/>
        </p:nvSpPr>
        <p:spPr>
          <a:xfrm>
            <a:off x="2148839" y="2331720"/>
            <a:ext cx="3566160" cy="914400"/>
          </a:xfrm>
          <a:prstGeom prst="rect">
            <a:avLst/>
          </a:prstGeom>
          <a:noFill/>
        </p:spPr>
        <p:txBody>
          <a:bodyPr wrap="square" lIns="0" rIns="0" tIns="0" bIns="0" anchor="ctr">
            <a:spAutoFit/>
          </a:bodyPr>
          <a:lstStyle/>
          <a:p>
            <a:pPr algn="l">
              <a:spcAft>
                <a:spcPts val="400"/>
              </a:spcAft>
            </a:pPr>
            <a:r>
              <a:rPr sz="2200" b="1" i="0">
                <a:solidFill>
                  <a:srgbClr val="0B2A4A"/>
                </a:solidFill>
                <a:latin typeface="Arial"/>
              </a:rPr>
              <a:t>Crear aplicaciones en Java</a:t>
            </a:r>
          </a:p>
        </p:txBody>
      </p:sp>
      <p:sp>
        <p:nvSpPr>
          <p:cNvPr id="8" name="TextBox 7"/>
          <p:cNvSpPr txBox="1"/>
          <p:nvPr/>
        </p:nvSpPr>
        <p:spPr>
          <a:xfrm>
            <a:off x="1005840" y="3474720"/>
            <a:ext cx="4572000" cy="9144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Programas simples que piden datos, calculan y muestran resultados por consola.</a:t>
            </a:r>
          </a:p>
        </p:txBody>
      </p:sp>
      <p:sp>
        <p:nvSpPr>
          <p:cNvPr id="9" name="Rounded Rectangle 8"/>
          <p:cNvSpPr/>
          <p:nvPr/>
        </p:nvSpPr>
        <p:spPr>
          <a:xfrm>
            <a:off x="6217920" y="2011680"/>
            <a:ext cx="5303520" cy="25146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83680" y="2331720"/>
            <a:ext cx="914400" cy="9144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ubes_w.png"/>
          <p:cNvPicPr>
            <a:picLocks noChangeAspect="1"/>
          </p:cNvPicPr>
          <p:nvPr/>
        </p:nvPicPr>
        <p:blipFill>
          <a:blip r:embed="rId3"/>
          <a:stretch>
            <a:fillRect/>
          </a:stretch>
        </p:blipFill>
        <p:spPr>
          <a:xfrm>
            <a:off x="6803136" y="2551176"/>
            <a:ext cx="475488" cy="475488"/>
          </a:xfrm>
          <a:prstGeom prst="rect">
            <a:avLst/>
          </a:prstGeom>
        </p:spPr>
      </p:pic>
      <p:sp>
        <p:nvSpPr>
          <p:cNvPr id="12" name="TextBox 11"/>
          <p:cNvSpPr txBox="1"/>
          <p:nvPr/>
        </p:nvSpPr>
        <p:spPr>
          <a:xfrm>
            <a:off x="7726679" y="2331720"/>
            <a:ext cx="3566160" cy="914400"/>
          </a:xfrm>
          <a:prstGeom prst="rect">
            <a:avLst/>
          </a:prstGeom>
          <a:noFill/>
        </p:spPr>
        <p:txBody>
          <a:bodyPr wrap="square" lIns="0" rIns="0" tIns="0" bIns="0" anchor="ctr">
            <a:spAutoFit/>
          </a:bodyPr>
          <a:lstStyle/>
          <a:p>
            <a:pPr algn="l">
              <a:spcAft>
                <a:spcPts val="400"/>
              </a:spcAft>
            </a:pPr>
            <a:r>
              <a:rPr sz="2200" b="1" i="0">
                <a:solidFill>
                  <a:srgbClr val="0B2A4A"/>
                </a:solidFill>
                <a:latin typeface="Arial"/>
              </a:rPr>
              <a:t>Pensar como programador</a:t>
            </a:r>
          </a:p>
        </p:txBody>
      </p:sp>
      <p:sp>
        <p:nvSpPr>
          <p:cNvPr id="13" name="TextBox 12"/>
          <p:cNvSpPr txBox="1"/>
          <p:nvPr/>
        </p:nvSpPr>
        <p:spPr>
          <a:xfrm>
            <a:off x="6583680" y="3474720"/>
            <a:ext cx="4572000" cy="9144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Entender la programación estructurada y la Programación Orientada a Objetos (POO).</a:t>
            </a:r>
          </a:p>
        </p:txBody>
      </p:sp>
      <p:sp>
        <p:nvSpPr>
          <p:cNvPr id="14" name="Rounded Rectangle 13"/>
          <p:cNvSpPr/>
          <p:nvPr/>
        </p:nvSpPr>
        <p:spPr>
          <a:xfrm>
            <a:off x="2194560" y="5029200"/>
            <a:ext cx="7772400" cy="64008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amepad_n.png"/>
          <p:cNvPicPr>
            <a:picLocks noChangeAspect="1"/>
          </p:cNvPicPr>
          <p:nvPr/>
        </p:nvPicPr>
        <p:blipFill>
          <a:blip r:embed="rId4"/>
          <a:stretch>
            <a:fillRect/>
          </a:stretch>
        </p:blipFill>
        <p:spPr>
          <a:xfrm>
            <a:off x="2331720" y="5143500"/>
            <a:ext cx="411480" cy="411480"/>
          </a:xfrm>
          <a:prstGeom prst="rect">
            <a:avLst/>
          </a:prstGeom>
        </p:spPr>
      </p:pic>
      <p:sp>
        <p:nvSpPr>
          <p:cNvPr id="16" name="TextBox 15"/>
          <p:cNvSpPr txBox="1"/>
          <p:nvPr/>
        </p:nvSpPr>
        <p:spPr>
          <a:xfrm>
            <a:off x="2880360" y="5029200"/>
            <a:ext cx="6903720" cy="64008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Spoiler: al final de hoy programarás personajes de un videojuego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Temas del Día 1</a:t>
            </a:r>
          </a:p>
        </p:txBody>
      </p:sp>
      <p:sp>
        <p:nvSpPr>
          <p:cNvPr id="3" name="Rounded Rectangle 2"/>
          <p:cNvSpPr/>
          <p:nvPr/>
        </p:nvSpPr>
        <p:spPr>
          <a:xfrm>
            <a:off x="640080"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01</a:t>
            </a:r>
          </a:p>
        </p:txBody>
      </p:sp>
      <p:sp>
        <p:nvSpPr>
          <p:cNvPr id="5" name="Oval 4"/>
          <p:cNvSpPr/>
          <p:nvPr/>
        </p:nvSpPr>
        <p:spPr>
          <a:xfrm>
            <a:off x="3154680"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tools_w.png"/>
          <p:cNvPicPr>
            <a:picLocks noChangeAspect="1"/>
          </p:cNvPicPr>
          <p:nvPr/>
        </p:nvPicPr>
        <p:blipFill>
          <a:blip r:embed="rId2"/>
          <a:stretch>
            <a:fillRect/>
          </a:stretch>
        </p:blipFill>
        <p:spPr>
          <a:xfrm>
            <a:off x="3308299" y="1799539"/>
            <a:ext cx="332841" cy="332841"/>
          </a:xfrm>
          <a:prstGeom prst="rect">
            <a:avLst/>
          </a:prstGeom>
        </p:spPr>
      </p:pic>
      <p:sp>
        <p:nvSpPr>
          <p:cNvPr id="7" name="TextBox 6"/>
          <p:cNvSpPr txBox="1"/>
          <p:nvPr/>
        </p:nvSpPr>
        <p:spPr>
          <a:xfrm>
            <a:off x="91440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Entorno de desarrollo</a:t>
            </a:r>
          </a:p>
        </p:txBody>
      </p:sp>
      <p:sp>
        <p:nvSpPr>
          <p:cNvPr id="8" name="TextBox 7"/>
          <p:cNvSpPr txBox="1"/>
          <p:nvPr/>
        </p:nvSpPr>
        <p:spPr>
          <a:xfrm>
            <a:off x="91440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NetBeans + JDK</a:t>
            </a:r>
          </a:p>
        </p:txBody>
      </p:sp>
      <p:sp>
        <p:nvSpPr>
          <p:cNvPr id="9" name="Rounded Rectangle 8"/>
          <p:cNvSpPr/>
          <p:nvPr/>
        </p:nvSpPr>
        <p:spPr>
          <a:xfrm>
            <a:off x="4343400"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02</a:t>
            </a:r>
          </a:p>
        </p:txBody>
      </p:sp>
      <p:sp>
        <p:nvSpPr>
          <p:cNvPr id="11" name="Oval 10"/>
          <p:cNvSpPr/>
          <p:nvPr/>
        </p:nvSpPr>
        <p:spPr>
          <a:xfrm>
            <a:off x="6858000"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_w.png"/>
          <p:cNvPicPr>
            <a:picLocks noChangeAspect="1"/>
          </p:cNvPicPr>
          <p:nvPr/>
        </p:nvPicPr>
        <p:blipFill>
          <a:blip r:embed="rId3"/>
          <a:stretch>
            <a:fillRect/>
          </a:stretch>
        </p:blipFill>
        <p:spPr>
          <a:xfrm>
            <a:off x="7011619" y="1799539"/>
            <a:ext cx="332841" cy="332841"/>
          </a:xfrm>
          <a:prstGeom prst="rect">
            <a:avLst/>
          </a:prstGeom>
        </p:spPr>
      </p:pic>
      <p:sp>
        <p:nvSpPr>
          <p:cNvPr id="13" name="TextBox 12"/>
          <p:cNvSpPr txBox="1"/>
          <p:nvPr/>
        </p:nvSpPr>
        <p:spPr>
          <a:xfrm>
            <a:off x="461772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Estructura básica</a:t>
            </a:r>
          </a:p>
        </p:txBody>
      </p:sp>
      <p:sp>
        <p:nvSpPr>
          <p:cNvPr id="14" name="TextBox 13"/>
          <p:cNvSpPr txBox="1"/>
          <p:nvPr/>
        </p:nvSpPr>
        <p:spPr>
          <a:xfrm>
            <a:off x="461772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class, main y { }</a:t>
            </a:r>
          </a:p>
        </p:txBody>
      </p:sp>
      <p:sp>
        <p:nvSpPr>
          <p:cNvPr id="15" name="Rounded Rectangle 14"/>
          <p:cNvSpPr/>
          <p:nvPr/>
        </p:nvSpPr>
        <p:spPr>
          <a:xfrm>
            <a:off x="8046719"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2104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03</a:t>
            </a:r>
          </a:p>
        </p:txBody>
      </p:sp>
      <p:sp>
        <p:nvSpPr>
          <p:cNvPr id="17" name="Oval 16"/>
          <p:cNvSpPr/>
          <p:nvPr/>
        </p:nvSpPr>
        <p:spPr>
          <a:xfrm>
            <a:off x="10561319"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sh_w.png"/>
          <p:cNvPicPr>
            <a:picLocks noChangeAspect="1"/>
          </p:cNvPicPr>
          <p:nvPr/>
        </p:nvPicPr>
        <p:blipFill>
          <a:blip r:embed="rId4"/>
          <a:stretch>
            <a:fillRect/>
          </a:stretch>
        </p:blipFill>
        <p:spPr>
          <a:xfrm>
            <a:off x="10714939" y="1799539"/>
            <a:ext cx="332841" cy="332841"/>
          </a:xfrm>
          <a:prstGeom prst="rect">
            <a:avLst/>
          </a:prstGeom>
        </p:spPr>
      </p:pic>
      <p:sp>
        <p:nvSpPr>
          <p:cNvPr id="19" name="TextBox 18"/>
          <p:cNvSpPr txBox="1"/>
          <p:nvPr/>
        </p:nvSpPr>
        <p:spPr>
          <a:xfrm>
            <a:off x="832104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Tipos de datos</a:t>
            </a:r>
          </a:p>
        </p:txBody>
      </p:sp>
      <p:sp>
        <p:nvSpPr>
          <p:cNvPr id="20" name="TextBox 19"/>
          <p:cNvSpPr txBox="1"/>
          <p:nvPr/>
        </p:nvSpPr>
        <p:spPr>
          <a:xfrm>
            <a:off x="832104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int, double, char…</a:t>
            </a:r>
          </a:p>
        </p:txBody>
      </p:sp>
      <p:sp>
        <p:nvSpPr>
          <p:cNvPr id="21" name="Rounded Rectangle 20"/>
          <p:cNvSpPr/>
          <p:nvPr/>
        </p:nvSpPr>
        <p:spPr>
          <a:xfrm>
            <a:off x="640080" y="3749039"/>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3977639"/>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04</a:t>
            </a:r>
          </a:p>
        </p:txBody>
      </p:sp>
      <p:sp>
        <p:nvSpPr>
          <p:cNvPr id="23" name="Oval 22"/>
          <p:cNvSpPr/>
          <p:nvPr/>
        </p:nvSpPr>
        <p:spPr>
          <a:xfrm>
            <a:off x="3154680" y="397763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keyboard_w.png"/>
          <p:cNvPicPr>
            <a:picLocks noChangeAspect="1"/>
          </p:cNvPicPr>
          <p:nvPr/>
        </p:nvPicPr>
        <p:blipFill>
          <a:blip r:embed="rId5"/>
          <a:stretch>
            <a:fillRect/>
          </a:stretch>
        </p:blipFill>
        <p:spPr>
          <a:xfrm>
            <a:off x="3308299" y="4131259"/>
            <a:ext cx="332841" cy="332841"/>
          </a:xfrm>
          <a:prstGeom prst="rect">
            <a:avLst/>
          </a:prstGeom>
        </p:spPr>
      </p:pic>
      <p:sp>
        <p:nvSpPr>
          <p:cNvPr id="25" name="TextBox 24"/>
          <p:cNvSpPr txBox="1"/>
          <p:nvPr/>
        </p:nvSpPr>
        <p:spPr>
          <a:xfrm>
            <a:off x="914400" y="466344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Entrada y salida</a:t>
            </a:r>
          </a:p>
        </p:txBody>
      </p:sp>
      <p:sp>
        <p:nvSpPr>
          <p:cNvPr id="26" name="TextBox 25"/>
          <p:cNvSpPr txBox="1"/>
          <p:nvPr/>
        </p:nvSpPr>
        <p:spPr>
          <a:xfrm>
            <a:off x="914400" y="5321807"/>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Scanner y println</a:t>
            </a:r>
          </a:p>
        </p:txBody>
      </p:sp>
      <p:sp>
        <p:nvSpPr>
          <p:cNvPr id="27" name="Rounded Rectangle 26"/>
          <p:cNvSpPr/>
          <p:nvPr/>
        </p:nvSpPr>
        <p:spPr>
          <a:xfrm>
            <a:off x="4343400" y="3749039"/>
            <a:ext cx="3429000" cy="2057400"/>
          </a:xfrm>
          <a:prstGeom prst="roundRect">
            <a:avLst>
              <a:gd name="adj" fmla="val 7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17720" y="3977639"/>
            <a:ext cx="1097280" cy="548640"/>
          </a:xfrm>
          <a:prstGeom prst="rect">
            <a:avLst/>
          </a:prstGeom>
          <a:noFill/>
        </p:spPr>
        <p:txBody>
          <a:bodyPr wrap="square" lIns="0" rIns="0" tIns="0" bIns="0" anchor="t">
            <a:spAutoFit/>
          </a:bodyPr>
          <a:lstStyle/>
          <a:p>
            <a:pPr algn="l">
              <a:spcAft>
                <a:spcPts val="400"/>
              </a:spcAft>
            </a:pPr>
            <a:r>
              <a:rPr sz="3000" b="1" i="0">
                <a:solidFill>
                  <a:srgbClr val="FFC629"/>
                </a:solidFill>
                <a:latin typeface="Arial"/>
              </a:rPr>
              <a:t>05</a:t>
            </a:r>
          </a:p>
        </p:txBody>
      </p:sp>
      <p:sp>
        <p:nvSpPr>
          <p:cNvPr id="29" name="Oval 28"/>
          <p:cNvSpPr/>
          <p:nvPr/>
        </p:nvSpPr>
        <p:spPr>
          <a:xfrm>
            <a:off x="6858000" y="3977639"/>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ubes_b.png"/>
          <p:cNvPicPr>
            <a:picLocks noChangeAspect="1"/>
          </p:cNvPicPr>
          <p:nvPr/>
        </p:nvPicPr>
        <p:blipFill>
          <a:blip r:embed="rId6"/>
          <a:stretch>
            <a:fillRect/>
          </a:stretch>
        </p:blipFill>
        <p:spPr>
          <a:xfrm>
            <a:off x="7011619" y="4131259"/>
            <a:ext cx="332841" cy="332841"/>
          </a:xfrm>
          <a:prstGeom prst="rect">
            <a:avLst/>
          </a:prstGeom>
        </p:spPr>
      </p:pic>
      <p:sp>
        <p:nvSpPr>
          <p:cNvPr id="31" name="TextBox 30"/>
          <p:cNvSpPr txBox="1"/>
          <p:nvPr/>
        </p:nvSpPr>
        <p:spPr>
          <a:xfrm>
            <a:off x="4617720" y="4663440"/>
            <a:ext cx="2926080" cy="685800"/>
          </a:xfrm>
          <a:prstGeom prst="rect">
            <a:avLst/>
          </a:prstGeom>
          <a:noFill/>
        </p:spPr>
        <p:txBody>
          <a:bodyPr wrap="square" lIns="0" rIns="0" tIns="0" bIns="0" anchor="ctr">
            <a:spAutoFit/>
          </a:bodyPr>
          <a:lstStyle/>
          <a:p>
            <a:pPr algn="l">
              <a:spcAft>
                <a:spcPts val="400"/>
              </a:spcAft>
            </a:pPr>
            <a:r>
              <a:rPr sz="1800" b="1" i="0">
                <a:solidFill>
                  <a:srgbClr val="FFFFFF"/>
                </a:solidFill>
                <a:latin typeface="Arial"/>
              </a:rPr>
              <a:t>Programación Orientada a Objetos</a:t>
            </a:r>
          </a:p>
        </p:txBody>
      </p:sp>
      <p:sp>
        <p:nvSpPr>
          <p:cNvPr id="32" name="TextBox 31"/>
          <p:cNvSpPr txBox="1"/>
          <p:nvPr/>
        </p:nvSpPr>
        <p:spPr>
          <a:xfrm>
            <a:off x="4617720" y="5321807"/>
            <a:ext cx="2926080" cy="365760"/>
          </a:xfrm>
          <a:prstGeom prst="rect">
            <a:avLst/>
          </a:prstGeom>
          <a:noFill/>
        </p:spPr>
        <p:txBody>
          <a:bodyPr wrap="square" lIns="0" rIns="0" tIns="0" bIns="0" anchor="t">
            <a:spAutoFit/>
          </a:bodyPr>
          <a:lstStyle/>
          <a:p>
            <a:pPr algn="l">
              <a:spcAft>
                <a:spcPts val="400"/>
              </a:spcAft>
            </a:pPr>
            <a:r>
              <a:rPr sz="1400" b="1" i="0">
                <a:solidFill>
                  <a:srgbClr val="FFC629"/>
                </a:solidFill>
                <a:latin typeface="Arial"/>
              </a:rPr>
              <a:t>¡Lo nuevo de hoy!</a:t>
            </a:r>
          </a:p>
        </p:txBody>
      </p:sp>
      <p:sp>
        <p:nvSpPr>
          <p:cNvPr id="33" name="Rounded Rectangle 32"/>
          <p:cNvSpPr/>
          <p:nvPr/>
        </p:nvSpPr>
        <p:spPr>
          <a:xfrm>
            <a:off x="8046719" y="3749039"/>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21040" y="3977639"/>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06</a:t>
            </a:r>
          </a:p>
        </p:txBody>
      </p:sp>
      <p:sp>
        <p:nvSpPr>
          <p:cNvPr id="35" name="Oval 34"/>
          <p:cNvSpPr/>
          <p:nvPr/>
        </p:nvSpPr>
        <p:spPr>
          <a:xfrm>
            <a:off x="10561319" y="397763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trophy_w.png"/>
          <p:cNvPicPr>
            <a:picLocks noChangeAspect="1"/>
          </p:cNvPicPr>
          <p:nvPr/>
        </p:nvPicPr>
        <p:blipFill>
          <a:blip r:embed="rId7"/>
          <a:stretch>
            <a:fillRect/>
          </a:stretch>
        </p:blipFill>
        <p:spPr>
          <a:xfrm>
            <a:off x="10714939" y="4131259"/>
            <a:ext cx="332841" cy="332841"/>
          </a:xfrm>
          <a:prstGeom prst="rect">
            <a:avLst/>
          </a:prstGeom>
        </p:spPr>
      </p:pic>
      <p:sp>
        <p:nvSpPr>
          <p:cNvPr id="37" name="TextBox 36"/>
          <p:cNvSpPr txBox="1"/>
          <p:nvPr/>
        </p:nvSpPr>
        <p:spPr>
          <a:xfrm>
            <a:off x="8321040" y="466344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Ejercicios</a:t>
            </a:r>
          </a:p>
        </p:txBody>
      </p:sp>
      <p:sp>
        <p:nvSpPr>
          <p:cNvPr id="38" name="TextBox 37"/>
          <p:cNvSpPr txBox="1"/>
          <p:nvPr/>
        </p:nvSpPr>
        <p:spPr>
          <a:xfrm>
            <a:off x="8321040" y="5321807"/>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¡A programar!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4948507" y="3790383"/>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solidFill>
                  <a:srgbClr val="257CE1"/>
                </a:solidFill>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643486" y="4676610"/>
            <a:ext cx="5313891" cy="447943"/>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2911" dirty="0"/>
              <a:t>ENTORNO DE DESARROLLO</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Entorno de Desarrollo</a:t>
            </a:r>
          </a:p>
        </p:txBody>
      </p:sp>
      <p:sp>
        <p:nvSpPr>
          <p:cNvPr id="9" name="Marcador de texto 3">
            <a:extLst>
              <a:ext uri="{FF2B5EF4-FFF2-40B4-BE49-F238E27FC236}">
                <a16:creationId xmlns:a16="http://schemas.microsoft.com/office/drawing/2014/main" id="{065353A1-4022-2DDA-EAE3-A14E27284EFB}"/>
              </a:ext>
            </a:extLst>
          </p:cNvPr>
          <p:cNvSpPr txBox="1">
            <a:spLocks/>
          </p:cNvSpPr>
          <p:nvPr/>
        </p:nvSpPr>
        <p:spPr>
          <a:xfrm>
            <a:off x="458655" y="1164820"/>
            <a:ext cx="11318268" cy="525984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latin typeface="Arial" panose="020B0604020202020204" pitchFamily="34" charset="0"/>
                <a:ea typeface="Calibri"/>
                <a:cs typeface="Arial" panose="020B0604020202020204" pitchFamily="34" charset="0"/>
                <a:sym typeface="Calibri"/>
              </a:rPr>
              <a:t>Un </a:t>
            </a:r>
            <a:r>
              <a:rPr lang="es-CL" sz="2183" b="1" dirty="0">
                <a:latin typeface="Arial" panose="020B0604020202020204" pitchFamily="34" charset="0"/>
                <a:ea typeface="Calibri"/>
                <a:cs typeface="Arial" panose="020B0604020202020204" pitchFamily="34" charset="0"/>
                <a:sym typeface="Calibri"/>
              </a:rPr>
              <a:t>entorno de desarrollo integrado</a:t>
            </a:r>
            <a:r>
              <a:rPr lang="es-CL" sz="2183" b="1" baseline="30000" dirty="0">
                <a:latin typeface="Arial" panose="020B0604020202020204" pitchFamily="34" charset="0"/>
                <a:ea typeface="Calibri"/>
                <a:cs typeface="Arial" panose="020B0604020202020204" pitchFamily="34" charset="0"/>
                <a:sym typeface="Calibri"/>
              </a:rPr>
              <a:t> </a:t>
            </a:r>
            <a:r>
              <a:rPr lang="es-CL" sz="2183" dirty="0">
                <a:latin typeface="Arial" panose="020B0604020202020204" pitchFamily="34" charset="0"/>
                <a:ea typeface="Calibri"/>
                <a:cs typeface="Arial" panose="020B0604020202020204" pitchFamily="34" charset="0"/>
                <a:sym typeface="Calibri"/>
              </a:rPr>
              <a:t>(Integrated Development Environment), más conocido como </a:t>
            </a:r>
            <a:r>
              <a:rPr lang="es-CL" sz="2183" b="1" dirty="0">
                <a:latin typeface="Arial" panose="020B0604020202020204" pitchFamily="34" charset="0"/>
                <a:ea typeface="Calibri"/>
                <a:cs typeface="Arial" panose="020B0604020202020204" pitchFamily="34" charset="0"/>
                <a:sym typeface="Calibri"/>
              </a:rPr>
              <a:t>IDE</a:t>
            </a:r>
            <a:r>
              <a:rPr lang="es-CL" sz="2183" dirty="0">
                <a:latin typeface="Arial" panose="020B0604020202020204" pitchFamily="34" charset="0"/>
                <a:ea typeface="Calibri"/>
                <a:cs typeface="Arial" panose="020B0604020202020204" pitchFamily="34" charset="0"/>
                <a:sym typeface="Calibri"/>
              </a:rPr>
              <a:t>, es una aplicación  que proporciona servicios para facilitar al programador el desarrollo del software.</a:t>
            </a:r>
          </a:p>
          <a:p>
            <a:pPr algn="just"/>
            <a:endParaRPr lang="es-CL" sz="2183" dirty="0">
              <a:solidFill>
                <a:srgbClr val="222222"/>
              </a:solidFill>
              <a:latin typeface="Arial" panose="020B0604020202020204" pitchFamily="34" charset="0"/>
              <a:ea typeface="Calibri"/>
              <a:cs typeface="Arial" panose="020B0604020202020204" pitchFamily="34" charset="0"/>
              <a:sym typeface="Calibri"/>
            </a:endParaRPr>
          </a:p>
          <a:p>
            <a:pPr algn="just"/>
            <a:endParaRPr lang="es-CL" sz="2183" dirty="0">
              <a:latin typeface="Arial" panose="020B0604020202020204" pitchFamily="34" charset="0"/>
              <a:cs typeface="Arial" panose="020B0604020202020204" pitchFamily="34" charset="0"/>
            </a:endParaRPr>
          </a:p>
          <a:p>
            <a:pPr algn="just"/>
            <a:r>
              <a:rPr lang="es-CL" sz="2183" dirty="0">
                <a:latin typeface="Arial" panose="020B0604020202020204" pitchFamily="34" charset="0"/>
                <a:ea typeface="Calibri"/>
                <a:cs typeface="Arial" panose="020B0604020202020204" pitchFamily="34" charset="0"/>
                <a:sym typeface="Calibri"/>
              </a:rPr>
              <a:t>Generalmente, un IDE tiene un editor de código fuente, herramientas de construcción automáticas, autocompletado inteligente, un depurador y compilador.</a:t>
            </a:r>
            <a:endParaRPr lang="es-CL" sz="2183" dirty="0">
              <a:latin typeface="Arial" panose="020B0604020202020204" pitchFamily="34" charset="0"/>
              <a:cs typeface="Arial" panose="020B0604020202020204" pitchFamily="34" charset="0"/>
            </a:endParaRPr>
          </a:p>
          <a:p>
            <a:pPr lvl="4"/>
            <a:endParaRPr lang="es-ES_tradnl" sz="728" dirty="0">
              <a:latin typeface="Calibri" panose="020F0502020204030204" pitchFamily="34" charset="0"/>
              <a:cs typeface="Calibri" panose="020F0502020204030204" pitchFamily="34" charset="0"/>
            </a:endParaRPr>
          </a:p>
        </p:txBody>
      </p:sp>
      <p:sp>
        <p:nvSpPr>
          <p:cNvPr id="4" name="Google Shape;133;p7">
            <a:extLst>
              <a:ext uri="{FF2B5EF4-FFF2-40B4-BE49-F238E27FC236}">
                <a16:creationId xmlns:a16="http://schemas.microsoft.com/office/drawing/2014/main" id="{1744CC91-C5E2-11C4-D357-F61C991CB831}"/>
              </a:ext>
            </a:extLst>
          </p:cNvPr>
          <p:cNvSpPr/>
          <p:nvPr/>
        </p:nvSpPr>
        <p:spPr>
          <a:xfrm>
            <a:off x="4703656" y="4537986"/>
            <a:ext cx="2784688" cy="831739"/>
          </a:xfrm>
          <a:custGeom>
            <a:avLst/>
            <a:gdLst/>
            <a:ahLst/>
            <a:cxnLst/>
            <a:rect l="l" t="t" r="r" b="b"/>
            <a:pathLst>
              <a:path w="2643256" h="728869" extrusionOk="0">
                <a:moveTo>
                  <a:pt x="0" y="0"/>
                </a:moveTo>
                <a:cubicBezTo>
                  <a:pt x="178146" y="-5058"/>
                  <a:pt x="286097" y="30351"/>
                  <a:pt x="502219" y="0"/>
                </a:cubicBezTo>
                <a:cubicBezTo>
                  <a:pt x="718341" y="-30351"/>
                  <a:pt x="735405" y="27302"/>
                  <a:pt x="951572" y="0"/>
                </a:cubicBezTo>
                <a:cubicBezTo>
                  <a:pt x="1167739" y="-27302"/>
                  <a:pt x="1282541" y="231"/>
                  <a:pt x="1533088" y="0"/>
                </a:cubicBezTo>
                <a:cubicBezTo>
                  <a:pt x="1783635" y="-231"/>
                  <a:pt x="1914881" y="22681"/>
                  <a:pt x="2035307" y="0"/>
                </a:cubicBezTo>
                <a:cubicBezTo>
                  <a:pt x="2155733" y="-22681"/>
                  <a:pt x="2356881" y="21394"/>
                  <a:pt x="2643256" y="0"/>
                </a:cubicBezTo>
                <a:cubicBezTo>
                  <a:pt x="2682876" y="179052"/>
                  <a:pt x="2613371" y="290465"/>
                  <a:pt x="2643256" y="379012"/>
                </a:cubicBezTo>
                <a:cubicBezTo>
                  <a:pt x="2673141" y="467559"/>
                  <a:pt x="2613181" y="645769"/>
                  <a:pt x="2643256" y="728869"/>
                </a:cubicBezTo>
                <a:cubicBezTo>
                  <a:pt x="2474636" y="763057"/>
                  <a:pt x="2334111" y="702313"/>
                  <a:pt x="2114605" y="728869"/>
                </a:cubicBezTo>
                <a:cubicBezTo>
                  <a:pt x="1895099" y="755425"/>
                  <a:pt x="1869955" y="675833"/>
                  <a:pt x="1665251" y="728869"/>
                </a:cubicBezTo>
                <a:cubicBezTo>
                  <a:pt x="1460547" y="781905"/>
                  <a:pt x="1339719" y="682138"/>
                  <a:pt x="1136600" y="728869"/>
                </a:cubicBezTo>
                <a:cubicBezTo>
                  <a:pt x="933481" y="775600"/>
                  <a:pt x="842571" y="710981"/>
                  <a:pt x="607949" y="728869"/>
                </a:cubicBezTo>
                <a:cubicBezTo>
                  <a:pt x="373327" y="746757"/>
                  <a:pt x="189677" y="661793"/>
                  <a:pt x="0" y="728869"/>
                </a:cubicBezTo>
                <a:cubicBezTo>
                  <a:pt x="-14" y="605533"/>
                  <a:pt x="19275" y="505160"/>
                  <a:pt x="0" y="349857"/>
                </a:cubicBezTo>
                <a:cubicBezTo>
                  <a:pt x="-19275" y="194554"/>
                  <a:pt x="33629" y="77461"/>
                  <a:pt x="0" y="0"/>
                </a:cubicBezTo>
                <a:close/>
              </a:path>
            </a:pathLst>
          </a:custGeom>
          <a:noFill/>
          <a:ln w="9525" cap="flat" cmpd="sng">
            <a:solidFill>
              <a:srgbClr val="7F7F7F"/>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Facilita la vida del programador</a:t>
            </a:r>
            <a:endParaRPr lang="es-CL" sz="218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266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Entorno de Desarrollo</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Arial" panose="020B0604020202020204" pitchFamily="34" charset="0"/>
                <a:ea typeface="Calibri"/>
                <a:cs typeface="Arial" panose="020B0604020202020204" pitchFamily="34" charset="0"/>
                <a:sym typeface="Calibri"/>
              </a:rPr>
              <a:t>El IDE nos ofrece muchas más funciones que un editor de texto, soporta muchos tipos de lenguajes de programación y la mayoría son de tipo open source, esto es, de descarga gratuita.</a:t>
            </a: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Google Shape;132;p7">
            <a:extLst>
              <a:ext uri="{FF2B5EF4-FFF2-40B4-BE49-F238E27FC236}">
                <a16:creationId xmlns:a16="http://schemas.microsoft.com/office/drawing/2014/main" id="{6C33E489-C1BD-781F-9FCA-400C37329F18}"/>
              </a:ext>
            </a:extLst>
          </p:cNvPr>
          <p:cNvPicPr preferRelativeResize="0"/>
          <p:nvPr/>
        </p:nvPicPr>
        <p:blipFill rotWithShape="1">
          <a:blip r:embed="rId2">
            <a:alphaModFix/>
          </a:blip>
          <a:srcRect/>
          <a:stretch/>
        </p:blipFill>
        <p:spPr>
          <a:xfrm>
            <a:off x="4156507" y="2828299"/>
            <a:ext cx="3878986" cy="2313641"/>
          </a:xfrm>
          <a:custGeom>
            <a:avLst/>
            <a:gdLst/>
            <a:ahLst/>
            <a:cxnLst/>
            <a:rect l="l" t="t" r="r" b="b"/>
            <a:pathLst>
              <a:path w="2643256" h="1692020" fill="none" extrusionOk="0">
                <a:moveTo>
                  <a:pt x="0" y="0"/>
                </a:moveTo>
                <a:cubicBezTo>
                  <a:pt x="238948" y="-33677"/>
                  <a:pt x="386438" y="39801"/>
                  <a:pt x="502219" y="0"/>
                </a:cubicBezTo>
                <a:cubicBezTo>
                  <a:pt x="618000" y="-39801"/>
                  <a:pt x="772617" y="44250"/>
                  <a:pt x="951572" y="0"/>
                </a:cubicBezTo>
                <a:cubicBezTo>
                  <a:pt x="1130527" y="-44250"/>
                  <a:pt x="1281510" y="32219"/>
                  <a:pt x="1427358" y="0"/>
                </a:cubicBezTo>
                <a:cubicBezTo>
                  <a:pt x="1573206" y="-32219"/>
                  <a:pt x="1732599" y="50341"/>
                  <a:pt x="1982442" y="0"/>
                </a:cubicBezTo>
                <a:cubicBezTo>
                  <a:pt x="2232285" y="-50341"/>
                  <a:pt x="2360403" y="49789"/>
                  <a:pt x="2643256" y="0"/>
                </a:cubicBezTo>
                <a:cubicBezTo>
                  <a:pt x="2687442" y="179497"/>
                  <a:pt x="2626361" y="348133"/>
                  <a:pt x="2643256" y="530166"/>
                </a:cubicBezTo>
                <a:cubicBezTo>
                  <a:pt x="2660151" y="712199"/>
                  <a:pt x="2591509" y="815396"/>
                  <a:pt x="2643256" y="1043412"/>
                </a:cubicBezTo>
                <a:cubicBezTo>
                  <a:pt x="2695003" y="1271428"/>
                  <a:pt x="2601166" y="1503148"/>
                  <a:pt x="2643256" y="1692020"/>
                </a:cubicBezTo>
                <a:cubicBezTo>
                  <a:pt x="2397585" y="1721334"/>
                  <a:pt x="2301765" y="1664355"/>
                  <a:pt x="2114605" y="1692020"/>
                </a:cubicBezTo>
                <a:cubicBezTo>
                  <a:pt x="1927445" y="1719685"/>
                  <a:pt x="1772955" y="1635952"/>
                  <a:pt x="1638819" y="1692020"/>
                </a:cubicBezTo>
                <a:cubicBezTo>
                  <a:pt x="1504683" y="1748088"/>
                  <a:pt x="1261958" y="1654829"/>
                  <a:pt x="1057302" y="1692020"/>
                </a:cubicBezTo>
                <a:cubicBezTo>
                  <a:pt x="852646" y="1729211"/>
                  <a:pt x="771314" y="1635297"/>
                  <a:pt x="555084" y="1692020"/>
                </a:cubicBezTo>
                <a:cubicBezTo>
                  <a:pt x="338854" y="1748743"/>
                  <a:pt x="272099" y="1680424"/>
                  <a:pt x="0" y="1692020"/>
                </a:cubicBezTo>
                <a:cubicBezTo>
                  <a:pt x="-48418" y="1517692"/>
                  <a:pt x="43103" y="1261293"/>
                  <a:pt x="0" y="1111093"/>
                </a:cubicBezTo>
                <a:cubicBezTo>
                  <a:pt x="-43103" y="960893"/>
                  <a:pt x="55785" y="698780"/>
                  <a:pt x="0" y="564007"/>
                </a:cubicBezTo>
                <a:cubicBezTo>
                  <a:pt x="-55785" y="429234"/>
                  <a:pt x="50178" y="159861"/>
                  <a:pt x="0" y="0"/>
                </a:cubicBezTo>
                <a:close/>
              </a:path>
              <a:path w="2643256" h="1692020" extrusionOk="0">
                <a:moveTo>
                  <a:pt x="0" y="0"/>
                </a:moveTo>
                <a:cubicBezTo>
                  <a:pt x="178146" y="-5058"/>
                  <a:pt x="286097" y="30351"/>
                  <a:pt x="502219" y="0"/>
                </a:cubicBezTo>
                <a:cubicBezTo>
                  <a:pt x="718341" y="-30351"/>
                  <a:pt x="735405" y="27302"/>
                  <a:pt x="951572" y="0"/>
                </a:cubicBezTo>
                <a:cubicBezTo>
                  <a:pt x="1167739" y="-27302"/>
                  <a:pt x="1282541" y="231"/>
                  <a:pt x="1533088" y="0"/>
                </a:cubicBezTo>
                <a:cubicBezTo>
                  <a:pt x="1783635" y="-231"/>
                  <a:pt x="1914881" y="22681"/>
                  <a:pt x="2035307" y="0"/>
                </a:cubicBezTo>
                <a:cubicBezTo>
                  <a:pt x="2155733" y="-22681"/>
                  <a:pt x="2356881" y="21394"/>
                  <a:pt x="2643256" y="0"/>
                </a:cubicBezTo>
                <a:cubicBezTo>
                  <a:pt x="2649168" y="243867"/>
                  <a:pt x="2621704" y="443815"/>
                  <a:pt x="2643256" y="597847"/>
                </a:cubicBezTo>
                <a:cubicBezTo>
                  <a:pt x="2664808" y="751879"/>
                  <a:pt x="2605905" y="924013"/>
                  <a:pt x="2643256" y="1161854"/>
                </a:cubicBezTo>
                <a:cubicBezTo>
                  <a:pt x="2680607" y="1399695"/>
                  <a:pt x="2630417" y="1454395"/>
                  <a:pt x="2643256" y="1692020"/>
                </a:cubicBezTo>
                <a:cubicBezTo>
                  <a:pt x="2498029" y="1692745"/>
                  <a:pt x="2300494" y="1663145"/>
                  <a:pt x="2167470" y="1692020"/>
                </a:cubicBezTo>
                <a:cubicBezTo>
                  <a:pt x="2034446" y="1720895"/>
                  <a:pt x="1841938" y="1645289"/>
                  <a:pt x="1638819" y="1692020"/>
                </a:cubicBezTo>
                <a:cubicBezTo>
                  <a:pt x="1435700" y="1738751"/>
                  <a:pt x="1344790" y="1674132"/>
                  <a:pt x="1110168" y="1692020"/>
                </a:cubicBezTo>
                <a:cubicBezTo>
                  <a:pt x="875546" y="1709908"/>
                  <a:pt x="747557" y="1632705"/>
                  <a:pt x="607949" y="1692020"/>
                </a:cubicBezTo>
                <a:cubicBezTo>
                  <a:pt x="468341" y="1751335"/>
                  <a:pt x="217763" y="1647006"/>
                  <a:pt x="0" y="1692020"/>
                </a:cubicBezTo>
                <a:cubicBezTo>
                  <a:pt x="-31813" y="1543379"/>
                  <a:pt x="2597" y="1343219"/>
                  <a:pt x="0" y="1094173"/>
                </a:cubicBezTo>
                <a:cubicBezTo>
                  <a:pt x="-2597" y="845127"/>
                  <a:pt x="46645" y="777239"/>
                  <a:pt x="0" y="496326"/>
                </a:cubicBezTo>
                <a:cubicBezTo>
                  <a:pt x="-46645" y="215413"/>
                  <a:pt x="44941" y="135143"/>
                  <a:pt x="0" y="0"/>
                </a:cubicBezTo>
                <a:close/>
              </a:path>
            </a:pathLst>
          </a:custGeom>
          <a:noFill/>
          <a:ln w="9525" cap="flat" cmpd="sng">
            <a:solidFill>
              <a:srgbClr val="7F7F7F"/>
            </a:solidFill>
            <a:prstDash val="solid"/>
            <a:round/>
            <a:headEnd type="none" w="sm" len="sm"/>
            <a:tailEnd type="none" w="sm" len="sm"/>
          </a:ln>
        </p:spPr>
      </p:pic>
      <p:sp>
        <p:nvSpPr>
          <p:cNvPr id="6" name="Google Shape;133;p7">
            <a:extLst>
              <a:ext uri="{FF2B5EF4-FFF2-40B4-BE49-F238E27FC236}">
                <a16:creationId xmlns:a16="http://schemas.microsoft.com/office/drawing/2014/main" id="{CDA77BD7-4E61-75FC-BFBD-B401B869AB97}"/>
              </a:ext>
            </a:extLst>
          </p:cNvPr>
          <p:cNvSpPr/>
          <p:nvPr/>
        </p:nvSpPr>
        <p:spPr>
          <a:xfrm>
            <a:off x="4725445" y="5482636"/>
            <a:ext cx="2784688" cy="831739"/>
          </a:xfrm>
          <a:custGeom>
            <a:avLst/>
            <a:gdLst/>
            <a:ahLst/>
            <a:cxnLst/>
            <a:rect l="l" t="t" r="r" b="b"/>
            <a:pathLst>
              <a:path w="2643256" h="728869" extrusionOk="0">
                <a:moveTo>
                  <a:pt x="0" y="0"/>
                </a:moveTo>
                <a:cubicBezTo>
                  <a:pt x="178146" y="-5058"/>
                  <a:pt x="286097" y="30351"/>
                  <a:pt x="502219" y="0"/>
                </a:cubicBezTo>
                <a:cubicBezTo>
                  <a:pt x="718341" y="-30351"/>
                  <a:pt x="735405" y="27302"/>
                  <a:pt x="951572" y="0"/>
                </a:cubicBezTo>
                <a:cubicBezTo>
                  <a:pt x="1167739" y="-27302"/>
                  <a:pt x="1282541" y="231"/>
                  <a:pt x="1533088" y="0"/>
                </a:cubicBezTo>
                <a:cubicBezTo>
                  <a:pt x="1783635" y="-231"/>
                  <a:pt x="1914881" y="22681"/>
                  <a:pt x="2035307" y="0"/>
                </a:cubicBezTo>
                <a:cubicBezTo>
                  <a:pt x="2155733" y="-22681"/>
                  <a:pt x="2356881" y="21394"/>
                  <a:pt x="2643256" y="0"/>
                </a:cubicBezTo>
                <a:cubicBezTo>
                  <a:pt x="2682876" y="179052"/>
                  <a:pt x="2613371" y="290465"/>
                  <a:pt x="2643256" y="379012"/>
                </a:cubicBezTo>
                <a:cubicBezTo>
                  <a:pt x="2673141" y="467559"/>
                  <a:pt x="2613181" y="645769"/>
                  <a:pt x="2643256" y="728869"/>
                </a:cubicBezTo>
                <a:cubicBezTo>
                  <a:pt x="2474636" y="763057"/>
                  <a:pt x="2334111" y="702313"/>
                  <a:pt x="2114605" y="728869"/>
                </a:cubicBezTo>
                <a:cubicBezTo>
                  <a:pt x="1895099" y="755425"/>
                  <a:pt x="1869955" y="675833"/>
                  <a:pt x="1665251" y="728869"/>
                </a:cubicBezTo>
                <a:cubicBezTo>
                  <a:pt x="1460547" y="781905"/>
                  <a:pt x="1339719" y="682138"/>
                  <a:pt x="1136600" y="728869"/>
                </a:cubicBezTo>
                <a:cubicBezTo>
                  <a:pt x="933481" y="775600"/>
                  <a:pt x="842571" y="710981"/>
                  <a:pt x="607949" y="728869"/>
                </a:cubicBezTo>
                <a:cubicBezTo>
                  <a:pt x="373327" y="746757"/>
                  <a:pt x="189677" y="661793"/>
                  <a:pt x="0" y="728869"/>
                </a:cubicBezTo>
                <a:cubicBezTo>
                  <a:pt x="-14" y="605533"/>
                  <a:pt x="19275" y="505160"/>
                  <a:pt x="0" y="349857"/>
                </a:cubicBezTo>
                <a:cubicBezTo>
                  <a:pt x="-19275" y="194554"/>
                  <a:pt x="33629" y="77461"/>
                  <a:pt x="0" y="0"/>
                </a:cubicBezTo>
                <a:close/>
              </a:path>
            </a:pathLst>
          </a:custGeom>
          <a:noFill/>
          <a:ln w="9525" cap="flat" cmpd="sng">
            <a:solidFill>
              <a:srgbClr val="7F7F7F"/>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Facilita la vida del programador</a:t>
            </a:r>
            <a:endParaRPr lang="es-CL" sz="218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4927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Entorno de Desarrollo</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MX" sz="2183" dirty="0">
                <a:solidFill>
                  <a:srgbClr val="222222"/>
                </a:solidFill>
                <a:latin typeface="Arial" panose="020B0604020202020204" pitchFamily="34" charset="0"/>
                <a:ea typeface="Calibri"/>
                <a:cs typeface="Arial" panose="020B0604020202020204" pitchFamily="34" charset="0"/>
                <a:sym typeface="Calibri"/>
              </a:rPr>
              <a:t>Hay muchos IDE de Java populares, como:</a:t>
            </a:r>
            <a:endParaRPr lang="es-MX" sz="2183" dirty="0">
              <a:latin typeface="Arial" panose="020B0604020202020204" pitchFamily="34" charset="0"/>
              <a:cs typeface="Arial" panose="020B0604020202020204" pitchFamily="34" charset="0"/>
            </a:endParaRPr>
          </a:p>
          <a:p>
            <a:pPr algn="just"/>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marL="0" lvl="3" algn="just"/>
            <a:r>
              <a:rPr lang="es-MX" sz="2183" dirty="0">
                <a:solidFill>
                  <a:srgbClr val="222222"/>
                </a:solidFill>
                <a:latin typeface="Arial" panose="020B0604020202020204" pitchFamily="34" charset="0"/>
                <a:ea typeface="Calibri"/>
                <a:cs typeface="Arial" panose="020B0604020202020204" pitchFamily="34" charset="0"/>
                <a:sym typeface="Calibri"/>
              </a:rPr>
              <a:t>	• Eclipse(www.eclipse.org) </a:t>
            </a:r>
            <a:endParaRPr lang="es-MX" sz="2183" dirty="0">
              <a:latin typeface="Arial" panose="020B0604020202020204" pitchFamily="34" charset="0"/>
              <a:cs typeface="Arial" panose="020B0604020202020204" pitchFamily="34" charset="0"/>
            </a:endParaRPr>
          </a:p>
          <a:p>
            <a:pPr marL="0" lvl="3" algn="just"/>
            <a:r>
              <a:rPr lang="es-MX" sz="2183" dirty="0">
                <a:solidFill>
                  <a:srgbClr val="222222"/>
                </a:solidFill>
                <a:latin typeface="Arial" panose="020B0604020202020204" pitchFamily="34" charset="0"/>
                <a:ea typeface="Calibri"/>
                <a:cs typeface="Arial" panose="020B0604020202020204" pitchFamily="34" charset="0"/>
                <a:sym typeface="Calibri"/>
              </a:rPr>
              <a:t>	• NetBeans(www.netbeans.org) </a:t>
            </a:r>
            <a:endParaRPr lang="es-MX" sz="2183" dirty="0">
              <a:latin typeface="Arial" panose="020B0604020202020204" pitchFamily="34" charset="0"/>
              <a:cs typeface="Arial" panose="020B0604020202020204" pitchFamily="34" charset="0"/>
            </a:endParaRPr>
          </a:p>
          <a:p>
            <a:pPr marL="0" lvl="3" algn="just"/>
            <a:r>
              <a:rPr lang="es-MX" sz="2183" dirty="0">
                <a:solidFill>
                  <a:srgbClr val="222222"/>
                </a:solidFill>
                <a:latin typeface="Arial" panose="020B0604020202020204" pitchFamily="34" charset="0"/>
                <a:ea typeface="Calibri"/>
                <a:cs typeface="Arial" panose="020B0604020202020204" pitchFamily="34" charset="0"/>
                <a:sym typeface="Calibri"/>
              </a:rPr>
              <a:t>	• IntelliJIDEA(www.jetbrains.com)</a:t>
            </a:r>
            <a:endParaRPr lang="es-MX" sz="2183" dirty="0">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9" name="Google Shape;140;p8">
            <a:extLst>
              <a:ext uri="{FF2B5EF4-FFF2-40B4-BE49-F238E27FC236}">
                <a16:creationId xmlns:a16="http://schemas.microsoft.com/office/drawing/2014/main" id="{DE4BF62F-61D2-52FD-3FAB-94D4E37C4FA2}"/>
              </a:ext>
            </a:extLst>
          </p:cNvPr>
          <p:cNvSpPr/>
          <p:nvPr/>
        </p:nvSpPr>
        <p:spPr>
          <a:xfrm>
            <a:off x="4987014" y="2088976"/>
            <a:ext cx="462077" cy="462077"/>
          </a:xfrm>
          <a:prstGeom prst="star5">
            <a:avLst>
              <a:gd name="adj" fmla="val 19098"/>
              <a:gd name="hf" fmla="val 105146"/>
              <a:gd name="vf" fmla="val 110557"/>
            </a:avLst>
          </a:prstGeom>
          <a:solidFill>
            <a:srgbClr val="00B050"/>
          </a:solidFill>
          <a:ln w="25400" cap="flat" cmpd="sng">
            <a:solidFill>
              <a:srgbClr val="00B050"/>
            </a:solidFill>
            <a:prstDash val="solid"/>
            <a:round/>
            <a:headEnd type="none" w="sm" len="sm"/>
            <a:tailEnd type="none" w="sm" len="sm"/>
          </a:ln>
        </p:spPr>
        <p:txBody>
          <a:bodyPr spcFirstLastPara="1" wrap="square" lIns="55440" tIns="27713" rIns="55440" bIns="27713" anchor="ctr" anchorCtr="0">
            <a:noAutofit/>
          </a:bodyPr>
          <a:lstStyle/>
          <a:p>
            <a:pPr algn="ctr"/>
            <a:endParaRPr sz="849">
              <a:solidFill>
                <a:schemeClr val="lt1"/>
              </a:solidFill>
              <a:latin typeface="Arial"/>
              <a:ea typeface="Arial"/>
              <a:cs typeface="Arial"/>
              <a:sym typeface="Arial"/>
            </a:endParaRPr>
          </a:p>
        </p:txBody>
      </p:sp>
      <p:pic>
        <p:nvPicPr>
          <p:cNvPr id="10" name="Google Shape;141;p8">
            <a:extLst>
              <a:ext uri="{FF2B5EF4-FFF2-40B4-BE49-F238E27FC236}">
                <a16:creationId xmlns:a16="http://schemas.microsoft.com/office/drawing/2014/main" id="{4849B38C-2513-1BCD-815C-C1A05D71D2BA}"/>
              </a:ext>
            </a:extLst>
          </p:cNvPr>
          <p:cNvPicPr preferRelativeResize="0"/>
          <p:nvPr/>
        </p:nvPicPr>
        <p:blipFill rotWithShape="1">
          <a:blip r:embed="rId2">
            <a:alphaModFix/>
          </a:blip>
          <a:srcRect/>
          <a:stretch/>
        </p:blipFill>
        <p:spPr>
          <a:xfrm>
            <a:off x="2769042" y="3188230"/>
            <a:ext cx="5591138" cy="2764972"/>
          </a:xfrm>
          <a:prstGeom prst="rect">
            <a:avLst/>
          </a:prstGeom>
          <a:noFill/>
          <a:ln>
            <a:noFill/>
          </a:ln>
        </p:spPr>
      </p:pic>
    </p:spTree>
    <p:extLst>
      <p:ext uri="{BB962C8B-B14F-4D97-AF65-F5344CB8AC3E}">
        <p14:creationId xmlns:p14="http://schemas.microsoft.com/office/powerpoint/2010/main" val="3747594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35200" y="4491778"/>
            <a:ext cx="6302645" cy="615899"/>
          </a:xfrm>
        </p:spPr>
        <p:txBody>
          <a:bodyPr>
            <a:normAutofit fontScale="90000"/>
          </a:bodyPr>
          <a:lstStyle/>
          <a:p>
            <a:r>
              <a:rPr lang="es-CL" sz="4002" dirty="0"/>
              <a:t>NETBEANS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5512534" y="3752454"/>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latin typeface="Arial Black" panose="020B0604020202020204" pitchFamily="34" charset="0"/>
                <a:cs typeface="Arial Black" panose="020B0604020202020204" pitchFamily="34" charset="0"/>
              </a:rPr>
              <a:t>02</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MX" sz="2183" b="1" dirty="0">
                <a:solidFill>
                  <a:srgbClr val="222222"/>
                </a:solidFill>
                <a:latin typeface="Arial" panose="020B0604020202020204" pitchFamily="34" charset="0"/>
                <a:ea typeface="Calibri"/>
                <a:cs typeface="Arial" panose="020B0604020202020204" pitchFamily="34" charset="0"/>
                <a:sym typeface="Calibri"/>
              </a:rPr>
              <a:t>Características:</a:t>
            </a:r>
          </a:p>
          <a:p>
            <a:pPr algn="just"/>
            <a:endParaRPr lang="es-MX" sz="2183" b="1" dirty="0">
              <a:solidFill>
                <a:srgbClr val="222222"/>
              </a:solidFill>
              <a:latin typeface="Arial" panose="020B0604020202020204" pitchFamily="34" charset="0"/>
              <a:ea typeface="Calibri"/>
              <a:cs typeface="Arial" panose="020B0604020202020204" pitchFamily="34" charset="0"/>
              <a:sym typeface="Calibri"/>
            </a:endParaRPr>
          </a:p>
          <a:p>
            <a:pPr algn="just"/>
            <a:r>
              <a:rPr lang="es-MX" sz="2183" dirty="0">
                <a:solidFill>
                  <a:srgbClr val="222222"/>
                </a:solidFill>
                <a:latin typeface="Arial" panose="020B0604020202020204" pitchFamily="34" charset="0"/>
                <a:ea typeface="Calibri"/>
                <a:cs typeface="Arial" panose="020B0604020202020204" pitchFamily="34" charset="0"/>
                <a:sym typeface="Calibri"/>
              </a:rPr>
              <a:t>Es un entorno de desarrollo muy completo y utilizado por los programadores. </a:t>
            </a:r>
          </a:p>
          <a:p>
            <a:pPr algn="just"/>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algn="just"/>
            <a:r>
              <a:rPr lang="es-MX" sz="2183" dirty="0">
                <a:solidFill>
                  <a:srgbClr val="222222"/>
                </a:solidFill>
                <a:latin typeface="Arial" panose="020B0604020202020204" pitchFamily="34" charset="0"/>
                <a:ea typeface="Calibri"/>
                <a:cs typeface="Arial" panose="020B0604020202020204" pitchFamily="34" charset="0"/>
                <a:sym typeface="Calibri"/>
              </a:rPr>
              <a:t>Contiene muchas funcionalidades, para distintos tipos de aplicaciones, es multilenguaje y multiplataforma. </a:t>
            </a:r>
          </a:p>
          <a:p>
            <a:pPr algn="just"/>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algn="just"/>
            <a:r>
              <a:rPr lang="es-MX" sz="2183" dirty="0">
                <a:solidFill>
                  <a:srgbClr val="222222"/>
                </a:solidFill>
                <a:latin typeface="Arial" panose="020B0604020202020204" pitchFamily="34" charset="0"/>
                <a:ea typeface="Calibri"/>
                <a:cs typeface="Arial" panose="020B0604020202020204" pitchFamily="34" charset="0"/>
                <a:sym typeface="Calibri"/>
              </a:rPr>
              <a:t>Se pueden crear aplicaciones web y de escritorio,  facilitando al máximo la programación, la prueba y la depuración de las aplicaciones que se desarrollan. También incorpora un editor propio.</a:t>
            </a:r>
          </a:p>
          <a:p>
            <a:pPr algn="just"/>
            <a:endParaRPr lang="es-MX" sz="2183" dirty="0">
              <a:latin typeface="Arial" panose="020B0604020202020204" pitchFamily="34" charset="0"/>
              <a:cs typeface="Arial" panose="020B0604020202020204" pitchFamily="34" charset="0"/>
            </a:endParaRPr>
          </a:p>
          <a:p>
            <a:pPr algn="just"/>
            <a:r>
              <a:rPr lang="es-MX" sz="2183" dirty="0">
                <a:solidFill>
                  <a:srgbClr val="222222"/>
                </a:solidFill>
                <a:latin typeface="Arial" panose="020B0604020202020204" pitchFamily="34" charset="0"/>
                <a:ea typeface="Calibri"/>
                <a:cs typeface="Arial" panose="020B0604020202020204" pitchFamily="34" charset="0"/>
                <a:sym typeface="Calibri"/>
              </a:rPr>
              <a:t>El lenguaje que mejor soporta es Java, ya que fue creado por Oracle y su creación fue para ser el IDE de Java. </a:t>
            </a: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Google Shape;148;p9">
            <a:extLst>
              <a:ext uri="{FF2B5EF4-FFF2-40B4-BE49-F238E27FC236}">
                <a16:creationId xmlns:a16="http://schemas.microsoft.com/office/drawing/2014/main" id="{68CABED4-78BF-32E1-8242-5117FFC168F8}"/>
              </a:ext>
            </a:extLst>
          </p:cNvPr>
          <p:cNvPicPr preferRelativeResize="0"/>
          <p:nvPr/>
        </p:nvPicPr>
        <p:blipFill rotWithShape="1">
          <a:blip r:embed="rId2">
            <a:alphaModFix/>
          </a:blip>
          <a:srcRect/>
          <a:stretch/>
        </p:blipFill>
        <p:spPr>
          <a:xfrm>
            <a:off x="4062859" y="5670462"/>
            <a:ext cx="2772465" cy="946873"/>
          </a:xfrm>
          <a:prstGeom prst="rect">
            <a:avLst/>
          </a:prstGeom>
          <a:noFill/>
          <a:ln>
            <a:noFill/>
          </a:ln>
          <a:effectLst>
            <a:outerShdw blurRad="50800" dist="38100" dir="2700000" algn="tl" rotWithShape="0">
              <a:srgbClr val="CCCFD1">
                <a:alpha val="40000"/>
              </a:srgbClr>
            </a:outerShdw>
          </a:effectLst>
        </p:spPr>
      </p:pic>
    </p:spTree>
    <p:extLst>
      <p:ext uri="{BB962C8B-B14F-4D97-AF65-F5344CB8AC3E}">
        <p14:creationId xmlns:p14="http://schemas.microsoft.com/office/powerpoint/2010/main" val="1679239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Arial" panose="020B0604020202020204" pitchFamily="34" charset="0"/>
                <a:ea typeface="Calibri"/>
                <a:cs typeface="Arial" panose="020B0604020202020204" pitchFamily="34" charset="0"/>
                <a:sym typeface="Calibri"/>
              </a:rPr>
              <a:t>Instalación:</a:t>
            </a:r>
          </a:p>
          <a:p>
            <a:pPr marL="173279" indent="-173279">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Descárguelo de (seleccione la última versión): </a:t>
            </a:r>
            <a:r>
              <a:rPr lang="es-CL" sz="2183" u="sng" dirty="0">
                <a:solidFill>
                  <a:srgbClr val="32558E"/>
                </a:solidFill>
                <a:latin typeface="Arial" panose="020B0604020202020204" pitchFamily="34" charset="0"/>
                <a:cs typeface="Arial" panose="020B0604020202020204" pitchFamily="34" charset="0"/>
                <a:sym typeface="Arial"/>
                <a:hlinkClick r:id="rId2"/>
              </a:rPr>
              <a:t>https://netbeans.apache.org/download/index.html</a:t>
            </a:r>
            <a:endParaRPr lang="es-CL" sz="2183" dirty="0">
              <a:solidFill>
                <a:srgbClr val="32558E"/>
              </a:solidFill>
              <a:latin typeface="Arial" panose="020B0604020202020204" pitchFamily="34" charset="0"/>
              <a:cs typeface="Arial" panose="020B0604020202020204" pitchFamily="34" charset="0"/>
              <a:sym typeface="Arial"/>
            </a:endParaRPr>
          </a:p>
          <a:p>
            <a:pPr marL="173279" indent="-173279" algn="ctr">
              <a:buFont typeface="Arial" panose="020B0604020202020204" pitchFamily="34" charset="0"/>
              <a:buChar char="•"/>
            </a:pPr>
            <a:endParaRPr lang="es-CL" sz="2183" dirty="0">
              <a:solidFill>
                <a:srgbClr val="32558E"/>
              </a:solidFill>
              <a:latin typeface="Arial" panose="020B0604020202020204" pitchFamily="34" charset="0"/>
              <a:ea typeface="Calibri"/>
              <a:cs typeface="Arial" panose="020B0604020202020204" pitchFamily="34" charset="0"/>
              <a:sym typeface="Calibri"/>
            </a:endParaRPr>
          </a:p>
          <a:p>
            <a:pPr marL="173279" indent="-173279" algn="just">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Seleccione (1). </a:t>
            </a:r>
            <a:endParaRPr lang="es-ES_tradnl" sz="728" dirty="0">
              <a:latin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id="{1ADB5205-7AD9-337E-6620-A58CFB116240}"/>
              </a:ext>
            </a:extLst>
          </p:cNvPr>
          <p:cNvPicPr>
            <a:picLocks noChangeAspect="1"/>
          </p:cNvPicPr>
          <p:nvPr/>
        </p:nvPicPr>
        <p:blipFill>
          <a:blip r:embed="rId3"/>
          <a:stretch>
            <a:fillRect/>
          </a:stretch>
        </p:blipFill>
        <p:spPr>
          <a:xfrm>
            <a:off x="3693197" y="2527213"/>
            <a:ext cx="6422877" cy="3897456"/>
          </a:xfrm>
          <a:prstGeom prst="rect">
            <a:avLst/>
          </a:prstGeom>
        </p:spPr>
      </p:pic>
      <p:pic>
        <p:nvPicPr>
          <p:cNvPr id="8" name="Google Shape;157;p10" descr="Flecha recta">
            <a:extLst>
              <a:ext uri="{FF2B5EF4-FFF2-40B4-BE49-F238E27FC236}">
                <a16:creationId xmlns:a16="http://schemas.microsoft.com/office/drawing/2014/main" id="{CED36BDA-19D1-8776-59C6-B97878BC7494}"/>
              </a:ext>
            </a:extLst>
          </p:cNvPr>
          <p:cNvPicPr preferRelativeResize="0"/>
          <p:nvPr/>
        </p:nvPicPr>
        <p:blipFill rotWithShape="1">
          <a:blip r:embed="rId4">
            <a:alphaModFix/>
          </a:blip>
          <a:srcRect/>
          <a:stretch/>
        </p:blipFill>
        <p:spPr>
          <a:xfrm rot="-7909386">
            <a:off x="5267715" y="3568601"/>
            <a:ext cx="618938" cy="409999"/>
          </a:xfrm>
          <a:prstGeom prst="rect">
            <a:avLst/>
          </a:prstGeom>
          <a:noFill/>
          <a:ln>
            <a:noFill/>
          </a:ln>
        </p:spPr>
      </p:pic>
      <p:sp>
        <p:nvSpPr>
          <p:cNvPr id="9" name="Google Shape;159;p10">
            <a:extLst>
              <a:ext uri="{FF2B5EF4-FFF2-40B4-BE49-F238E27FC236}">
                <a16:creationId xmlns:a16="http://schemas.microsoft.com/office/drawing/2014/main" id="{3CC1A259-121A-468E-5664-8ECD177F96AA}"/>
              </a:ext>
            </a:extLst>
          </p:cNvPr>
          <p:cNvSpPr txBox="1"/>
          <p:nvPr/>
        </p:nvSpPr>
        <p:spPr>
          <a:xfrm>
            <a:off x="5577184" y="3740911"/>
            <a:ext cx="160722" cy="224008"/>
          </a:xfrm>
          <a:prstGeom prst="rect">
            <a:avLst/>
          </a:prstGeom>
          <a:noFill/>
          <a:ln>
            <a:noFill/>
          </a:ln>
        </p:spPr>
        <p:txBody>
          <a:bodyPr spcFirstLastPara="1" wrap="square" lIns="55440" tIns="27713" rIns="55440" bIns="27713" anchor="t" anchorCtr="0">
            <a:noAutofit/>
          </a:bodyPr>
          <a:lstStyle/>
          <a:p>
            <a:r>
              <a:rPr lang="en-US" sz="1213" dirty="0">
                <a:solidFill>
                  <a:srgbClr val="000000"/>
                </a:solidFill>
                <a:latin typeface="Arial"/>
                <a:ea typeface="Arial"/>
                <a:cs typeface="Arial"/>
                <a:sym typeface="Arial"/>
              </a:rPr>
              <a:t>1</a:t>
            </a:r>
            <a:endParaRPr sz="1092" dirty="0"/>
          </a:p>
        </p:txBody>
      </p:sp>
    </p:spTree>
    <p:extLst>
      <p:ext uri="{BB962C8B-B14F-4D97-AF65-F5344CB8AC3E}">
        <p14:creationId xmlns:p14="http://schemas.microsoft.com/office/powerpoint/2010/main" val="1852124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73279" indent="-173279" algn="just">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Seleccione (2). </a:t>
            </a:r>
            <a:endParaRPr lang="es-ES_tradnl" sz="728"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A590344D-1375-D628-ABC3-8CF5A23B9B0B}"/>
              </a:ext>
            </a:extLst>
          </p:cNvPr>
          <p:cNvPicPr>
            <a:picLocks noChangeAspect="1"/>
          </p:cNvPicPr>
          <p:nvPr/>
        </p:nvPicPr>
        <p:blipFill>
          <a:blip r:embed="rId2"/>
          <a:stretch>
            <a:fillRect/>
          </a:stretch>
        </p:blipFill>
        <p:spPr>
          <a:xfrm>
            <a:off x="3646990" y="1716642"/>
            <a:ext cx="6806903" cy="3967682"/>
          </a:xfrm>
          <a:prstGeom prst="rect">
            <a:avLst/>
          </a:prstGeom>
        </p:spPr>
      </p:pic>
      <p:pic>
        <p:nvPicPr>
          <p:cNvPr id="8" name="Google Shape;157;p10" descr="Flecha recta">
            <a:extLst>
              <a:ext uri="{FF2B5EF4-FFF2-40B4-BE49-F238E27FC236}">
                <a16:creationId xmlns:a16="http://schemas.microsoft.com/office/drawing/2014/main" id="{CED36BDA-19D1-8776-59C6-B97878BC7494}"/>
              </a:ext>
            </a:extLst>
          </p:cNvPr>
          <p:cNvPicPr preferRelativeResize="0"/>
          <p:nvPr/>
        </p:nvPicPr>
        <p:blipFill rotWithShape="1">
          <a:blip r:embed="rId3">
            <a:alphaModFix/>
          </a:blip>
          <a:srcRect/>
          <a:stretch/>
        </p:blipFill>
        <p:spPr>
          <a:xfrm rot="-7909386">
            <a:off x="5442033" y="2436126"/>
            <a:ext cx="618938" cy="409999"/>
          </a:xfrm>
          <a:prstGeom prst="rect">
            <a:avLst/>
          </a:prstGeom>
          <a:noFill/>
          <a:ln>
            <a:noFill/>
          </a:ln>
        </p:spPr>
      </p:pic>
      <p:sp>
        <p:nvSpPr>
          <p:cNvPr id="9" name="Google Shape;159;p10">
            <a:extLst>
              <a:ext uri="{FF2B5EF4-FFF2-40B4-BE49-F238E27FC236}">
                <a16:creationId xmlns:a16="http://schemas.microsoft.com/office/drawing/2014/main" id="{3CC1A259-121A-468E-5664-8ECD177F96AA}"/>
              </a:ext>
            </a:extLst>
          </p:cNvPr>
          <p:cNvSpPr txBox="1"/>
          <p:nvPr/>
        </p:nvSpPr>
        <p:spPr>
          <a:xfrm>
            <a:off x="5751502" y="2608436"/>
            <a:ext cx="160722" cy="224008"/>
          </a:xfrm>
          <a:prstGeom prst="rect">
            <a:avLst/>
          </a:prstGeom>
          <a:noFill/>
          <a:ln>
            <a:noFill/>
          </a:ln>
        </p:spPr>
        <p:txBody>
          <a:bodyPr spcFirstLastPara="1" wrap="square" lIns="55440" tIns="27713" rIns="55440" bIns="27713" anchor="t" anchorCtr="0">
            <a:noAutofit/>
          </a:bodyPr>
          <a:lstStyle/>
          <a:p>
            <a:r>
              <a:rPr lang="es-CL" sz="1092" b="1" dirty="0"/>
              <a:t>2</a:t>
            </a:r>
            <a:endParaRPr sz="1092" b="1" dirty="0"/>
          </a:p>
        </p:txBody>
      </p:sp>
    </p:spTree>
    <p:extLst>
      <p:ext uri="{BB962C8B-B14F-4D97-AF65-F5344CB8AC3E}">
        <p14:creationId xmlns:p14="http://schemas.microsoft.com/office/powerpoint/2010/main" val="3637869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73279" indent="-173279" algn="just">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Seleccione (3).</a:t>
            </a:r>
          </a:p>
          <a:p>
            <a:pPr marL="173279" indent="-173279" algn="just">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sym typeface="Calibri"/>
              </a:rPr>
              <a:t>Ejecuta e instala.</a:t>
            </a: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id="{739E295A-C59E-76B5-728F-93C334652731}"/>
              </a:ext>
            </a:extLst>
          </p:cNvPr>
          <p:cNvPicPr>
            <a:picLocks noChangeAspect="1"/>
          </p:cNvPicPr>
          <p:nvPr/>
        </p:nvPicPr>
        <p:blipFill>
          <a:blip r:embed="rId2"/>
          <a:stretch>
            <a:fillRect/>
          </a:stretch>
        </p:blipFill>
        <p:spPr>
          <a:xfrm>
            <a:off x="3138704" y="1303444"/>
            <a:ext cx="7927098" cy="4698777"/>
          </a:xfrm>
          <a:prstGeom prst="rect">
            <a:avLst/>
          </a:prstGeom>
        </p:spPr>
      </p:pic>
      <p:pic>
        <p:nvPicPr>
          <p:cNvPr id="8" name="Google Shape;157;p10" descr="Flecha recta">
            <a:extLst>
              <a:ext uri="{FF2B5EF4-FFF2-40B4-BE49-F238E27FC236}">
                <a16:creationId xmlns:a16="http://schemas.microsoft.com/office/drawing/2014/main" id="{CED36BDA-19D1-8776-59C6-B97878BC7494}"/>
              </a:ext>
            </a:extLst>
          </p:cNvPr>
          <p:cNvPicPr preferRelativeResize="0"/>
          <p:nvPr/>
        </p:nvPicPr>
        <p:blipFill rotWithShape="1">
          <a:blip r:embed="rId3">
            <a:alphaModFix/>
          </a:blip>
          <a:srcRect/>
          <a:stretch/>
        </p:blipFill>
        <p:spPr>
          <a:xfrm rot="-7909386">
            <a:off x="4898054" y="2389919"/>
            <a:ext cx="618938" cy="409999"/>
          </a:xfrm>
          <a:prstGeom prst="rect">
            <a:avLst/>
          </a:prstGeom>
          <a:noFill/>
          <a:ln>
            <a:noFill/>
          </a:ln>
        </p:spPr>
      </p:pic>
      <p:sp>
        <p:nvSpPr>
          <p:cNvPr id="9" name="Google Shape;159;p10">
            <a:extLst>
              <a:ext uri="{FF2B5EF4-FFF2-40B4-BE49-F238E27FC236}">
                <a16:creationId xmlns:a16="http://schemas.microsoft.com/office/drawing/2014/main" id="{3CC1A259-121A-468E-5664-8ECD177F96AA}"/>
              </a:ext>
            </a:extLst>
          </p:cNvPr>
          <p:cNvSpPr txBox="1"/>
          <p:nvPr/>
        </p:nvSpPr>
        <p:spPr>
          <a:xfrm>
            <a:off x="5207522" y="2562229"/>
            <a:ext cx="160722" cy="224008"/>
          </a:xfrm>
          <a:prstGeom prst="rect">
            <a:avLst/>
          </a:prstGeom>
          <a:noFill/>
          <a:ln>
            <a:noFill/>
          </a:ln>
        </p:spPr>
        <p:txBody>
          <a:bodyPr spcFirstLastPara="1" wrap="square" lIns="55440" tIns="27713" rIns="55440" bIns="27713" anchor="t" anchorCtr="0">
            <a:noAutofit/>
          </a:bodyPr>
          <a:lstStyle/>
          <a:p>
            <a:r>
              <a:rPr lang="es-CL" sz="1092" b="1" dirty="0"/>
              <a:t>3</a:t>
            </a:r>
            <a:endParaRPr sz="1092" b="1" dirty="0"/>
          </a:p>
        </p:txBody>
      </p:sp>
    </p:spTree>
    <p:extLst>
      <p:ext uri="{BB962C8B-B14F-4D97-AF65-F5344CB8AC3E}">
        <p14:creationId xmlns:p14="http://schemas.microsoft.com/office/powerpoint/2010/main" val="1607281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73279" indent="-173279" algn="just">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Descomprimiendo y configurando </a:t>
            </a:r>
          </a:p>
          <a:p>
            <a:pPr algn="just"/>
            <a:r>
              <a:rPr lang="es-CL" sz="2183" dirty="0">
                <a:solidFill>
                  <a:srgbClr val="222222"/>
                </a:solidFill>
                <a:latin typeface="Arial" panose="020B0604020202020204" pitchFamily="34" charset="0"/>
                <a:ea typeface="Calibri"/>
                <a:cs typeface="Arial" panose="020B0604020202020204" pitchFamily="34" charset="0"/>
                <a:sym typeface="Calibri"/>
              </a:rPr>
              <a:t>  el instalador</a:t>
            </a:r>
            <a:r>
              <a:rPr lang="es-CL" sz="2183" dirty="0">
                <a:solidFill>
                  <a:srgbClr val="222222"/>
                </a:solidFill>
                <a:latin typeface="Arial" panose="020B0604020202020204" pitchFamily="34" charset="0"/>
                <a:cs typeface="Arial" panose="020B0604020202020204" pitchFamily="34" charset="0"/>
                <a:sym typeface="Calibri"/>
              </a:rPr>
              <a:t>.</a:t>
            </a: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D01AD81F-13B6-7362-C99F-3AEB8305CF81}"/>
              </a:ext>
            </a:extLst>
          </p:cNvPr>
          <p:cNvPicPr>
            <a:picLocks noChangeAspect="1"/>
          </p:cNvPicPr>
          <p:nvPr/>
        </p:nvPicPr>
        <p:blipFill>
          <a:blip r:embed="rId2"/>
          <a:stretch>
            <a:fillRect/>
          </a:stretch>
        </p:blipFill>
        <p:spPr>
          <a:xfrm>
            <a:off x="689694" y="2149430"/>
            <a:ext cx="4274096" cy="1802102"/>
          </a:xfrm>
          <a:prstGeom prst="rect">
            <a:avLst/>
          </a:prstGeom>
        </p:spPr>
      </p:pic>
      <p:pic>
        <p:nvPicPr>
          <p:cNvPr id="4" name="Imagen 3">
            <a:extLst>
              <a:ext uri="{FF2B5EF4-FFF2-40B4-BE49-F238E27FC236}">
                <a16:creationId xmlns:a16="http://schemas.microsoft.com/office/drawing/2014/main" id="{A6EA2736-4C64-9E8A-BD9B-7F5EB4F480B1}"/>
              </a:ext>
            </a:extLst>
          </p:cNvPr>
          <p:cNvPicPr>
            <a:picLocks noChangeAspect="1"/>
          </p:cNvPicPr>
          <p:nvPr/>
        </p:nvPicPr>
        <p:blipFill>
          <a:blip r:embed="rId3"/>
          <a:stretch>
            <a:fillRect/>
          </a:stretch>
        </p:blipFill>
        <p:spPr>
          <a:xfrm>
            <a:off x="6349950" y="1720688"/>
            <a:ext cx="5152357" cy="4340777"/>
          </a:xfrm>
          <a:prstGeom prst="rect">
            <a:avLst/>
          </a:prstGeom>
        </p:spPr>
      </p:pic>
      <p:sp>
        <p:nvSpPr>
          <p:cNvPr id="11" name="CuadroTexto 10">
            <a:extLst>
              <a:ext uri="{FF2B5EF4-FFF2-40B4-BE49-F238E27FC236}">
                <a16:creationId xmlns:a16="http://schemas.microsoft.com/office/drawing/2014/main" id="{7AC1E060-023B-8777-2B74-74CA3A2C6087}"/>
              </a:ext>
            </a:extLst>
          </p:cNvPr>
          <p:cNvSpPr txBox="1"/>
          <p:nvPr/>
        </p:nvSpPr>
        <p:spPr>
          <a:xfrm>
            <a:off x="3966494" y="4388225"/>
            <a:ext cx="2171764" cy="764184"/>
          </a:xfrm>
          <a:prstGeom prst="rect">
            <a:avLst/>
          </a:prstGeom>
          <a:noFill/>
        </p:spPr>
        <p:txBody>
          <a:bodyPr wrap="square">
            <a:spAutoFit/>
          </a:bodyPr>
          <a:lstStyle/>
          <a:p>
            <a:pPr marL="173279" indent="-173279" algn="just">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sym typeface="Calibri"/>
              </a:rPr>
              <a:t>Seleccione (4).</a:t>
            </a:r>
          </a:p>
        </p:txBody>
      </p:sp>
      <p:pic>
        <p:nvPicPr>
          <p:cNvPr id="12" name="Google Shape;157;p10" descr="Flecha recta">
            <a:extLst>
              <a:ext uri="{FF2B5EF4-FFF2-40B4-BE49-F238E27FC236}">
                <a16:creationId xmlns:a16="http://schemas.microsoft.com/office/drawing/2014/main" id="{FE2FAE19-0F83-993D-0FEE-9245DF24BFA9}"/>
              </a:ext>
            </a:extLst>
          </p:cNvPr>
          <p:cNvPicPr preferRelativeResize="0"/>
          <p:nvPr/>
        </p:nvPicPr>
        <p:blipFill rotWithShape="1">
          <a:blip r:embed="rId4">
            <a:alphaModFix/>
          </a:blip>
          <a:srcRect/>
          <a:stretch/>
        </p:blipFill>
        <p:spPr>
          <a:xfrm rot="-7909386">
            <a:off x="7624310" y="4746513"/>
            <a:ext cx="618938" cy="409999"/>
          </a:xfrm>
          <a:prstGeom prst="rect">
            <a:avLst/>
          </a:prstGeom>
          <a:noFill/>
          <a:ln>
            <a:noFill/>
          </a:ln>
        </p:spPr>
      </p:pic>
      <p:sp>
        <p:nvSpPr>
          <p:cNvPr id="13" name="Google Shape;159;p10">
            <a:extLst>
              <a:ext uri="{FF2B5EF4-FFF2-40B4-BE49-F238E27FC236}">
                <a16:creationId xmlns:a16="http://schemas.microsoft.com/office/drawing/2014/main" id="{5094099C-3A1E-6209-72A4-9FB2A4631FF8}"/>
              </a:ext>
            </a:extLst>
          </p:cNvPr>
          <p:cNvSpPr txBox="1"/>
          <p:nvPr/>
        </p:nvSpPr>
        <p:spPr>
          <a:xfrm>
            <a:off x="7933778" y="4951898"/>
            <a:ext cx="160722" cy="224008"/>
          </a:xfrm>
          <a:prstGeom prst="rect">
            <a:avLst/>
          </a:prstGeom>
          <a:noFill/>
          <a:ln>
            <a:noFill/>
          </a:ln>
        </p:spPr>
        <p:txBody>
          <a:bodyPr spcFirstLastPara="1" wrap="square" lIns="55440" tIns="27713" rIns="55440" bIns="27713" anchor="t" anchorCtr="0">
            <a:noAutofit/>
          </a:bodyPr>
          <a:lstStyle/>
          <a:p>
            <a:r>
              <a:rPr lang="es-CL" sz="1092" b="1" dirty="0"/>
              <a:t>4</a:t>
            </a:r>
            <a:endParaRPr sz="1092" b="1" dirty="0"/>
          </a:p>
        </p:txBody>
      </p:sp>
    </p:spTree>
    <p:extLst>
      <p:ext uri="{BB962C8B-B14F-4D97-AF65-F5344CB8AC3E}">
        <p14:creationId xmlns:p14="http://schemas.microsoft.com/office/powerpoint/2010/main" val="2431809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6558" indent="-346558" algn="just">
              <a:buFont typeface="Arial" panose="020B0604020202020204" pitchFamily="34" charset="0"/>
              <a:buChar char="•"/>
            </a:pPr>
            <a:r>
              <a:rPr lang="es-CL" sz="2183" dirty="0">
                <a:solidFill>
                  <a:srgbClr val="222222"/>
                </a:solidFill>
                <a:latin typeface="Arial" panose="020B0604020202020204" pitchFamily="34" charset="0"/>
                <a:ea typeface="Calibri"/>
                <a:cs typeface="Arial" panose="020B0604020202020204" pitchFamily="34" charset="0"/>
                <a:sym typeface="Calibri"/>
              </a:rPr>
              <a:t>Seleccione las opciones marcadas</a:t>
            </a:r>
            <a:r>
              <a:rPr lang="es-CL" sz="2183" dirty="0">
                <a:solidFill>
                  <a:srgbClr val="222222"/>
                </a:solidFill>
                <a:latin typeface="Arial" panose="020B0604020202020204" pitchFamily="34" charset="0"/>
                <a:cs typeface="Arial" panose="020B0604020202020204" pitchFamily="34" charset="0"/>
                <a:sym typeface="Calibri"/>
              </a:rPr>
              <a:t>.               </a:t>
            </a:r>
            <a:r>
              <a:rPr lang="es-CL" sz="2183" dirty="0">
                <a:solidFill>
                  <a:srgbClr val="222222"/>
                </a:solidFill>
                <a:latin typeface="Arial" panose="020B0604020202020204" pitchFamily="34" charset="0"/>
                <a:ea typeface="Calibri"/>
                <a:cs typeface="Arial" panose="020B0604020202020204" pitchFamily="34" charset="0"/>
                <a:sym typeface="Calibri"/>
              </a:rPr>
              <a:t>Instalación.</a:t>
            </a:r>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8" name="Imagen 7">
            <a:extLst>
              <a:ext uri="{FF2B5EF4-FFF2-40B4-BE49-F238E27FC236}">
                <a16:creationId xmlns:a16="http://schemas.microsoft.com/office/drawing/2014/main" id="{5B2D3ED8-B4D5-2C24-44B3-918EAD958029}"/>
              </a:ext>
            </a:extLst>
          </p:cNvPr>
          <p:cNvPicPr>
            <a:picLocks noChangeAspect="1"/>
          </p:cNvPicPr>
          <p:nvPr/>
        </p:nvPicPr>
        <p:blipFill>
          <a:blip r:embed="rId2"/>
          <a:stretch>
            <a:fillRect/>
          </a:stretch>
        </p:blipFill>
        <p:spPr>
          <a:xfrm>
            <a:off x="479124" y="1790892"/>
            <a:ext cx="5360099" cy="4200369"/>
          </a:xfrm>
          <a:prstGeom prst="rect">
            <a:avLst/>
          </a:prstGeom>
        </p:spPr>
      </p:pic>
      <p:pic>
        <p:nvPicPr>
          <p:cNvPr id="9" name="Imagen 8">
            <a:extLst>
              <a:ext uri="{FF2B5EF4-FFF2-40B4-BE49-F238E27FC236}">
                <a16:creationId xmlns:a16="http://schemas.microsoft.com/office/drawing/2014/main" id="{5B8E2CE2-2A4C-948E-919A-E3AF3899F773}"/>
              </a:ext>
            </a:extLst>
          </p:cNvPr>
          <p:cNvPicPr>
            <a:picLocks noChangeAspect="1"/>
          </p:cNvPicPr>
          <p:nvPr/>
        </p:nvPicPr>
        <p:blipFill>
          <a:blip r:embed="rId3"/>
          <a:stretch>
            <a:fillRect/>
          </a:stretch>
        </p:blipFill>
        <p:spPr>
          <a:xfrm>
            <a:off x="6353549" y="1774798"/>
            <a:ext cx="5359327" cy="4147057"/>
          </a:xfrm>
          <a:prstGeom prst="rect">
            <a:avLst/>
          </a:prstGeom>
        </p:spPr>
      </p:pic>
    </p:spTree>
    <p:extLst>
      <p:ext uri="{BB962C8B-B14F-4D97-AF65-F5344CB8AC3E}">
        <p14:creationId xmlns:p14="http://schemas.microsoft.com/office/powerpoint/2010/main" val="126815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rtl="0"/>
            <a:r>
              <a:rPr lang="es-MX" sz="2183" dirty="0">
                <a:latin typeface="Arial" panose="020B0604020202020204" pitchFamily="34" charset="0"/>
                <a:ea typeface="Calibri"/>
                <a:cs typeface="Arial" panose="020B0604020202020204" pitchFamily="34" charset="0"/>
                <a:sym typeface="Calibri"/>
              </a:rPr>
              <a:t>Al iniciar NetBeans, se abre una página de inicio con información del entorno y proyectos recientes.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03E5550B-C0B8-F5E4-6A31-AB3751A9C3A6}"/>
              </a:ext>
            </a:extLst>
          </p:cNvPr>
          <p:cNvPicPr>
            <a:picLocks noChangeAspect="1"/>
          </p:cNvPicPr>
          <p:nvPr/>
        </p:nvPicPr>
        <p:blipFill>
          <a:blip r:embed="rId2"/>
          <a:stretch>
            <a:fillRect/>
          </a:stretch>
        </p:blipFill>
        <p:spPr>
          <a:xfrm>
            <a:off x="5064990" y="1719313"/>
            <a:ext cx="1031010" cy="1273601"/>
          </a:xfrm>
          <a:prstGeom prst="rect">
            <a:avLst/>
          </a:prstGeom>
        </p:spPr>
      </p:pic>
      <p:pic>
        <p:nvPicPr>
          <p:cNvPr id="4" name="Imagen 3">
            <a:extLst>
              <a:ext uri="{FF2B5EF4-FFF2-40B4-BE49-F238E27FC236}">
                <a16:creationId xmlns:a16="http://schemas.microsoft.com/office/drawing/2014/main" id="{99C0D620-4E12-DE85-6ECB-F66965063209}"/>
              </a:ext>
            </a:extLst>
          </p:cNvPr>
          <p:cNvPicPr>
            <a:picLocks noChangeAspect="1"/>
          </p:cNvPicPr>
          <p:nvPr/>
        </p:nvPicPr>
        <p:blipFill>
          <a:blip r:embed="rId3"/>
          <a:stretch>
            <a:fillRect/>
          </a:stretch>
        </p:blipFill>
        <p:spPr>
          <a:xfrm>
            <a:off x="2214549" y="3106953"/>
            <a:ext cx="6931162" cy="3751047"/>
          </a:xfrm>
          <a:prstGeom prst="rect">
            <a:avLst/>
          </a:prstGeom>
        </p:spPr>
      </p:pic>
      <p:pic>
        <p:nvPicPr>
          <p:cNvPr id="7" name="Google Shape;170;p11" descr="Flecha con giro a la izquierda">
            <a:extLst>
              <a:ext uri="{FF2B5EF4-FFF2-40B4-BE49-F238E27FC236}">
                <a16:creationId xmlns:a16="http://schemas.microsoft.com/office/drawing/2014/main" id="{98498387-92AE-980C-7081-F418D2310881}"/>
              </a:ext>
            </a:extLst>
          </p:cNvPr>
          <p:cNvPicPr preferRelativeResize="0"/>
          <p:nvPr/>
        </p:nvPicPr>
        <p:blipFill rotWithShape="1">
          <a:blip r:embed="rId4">
            <a:alphaModFix/>
          </a:blip>
          <a:srcRect/>
          <a:stretch/>
        </p:blipFill>
        <p:spPr>
          <a:xfrm>
            <a:off x="3870731" y="2349928"/>
            <a:ext cx="1173790" cy="757025"/>
          </a:xfrm>
          <a:prstGeom prst="rect">
            <a:avLst/>
          </a:prstGeom>
          <a:noFill/>
          <a:ln>
            <a:noFill/>
          </a:ln>
        </p:spPr>
      </p:pic>
    </p:spTree>
    <p:extLst>
      <p:ext uri="{BB962C8B-B14F-4D97-AF65-F5344CB8AC3E}">
        <p14:creationId xmlns:p14="http://schemas.microsoft.com/office/powerpoint/2010/main" val="2348580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183" dirty="0">
                <a:solidFill>
                  <a:srgbClr val="222222"/>
                </a:solidFill>
                <a:latin typeface="Arial" panose="020B0604020202020204" pitchFamily="34" charset="0"/>
                <a:ea typeface="Calibri"/>
                <a:cs typeface="Arial" panose="020B0604020202020204" pitchFamily="34" charset="0"/>
                <a:sym typeface="Calibri"/>
              </a:rPr>
              <a:t>Sus paneles principales son: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9" name="Imagen 8">
            <a:extLst>
              <a:ext uri="{FF2B5EF4-FFF2-40B4-BE49-F238E27FC236}">
                <a16:creationId xmlns:a16="http://schemas.microsoft.com/office/drawing/2014/main" id="{A375A001-2BA3-3045-C652-464BDF9CE838}"/>
              </a:ext>
            </a:extLst>
          </p:cNvPr>
          <p:cNvPicPr>
            <a:picLocks noChangeAspect="1"/>
          </p:cNvPicPr>
          <p:nvPr/>
        </p:nvPicPr>
        <p:blipFill>
          <a:blip r:embed="rId2"/>
          <a:stretch>
            <a:fillRect/>
          </a:stretch>
        </p:blipFill>
        <p:spPr>
          <a:xfrm>
            <a:off x="597278" y="1765521"/>
            <a:ext cx="8380328" cy="4534730"/>
          </a:xfrm>
          <a:prstGeom prst="rect">
            <a:avLst/>
          </a:prstGeom>
        </p:spPr>
      </p:pic>
      <p:pic>
        <p:nvPicPr>
          <p:cNvPr id="10" name="Google Shape;157;p10" descr="Flecha recta">
            <a:extLst>
              <a:ext uri="{FF2B5EF4-FFF2-40B4-BE49-F238E27FC236}">
                <a16:creationId xmlns:a16="http://schemas.microsoft.com/office/drawing/2014/main" id="{F98DC7F0-B237-26CF-C92C-4830B5D4037B}"/>
              </a:ext>
            </a:extLst>
          </p:cNvPr>
          <p:cNvPicPr preferRelativeResize="0"/>
          <p:nvPr/>
        </p:nvPicPr>
        <p:blipFill rotWithShape="1">
          <a:blip r:embed="rId3">
            <a:alphaModFix/>
          </a:blip>
          <a:srcRect/>
          <a:stretch/>
        </p:blipFill>
        <p:spPr>
          <a:xfrm rot="-7909386">
            <a:off x="1165756" y="1418740"/>
            <a:ext cx="618938" cy="409999"/>
          </a:xfrm>
          <a:prstGeom prst="rect">
            <a:avLst/>
          </a:prstGeom>
          <a:noFill/>
          <a:ln>
            <a:noFill/>
          </a:ln>
        </p:spPr>
      </p:pic>
      <p:sp>
        <p:nvSpPr>
          <p:cNvPr id="11" name="Google Shape;159;p10">
            <a:extLst>
              <a:ext uri="{FF2B5EF4-FFF2-40B4-BE49-F238E27FC236}">
                <a16:creationId xmlns:a16="http://schemas.microsoft.com/office/drawing/2014/main" id="{CCE09ACF-DD39-86C4-AF54-DF7CA68F427B}"/>
              </a:ext>
            </a:extLst>
          </p:cNvPr>
          <p:cNvSpPr txBox="1"/>
          <p:nvPr/>
        </p:nvSpPr>
        <p:spPr>
          <a:xfrm>
            <a:off x="1475225" y="1624125"/>
            <a:ext cx="160722" cy="224008"/>
          </a:xfrm>
          <a:prstGeom prst="rect">
            <a:avLst/>
          </a:prstGeom>
          <a:noFill/>
          <a:ln>
            <a:noFill/>
          </a:ln>
        </p:spPr>
        <p:txBody>
          <a:bodyPr spcFirstLastPara="1" wrap="square" lIns="55440" tIns="27713" rIns="55440" bIns="27713" anchor="t" anchorCtr="0">
            <a:noAutofit/>
          </a:bodyPr>
          <a:lstStyle/>
          <a:p>
            <a:r>
              <a:rPr lang="es-CL" sz="1092" b="1" dirty="0"/>
              <a:t>1</a:t>
            </a:r>
            <a:endParaRPr sz="1092" b="1" dirty="0"/>
          </a:p>
        </p:txBody>
      </p:sp>
      <p:sp>
        <p:nvSpPr>
          <p:cNvPr id="12" name="Elipse 11">
            <a:extLst>
              <a:ext uri="{FF2B5EF4-FFF2-40B4-BE49-F238E27FC236}">
                <a16:creationId xmlns:a16="http://schemas.microsoft.com/office/drawing/2014/main" id="{E6E7758D-7236-69EC-8017-97FE87B485B5}"/>
              </a:ext>
            </a:extLst>
          </p:cNvPr>
          <p:cNvSpPr/>
          <p:nvPr/>
        </p:nvSpPr>
        <p:spPr>
          <a:xfrm>
            <a:off x="576809" y="1848133"/>
            <a:ext cx="2515687" cy="36693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pic>
        <p:nvPicPr>
          <p:cNvPr id="15" name="Google Shape;157;p10" descr="Flecha recta">
            <a:extLst>
              <a:ext uri="{FF2B5EF4-FFF2-40B4-BE49-F238E27FC236}">
                <a16:creationId xmlns:a16="http://schemas.microsoft.com/office/drawing/2014/main" id="{716F3147-0389-5D5E-6B29-F3F9D27BBBD9}"/>
              </a:ext>
            </a:extLst>
          </p:cNvPr>
          <p:cNvPicPr preferRelativeResize="0"/>
          <p:nvPr/>
        </p:nvPicPr>
        <p:blipFill rotWithShape="1">
          <a:blip r:embed="rId3">
            <a:alphaModFix/>
          </a:blip>
          <a:srcRect/>
          <a:stretch/>
        </p:blipFill>
        <p:spPr>
          <a:xfrm rot="19388210">
            <a:off x="3045570" y="2363561"/>
            <a:ext cx="618938" cy="409999"/>
          </a:xfrm>
          <a:prstGeom prst="rect">
            <a:avLst/>
          </a:prstGeom>
          <a:noFill/>
          <a:ln>
            <a:noFill/>
          </a:ln>
        </p:spPr>
      </p:pic>
      <p:sp>
        <p:nvSpPr>
          <p:cNvPr id="16" name="Google Shape;159;p10">
            <a:extLst>
              <a:ext uri="{FF2B5EF4-FFF2-40B4-BE49-F238E27FC236}">
                <a16:creationId xmlns:a16="http://schemas.microsoft.com/office/drawing/2014/main" id="{BF2F7EF9-6151-3855-08BE-7E57488EEBA2}"/>
              </a:ext>
            </a:extLst>
          </p:cNvPr>
          <p:cNvSpPr txBox="1"/>
          <p:nvPr/>
        </p:nvSpPr>
        <p:spPr>
          <a:xfrm>
            <a:off x="3156630" y="2543851"/>
            <a:ext cx="177521" cy="398428"/>
          </a:xfrm>
          <a:prstGeom prst="rect">
            <a:avLst/>
          </a:prstGeom>
          <a:noFill/>
          <a:ln>
            <a:noFill/>
          </a:ln>
        </p:spPr>
        <p:txBody>
          <a:bodyPr spcFirstLastPara="1" wrap="square" lIns="55440" tIns="27713" rIns="55440" bIns="27713" anchor="t" anchorCtr="0">
            <a:noAutofit/>
          </a:bodyPr>
          <a:lstStyle/>
          <a:p>
            <a:r>
              <a:rPr lang="es-CL" sz="1092" b="1" dirty="0"/>
              <a:t>2</a:t>
            </a:r>
            <a:endParaRPr sz="1092" b="1" dirty="0"/>
          </a:p>
        </p:txBody>
      </p:sp>
      <p:sp>
        <p:nvSpPr>
          <p:cNvPr id="17" name="Elipse 16">
            <a:extLst>
              <a:ext uri="{FF2B5EF4-FFF2-40B4-BE49-F238E27FC236}">
                <a16:creationId xmlns:a16="http://schemas.microsoft.com/office/drawing/2014/main" id="{A12F8961-C95E-C1C2-C60E-A3CB81A66B80}"/>
              </a:ext>
            </a:extLst>
          </p:cNvPr>
          <p:cNvSpPr/>
          <p:nvPr/>
        </p:nvSpPr>
        <p:spPr>
          <a:xfrm>
            <a:off x="386137" y="2215453"/>
            <a:ext cx="2862746" cy="231670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18" name="Elipse 17">
            <a:extLst>
              <a:ext uri="{FF2B5EF4-FFF2-40B4-BE49-F238E27FC236}">
                <a16:creationId xmlns:a16="http://schemas.microsoft.com/office/drawing/2014/main" id="{CFAAD6FE-D282-BE83-35E8-9951F68F4F09}"/>
              </a:ext>
            </a:extLst>
          </p:cNvPr>
          <p:cNvSpPr/>
          <p:nvPr/>
        </p:nvSpPr>
        <p:spPr>
          <a:xfrm>
            <a:off x="3222969" y="1876566"/>
            <a:ext cx="2515687" cy="36693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pic>
        <p:nvPicPr>
          <p:cNvPr id="19" name="Google Shape;157;p10" descr="Flecha recta">
            <a:extLst>
              <a:ext uri="{FF2B5EF4-FFF2-40B4-BE49-F238E27FC236}">
                <a16:creationId xmlns:a16="http://schemas.microsoft.com/office/drawing/2014/main" id="{F900CBA3-51A8-0889-01DD-3B6EDB7C27B4}"/>
              </a:ext>
            </a:extLst>
          </p:cNvPr>
          <p:cNvPicPr preferRelativeResize="0"/>
          <p:nvPr/>
        </p:nvPicPr>
        <p:blipFill rotWithShape="1">
          <a:blip r:embed="rId3">
            <a:alphaModFix/>
          </a:blip>
          <a:srcRect/>
          <a:stretch/>
        </p:blipFill>
        <p:spPr>
          <a:xfrm rot="-7909386">
            <a:off x="4378249" y="1419125"/>
            <a:ext cx="618938" cy="409999"/>
          </a:xfrm>
          <a:prstGeom prst="rect">
            <a:avLst/>
          </a:prstGeom>
          <a:noFill/>
          <a:ln>
            <a:noFill/>
          </a:ln>
        </p:spPr>
      </p:pic>
      <p:sp>
        <p:nvSpPr>
          <p:cNvPr id="20" name="Google Shape;159;p10">
            <a:extLst>
              <a:ext uri="{FF2B5EF4-FFF2-40B4-BE49-F238E27FC236}">
                <a16:creationId xmlns:a16="http://schemas.microsoft.com/office/drawing/2014/main" id="{BD782A9C-C87A-8185-8F2C-8555DC535AA3}"/>
              </a:ext>
            </a:extLst>
          </p:cNvPr>
          <p:cNvSpPr txBox="1"/>
          <p:nvPr/>
        </p:nvSpPr>
        <p:spPr>
          <a:xfrm>
            <a:off x="4687718" y="1624509"/>
            <a:ext cx="160722" cy="224008"/>
          </a:xfrm>
          <a:prstGeom prst="rect">
            <a:avLst/>
          </a:prstGeom>
          <a:noFill/>
          <a:ln>
            <a:noFill/>
          </a:ln>
        </p:spPr>
        <p:txBody>
          <a:bodyPr spcFirstLastPara="1" wrap="square" lIns="55440" tIns="27713" rIns="55440" bIns="27713" anchor="t" anchorCtr="0">
            <a:noAutofit/>
          </a:bodyPr>
          <a:lstStyle/>
          <a:p>
            <a:r>
              <a:rPr lang="es-CL" sz="1092" b="1" dirty="0"/>
              <a:t>3</a:t>
            </a:r>
            <a:endParaRPr sz="1092" b="1" dirty="0"/>
          </a:p>
        </p:txBody>
      </p:sp>
      <p:sp>
        <p:nvSpPr>
          <p:cNvPr id="22" name="Elipse 21">
            <a:extLst>
              <a:ext uri="{FF2B5EF4-FFF2-40B4-BE49-F238E27FC236}">
                <a16:creationId xmlns:a16="http://schemas.microsoft.com/office/drawing/2014/main" id="{7E949DAD-A790-1062-0B19-AE2042AC62D6}"/>
              </a:ext>
            </a:extLst>
          </p:cNvPr>
          <p:cNvSpPr/>
          <p:nvPr/>
        </p:nvSpPr>
        <p:spPr>
          <a:xfrm>
            <a:off x="3321401" y="2449219"/>
            <a:ext cx="5223610" cy="385103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pic>
        <p:nvPicPr>
          <p:cNvPr id="23" name="Google Shape;157;p10" descr="Flecha recta">
            <a:extLst>
              <a:ext uri="{FF2B5EF4-FFF2-40B4-BE49-F238E27FC236}">
                <a16:creationId xmlns:a16="http://schemas.microsoft.com/office/drawing/2014/main" id="{67565926-5810-D026-3832-40D3FD46F52D}"/>
              </a:ext>
            </a:extLst>
          </p:cNvPr>
          <p:cNvPicPr preferRelativeResize="0"/>
          <p:nvPr/>
        </p:nvPicPr>
        <p:blipFill rotWithShape="1">
          <a:blip r:embed="rId3">
            <a:alphaModFix/>
          </a:blip>
          <a:srcRect/>
          <a:stretch/>
        </p:blipFill>
        <p:spPr>
          <a:xfrm rot="19388210">
            <a:off x="7728953" y="2593886"/>
            <a:ext cx="618938" cy="409999"/>
          </a:xfrm>
          <a:prstGeom prst="rect">
            <a:avLst/>
          </a:prstGeom>
          <a:noFill/>
          <a:ln>
            <a:noFill/>
          </a:ln>
        </p:spPr>
      </p:pic>
      <p:sp>
        <p:nvSpPr>
          <p:cNvPr id="24" name="Google Shape;159;p10">
            <a:extLst>
              <a:ext uri="{FF2B5EF4-FFF2-40B4-BE49-F238E27FC236}">
                <a16:creationId xmlns:a16="http://schemas.microsoft.com/office/drawing/2014/main" id="{9E96814A-CED8-72CC-213B-B0661D7DB16B}"/>
              </a:ext>
            </a:extLst>
          </p:cNvPr>
          <p:cNvSpPr txBox="1"/>
          <p:nvPr/>
        </p:nvSpPr>
        <p:spPr>
          <a:xfrm>
            <a:off x="7840013" y="2774176"/>
            <a:ext cx="177521" cy="398428"/>
          </a:xfrm>
          <a:prstGeom prst="rect">
            <a:avLst/>
          </a:prstGeom>
          <a:noFill/>
          <a:ln>
            <a:noFill/>
          </a:ln>
        </p:spPr>
        <p:txBody>
          <a:bodyPr spcFirstLastPara="1" wrap="square" lIns="55440" tIns="27713" rIns="55440" bIns="27713" anchor="t" anchorCtr="0">
            <a:noAutofit/>
          </a:bodyPr>
          <a:lstStyle/>
          <a:p>
            <a:r>
              <a:rPr lang="es-CL" sz="1092" b="1" dirty="0"/>
              <a:t>4</a:t>
            </a:r>
            <a:endParaRPr sz="1092" b="1" dirty="0"/>
          </a:p>
        </p:txBody>
      </p:sp>
      <p:sp>
        <p:nvSpPr>
          <p:cNvPr id="26" name="CuadroTexto 25">
            <a:extLst>
              <a:ext uri="{FF2B5EF4-FFF2-40B4-BE49-F238E27FC236}">
                <a16:creationId xmlns:a16="http://schemas.microsoft.com/office/drawing/2014/main" id="{1FDF8398-5A98-AFC6-032F-BDC5789C2617}"/>
              </a:ext>
            </a:extLst>
          </p:cNvPr>
          <p:cNvSpPr txBox="1"/>
          <p:nvPr/>
        </p:nvSpPr>
        <p:spPr>
          <a:xfrm>
            <a:off x="9050124" y="1966319"/>
            <a:ext cx="2898968" cy="2779735"/>
          </a:xfrm>
          <a:prstGeom prst="rect">
            <a:avLst/>
          </a:prstGeom>
          <a:noFill/>
        </p:spPr>
        <p:txBody>
          <a:bodyPr wrap="square">
            <a:spAutoFit/>
          </a:bodyPr>
          <a:lstStyle/>
          <a:p>
            <a:r>
              <a:rPr lang="en-US" sz="2183" dirty="0">
                <a:solidFill>
                  <a:srgbClr val="222222"/>
                </a:solidFill>
                <a:latin typeface="Arial" panose="020B0604020202020204" pitchFamily="34" charset="0"/>
                <a:ea typeface="Calibri"/>
                <a:cs typeface="Arial" panose="020B0604020202020204" pitchFamily="34" charset="0"/>
                <a:sym typeface="Calibri"/>
              </a:rPr>
              <a:t>1 Herramientas del Proyecto.</a:t>
            </a:r>
          </a:p>
          <a:p>
            <a:r>
              <a:rPr lang="en-US" sz="2183" dirty="0">
                <a:solidFill>
                  <a:srgbClr val="222222"/>
                </a:solidFill>
                <a:latin typeface="Arial" panose="020B0604020202020204" pitchFamily="34" charset="0"/>
                <a:ea typeface="Calibri"/>
                <a:cs typeface="Arial" panose="020B0604020202020204" pitchFamily="34" charset="0"/>
                <a:sym typeface="Calibri"/>
              </a:rPr>
              <a:t>2 Pestaña de Proyectos.</a:t>
            </a:r>
          </a:p>
          <a:p>
            <a:r>
              <a:rPr lang="en-US" sz="2183" dirty="0">
                <a:solidFill>
                  <a:srgbClr val="222222"/>
                </a:solidFill>
                <a:latin typeface="Arial" panose="020B0604020202020204" pitchFamily="34" charset="0"/>
                <a:ea typeface="Calibri"/>
                <a:cs typeface="Arial" panose="020B0604020202020204" pitchFamily="34" charset="0"/>
                <a:sym typeface="Calibri"/>
              </a:rPr>
              <a:t>3 Herramientas de Compilación.</a:t>
            </a:r>
          </a:p>
          <a:p>
            <a:r>
              <a:rPr lang="en-US" sz="2183" dirty="0">
                <a:solidFill>
                  <a:srgbClr val="222222"/>
                </a:solidFill>
                <a:latin typeface="Arial" panose="020B0604020202020204" pitchFamily="34" charset="0"/>
                <a:ea typeface="Calibri"/>
                <a:cs typeface="Arial" panose="020B0604020202020204" pitchFamily="34" charset="0"/>
                <a:sym typeface="Calibri"/>
              </a:rPr>
              <a:t>4 Edición de Archivos de Proyectos.</a:t>
            </a:r>
          </a:p>
        </p:txBody>
      </p:sp>
    </p:spTree>
    <p:extLst>
      <p:ext uri="{BB962C8B-B14F-4D97-AF65-F5344CB8AC3E}">
        <p14:creationId xmlns:p14="http://schemas.microsoft.com/office/powerpoint/2010/main" val="3902180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NetBeans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MX" sz="2183" dirty="0">
                <a:solidFill>
                  <a:srgbClr val="222222"/>
                </a:solidFill>
                <a:latin typeface="Arial" panose="020B0604020202020204" pitchFamily="34" charset="0"/>
                <a:ea typeface="Calibri"/>
                <a:cs typeface="Arial" panose="020B0604020202020204" pitchFamily="34" charset="0"/>
                <a:sym typeface="Calibri"/>
              </a:rPr>
              <a:t>Además del IDE, se debe instalar el </a:t>
            </a:r>
            <a:r>
              <a:rPr lang="es-MX" sz="2183" b="1" dirty="0">
                <a:solidFill>
                  <a:srgbClr val="222222"/>
                </a:solidFill>
                <a:latin typeface="Arial" panose="020B0604020202020204" pitchFamily="34" charset="0"/>
                <a:ea typeface="Calibri"/>
                <a:cs typeface="Arial" panose="020B0604020202020204" pitchFamily="34" charset="0"/>
                <a:sym typeface="Calibri"/>
              </a:rPr>
              <a:t>Kit de Desarrollo de Java </a:t>
            </a:r>
            <a:r>
              <a:rPr lang="es-MX" sz="2183" dirty="0">
                <a:solidFill>
                  <a:srgbClr val="222222"/>
                </a:solidFill>
                <a:latin typeface="Arial" panose="020B0604020202020204" pitchFamily="34" charset="0"/>
                <a:ea typeface="Calibri"/>
                <a:cs typeface="Arial" panose="020B0604020202020204" pitchFamily="34" charset="0"/>
                <a:sym typeface="Calibri"/>
              </a:rPr>
              <a:t>(</a:t>
            </a:r>
            <a:r>
              <a:rPr lang="es-MX" sz="2183" b="1" dirty="0">
                <a:solidFill>
                  <a:srgbClr val="222222"/>
                </a:solidFill>
                <a:latin typeface="Arial" panose="020B0604020202020204" pitchFamily="34" charset="0"/>
                <a:ea typeface="Calibri"/>
                <a:cs typeface="Arial" panose="020B0604020202020204" pitchFamily="34" charset="0"/>
                <a:sym typeface="Calibri"/>
              </a:rPr>
              <a:t>JDK</a:t>
            </a:r>
            <a:r>
              <a:rPr lang="es-MX" sz="2183" dirty="0">
                <a:solidFill>
                  <a:srgbClr val="222222"/>
                </a:solidFill>
                <a:latin typeface="Arial" panose="020B0604020202020204" pitchFamily="34" charset="0"/>
                <a:ea typeface="Calibri"/>
                <a:cs typeface="Arial" panose="020B0604020202020204" pitchFamily="34" charset="0"/>
                <a:sym typeface="Calibri"/>
              </a:rPr>
              <a:t>), que es un conjunto de herramientas, utilidades, documentación y ejemplos para desarrollar aplicaciones Java.</a:t>
            </a:r>
            <a:endParaRPr lang="es-MX" sz="2183" dirty="0">
              <a:latin typeface="Arial" panose="020B0604020202020204" pitchFamily="34" charset="0"/>
              <a:cs typeface="Arial" panose="020B0604020202020204" pitchFamily="34" charset="0"/>
            </a:endParaRPr>
          </a:p>
          <a:p>
            <a:pPr algn="just"/>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algn="just"/>
            <a:r>
              <a:rPr lang="es-MX" sz="2183" dirty="0">
                <a:solidFill>
                  <a:srgbClr val="222222"/>
                </a:solidFill>
                <a:latin typeface="Arial" panose="020B0604020202020204" pitchFamily="34" charset="0"/>
                <a:ea typeface="Calibri"/>
                <a:cs typeface="Arial" panose="020B0604020202020204" pitchFamily="34" charset="0"/>
                <a:sym typeface="Calibri"/>
              </a:rPr>
              <a:t>Se puede descargar de la siguiente página:</a:t>
            </a:r>
            <a:endParaRPr lang="es-MX" sz="2183" dirty="0">
              <a:latin typeface="Arial" panose="020B0604020202020204" pitchFamily="34" charset="0"/>
              <a:cs typeface="Arial" panose="020B0604020202020204" pitchFamily="34" charset="0"/>
            </a:endParaRPr>
          </a:p>
          <a:p>
            <a:pPr algn="just"/>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algn="just"/>
            <a:r>
              <a:rPr lang="es-MX" sz="2183" u="sng" dirty="0">
                <a:solidFill>
                  <a:srgbClr val="32558E"/>
                </a:solidFill>
                <a:latin typeface="Arial" panose="020B0604020202020204" pitchFamily="34" charset="0"/>
                <a:ea typeface="Arial"/>
                <a:cs typeface="Arial" panose="020B0604020202020204" pitchFamily="34" charset="0"/>
                <a:sym typeface="Arial"/>
                <a:hlinkClick r:id="rId2"/>
              </a:rPr>
              <a:t>https://www.oracle.com/technetwork/java/javase/downloads/jdk8-downloads-2133151.html</a:t>
            </a:r>
            <a:endParaRPr lang="es-MX" sz="2183" dirty="0">
              <a:solidFill>
                <a:srgbClr val="32558E"/>
              </a:solidFill>
              <a:latin typeface="Arial" panose="020B0604020202020204" pitchFamily="34" charset="0"/>
              <a:ea typeface="Arial"/>
              <a:cs typeface="Arial" panose="020B0604020202020204" pitchFamily="34" charset="0"/>
              <a:sym typeface="Arial"/>
            </a:endParaRPr>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3" name="Google Shape;193;p13">
            <a:extLst>
              <a:ext uri="{FF2B5EF4-FFF2-40B4-BE49-F238E27FC236}">
                <a16:creationId xmlns:a16="http://schemas.microsoft.com/office/drawing/2014/main" id="{09DD7ED3-FB65-371D-B82C-47F22A50AF93}"/>
              </a:ext>
            </a:extLst>
          </p:cNvPr>
          <p:cNvPicPr preferRelativeResize="0"/>
          <p:nvPr/>
        </p:nvPicPr>
        <p:blipFill rotWithShape="1">
          <a:blip r:embed="rId3">
            <a:alphaModFix/>
          </a:blip>
          <a:srcRect/>
          <a:stretch/>
        </p:blipFill>
        <p:spPr>
          <a:xfrm>
            <a:off x="4086805" y="4029701"/>
            <a:ext cx="4018391" cy="1893262"/>
          </a:xfrm>
          <a:prstGeom prst="rect">
            <a:avLst/>
          </a:prstGeom>
          <a:noFill/>
          <a:ln>
            <a:noFill/>
          </a:ln>
        </p:spPr>
      </p:pic>
    </p:spTree>
    <p:extLst>
      <p:ext uri="{BB962C8B-B14F-4D97-AF65-F5344CB8AC3E}">
        <p14:creationId xmlns:p14="http://schemas.microsoft.com/office/powerpoint/2010/main" val="4177567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Estructura básica de un programa en Java</a:t>
            </a:r>
          </a:p>
        </p:txBody>
      </p:sp>
      <p:sp>
        <p:nvSpPr>
          <p:cNvPr id="3" name="Oval 2"/>
          <p:cNvSpPr/>
          <p:nvPr/>
        </p:nvSpPr>
        <p:spPr>
          <a:xfrm>
            <a:off x="640080" y="1417320"/>
            <a:ext cx="731520" cy="73152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layer_w.png"/>
          <p:cNvPicPr>
            <a:picLocks noChangeAspect="1"/>
          </p:cNvPicPr>
          <p:nvPr/>
        </p:nvPicPr>
        <p:blipFill>
          <a:blip r:embed="rId2"/>
          <a:stretch>
            <a:fillRect/>
          </a:stretch>
        </p:blipFill>
        <p:spPr>
          <a:xfrm>
            <a:off x="815644" y="1592884"/>
            <a:ext cx="380390" cy="380390"/>
          </a:xfrm>
          <a:prstGeom prst="rect">
            <a:avLst/>
          </a:prstGeom>
        </p:spPr>
      </p:pic>
      <p:sp>
        <p:nvSpPr>
          <p:cNvPr id="5" name="TextBox 4"/>
          <p:cNvSpPr txBox="1"/>
          <p:nvPr/>
        </p:nvSpPr>
        <p:spPr>
          <a:xfrm>
            <a:off x="1600200" y="1371600"/>
            <a:ext cx="420624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Courier New"/>
              </a:rPr>
              <a:t>class</a:t>
            </a:r>
          </a:p>
        </p:txBody>
      </p:sp>
      <p:sp>
        <p:nvSpPr>
          <p:cNvPr id="6" name="TextBox 5"/>
          <p:cNvSpPr txBox="1"/>
          <p:nvPr/>
        </p:nvSpPr>
        <p:spPr>
          <a:xfrm>
            <a:off x="1600200" y="1764792"/>
            <a:ext cx="4206240" cy="6400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El contenedor de tu programa. Su nombre = nombre del archivo.</a:t>
            </a:r>
          </a:p>
        </p:txBody>
      </p:sp>
      <p:sp>
        <p:nvSpPr>
          <p:cNvPr id="7" name="Oval 6"/>
          <p:cNvSpPr/>
          <p:nvPr/>
        </p:nvSpPr>
        <p:spPr>
          <a:xfrm>
            <a:off x="640080" y="2560320"/>
            <a:ext cx="731520" cy="73152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lay_w.png"/>
          <p:cNvPicPr>
            <a:picLocks noChangeAspect="1"/>
          </p:cNvPicPr>
          <p:nvPr/>
        </p:nvPicPr>
        <p:blipFill>
          <a:blip r:embed="rId3"/>
          <a:stretch>
            <a:fillRect/>
          </a:stretch>
        </p:blipFill>
        <p:spPr>
          <a:xfrm>
            <a:off x="815644" y="2735884"/>
            <a:ext cx="380390" cy="380390"/>
          </a:xfrm>
          <a:prstGeom prst="rect">
            <a:avLst/>
          </a:prstGeom>
        </p:spPr>
      </p:pic>
      <p:sp>
        <p:nvSpPr>
          <p:cNvPr id="9" name="TextBox 8"/>
          <p:cNvSpPr txBox="1"/>
          <p:nvPr/>
        </p:nvSpPr>
        <p:spPr>
          <a:xfrm>
            <a:off x="1600200" y="2514600"/>
            <a:ext cx="420624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Courier New"/>
              </a:rPr>
              <a:t>main</a:t>
            </a:r>
          </a:p>
        </p:txBody>
      </p:sp>
      <p:sp>
        <p:nvSpPr>
          <p:cNvPr id="10" name="TextBox 9"/>
          <p:cNvSpPr txBox="1"/>
          <p:nvPr/>
        </p:nvSpPr>
        <p:spPr>
          <a:xfrm>
            <a:off x="1600200" y="2907791"/>
            <a:ext cx="4206240" cy="6400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La puerta de entrada: aquí empieza a ejecutarse todo.</a:t>
            </a:r>
          </a:p>
        </p:txBody>
      </p:sp>
      <p:sp>
        <p:nvSpPr>
          <p:cNvPr id="11" name="Oval 10"/>
          <p:cNvSpPr/>
          <p:nvPr/>
        </p:nvSpPr>
        <p:spPr>
          <a:xfrm>
            <a:off x="640080" y="3703320"/>
            <a:ext cx="731520" cy="73152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_w.png"/>
          <p:cNvPicPr>
            <a:picLocks noChangeAspect="1"/>
          </p:cNvPicPr>
          <p:nvPr/>
        </p:nvPicPr>
        <p:blipFill>
          <a:blip r:embed="rId4"/>
          <a:stretch>
            <a:fillRect/>
          </a:stretch>
        </p:blipFill>
        <p:spPr>
          <a:xfrm>
            <a:off x="815644" y="3878884"/>
            <a:ext cx="380390" cy="380390"/>
          </a:xfrm>
          <a:prstGeom prst="rect">
            <a:avLst/>
          </a:prstGeom>
        </p:spPr>
      </p:pic>
      <p:sp>
        <p:nvSpPr>
          <p:cNvPr id="13" name="TextBox 12"/>
          <p:cNvSpPr txBox="1"/>
          <p:nvPr/>
        </p:nvSpPr>
        <p:spPr>
          <a:xfrm>
            <a:off x="1600200" y="3657600"/>
            <a:ext cx="420624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Courier New"/>
              </a:rPr>
              <a:t>{ }</a:t>
            </a:r>
          </a:p>
        </p:txBody>
      </p:sp>
      <p:sp>
        <p:nvSpPr>
          <p:cNvPr id="14" name="TextBox 13"/>
          <p:cNvSpPr txBox="1"/>
          <p:nvPr/>
        </p:nvSpPr>
        <p:spPr>
          <a:xfrm>
            <a:off x="1600200" y="4050791"/>
            <a:ext cx="4206240" cy="6400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Las llaves abren y cierran cada bloque de código.</a:t>
            </a:r>
          </a:p>
        </p:txBody>
      </p:sp>
      <p:sp>
        <p:nvSpPr>
          <p:cNvPr id="15" name="Oval 14"/>
          <p:cNvSpPr/>
          <p:nvPr/>
        </p:nvSpPr>
        <p:spPr>
          <a:xfrm>
            <a:off x="640080" y="4846320"/>
            <a:ext cx="731520" cy="73152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w.png"/>
          <p:cNvPicPr>
            <a:picLocks noChangeAspect="1"/>
          </p:cNvPicPr>
          <p:nvPr/>
        </p:nvPicPr>
        <p:blipFill>
          <a:blip r:embed="rId5"/>
          <a:stretch>
            <a:fillRect/>
          </a:stretch>
        </p:blipFill>
        <p:spPr>
          <a:xfrm>
            <a:off x="815644" y="5021884"/>
            <a:ext cx="380390" cy="380390"/>
          </a:xfrm>
          <a:prstGeom prst="rect">
            <a:avLst/>
          </a:prstGeom>
        </p:spPr>
      </p:pic>
      <p:sp>
        <p:nvSpPr>
          <p:cNvPr id="17" name="TextBox 16"/>
          <p:cNvSpPr txBox="1"/>
          <p:nvPr/>
        </p:nvSpPr>
        <p:spPr>
          <a:xfrm>
            <a:off x="1600200" y="4800600"/>
            <a:ext cx="420624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Courier New"/>
              </a:rPr>
              <a:t>;</a:t>
            </a:r>
          </a:p>
        </p:txBody>
      </p:sp>
      <p:sp>
        <p:nvSpPr>
          <p:cNvPr id="18" name="TextBox 17"/>
          <p:cNvSpPr txBox="1"/>
          <p:nvPr/>
        </p:nvSpPr>
        <p:spPr>
          <a:xfrm>
            <a:off x="1600200" y="5193792"/>
            <a:ext cx="4206240" cy="6400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Cada instrucción termina con punto y coma.</a:t>
            </a:r>
          </a:p>
        </p:txBody>
      </p:sp>
      <p:sp>
        <p:nvSpPr>
          <p:cNvPr id="19" name="Rounded Rectangle 18"/>
          <p:cNvSpPr/>
          <p:nvPr/>
        </p:nvSpPr>
        <p:spPr>
          <a:xfrm>
            <a:off x="6126480" y="1554480"/>
            <a:ext cx="5486400" cy="246888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309360" y="170992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537960" y="170992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766560" y="170992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040880" y="1645920"/>
            <a:ext cx="4389120"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HolaMundo.java</a:t>
            </a:r>
          </a:p>
        </p:txBody>
      </p:sp>
      <p:sp>
        <p:nvSpPr>
          <p:cNvPr id="24" name="TextBox 23"/>
          <p:cNvSpPr txBox="1"/>
          <p:nvPr/>
        </p:nvSpPr>
        <p:spPr>
          <a:xfrm>
            <a:off x="6400800" y="2011680"/>
            <a:ext cx="5029200" cy="1874520"/>
          </a:xfrm>
          <a:prstGeom prst="rect">
            <a:avLst/>
          </a:prstGeom>
          <a:noFill/>
        </p:spPr>
        <p:txBody>
          <a:bodyPr wrap="square" lIns="0" rIns="0" tIns="0" bIns="0" anchor="t">
            <a:spAutoFit/>
          </a:bodyPr>
          <a:lstStyle/>
          <a:p>
            <a:pPr algn="l">
              <a:spcAft>
                <a:spcPts val="0"/>
              </a:spcAft>
            </a:pPr>
            <a:r>
              <a:rPr sz="1300" b="0" i="0">
                <a:solidFill>
                  <a:srgbClr val="C792EA"/>
                </a:solidFill>
                <a:latin typeface="Courier New"/>
              </a:rPr>
              <a:t>public</a:t>
            </a:r>
            <a:r>
              <a:rPr sz="1300" b="0" i="0">
                <a:solidFill>
                  <a:srgbClr val="E6EDF3"/>
                </a:solidFill>
                <a:latin typeface="Courier New"/>
              </a:rPr>
              <a:t> </a:t>
            </a:r>
            <a:r>
              <a:rPr sz="1300" b="0" i="0">
                <a:solidFill>
                  <a:srgbClr val="C792EA"/>
                </a:solidFill>
                <a:latin typeface="Courier New"/>
              </a:rPr>
              <a:t>class</a:t>
            </a:r>
            <a:r>
              <a:rPr sz="1300" b="0" i="0">
                <a:solidFill>
                  <a:srgbClr val="E6EDF3"/>
                </a:solidFill>
                <a:latin typeface="Courier New"/>
              </a:rPr>
              <a:t> </a:t>
            </a:r>
            <a:r>
              <a:rPr sz="1300" b="0" i="0">
                <a:solidFill>
                  <a:srgbClr val="E6EDF3"/>
                </a:solidFill>
                <a:latin typeface="Courier New"/>
              </a:rPr>
              <a:t>HolaMundo</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E6EDF3"/>
                </a:solidFill>
                <a:latin typeface="Courier New"/>
              </a:rPr>
              <a:t>    </a:t>
            </a:r>
            <a:r>
              <a:rPr sz="1300" b="0" i="0">
                <a:solidFill>
                  <a:srgbClr val="C792EA"/>
                </a:solidFill>
                <a:latin typeface="Courier New"/>
              </a:rPr>
              <a:t>public</a:t>
            </a:r>
            <a:r>
              <a:rPr sz="1300" b="0" i="0">
                <a:solidFill>
                  <a:srgbClr val="E6EDF3"/>
                </a:solidFill>
                <a:latin typeface="Courier New"/>
              </a:rPr>
              <a:t> </a:t>
            </a:r>
            <a:r>
              <a:rPr sz="1300" b="0" i="0">
                <a:solidFill>
                  <a:srgbClr val="C792EA"/>
                </a:solidFill>
                <a:latin typeface="Courier New"/>
              </a:rPr>
              <a:t>static</a:t>
            </a:r>
            <a:r>
              <a:rPr sz="1300" b="0" i="0">
                <a:solidFill>
                  <a:srgbClr val="E6EDF3"/>
                </a:solidFill>
                <a:latin typeface="Courier New"/>
              </a:rPr>
              <a:t> </a:t>
            </a:r>
            <a:r>
              <a:rPr sz="1300" b="0" i="0">
                <a:solidFill>
                  <a:srgbClr val="C792EA"/>
                </a:solidFill>
                <a:latin typeface="Courier New"/>
              </a:rPr>
              <a:t>void</a:t>
            </a:r>
            <a:r>
              <a:rPr sz="1300" b="0" i="0">
                <a:solidFill>
                  <a:srgbClr val="E6EDF3"/>
                </a:solidFill>
                <a:latin typeface="Courier New"/>
              </a:rPr>
              <a:t> </a:t>
            </a:r>
            <a:r>
              <a:rPr sz="1300" b="0" i="0">
                <a:solidFill>
                  <a:srgbClr val="E6EDF3"/>
                </a:solidFill>
                <a:latin typeface="Courier New"/>
              </a:rPr>
              <a:t>main</a:t>
            </a:r>
            <a:r>
              <a:rPr sz="1300" b="0" i="0">
                <a:solidFill>
                  <a:srgbClr val="E6EDF3"/>
                </a:solidFill>
                <a:latin typeface="Courier New"/>
              </a:rPr>
              <a:t>(</a:t>
            </a:r>
            <a:r>
              <a:rPr sz="1300" b="0" i="0">
                <a:solidFill>
                  <a:srgbClr val="5EC8FF"/>
                </a:solidFill>
                <a:latin typeface="Courier New"/>
              </a:rPr>
              <a:t>String</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args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"¡Hola, 4to medio!"</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E6EDF3"/>
                </a:solidFill>
                <a:latin typeface="Courier New"/>
              </a:rPr>
              <a:t>}</a:t>
            </a:r>
          </a:p>
        </p:txBody>
      </p:sp>
      <p:sp>
        <p:nvSpPr>
          <p:cNvPr id="25" name="Rounded Rectangle 24"/>
          <p:cNvSpPr/>
          <p:nvPr/>
        </p:nvSpPr>
        <p:spPr>
          <a:xfrm>
            <a:off x="6126480" y="4297680"/>
            <a:ext cx="5486400" cy="685800"/>
          </a:xfrm>
          <a:prstGeom prst="roundRect">
            <a:avLst>
              <a:gd name="adj" fmla="val 8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0" y="4297680"/>
            <a:ext cx="5120640" cy="685800"/>
          </a:xfrm>
          <a:prstGeom prst="rect">
            <a:avLst/>
          </a:prstGeom>
          <a:noFill/>
        </p:spPr>
        <p:txBody>
          <a:bodyPr wrap="square" lIns="0" rIns="0" tIns="0" bIns="0" anchor="ctr">
            <a:spAutoFit/>
          </a:bodyPr>
          <a:lstStyle/>
          <a:p>
            <a:pPr algn="l">
              <a:spcAft>
                <a:spcPts val="400"/>
              </a:spcAft>
            </a:pPr>
            <a:r>
              <a:rPr sz="1500" b="0" i="0">
                <a:solidFill>
                  <a:srgbClr val="1FB58F"/>
                </a:solidFill>
                <a:latin typeface="Courier New"/>
              </a:rPr>
              <a:t>&gt; </a:t>
            </a:r>
            <a:r>
              <a:rPr sz="1500" b="0" i="0">
                <a:solidFill>
                  <a:srgbClr val="E6EDF3"/>
                </a:solidFill>
                <a:latin typeface="Courier New"/>
              </a:rPr>
              <a:t>¡Hola, 4to medio!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4524936" y="4861440"/>
            <a:ext cx="6653916" cy="1293817"/>
          </a:xfrm>
        </p:spPr>
        <p:txBody>
          <a:bodyPr/>
          <a:lstStyle/>
          <a:p>
            <a:r>
              <a:rPr lang="es-CL" sz="4002" dirty="0"/>
              <a:t>LENGUAJE DE PROGRAMACIÓN JAVA</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3415951" y="4722817"/>
            <a:ext cx="1013270"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solidFill>
                  <a:srgbClr val="257CE1"/>
                </a:solidFill>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63511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Lenguaje de Programación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b="1" dirty="0">
                <a:solidFill>
                  <a:srgbClr val="222222"/>
                </a:solidFill>
                <a:latin typeface="Arial" panose="020B0604020202020204" pitchFamily="34" charset="0"/>
                <a:ea typeface="Calibri"/>
                <a:cs typeface="Arial" panose="020B0604020202020204" pitchFamily="34" charset="0"/>
                <a:sym typeface="Calibri"/>
              </a:rPr>
              <a:t>Un poco de Historia:</a:t>
            </a:r>
          </a:p>
          <a:p>
            <a:pPr algn="just"/>
            <a:endParaRPr lang="en-US" sz="2183" dirty="0">
              <a:solidFill>
                <a:srgbClr val="222222"/>
              </a:solidFill>
              <a:latin typeface="Arial" panose="020B0604020202020204" pitchFamily="34" charset="0"/>
              <a:ea typeface="Calibri"/>
              <a:cs typeface="Arial" panose="020B0604020202020204" pitchFamily="34" charset="0"/>
              <a:sym typeface="Calibri"/>
            </a:endParaRPr>
          </a:p>
          <a:p>
            <a:pPr algn="just"/>
            <a:r>
              <a:rPr lang="es-CL" sz="2183" dirty="0">
                <a:solidFill>
                  <a:srgbClr val="222222"/>
                </a:solidFill>
                <a:latin typeface="Arial" panose="020B0604020202020204" pitchFamily="34" charset="0"/>
                <a:ea typeface="Calibri"/>
                <a:cs typeface="Arial" panose="020B0604020202020204" pitchFamily="34" charset="0"/>
                <a:sym typeface="Calibri"/>
              </a:rPr>
              <a:t>Sun Microsystems patrocinó en 1991 un proyecto interno de investigación dirigido por James Gosling, que dio como resultado un lenguaje de programación orientado a objetos basado en C++, al que se llamó </a:t>
            </a:r>
            <a:r>
              <a:rPr lang="es-CL" sz="2183" b="1" dirty="0">
                <a:solidFill>
                  <a:srgbClr val="222222"/>
                </a:solidFill>
                <a:latin typeface="Arial" panose="020B0604020202020204" pitchFamily="34" charset="0"/>
                <a:ea typeface="Calibri"/>
                <a:cs typeface="Arial" panose="020B0604020202020204" pitchFamily="34" charset="0"/>
                <a:sym typeface="Calibri"/>
              </a:rPr>
              <a:t>Java</a:t>
            </a:r>
            <a:r>
              <a:rPr lang="es-CL" sz="2183" dirty="0">
                <a:solidFill>
                  <a:srgbClr val="222222"/>
                </a:solidFill>
                <a:latin typeface="Arial" panose="020B0604020202020204" pitchFamily="34" charset="0"/>
                <a:ea typeface="Calibri"/>
                <a:cs typeface="Arial" panose="020B0604020202020204" pitchFamily="34" charset="0"/>
                <a:sym typeface="Calibri"/>
              </a:rPr>
              <a:t>. En 2010, </a:t>
            </a:r>
            <a:r>
              <a:rPr lang="es-CL" sz="2183" b="1" dirty="0">
                <a:solidFill>
                  <a:srgbClr val="222222"/>
                </a:solidFill>
                <a:latin typeface="Arial" panose="020B0604020202020204" pitchFamily="34" charset="0"/>
                <a:ea typeface="Calibri"/>
                <a:cs typeface="Arial" panose="020B0604020202020204" pitchFamily="34" charset="0"/>
                <a:sym typeface="Calibri"/>
              </a:rPr>
              <a:t>Oracle</a:t>
            </a:r>
            <a:r>
              <a:rPr lang="es-CL" sz="2183" dirty="0">
                <a:solidFill>
                  <a:srgbClr val="222222"/>
                </a:solidFill>
                <a:latin typeface="Arial" panose="020B0604020202020204" pitchFamily="34" charset="0"/>
                <a:ea typeface="Calibri"/>
                <a:cs typeface="Arial" panose="020B0604020202020204" pitchFamily="34" charset="0"/>
                <a:sym typeface="Calibri"/>
              </a:rPr>
              <a:t> adquirió́ Sun Microsystems.</a:t>
            </a:r>
            <a:endParaRPr lang="es-CL" sz="2183" dirty="0">
              <a:latin typeface="Arial" panose="020B0604020202020204" pitchFamily="34" charset="0"/>
              <a:cs typeface="Arial" panose="020B0604020202020204" pitchFamily="34" charset="0"/>
            </a:endParaRPr>
          </a:p>
          <a:p>
            <a:pPr algn="just"/>
            <a:r>
              <a:rPr lang="es-CL" sz="2183" dirty="0">
                <a:solidFill>
                  <a:srgbClr val="222222"/>
                </a:solidFill>
                <a:latin typeface="Arial" panose="020B0604020202020204" pitchFamily="34" charset="0"/>
                <a:ea typeface="Calibri"/>
                <a:cs typeface="Arial" panose="020B0604020202020204" pitchFamily="34" charset="0"/>
                <a:sym typeface="Calibri"/>
              </a:rPr>
              <a:t>Un objetivo clave de Java es poder escribir programas que se ejecuten en una gran variedad de sistemas y dispositivos. A esto se le conoce como “</a:t>
            </a:r>
            <a:r>
              <a:rPr lang="es-CL" sz="2183" b="1" dirty="0">
                <a:solidFill>
                  <a:srgbClr val="222222"/>
                </a:solidFill>
                <a:latin typeface="Arial" panose="020B0604020202020204" pitchFamily="34" charset="0"/>
                <a:ea typeface="Calibri"/>
                <a:cs typeface="Arial" panose="020B0604020202020204" pitchFamily="34" charset="0"/>
                <a:sym typeface="Calibri"/>
              </a:rPr>
              <a:t>escribir una vez, ejecutar en cualquier parte</a:t>
            </a:r>
            <a:r>
              <a:rPr lang="es-CL" sz="2183" dirty="0">
                <a:solidFill>
                  <a:srgbClr val="222222"/>
                </a:solidFill>
                <a:latin typeface="Arial" panose="020B0604020202020204" pitchFamily="34" charset="0"/>
                <a:ea typeface="Calibri"/>
                <a:cs typeface="Arial" panose="020B0604020202020204" pitchFamily="34" charset="0"/>
                <a:sym typeface="Calibri"/>
              </a:rPr>
              <a:t>”.</a:t>
            </a:r>
            <a:endParaRPr lang="es-CL" sz="2183" dirty="0">
              <a:latin typeface="Arial" panose="020B0604020202020204" pitchFamily="34" charset="0"/>
              <a:cs typeface="Arial" panose="020B0604020202020204" pitchFamily="34" charset="0"/>
            </a:endParaRPr>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4" name="Google Shape;200;p14">
            <a:extLst>
              <a:ext uri="{FF2B5EF4-FFF2-40B4-BE49-F238E27FC236}">
                <a16:creationId xmlns:a16="http://schemas.microsoft.com/office/drawing/2014/main" id="{AE231F08-8075-C1F6-4069-8E6DD818AB2F}"/>
              </a:ext>
            </a:extLst>
          </p:cNvPr>
          <p:cNvPicPr preferRelativeResize="0"/>
          <p:nvPr/>
        </p:nvPicPr>
        <p:blipFill rotWithShape="1">
          <a:blip r:embed="rId2">
            <a:alphaModFix/>
          </a:blip>
          <a:srcRect/>
          <a:stretch/>
        </p:blipFill>
        <p:spPr>
          <a:xfrm>
            <a:off x="5092543" y="4122116"/>
            <a:ext cx="2006914" cy="1926374"/>
          </a:xfrm>
          <a:prstGeom prst="rect">
            <a:avLst/>
          </a:prstGeom>
          <a:noFill/>
          <a:ln>
            <a:noFill/>
          </a:ln>
        </p:spPr>
      </p:pic>
    </p:spTree>
    <p:extLst>
      <p:ext uri="{BB962C8B-B14F-4D97-AF65-F5344CB8AC3E}">
        <p14:creationId xmlns:p14="http://schemas.microsoft.com/office/powerpoint/2010/main" val="3651854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Lenguaje de Programación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Arial" panose="020B0604020202020204" pitchFamily="34" charset="0"/>
                <a:ea typeface="Calibri"/>
                <a:cs typeface="Arial" panose="020B0604020202020204" pitchFamily="34" charset="0"/>
                <a:sym typeface="Calibri"/>
              </a:rPr>
              <a:t>En la actualidad, los usos de Java son:</a:t>
            </a:r>
          </a:p>
          <a:p>
            <a:pPr algn="just"/>
            <a:endParaRPr lang="es-CL" sz="2183" dirty="0">
              <a:solidFill>
                <a:srgbClr val="222222"/>
              </a:solidFill>
              <a:latin typeface="Arial" panose="020B0604020202020204" pitchFamily="34" charset="0"/>
              <a:ea typeface="Calibri"/>
              <a:cs typeface="Arial" panose="020B0604020202020204" pitchFamily="34" charset="0"/>
              <a:sym typeface="Calibri"/>
            </a:endParaRPr>
          </a:p>
          <a:p>
            <a:pPr marL="207935" indent="-207935" algn="just">
              <a:buClr>
                <a:srgbClr val="000000"/>
              </a:buClr>
              <a:buSzPts val="2400"/>
              <a:buFont typeface="Arial"/>
              <a:buChar char="•"/>
            </a:pPr>
            <a:r>
              <a:rPr lang="es-CL" sz="2183" dirty="0">
                <a:solidFill>
                  <a:srgbClr val="222222"/>
                </a:solidFill>
                <a:latin typeface="Arial" panose="020B0604020202020204" pitchFamily="34" charset="0"/>
                <a:ea typeface="Calibri"/>
                <a:cs typeface="Arial" panose="020B0604020202020204" pitchFamily="34" charset="0"/>
                <a:sym typeface="Calibri"/>
              </a:rPr>
              <a:t>Desarrollar aplicaciones empresariales a gran escala</a:t>
            </a:r>
            <a:endParaRPr lang="es-CL" sz="2183" dirty="0">
              <a:latin typeface="Arial" panose="020B0604020202020204" pitchFamily="34" charset="0"/>
              <a:cs typeface="Arial" panose="020B0604020202020204" pitchFamily="34" charset="0"/>
            </a:endParaRPr>
          </a:p>
          <a:p>
            <a:pPr marL="207935" indent="-207935" algn="just">
              <a:buClr>
                <a:srgbClr val="000000"/>
              </a:buClr>
              <a:buSzPts val="2400"/>
              <a:buFont typeface="Arial"/>
              <a:buChar char="•"/>
            </a:pPr>
            <a:r>
              <a:rPr lang="es-CL" sz="2183" dirty="0">
                <a:solidFill>
                  <a:srgbClr val="222222"/>
                </a:solidFill>
                <a:latin typeface="Arial" panose="020B0604020202020204" pitchFamily="34" charset="0"/>
                <a:ea typeface="Calibri"/>
                <a:cs typeface="Arial" panose="020B0604020202020204" pitchFamily="34" charset="0"/>
                <a:sym typeface="Calibri"/>
              </a:rPr>
              <a:t>Mejorar la funcionalidad de los servidores Web</a:t>
            </a:r>
            <a:endParaRPr lang="es-CL" sz="2183" dirty="0">
              <a:latin typeface="Arial" panose="020B0604020202020204" pitchFamily="34" charset="0"/>
              <a:cs typeface="Arial" panose="020B0604020202020204" pitchFamily="34" charset="0"/>
            </a:endParaRPr>
          </a:p>
          <a:p>
            <a:pPr marL="207935" indent="-207935" algn="just">
              <a:buClr>
                <a:srgbClr val="000000"/>
              </a:buClr>
              <a:buSzPts val="2400"/>
              <a:buFont typeface="Arial"/>
              <a:buChar char="•"/>
            </a:pPr>
            <a:r>
              <a:rPr lang="es-CL" sz="2183" dirty="0">
                <a:solidFill>
                  <a:srgbClr val="222222"/>
                </a:solidFill>
                <a:latin typeface="Arial" panose="020B0604020202020204" pitchFamily="34" charset="0"/>
                <a:ea typeface="Calibri"/>
                <a:cs typeface="Arial" panose="020B0604020202020204" pitchFamily="34" charset="0"/>
                <a:sym typeface="Calibri"/>
              </a:rPr>
              <a:t>Proporcionar aplicaciones para los dispositivos de uso doméstico (teléfonos celulares, receptores de televisión por Internet, entre otras). </a:t>
            </a:r>
            <a:endParaRPr lang="es-CL" sz="2183" dirty="0">
              <a:latin typeface="Arial" panose="020B0604020202020204" pitchFamily="34" charset="0"/>
              <a:cs typeface="Arial" panose="020B0604020202020204" pitchFamily="34" charset="0"/>
            </a:endParaRPr>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4" name="Google Shape;200;p14">
            <a:extLst>
              <a:ext uri="{FF2B5EF4-FFF2-40B4-BE49-F238E27FC236}">
                <a16:creationId xmlns:a16="http://schemas.microsoft.com/office/drawing/2014/main" id="{AE231F08-8075-C1F6-4069-8E6DD818AB2F}"/>
              </a:ext>
            </a:extLst>
          </p:cNvPr>
          <p:cNvPicPr preferRelativeResize="0"/>
          <p:nvPr/>
        </p:nvPicPr>
        <p:blipFill rotWithShape="1">
          <a:blip r:embed="rId2">
            <a:alphaModFix/>
          </a:blip>
          <a:srcRect/>
          <a:stretch/>
        </p:blipFill>
        <p:spPr>
          <a:xfrm>
            <a:off x="5092543" y="4122116"/>
            <a:ext cx="2006914" cy="1926374"/>
          </a:xfrm>
          <a:prstGeom prst="rect">
            <a:avLst/>
          </a:prstGeom>
          <a:noFill/>
          <a:ln>
            <a:noFill/>
          </a:ln>
        </p:spPr>
      </p:pic>
    </p:spTree>
    <p:extLst>
      <p:ext uri="{BB962C8B-B14F-4D97-AF65-F5344CB8AC3E}">
        <p14:creationId xmlns:p14="http://schemas.microsoft.com/office/powerpoint/2010/main" val="1360367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Lenguaje de Programación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Calibri"/>
                <a:ea typeface="Calibri"/>
                <a:cs typeface="Calibri"/>
                <a:sym typeface="Calibri"/>
              </a:rPr>
              <a:t>Para crear y ejecutar una aplicación en Java existen cinco fases: </a:t>
            </a:r>
            <a:r>
              <a:rPr lang="es-CL" sz="2183" b="1" dirty="0">
                <a:solidFill>
                  <a:srgbClr val="222222"/>
                </a:solidFill>
                <a:latin typeface="Calibri"/>
                <a:ea typeface="Calibri"/>
                <a:cs typeface="Calibri"/>
                <a:sym typeface="Calibri"/>
              </a:rPr>
              <a:t>edición, compilación, carga, verificación y ejecución</a:t>
            </a:r>
            <a:r>
              <a:rPr lang="es-CL" sz="2183" dirty="0">
                <a:solidFill>
                  <a:srgbClr val="222222"/>
                </a:solidFill>
                <a:latin typeface="Calibri"/>
                <a:ea typeface="Calibri"/>
                <a:cs typeface="Calibri"/>
                <a:sym typeface="Calibri"/>
              </a:rPr>
              <a:t>. </a:t>
            </a:r>
            <a:endParaRPr lang="es-CL" sz="2183" dirty="0"/>
          </a:p>
          <a:p>
            <a:pPr algn="just"/>
            <a:endParaRPr lang="es-CL" sz="2183" dirty="0">
              <a:solidFill>
                <a:srgbClr val="222222"/>
              </a:solidFill>
              <a:latin typeface="Calibri"/>
              <a:ea typeface="Calibri"/>
              <a:cs typeface="Calibri"/>
              <a:sym typeface="Calibri"/>
            </a:endParaRPr>
          </a:p>
          <a:p>
            <a:pPr algn="just"/>
            <a:r>
              <a:rPr lang="es-CL" sz="2183" dirty="0">
                <a:solidFill>
                  <a:srgbClr val="222222"/>
                </a:solidFill>
                <a:latin typeface="Calibri"/>
                <a:ea typeface="Calibri"/>
                <a:cs typeface="Calibri"/>
                <a:sym typeface="Calibri"/>
              </a:rPr>
              <a:t>La</a:t>
            </a:r>
            <a:r>
              <a:rPr lang="es-CL" sz="2183" b="1" dirty="0">
                <a:solidFill>
                  <a:srgbClr val="222222"/>
                </a:solidFill>
                <a:latin typeface="Calibri"/>
                <a:ea typeface="Calibri"/>
                <a:cs typeface="Calibri"/>
                <a:sym typeface="Calibri"/>
              </a:rPr>
              <a:t> fase 1 </a:t>
            </a:r>
            <a:r>
              <a:rPr lang="es-CL" sz="2183" dirty="0">
                <a:solidFill>
                  <a:srgbClr val="222222"/>
                </a:solidFill>
                <a:latin typeface="Calibri"/>
                <a:ea typeface="Calibri"/>
                <a:cs typeface="Calibri"/>
                <a:sym typeface="Calibri"/>
              </a:rPr>
              <a:t>consiste en </a:t>
            </a:r>
            <a:r>
              <a:rPr lang="es-CL" sz="2183" b="1" dirty="0">
                <a:solidFill>
                  <a:srgbClr val="222222"/>
                </a:solidFill>
                <a:latin typeface="Calibri"/>
                <a:ea typeface="Calibri"/>
                <a:cs typeface="Calibri"/>
                <a:sym typeface="Calibri"/>
              </a:rPr>
              <a:t>editar</a:t>
            </a:r>
            <a:r>
              <a:rPr lang="es-CL" sz="2183" dirty="0">
                <a:solidFill>
                  <a:srgbClr val="222222"/>
                </a:solidFill>
                <a:latin typeface="Calibri"/>
                <a:ea typeface="Calibri"/>
                <a:cs typeface="Calibri"/>
                <a:sym typeface="Calibri"/>
              </a:rPr>
              <a:t> un archivo para escribir un programa en Java (código fuente), realizar las correcciones necesarias y guardar el programa. Los archivos de código fuente de Java terminan con la extensión .java, lo que indica que este contiene el código fuente en Java.</a:t>
            </a:r>
            <a:endParaRPr lang="es-CL" sz="2183" dirty="0"/>
          </a:p>
          <a:p>
            <a:pPr algn="just"/>
            <a:endParaRPr lang="es-CL" sz="2183" dirty="0">
              <a:solidFill>
                <a:srgbClr val="222222"/>
              </a:solidFill>
              <a:latin typeface="Calibri"/>
              <a:ea typeface="Calibri"/>
              <a:cs typeface="Calibri"/>
              <a:sym typeface="Calibri"/>
            </a:endParaRPr>
          </a:p>
          <a:p>
            <a:pPr algn="just"/>
            <a:r>
              <a:rPr lang="es-CL" sz="2183" dirty="0">
                <a:solidFill>
                  <a:srgbClr val="222222"/>
                </a:solidFill>
                <a:latin typeface="Calibri"/>
                <a:ea typeface="Calibri"/>
                <a:cs typeface="Calibri"/>
                <a:sym typeface="Calibri"/>
              </a:rPr>
              <a:t>La </a:t>
            </a:r>
            <a:r>
              <a:rPr lang="es-CL" sz="2183" b="1" dirty="0">
                <a:solidFill>
                  <a:srgbClr val="222222"/>
                </a:solidFill>
                <a:latin typeface="Calibri"/>
                <a:ea typeface="Calibri"/>
                <a:cs typeface="Calibri"/>
                <a:sym typeface="Calibri"/>
              </a:rPr>
              <a:t>fase 2</a:t>
            </a:r>
            <a:r>
              <a:rPr lang="es-CL" sz="2183" dirty="0">
                <a:solidFill>
                  <a:srgbClr val="222222"/>
                </a:solidFill>
                <a:latin typeface="Calibri"/>
                <a:ea typeface="Calibri"/>
                <a:cs typeface="Calibri"/>
                <a:sym typeface="Calibri"/>
              </a:rPr>
              <a:t> es la </a:t>
            </a:r>
            <a:r>
              <a:rPr lang="es-CL" sz="2183" b="1" dirty="0">
                <a:solidFill>
                  <a:srgbClr val="222222"/>
                </a:solidFill>
                <a:latin typeface="Calibri"/>
                <a:ea typeface="Calibri"/>
                <a:cs typeface="Calibri"/>
                <a:sym typeface="Calibri"/>
              </a:rPr>
              <a:t>compilación</a:t>
            </a:r>
            <a:r>
              <a:rPr lang="es-CL" sz="2183" dirty="0">
                <a:solidFill>
                  <a:srgbClr val="222222"/>
                </a:solidFill>
                <a:latin typeface="Calibri"/>
                <a:ea typeface="Calibri"/>
                <a:cs typeface="Calibri"/>
                <a:sym typeface="Calibri"/>
              </a:rPr>
              <a:t>, donde se traduce el código fuente de Java en códigos de bytes que representan las tareas a ejecutar en la fase de ejecución. Si el programa compila, se genera un archivo .class. Si el compilador detecta errores, tendrá́ que ir a la fase 1 y corregirlos.</a:t>
            </a:r>
            <a:endParaRPr lang="es-CL" sz="2183" dirty="0"/>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829CF909-42CD-89C7-1C5A-2553F4AB2C81}"/>
              </a:ext>
            </a:extLst>
          </p:cNvPr>
          <p:cNvPicPr>
            <a:picLocks noChangeAspect="1"/>
          </p:cNvPicPr>
          <p:nvPr/>
        </p:nvPicPr>
        <p:blipFill>
          <a:blip r:embed="rId2"/>
          <a:stretch>
            <a:fillRect/>
          </a:stretch>
        </p:blipFill>
        <p:spPr>
          <a:xfrm>
            <a:off x="3649217" y="5103262"/>
            <a:ext cx="4893566" cy="1326414"/>
          </a:xfrm>
          <a:prstGeom prst="rect">
            <a:avLst/>
          </a:prstGeom>
        </p:spPr>
      </p:pic>
    </p:spTree>
    <p:extLst>
      <p:ext uri="{BB962C8B-B14F-4D97-AF65-F5344CB8AC3E}">
        <p14:creationId xmlns:p14="http://schemas.microsoft.com/office/powerpoint/2010/main" val="287127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Lenguaje de Programación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6818278" cy="1293818"/>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Calibri"/>
                <a:ea typeface="Calibri"/>
                <a:cs typeface="Calibri"/>
                <a:sym typeface="Calibri"/>
              </a:rPr>
              <a:t>En la</a:t>
            </a:r>
            <a:r>
              <a:rPr lang="es-CL" sz="2183" b="1" dirty="0">
                <a:solidFill>
                  <a:srgbClr val="222222"/>
                </a:solidFill>
                <a:latin typeface="Calibri"/>
                <a:ea typeface="Calibri"/>
                <a:cs typeface="Calibri"/>
                <a:sym typeface="Calibri"/>
              </a:rPr>
              <a:t> fase 3</a:t>
            </a:r>
            <a:r>
              <a:rPr lang="es-CL" sz="2183" dirty="0">
                <a:solidFill>
                  <a:srgbClr val="222222"/>
                </a:solidFill>
                <a:latin typeface="Calibri"/>
                <a:ea typeface="Calibri"/>
                <a:cs typeface="Calibri"/>
                <a:sym typeface="Calibri"/>
              </a:rPr>
              <a:t>, el </a:t>
            </a:r>
            <a:r>
              <a:rPr lang="es-CL" sz="2183" b="1" dirty="0">
                <a:solidFill>
                  <a:srgbClr val="222222"/>
                </a:solidFill>
                <a:latin typeface="Calibri"/>
                <a:ea typeface="Calibri"/>
                <a:cs typeface="Calibri"/>
                <a:sym typeface="Calibri"/>
              </a:rPr>
              <a:t>cargador</a:t>
            </a:r>
            <a:r>
              <a:rPr lang="es-CL" sz="2183" dirty="0">
                <a:solidFill>
                  <a:srgbClr val="222222"/>
                </a:solidFill>
                <a:latin typeface="Calibri"/>
                <a:ea typeface="Calibri"/>
                <a:cs typeface="Calibri"/>
                <a:sym typeface="Calibri"/>
              </a:rPr>
              <a:t> de clases lee los archivos .class que contienen códigos de bytes y los coloca en la memoria.</a:t>
            </a:r>
          </a:p>
          <a:p>
            <a:pPr algn="just"/>
            <a:endParaRPr lang="es-CL" sz="2183" dirty="0"/>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4" name="Google Shape;215;p16">
            <a:extLst>
              <a:ext uri="{FF2B5EF4-FFF2-40B4-BE49-F238E27FC236}">
                <a16:creationId xmlns:a16="http://schemas.microsoft.com/office/drawing/2014/main" id="{20E76EA1-E056-3DC3-91E7-F6212BAC18B6}"/>
              </a:ext>
            </a:extLst>
          </p:cNvPr>
          <p:cNvPicPr preferRelativeResize="0"/>
          <p:nvPr/>
        </p:nvPicPr>
        <p:blipFill rotWithShape="1">
          <a:blip r:embed="rId2">
            <a:alphaModFix/>
          </a:blip>
          <a:srcRect/>
          <a:stretch/>
        </p:blipFill>
        <p:spPr>
          <a:xfrm>
            <a:off x="7612161" y="672488"/>
            <a:ext cx="3095919" cy="2449012"/>
          </a:xfrm>
          <a:prstGeom prst="rect">
            <a:avLst/>
          </a:prstGeom>
          <a:noFill/>
          <a:ln w="9525" cap="flat" cmpd="sng">
            <a:solidFill>
              <a:schemeClr val="accent5"/>
            </a:solidFill>
            <a:prstDash val="solid"/>
            <a:round/>
            <a:headEnd type="none" w="sm" len="sm"/>
            <a:tailEnd type="none" w="sm" len="sm"/>
          </a:ln>
        </p:spPr>
      </p:pic>
      <p:pic>
        <p:nvPicPr>
          <p:cNvPr id="7" name="Google Shape;217;p16">
            <a:extLst>
              <a:ext uri="{FF2B5EF4-FFF2-40B4-BE49-F238E27FC236}">
                <a16:creationId xmlns:a16="http://schemas.microsoft.com/office/drawing/2014/main" id="{07657702-FE02-8DC7-1CBE-14CB52912B11}"/>
              </a:ext>
            </a:extLst>
          </p:cNvPr>
          <p:cNvPicPr preferRelativeResize="0"/>
          <p:nvPr/>
        </p:nvPicPr>
        <p:blipFill rotWithShape="1">
          <a:blip r:embed="rId3">
            <a:alphaModFix/>
          </a:blip>
          <a:srcRect/>
          <a:stretch/>
        </p:blipFill>
        <p:spPr>
          <a:xfrm>
            <a:off x="392744" y="2551053"/>
            <a:ext cx="3346661" cy="2076705"/>
          </a:xfrm>
          <a:prstGeom prst="rect">
            <a:avLst/>
          </a:prstGeom>
          <a:noFill/>
          <a:ln w="9525" cap="flat" cmpd="sng">
            <a:solidFill>
              <a:schemeClr val="accent5"/>
            </a:solidFill>
            <a:prstDash val="solid"/>
            <a:round/>
            <a:headEnd type="none" w="sm" len="sm"/>
            <a:tailEnd type="none" w="sm" len="sm"/>
          </a:ln>
        </p:spPr>
      </p:pic>
      <p:sp>
        <p:nvSpPr>
          <p:cNvPr id="8" name="Marcador de texto 3">
            <a:extLst>
              <a:ext uri="{FF2B5EF4-FFF2-40B4-BE49-F238E27FC236}">
                <a16:creationId xmlns:a16="http://schemas.microsoft.com/office/drawing/2014/main" id="{34BA99B4-66C2-8F23-0675-6239A1033D05}"/>
              </a:ext>
            </a:extLst>
          </p:cNvPr>
          <p:cNvSpPr txBox="1">
            <a:spLocks/>
          </p:cNvSpPr>
          <p:nvPr/>
        </p:nvSpPr>
        <p:spPr>
          <a:xfrm>
            <a:off x="3879791" y="3353007"/>
            <a:ext cx="6818278" cy="105183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Calibri"/>
                <a:ea typeface="Calibri"/>
                <a:cs typeface="Calibri"/>
                <a:sym typeface="Calibri"/>
              </a:rPr>
              <a:t>En la </a:t>
            </a:r>
            <a:r>
              <a:rPr lang="es-CL" sz="2183" b="1" dirty="0">
                <a:solidFill>
                  <a:srgbClr val="222222"/>
                </a:solidFill>
                <a:latin typeface="Calibri"/>
                <a:ea typeface="Calibri"/>
                <a:cs typeface="Calibri"/>
                <a:sym typeface="Calibri"/>
              </a:rPr>
              <a:t>fase 4</a:t>
            </a:r>
            <a:r>
              <a:rPr lang="es-CL" sz="2183" dirty="0">
                <a:solidFill>
                  <a:srgbClr val="222222"/>
                </a:solidFill>
                <a:latin typeface="Calibri"/>
                <a:ea typeface="Calibri"/>
                <a:cs typeface="Calibri"/>
                <a:sym typeface="Calibri"/>
              </a:rPr>
              <a:t>, el </a:t>
            </a:r>
            <a:r>
              <a:rPr lang="es-CL" sz="2183" b="1" dirty="0">
                <a:solidFill>
                  <a:srgbClr val="222222"/>
                </a:solidFill>
                <a:latin typeface="Calibri"/>
                <a:ea typeface="Calibri"/>
                <a:cs typeface="Calibri"/>
                <a:sym typeface="Calibri"/>
              </a:rPr>
              <a:t>verificador</a:t>
            </a:r>
            <a:r>
              <a:rPr lang="es-CL" sz="2183" dirty="0">
                <a:solidFill>
                  <a:srgbClr val="222222"/>
                </a:solidFill>
                <a:latin typeface="Calibri"/>
                <a:ea typeface="Calibri"/>
                <a:cs typeface="Calibri"/>
                <a:sym typeface="Calibri"/>
              </a:rPr>
              <a:t> examina sus códigos de bytes para asegurar que sean válidos y que no violen las restricciones de seguridad de Java.</a:t>
            </a:r>
            <a:endParaRPr lang="es-CL" sz="2183" dirty="0"/>
          </a:p>
          <a:p>
            <a:pPr algn="just"/>
            <a:endParaRPr lang="es-CL" sz="2183" dirty="0"/>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sp>
        <p:nvSpPr>
          <p:cNvPr id="9" name="Marcador de texto 3">
            <a:extLst>
              <a:ext uri="{FF2B5EF4-FFF2-40B4-BE49-F238E27FC236}">
                <a16:creationId xmlns:a16="http://schemas.microsoft.com/office/drawing/2014/main" id="{DD25A018-02B8-009D-DDAD-EBAD531130A2}"/>
              </a:ext>
            </a:extLst>
          </p:cNvPr>
          <p:cNvSpPr txBox="1">
            <a:spLocks/>
          </p:cNvSpPr>
          <p:nvPr/>
        </p:nvSpPr>
        <p:spPr>
          <a:xfrm>
            <a:off x="273824" y="5299207"/>
            <a:ext cx="5426010" cy="1051830"/>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Calibri"/>
                <a:ea typeface="Calibri"/>
                <a:cs typeface="Calibri"/>
                <a:sym typeface="Calibri"/>
              </a:rPr>
              <a:t>En la </a:t>
            </a:r>
            <a:r>
              <a:rPr lang="es-CL" sz="2183" b="1" dirty="0">
                <a:solidFill>
                  <a:srgbClr val="222222"/>
                </a:solidFill>
                <a:latin typeface="Calibri"/>
                <a:ea typeface="Calibri"/>
                <a:cs typeface="Calibri"/>
                <a:sym typeface="Calibri"/>
              </a:rPr>
              <a:t>fase 5</a:t>
            </a:r>
            <a:r>
              <a:rPr lang="es-CL" sz="2183" dirty="0">
                <a:solidFill>
                  <a:srgbClr val="222222"/>
                </a:solidFill>
                <a:latin typeface="Calibri"/>
                <a:ea typeface="Calibri"/>
                <a:cs typeface="Calibri"/>
                <a:sym typeface="Calibri"/>
              </a:rPr>
              <a:t>, la JVM </a:t>
            </a:r>
            <a:r>
              <a:rPr lang="es-CL" sz="2183" b="1" dirty="0">
                <a:solidFill>
                  <a:srgbClr val="222222"/>
                </a:solidFill>
                <a:latin typeface="Calibri"/>
                <a:ea typeface="Calibri"/>
                <a:cs typeface="Calibri"/>
                <a:sym typeface="Calibri"/>
              </a:rPr>
              <a:t>ejecuta</a:t>
            </a:r>
            <a:r>
              <a:rPr lang="es-CL" sz="2183" dirty="0">
                <a:solidFill>
                  <a:srgbClr val="222222"/>
                </a:solidFill>
                <a:latin typeface="Calibri"/>
                <a:ea typeface="Calibri"/>
                <a:cs typeface="Calibri"/>
                <a:sym typeface="Calibri"/>
              </a:rPr>
              <a:t> los códigos de bytes del programa, realizando así las acciones especificadas por el mismo.</a:t>
            </a:r>
            <a:endParaRPr lang="es-CL" sz="2183" dirty="0"/>
          </a:p>
          <a:p>
            <a:pPr algn="just"/>
            <a:endParaRPr lang="es-CL" sz="2183" dirty="0"/>
          </a:p>
          <a:p>
            <a:pPr algn="just"/>
            <a:r>
              <a:rPr lang="en-US" sz="2183" dirty="0">
                <a:solidFill>
                  <a:srgbClr val="222222"/>
                </a:solidFill>
                <a:latin typeface="Arial" panose="020B0604020202020204" pitchFamily="34" charset="0"/>
                <a:ea typeface="Calibri"/>
                <a:cs typeface="Arial" panose="020B0604020202020204" pitchFamily="34" charset="0"/>
                <a:sym typeface="Calibri"/>
              </a:rPr>
              <a:t> </a:t>
            </a: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pic>
        <p:nvPicPr>
          <p:cNvPr id="10" name="Google Shape;219;p16">
            <a:extLst>
              <a:ext uri="{FF2B5EF4-FFF2-40B4-BE49-F238E27FC236}">
                <a16:creationId xmlns:a16="http://schemas.microsoft.com/office/drawing/2014/main" id="{381F9149-F744-0557-42B2-5E80BD9908AB}"/>
              </a:ext>
            </a:extLst>
          </p:cNvPr>
          <p:cNvPicPr preferRelativeResize="0"/>
          <p:nvPr/>
        </p:nvPicPr>
        <p:blipFill rotWithShape="1">
          <a:blip r:embed="rId4">
            <a:alphaModFix/>
          </a:blip>
          <a:srcRect/>
          <a:stretch/>
        </p:blipFill>
        <p:spPr>
          <a:xfrm>
            <a:off x="6241336" y="4540630"/>
            <a:ext cx="3828531" cy="2076705"/>
          </a:xfrm>
          <a:prstGeom prst="rect">
            <a:avLst/>
          </a:prstGeom>
          <a:noFill/>
          <a:ln w="9525" cap="flat" cmpd="sng">
            <a:solidFill>
              <a:schemeClr val="accent5"/>
            </a:solidFill>
            <a:prstDash val="solid"/>
            <a:round/>
            <a:headEnd type="none" w="sm" len="sm"/>
            <a:tailEnd type="none" w="sm" len="sm"/>
          </a:ln>
        </p:spPr>
      </p:pic>
    </p:spTree>
    <p:extLst>
      <p:ext uri="{BB962C8B-B14F-4D97-AF65-F5344CB8AC3E}">
        <p14:creationId xmlns:p14="http://schemas.microsoft.com/office/powerpoint/2010/main" val="3695649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Lenguaje de Programación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Google Shape;226;p17">
            <a:extLst>
              <a:ext uri="{FF2B5EF4-FFF2-40B4-BE49-F238E27FC236}">
                <a16:creationId xmlns:a16="http://schemas.microsoft.com/office/drawing/2014/main" id="{F47346CC-981F-40B0-4D6C-73CCB974C152}"/>
              </a:ext>
            </a:extLst>
          </p:cNvPr>
          <p:cNvPicPr preferRelativeResize="0"/>
          <p:nvPr/>
        </p:nvPicPr>
        <p:blipFill rotWithShape="1">
          <a:blip r:embed="rId2">
            <a:alphaModFix/>
          </a:blip>
          <a:srcRect/>
          <a:stretch/>
        </p:blipFill>
        <p:spPr>
          <a:xfrm>
            <a:off x="3046289" y="1155963"/>
            <a:ext cx="4715367" cy="5452515"/>
          </a:xfrm>
          <a:prstGeom prst="rect">
            <a:avLst/>
          </a:prstGeom>
          <a:noFill/>
          <a:ln w="9525" cap="flat" cmpd="sng">
            <a:solidFill>
              <a:srgbClr val="0070C0"/>
            </a:solidFill>
            <a:prstDash val="solid"/>
            <a:round/>
            <a:headEnd type="none" w="sm" len="sm"/>
            <a:tailEnd type="none" w="sm" len="sm"/>
          </a:ln>
        </p:spPr>
      </p:pic>
      <p:sp>
        <p:nvSpPr>
          <p:cNvPr id="11" name="Google Shape;229;p17">
            <a:extLst>
              <a:ext uri="{FF2B5EF4-FFF2-40B4-BE49-F238E27FC236}">
                <a16:creationId xmlns:a16="http://schemas.microsoft.com/office/drawing/2014/main" id="{7DAF6C42-693C-90C6-8E54-432076197537}"/>
              </a:ext>
            </a:extLst>
          </p:cNvPr>
          <p:cNvSpPr/>
          <p:nvPr/>
        </p:nvSpPr>
        <p:spPr>
          <a:xfrm>
            <a:off x="1244187" y="1534482"/>
            <a:ext cx="1380205" cy="508285"/>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guardar</a:t>
            </a:r>
            <a:endParaRPr lang="es-CL" sz="2183" dirty="0">
              <a:latin typeface="Arial" panose="020B0604020202020204" pitchFamily="34" charset="0"/>
              <a:cs typeface="Arial" panose="020B0604020202020204" pitchFamily="34" charset="0"/>
            </a:endParaRPr>
          </a:p>
        </p:txBody>
      </p:sp>
      <p:cxnSp>
        <p:nvCxnSpPr>
          <p:cNvPr id="12" name="Google Shape;231;p17">
            <a:extLst>
              <a:ext uri="{FF2B5EF4-FFF2-40B4-BE49-F238E27FC236}">
                <a16:creationId xmlns:a16="http://schemas.microsoft.com/office/drawing/2014/main" id="{2FCFF45C-4931-E2E8-20D1-2E479B998421}"/>
              </a:ext>
            </a:extLst>
          </p:cNvPr>
          <p:cNvCxnSpPr>
            <a:cxnSpLocks/>
            <a:stCxn id="11" idx="3"/>
          </p:cNvCxnSpPr>
          <p:nvPr/>
        </p:nvCxnSpPr>
        <p:spPr>
          <a:xfrm>
            <a:off x="2624392" y="1699223"/>
            <a:ext cx="1438467" cy="0"/>
          </a:xfrm>
          <a:prstGeom prst="straightConnector1">
            <a:avLst/>
          </a:prstGeom>
          <a:noFill/>
          <a:ln w="57150" cap="flat" cmpd="sng">
            <a:solidFill>
              <a:srgbClr val="FF0000"/>
            </a:solidFill>
            <a:prstDash val="solid"/>
            <a:round/>
            <a:headEnd type="none" w="sm" len="sm"/>
            <a:tailEnd type="triangle" w="med" len="med"/>
          </a:ln>
          <a:effectLst>
            <a:outerShdw blurRad="40000" dist="20000" dir="5400000" rotWithShape="0">
              <a:srgbClr val="000000">
                <a:alpha val="37647"/>
              </a:srgbClr>
            </a:outerShdw>
          </a:effectLst>
        </p:spPr>
      </p:cxnSp>
      <p:sp>
        <p:nvSpPr>
          <p:cNvPr id="14" name="Google Shape;229;p17">
            <a:extLst>
              <a:ext uri="{FF2B5EF4-FFF2-40B4-BE49-F238E27FC236}">
                <a16:creationId xmlns:a16="http://schemas.microsoft.com/office/drawing/2014/main" id="{823FD8E5-6303-AB7C-0714-B95310641621}"/>
              </a:ext>
            </a:extLst>
          </p:cNvPr>
          <p:cNvSpPr/>
          <p:nvPr/>
        </p:nvSpPr>
        <p:spPr>
          <a:xfrm>
            <a:off x="8082934" y="712755"/>
            <a:ext cx="1380205" cy="508285"/>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compilar</a:t>
            </a:r>
            <a:endParaRPr lang="es-CL" sz="2183" dirty="0">
              <a:latin typeface="Arial" panose="020B0604020202020204" pitchFamily="34" charset="0"/>
              <a:cs typeface="Arial" panose="020B0604020202020204" pitchFamily="34" charset="0"/>
            </a:endParaRPr>
          </a:p>
        </p:txBody>
      </p:sp>
      <p:sp>
        <p:nvSpPr>
          <p:cNvPr id="15" name="Google Shape;229;p17">
            <a:extLst>
              <a:ext uri="{FF2B5EF4-FFF2-40B4-BE49-F238E27FC236}">
                <a16:creationId xmlns:a16="http://schemas.microsoft.com/office/drawing/2014/main" id="{4BF590A3-72AD-2438-1C94-C37980E3A3C9}"/>
              </a:ext>
            </a:extLst>
          </p:cNvPr>
          <p:cNvSpPr/>
          <p:nvPr/>
        </p:nvSpPr>
        <p:spPr>
          <a:xfrm>
            <a:off x="8601571" y="2042768"/>
            <a:ext cx="1380205" cy="508285"/>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ejecutar</a:t>
            </a:r>
            <a:endParaRPr lang="es-CL" sz="2183" dirty="0">
              <a:latin typeface="Arial" panose="020B0604020202020204" pitchFamily="34" charset="0"/>
              <a:cs typeface="Arial" panose="020B0604020202020204" pitchFamily="34" charset="0"/>
            </a:endParaRPr>
          </a:p>
        </p:txBody>
      </p:sp>
      <p:cxnSp>
        <p:nvCxnSpPr>
          <p:cNvPr id="16" name="Google Shape;231;p17">
            <a:extLst>
              <a:ext uri="{FF2B5EF4-FFF2-40B4-BE49-F238E27FC236}">
                <a16:creationId xmlns:a16="http://schemas.microsoft.com/office/drawing/2014/main" id="{B53D3475-8CFC-FC0C-0C15-38A40111BBB5}"/>
              </a:ext>
            </a:extLst>
          </p:cNvPr>
          <p:cNvCxnSpPr>
            <a:cxnSpLocks/>
          </p:cNvCxnSpPr>
          <p:nvPr/>
        </p:nvCxnSpPr>
        <p:spPr>
          <a:xfrm flipH="1" flipV="1">
            <a:off x="7553992" y="1717092"/>
            <a:ext cx="1016570" cy="531389"/>
          </a:xfrm>
          <a:prstGeom prst="straightConnector1">
            <a:avLst/>
          </a:prstGeom>
          <a:noFill/>
          <a:ln w="57150" cap="flat" cmpd="sng">
            <a:solidFill>
              <a:srgbClr val="FF0000"/>
            </a:solidFill>
            <a:prstDash val="solid"/>
            <a:round/>
            <a:headEnd type="none" w="sm" len="sm"/>
            <a:tailEnd type="triangle" w="med" len="med"/>
          </a:ln>
          <a:effectLst>
            <a:outerShdw blurRad="40000" dist="20000" dir="5400000" rotWithShape="0">
              <a:srgbClr val="000000">
                <a:alpha val="37647"/>
              </a:srgbClr>
            </a:outerShdw>
          </a:effectLst>
        </p:spPr>
      </p:cxnSp>
      <p:cxnSp>
        <p:nvCxnSpPr>
          <p:cNvPr id="17" name="Google Shape;231;p17">
            <a:extLst>
              <a:ext uri="{FF2B5EF4-FFF2-40B4-BE49-F238E27FC236}">
                <a16:creationId xmlns:a16="http://schemas.microsoft.com/office/drawing/2014/main" id="{0D4B29CE-C3D3-2B85-57DA-4FD9942BE987}"/>
              </a:ext>
            </a:extLst>
          </p:cNvPr>
          <p:cNvCxnSpPr>
            <a:cxnSpLocks/>
          </p:cNvCxnSpPr>
          <p:nvPr/>
        </p:nvCxnSpPr>
        <p:spPr>
          <a:xfrm flipH="1">
            <a:off x="6899925" y="890113"/>
            <a:ext cx="1044385" cy="809110"/>
          </a:xfrm>
          <a:prstGeom prst="straightConnector1">
            <a:avLst/>
          </a:prstGeom>
          <a:noFill/>
          <a:ln w="57150" cap="flat" cmpd="sng">
            <a:solidFill>
              <a:srgbClr val="FF0000"/>
            </a:solidFill>
            <a:prstDash val="solid"/>
            <a:round/>
            <a:headEnd type="none" w="sm" len="sm"/>
            <a:tailEnd type="triangle" w="med" len="med"/>
          </a:ln>
          <a:effectLst>
            <a:outerShdw blurRad="40000" dist="20000" dir="5400000" rotWithShape="0">
              <a:srgbClr val="000000">
                <a:alpha val="37647"/>
              </a:srgbClr>
            </a:outerShdw>
          </a:effectLst>
        </p:spPr>
      </p:cxnSp>
      <p:sp>
        <p:nvSpPr>
          <p:cNvPr id="23" name="Google Shape;229;p17">
            <a:extLst>
              <a:ext uri="{FF2B5EF4-FFF2-40B4-BE49-F238E27FC236}">
                <a16:creationId xmlns:a16="http://schemas.microsoft.com/office/drawing/2014/main" id="{3BD050C3-D6E3-0D98-44EA-3CC213F0B76E}"/>
              </a:ext>
            </a:extLst>
          </p:cNvPr>
          <p:cNvSpPr/>
          <p:nvPr/>
        </p:nvSpPr>
        <p:spPr>
          <a:xfrm>
            <a:off x="4987015" y="3174858"/>
            <a:ext cx="1380205" cy="508285"/>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editar</a:t>
            </a:r>
            <a:endParaRPr lang="es-CL" sz="218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2570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35200" y="4491779"/>
            <a:ext cx="6302645" cy="1231797"/>
          </a:xfrm>
        </p:spPr>
        <p:txBody>
          <a:bodyPr/>
          <a:lstStyle/>
          <a:p>
            <a:r>
              <a:rPr lang="es-CL" sz="4002" dirty="0"/>
              <a:t>PRIMER PROGRAMA EN JAVA</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5512534" y="3752454"/>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17780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Primer Programa en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20" name="CuadroTexto 19">
            <a:extLst>
              <a:ext uri="{FF2B5EF4-FFF2-40B4-BE49-F238E27FC236}">
                <a16:creationId xmlns:a16="http://schemas.microsoft.com/office/drawing/2014/main" id="{01C59F78-B9E7-3A56-0535-DB9AD3AFAAA4}"/>
              </a:ext>
            </a:extLst>
          </p:cNvPr>
          <p:cNvSpPr txBox="1"/>
          <p:nvPr/>
        </p:nvSpPr>
        <p:spPr>
          <a:xfrm>
            <a:off x="1761995" y="3071827"/>
            <a:ext cx="277246" cy="353623"/>
          </a:xfrm>
          <a:prstGeom prst="rect">
            <a:avLst/>
          </a:prstGeom>
          <a:noFill/>
          <a:ln>
            <a:solidFill>
              <a:srgbClr val="FF0000"/>
            </a:solidFill>
          </a:ln>
        </p:spPr>
        <p:txBody>
          <a:bodyPr wrap="square">
            <a:spAutoFit/>
          </a:bodyPr>
          <a:lstStyle/>
          <a:p>
            <a:r>
              <a:rPr lang="es-MX" sz="1698" b="1" dirty="0">
                <a:solidFill>
                  <a:srgbClr val="FF0000"/>
                </a:solidFill>
              </a:rPr>
              <a:t>1</a:t>
            </a:r>
          </a:p>
        </p:txBody>
      </p:sp>
      <p:pic>
        <p:nvPicPr>
          <p:cNvPr id="6" name="Imagen 5">
            <a:extLst>
              <a:ext uri="{FF2B5EF4-FFF2-40B4-BE49-F238E27FC236}">
                <a16:creationId xmlns:a16="http://schemas.microsoft.com/office/drawing/2014/main" id="{545F3F78-6096-AFF6-467B-FC7CD49D4568}"/>
              </a:ext>
            </a:extLst>
          </p:cNvPr>
          <p:cNvPicPr>
            <a:picLocks noChangeAspect="1"/>
          </p:cNvPicPr>
          <p:nvPr/>
        </p:nvPicPr>
        <p:blipFill>
          <a:blip r:embed="rId3"/>
          <a:stretch>
            <a:fillRect/>
          </a:stretch>
        </p:blipFill>
        <p:spPr>
          <a:xfrm>
            <a:off x="919416" y="3429000"/>
            <a:ext cx="4067598" cy="1323195"/>
          </a:xfrm>
          <a:prstGeom prst="rect">
            <a:avLst/>
          </a:prstGeom>
        </p:spPr>
      </p:pic>
      <p:sp>
        <p:nvSpPr>
          <p:cNvPr id="8" name="CuadroTexto 7">
            <a:extLst>
              <a:ext uri="{FF2B5EF4-FFF2-40B4-BE49-F238E27FC236}">
                <a16:creationId xmlns:a16="http://schemas.microsoft.com/office/drawing/2014/main" id="{AB8DA0D2-681B-024E-0FEF-E226AC684E91}"/>
              </a:ext>
            </a:extLst>
          </p:cNvPr>
          <p:cNvSpPr txBox="1"/>
          <p:nvPr/>
        </p:nvSpPr>
        <p:spPr>
          <a:xfrm>
            <a:off x="919416" y="1276686"/>
            <a:ext cx="10396743" cy="696986"/>
          </a:xfrm>
          <a:prstGeom prst="rect">
            <a:avLst/>
          </a:prstGeom>
          <a:noFill/>
        </p:spPr>
        <p:txBody>
          <a:bodyPr wrap="square">
            <a:spAutoFit/>
          </a:bodyPr>
          <a:lstStyle/>
          <a:p>
            <a:pPr marL="30805" algn="just">
              <a:lnSpc>
                <a:spcPct val="90000"/>
              </a:lnSpc>
              <a:spcBef>
                <a:spcPts val="606"/>
              </a:spcBef>
              <a:buSzPts val="2800"/>
            </a:pPr>
            <a:r>
              <a:rPr lang="es-CL" sz="2183" dirty="0">
                <a:solidFill>
                  <a:srgbClr val="222222"/>
                </a:solidFill>
                <a:latin typeface="Arial" panose="020B0604020202020204" pitchFamily="34" charset="0"/>
                <a:cs typeface="Arial" panose="020B0604020202020204" pitchFamily="34" charset="0"/>
              </a:rPr>
              <a:t>Abramos nuestro IDE NetBeans y procedamos a crear nuestro primer programa en Java</a:t>
            </a:r>
            <a:r>
              <a:rPr lang="es-CL" sz="1092" dirty="0">
                <a:solidFill>
                  <a:srgbClr val="222222"/>
                </a:solidFill>
              </a:rPr>
              <a:t>… </a:t>
            </a:r>
            <a:endParaRPr lang="es-CL" sz="1092" dirty="0"/>
          </a:p>
        </p:txBody>
      </p:sp>
      <p:sp>
        <p:nvSpPr>
          <p:cNvPr id="13" name="Flecha: hacia abajo 12">
            <a:extLst>
              <a:ext uri="{FF2B5EF4-FFF2-40B4-BE49-F238E27FC236}">
                <a16:creationId xmlns:a16="http://schemas.microsoft.com/office/drawing/2014/main" id="{722B0FC7-751F-5E23-9763-993273E96D88}"/>
              </a:ext>
            </a:extLst>
          </p:cNvPr>
          <p:cNvSpPr/>
          <p:nvPr/>
        </p:nvSpPr>
        <p:spPr>
          <a:xfrm>
            <a:off x="1494479" y="3276741"/>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10" name="CuadroTexto 9">
            <a:extLst>
              <a:ext uri="{FF2B5EF4-FFF2-40B4-BE49-F238E27FC236}">
                <a16:creationId xmlns:a16="http://schemas.microsoft.com/office/drawing/2014/main" id="{D5E1A5E4-1315-DB0F-8646-9694AD41E4A0}"/>
              </a:ext>
            </a:extLst>
          </p:cNvPr>
          <p:cNvSpPr txBox="1"/>
          <p:nvPr/>
        </p:nvSpPr>
        <p:spPr>
          <a:xfrm>
            <a:off x="919416" y="2445798"/>
            <a:ext cx="6092492" cy="390876"/>
          </a:xfrm>
          <a:prstGeom prst="rect">
            <a:avLst/>
          </a:prstGeom>
          <a:noFill/>
        </p:spPr>
        <p:txBody>
          <a:bodyPr wrap="square">
            <a:spAutoFit/>
          </a:bodyPr>
          <a:lstStyle/>
          <a:p>
            <a:r>
              <a:rPr lang="es-MX" sz="1940" b="1" i="1" dirty="0">
                <a:latin typeface="Arial" panose="020B0604020202020204" pitchFamily="34" charset="0"/>
                <a:cs typeface="Arial" panose="020B0604020202020204" pitchFamily="34" charset="0"/>
              </a:rPr>
              <a:t>Crear Proyecto</a:t>
            </a:r>
          </a:p>
        </p:txBody>
      </p:sp>
      <p:pic>
        <p:nvPicPr>
          <p:cNvPr id="11" name="Imagen 10">
            <a:extLst>
              <a:ext uri="{FF2B5EF4-FFF2-40B4-BE49-F238E27FC236}">
                <a16:creationId xmlns:a16="http://schemas.microsoft.com/office/drawing/2014/main" id="{C162BDC0-E854-8F4B-EDB8-2B3929B701DA}"/>
              </a:ext>
            </a:extLst>
          </p:cNvPr>
          <p:cNvPicPr>
            <a:picLocks noChangeAspect="1"/>
          </p:cNvPicPr>
          <p:nvPr/>
        </p:nvPicPr>
        <p:blipFill>
          <a:blip r:embed="rId4"/>
          <a:stretch>
            <a:fillRect/>
          </a:stretch>
        </p:blipFill>
        <p:spPr>
          <a:xfrm>
            <a:off x="5873791" y="2049244"/>
            <a:ext cx="5536843" cy="3798358"/>
          </a:xfrm>
          <a:prstGeom prst="rect">
            <a:avLst/>
          </a:prstGeom>
        </p:spPr>
      </p:pic>
      <p:sp>
        <p:nvSpPr>
          <p:cNvPr id="21" name="Flecha: hacia abajo 20">
            <a:extLst>
              <a:ext uri="{FF2B5EF4-FFF2-40B4-BE49-F238E27FC236}">
                <a16:creationId xmlns:a16="http://schemas.microsoft.com/office/drawing/2014/main" id="{BCF0D646-B502-5B8E-D9CE-27722F21ECDC}"/>
              </a:ext>
            </a:extLst>
          </p:cNvPr>
          <p:cNvSpPr/>
          <p:nvPr/>
        </p:nvSpPr>
        <p:spPr>
          <a:xfrm rot="16200000">
            <a:off x="6854992" y="3045396"/>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2" name="CuadroTexto 21">
            <a:extLst>
              <a:ext uri="{FF2B5EF4-FFF2-40B4-BE49-F238E27FC236}">
                <a16:creationId xmlns:a16="http://schemas.microsoft.com/office/drawing/2014/main" id="{AA0897AE-5C13-117A-3D1B-54BD7A1F4F4E}"/>
              </a:ext>
            </a:extLst>
          </p:cNvPr>
          <p:cNvSpPr txBox="1"/>
          <p:nvPr/>
        </p:nvSpPr>
        <p:spPr>
          <a:xfrm>
            <a:off x="6854992" y="3448682"/>
            <a:ext cx="277246" cy="353623"/>
          </a:xfrm>
          <a:prstGeom prst="rect">
            <a:avLst/>
          </a:prstGeom>
          <a:noFill/>
          <a:ln>
            <a:solidFill>
              <a:srgbClr val="FF0000"/>
            </a:solidFill>
          </a:ln>
        </p:spPr>
        <p:txBody>
          <a:bodyPr wrap="square">
            <a:spAutoFit/>
          </a:bodyPr>
          <a:lstStyle/>
          <a:p>
            <a:r>
              <a:rPr lang="es-MX" sz="1698" b="1" dirty="0">
                <a:solidFill>
                  <a:srgbClr val="FF0000"/>
                </a:solidFill>
              </a:rPr>
              <a:t>2</a:t>
            </a:r>
          </a:p>
        </p:txBody>
      </p:sp>
      <p:sp>
        <p:nvSpPr>
          <p:cNvPr id="32" name="Google Shape;229;p17">
            <a:extLst>
              <a:ext uri="{FF2B5EF4-FFF2-40B4-BE49-F238E27FC236}">
                <a16:creationId xmlns:a16="http://schemas.microsoft.com/office/drawing/2014/main" id="{4E4647BC-B1FE-ABF8-330D-294C4554850C}"/>
              </a:ext>
            </a:extLst>
          </p:cNvPr>
          <p:cNvSpPr/>
          <p:nvPr/>
        </p:nvSpPr>
        <p:spPr>
          <a:xfrm>
            <a:off x="3831821" y="2801399"/>
            <a:ext cx="3300418" cy="395563"/>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err="1">
                <a:solidFill>
                  <a:srgbClr val="000000"/>
                </a:solidFill>
                <a:latin typeface="Arial" panose="020B0604020202020204" pitchFamily="34" charset="0"/>
                <a:ea typeface="Century Gothic"/>
                <a:cs typeface="Arial" panose="020B0604020202020204" pitchFamily="34" charset="0"/>
                <a:sym typeface="Century Gothic"/>
              </a:rPr>
              <a:t>Categories</a:t>
            </a:r>
            <a:r>
              <a:rPr lang="es-CL" sz="2183" dirty="0">
                <a:solidFill>
                  <a:srgbClr val="000000"/>
                </a:solidFill>
                <a:latin typeface="Arial" panose="020B0604020202020204" pitchFamily="34" charset="0"/>
                <a:ea typeface="Century Gothic"/>
                <a:cs typeface="Arial" panose="020B0604020202020204" pitchFamily="34" charset="0"/>
                <a:sym typeface="Century Gothic"/>
              </a:rPr>
              <a:t>: Java </a:t>
            </a:r>
            <a:r>
              <a:rPr lang="es-CL" sz="2183" dirty="0" err="1">
                <a:solidFill>
                  <a:srgbClr val="000000"/>
                </a:solidFill>
                <a:latin typeface="Arial" panose="020B0604020202020204" pitchFamily="34" charset="0"/>
                <a:ea typeface="Century Gothic"/>
                <a:cs typeface="Arial" panose="020B0604020202020204" pitchFamily="34" charset="0"/>
                <a:sym typeface="Century Gothic"/>
              </a:rPr>
              <a:t>with</a:t>
            </a:r>
            <a:r>
              <a:rPr lang="es-CL" sz="2183" dirty="0">
                <a:solidFill>
                  <a:srgbClr val="000000"/>
                </a:solidFill>
                <a:latin typeface="Arial" panose="020B0604020202020204" pitchFamily="34" charset="0"/>
                <a:ea typeface="Century Gothic"/>
                <a:cs typeface="Arial" panose="020B0604020202020204" pitchFamily="34" charset="0"/>
                <a:sym typeface="Century Gothic"/>
              </a:rPr>
              <a:t> </a:t>
            </a:r>
            <a:r>
              <a:rPr lang="es-CL" sz="2183" dirty="0" err="1">
                <a:solidFill>
                  <a:srgbClr val="000000"/>
                </a:solidFill>
                <a:latin typeface="Arial" panose="020B0604020202020204" pitchFamily="34" charset="0"/>
                <a:ea typeface="Century Gothic"/>
                <a:cs typeface="Arial" panose="020B0604020202020204" pitchFamily="34" charset="0"/>
                <a:sym typeface="Century Gothic"/>
              </a:rPr>
              <a:t>Ant</a:t>
            </a:r>
            <a:endParaRPr lang="es-CL" sz="2183" dirty="0">
              <a:latin typeface="Arial" panose="020B0604020202020204" pitchFamily="34" charset="0"/>
              <a:cs typeface="Arial" panose="020B0604020202020204" pitchFamily="34" charset="0"/>
            </a:endParaRPr>
          </a:p>
        </p:txBody>
      </p:sp>
      <p:sp>
        <p:nvSpPr>
          <p:cNvPr id="12" name="Flecha: hacia abajo 11">
            <a:extLst>
              <a:ext uri="{FF2B5EF4-FFF2-40B4-BE49-F238E27FC236}">
                <a16:creationId xmlns:a16="http://schemas.microsoft.com/office/drawing/2014/main" id="{812D5679-0CC4-4209-47D9-EFB1FBD09FEE}"/>
              </a:ext>
            </a:extLst>
          </p:cNvPr>
          <p:cNvSpPr/>
          <p:nvPr/>
        </p:nvSpPr>
        <p:spPr>
          <a:xfrm rot="16200000">
            <a:off x="5242862" y="3747831"/>
            <a:ext cx="467498" cy="79436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4" name="Flecha: hacia abajo 23">
            <a:extLst>
              <a:ext uri="{FF2B5EF4-FFF2-40B4-BE49-F238E27FC236}">
                <a16:creationId xmlns:a16="http://schemas.microsoft.com/office/drawing/2014/main" id="{78A494F6-3404-5AF8-B2B1-635E2A0302F6}"/>
              </a:ext>
            </a:extLst>
          </p:cNvPr>
          <p:cNvSpPr/>
          <p:nvPr/>
        </p:nvSpPr>
        <p:spPr>
          <a:xfrm>
            <a:off x="9561582" y="2220940"/>
            <a:ext cx="283842" cy="70933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5" name="CuadroTexto 24">
            <a:extLst>
              <a:ext uri="{FF2B5EF4-FFF2-40B4-BE49-F238E27FC236}">
                <a16:creationId xmlns:a16="http://schemas.microsoft.com/office/drawing/2014/main" id="{13C682E8-EFF3-AEAC-EBF3-9B5397C91C48}"/>
              </a:ext>
            </a:extLst>
          </p:cNvPr>
          <p:cNvSpPr txBox="1"/>
          <p:nvPr/>
        </p:nvSpPr>
        <p:spPr>
          <a:xfrm>
            <a:off x="9845424" y="2416965"/>
            <a:ext cx="277246" cy="353623"/>
          </a:xfrm>
          <a:prstGeom prst="rect">
            <a:avLst/>
          </a:prstGeom>
          <a:noFill/>
          <a:ln>
            <a:solidFill>
              <a:srgbClr val="FF0000"/>
            </a:solidFill>
          </a:ln>
        </p:spPr>
        <p:txBody>
          <a:bodyPr wrap="square">
            <a:spAutoFit/>
          </a:bodyPr>
          <a:lstStyle/>
          <a:p>
            <a:r>
              <a:rPr lang="es-MX" sz="1698" b="1" dirty="0">
                <a:solidFill>
                  <a:srgbClr val="FF0000"/>
                </a:solidFill>
              </a:rPr>
              <a:t>3</a:t>
            </a:r>
          </a:p>
        </p:txBody>
      </p:sp>
      <p:sp>
        <p:nvSpPr>
          <p:cNvPr id="31" name="Google Shape;229;p17">
            <a:extLst>
              <a:ext uri="{FF2B5EF4-FFF2-40B4-BE49-F238E27FC236}">
                <a16:creationId xmlns:a16="http://schemas.microsoft.com/office/drawing/2014/main" id="{562B816A-E4DF-F7FE-6006-885C2418BF2A}"/>
              </a:ext>
            </a:extLst>
          </p:cNvPr>
          <p:cNvSpPr/>
          <p:nvPr/>
        </p:nvSpPr>
        <p:spPr>
          <a:xfrm>
            <a:off x="8036726" y="1697509"/>
            <a:ext cx="3373908"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Projects: Java Application</a:t>
            </a:r>
            <a:endParaRPr lang="es-CL" sz="2183" dirty="0">
              <a:latin typeface="Arial" panose="020B0604020202020204" pitchFamily="34" charset="0"/>
              <a:cs typeface="Arial" panose="020B0604020202020204" pitchFamily="34" charset="0"/>
            </a:endParaRPr>
          </a:p>
        </p:txBody>
      </p:sp>
      <p:sp>
        <p:nvSpPr>
          <p:cNvPr id="26" name="Flecha: hacia abajo 25">
            <a:extLst>
              <a:ext uri="{FF2B5EF4-FFF2-40B4-BE49-F238E27FC236}">
                <a16:creationId xmlns:a16="http://schemas.microsoft.com/office/drawing/2014/main" id="{620F7368-F6DF-F28F-BB7F-2CF0B8BA137D}"/>
              </a:ext>
            </a:extLst>
          </p:cNvPr>
          <p:cNvSpPr/>
          <p:nvPr/>
        </p:nvSpPr>
        <p:spPr>
          <a:xfrm>
            <a:off x="9145712" y="4966978"/>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7" name="CuadroTexto 26">
            <a:extLst>
              <a:ext uri="{FF2B5EF4-FFF2-40B4-BE49-F238E27FC236}">
                <a16:creationId xmlns:a16="http://schemas.microsoft.com/office/drawing/2014/main" id="{810456F8-6560-4752-3C44-25358AD3A878}"/>
              </a:ext>
            </a:extLst>
          </p:cNvPr>
          <p:cNvSpPr txBox="1"/>
          <p:nvPr/>
        </p:nvSpPr>
        <p:spPr>
          <a:xfrm>
            <a:off x="9422041" y="5115506"/>
            <a:ext cx="277246" cy="353623"/>
          </a:xfrm>
          <a:prstGeom prst="rect">
            <a:avLst/>
          </a:prstGeom>
          <a:noFill/>
          <a:ln>
            <a:solidFill>
              <a:srgbClr val="FF0000"/>
            </a:solidFill>
          </a:ln>
        </p:spPr>
        <p:txBody>
          <a:bodyPr wrap="square">
            <a:spAutoFit/>
          </a:bodyPr>
          <a:lstStyle/>
          <a:p>
            <a:r>
              <a:rPr lang="es-MX" sz="1698" b="1" dirty="0">
                <a:solidFill>
                  <a:srgbClr val="FF0000"/>
                </a:solidFill>
              </a:rPr>
              <a:t>4</a:t>
            </a:r>
          </a:p>
        </p:txBody>
      </p:sp>
    </p:spTree>
    <p:extLst>
      <p:ext uri="{BB962C8B-B14F-4D97-AF65-F5344CB8AC3E}">
        <p14:creationId xmlns:p14="http://schemas.microsoft.com/office/powerpoint/2010/main" val="2281697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Primer Programa en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3B781F73-4807-C51A-B8AE-ECC3B0950A0C}"/>
              </a:ext>
            </a:extLst>
          </p:cNvPr>
          <p:cNvPicPr>
            <a:picLocks noChangeAspect="1"/>
          </p:cNvPicPr>
          <p:nvPr/>
        </p:nvPicPr>
        <p:blipFill>
          <a:blip r:embed="rId2"/>
          <a:stretch>
            <a:fillRect/>
          </a:stretch>
        </p:blipFill>
        <p:spPr>
          <a:xfrm>
            <a:off x="2099658" y="1421149"/>
            <a:ext cx="7992685" cy="4602684"/>
          </a:xfrm>
          <a:prstGeom prst="rect">
            <a:avLst/>
          </a:prstGeom>
        </p:spPr>
      </p:pic>
      <p:sp>
        <p:nvSpPr>
          <p:cNvPr id="20" name="CuadroTexto 19">
            <a:extLst>
              <a:ext uri="{FF2B5EF4-FFF2-40B4-BE49-F238E27FC236}">
                <a16:creationId xmlns:a16="http://schemas.microsoft.com/office/drawing/2014/main" id="{01C59F78-B9E7-3A56-0535-DB9AD3AFAAA4}"/>
              </a:ext>
            </a:extLst>
          </p:cNvPr>
          <p:cNvSpPr txBox="1"/>
          <p:nvPr/>
        </p:nvSpPr>
        <p:spPr>
          <a:xfrm>
            <a:off x="6381229" y="1722880"/>
            <a:ext cx="277246" cy="353623"/>
          </a:xfrm>
          <a:prstGeom prst="rect">
            <a:avLst/>
          </a:prstGeom>
          <a:noFill/>
          <a:ln>
            <a:solidFill>
              <a:srgbClr val="FF0000"/>
            </a:solidFill>
          </a:ln>
        </p:spPr>
        <p:txBody>
          <a:bodyPr wrap="square">
            <a:spAutoFit/>
          </a:bodyPr>
          <a:lstStyle/>
          <a:p>
            <a:r>
              <a:rPr lang="es-MX" sz="1698" b="1" dirty="0">
                <a:solidFill>
                  <a:srgbClr val="FF0000"/>
                </a:solidFill>
              </a:rPr>
              <a:t>1</a:t>
            </a:r>
          </a:p>
        </p:txBody>
      </p:sp>
      <p:sp>
        <p:nvSpPr>
          <p:cNvPr id="13" name="Flecha: hacia abajo 12">
            <a:extLst>
              <a:ext uri="{FF2B5EF4-FFF2-40B4-BE49-F238E27FC236}">
                <a16:creationId xmlns:a16="http://schemas.microsoft.com/office/drawing/2014/main" id="{722B0FC7-751F-5E23-9763-993273E96D88}"/>
              </a:ext>
            </a:extLst>
          </p:cNvPr>
          <p:cNvSpPr/>
          <p:nvPr/>
        </p:nvSpPr>
        <p:spPr>
          <a:xfrm rot="5400000">
            <a:off x="6286333" y="1854757"/>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30" name="Google Shape;229;p17">
            <a:extLst>
              <a:ext uri="{FF2B5EF4-FFF2-40B4-BE49-F238E27FC236}">
                <a16:creationId xmlns:a16="http://schemas.microsoft.com/office/drawing/2014/main" id="{128F8D6A-5247-7EE5-7278-721152D0C33F}"/>
              </a:ext>
            </a:extLst>
          </p:cNvPr>
          <p:cNvSpPr/>
          <p:nvPr/>
        </p:nvSpPr>
        <p:spPr>
          <a:xfrm>
            <a:off x="8098972" y="3316392"/>
            <a:ext cx="2649470"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Ubicación Proyecto</a:t>
            </a:r>
            <a:endParaRPr lang="es-CL" sz="2183" dirty="0">
              <a:latin typeface="Arial" panose="020B0604020202020204" pitchFamily="34" charset="0"/>
              <a:cs typeface="Arial" panose="020B0604020202020204" pitchFamily="34" charset="0"/>
            </a:endParaRPr>
          </a:p>
        </p:txBody>
      </p:sp>
      <p:sp>
        <p:nvSpPr>
          <p:cNvPr id="21" name="Flecha: hacia abajo 20">
            <a:extLst>
              <a:ext uri="{FF2B5EF4-FFF2-40B4-BE49-F238E27FC236}">
                <a16:creationId xmlns:a16="http://schemas.microsoft.com/office/drawing/2014/main" id="{BCF0D646-B502-5B8E-D9CE-27722F21ECDC}"/>
              </a:ext>
            </a:extLst>
          </p:cNvPr>
          <p:cNvSpPr/>
          <p:nvPr/>
        </p:nvSpPr>
        <p:spPr>
          <a:xfrm rot="10800000">
            <a:off x="9597172" y="2606018"/>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2" name="CuadroTexto 21">
            <a:extLst>
              <a:ext uri="{FF2B5EF4-FFF2-40B4-BE49-F238E27FC236}">
                <a16:creationId xmlns:a16="http://schemas.microsoft.com/office/drawing/2014/main" id="{AA0897AE-5C13-117A-3D1B-54BD7A1F4F4E}"/>
              </a:ext>
            </a:extLst>
          </p:cNvPr>
          <p:cNvSpPr txBox="1"/>
          <p:nvPr/>
        </p:nvSpPr>
        <p:spPr>
          <a:xfrm>
            <a:off x="9319926" y="2913187"/>
            <a:ext cx="277246" cy="353623"/>
          </a:xfrm>
          <a:prstGeom prst="rect">
            <a:avLst/>
          </a:prstGeom>
          <a:noFill/>
          <a:ln>
            <a:solidFill>
              <a:srgbClr val="FF0000"/>
            </a:solidFill>
          </a:ln>
        </p:spPr>
        <p:txBody>
          <a:bodyPr wrap="square">
            <a:spAutoFit/>
          </a:bodyPr>
          <a:lstStyle/>
          <a:p>
            <a:r>
              <a:rPr lang="es-MX" sz="1698" b="1" dirty="0">
                <a:solidFill>
                  <a:srgbClr val="FF0000"/>
                </a:solidFill>
              </a:rPr>
              <a:t>2</a:t>
            </a:r>
          </a:p>
        </p:txBody>
      </p:sp>
      <p:sp>
        <p:nvSpPr>
          <p:cNvPr id="31" name="Google Shape;229;p17">
            <a:extLst>
              <a:ext uri="{FF2B5EF4-FFF2-40B4-BE49-F238E27FC236}">
                <a16:creationId xmlns:a16="http://schemas.microsoft.com/office/drawing/2014/main" id="{562B816A-E4DF-F7FE-6006-885C2418BF2A}"/>
              </a:ext>
            </a:extLst>
          </p:cNvPr>
          <p:cNvSpPr/>
          <p:nvPr/>
        </p:nvSpPr>
        <p:spPr>
          <a:xfrm>
            <a:off x="6822483" y="1928176"/>
            <a:ext cx="2426339"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Nombre Proyecto</a:t>
            </a:r>
            <a:endParaRPr lang="es-CL" sz="2183" dirty="0">
              <a:latin typeface="Arial" panose="020B0604020202020204" pitchFamily="34" charset="0"/>
              <a:cs typeface="Arial" panose="020B0604020202020204" pitchFamily="34" charset="0"/>
            </a:endParaRPr>
          </a:p>
        </p:txBody>
      </p:sp>
      <p:sp>
        <p:nvSpPr>
          <p:cNvPr id="24" name="Flecha: hacia abajo 23">
            <a:extLst>
              <a:ext uri="{FF2B5EF4-FFF2-40B4-BE49-F238E27FC236}">
                <a16:creationId xmlns:a16="http://schemas.microsoft.com/office/drawing/2014/main" id="{78A494F6-3404-5AF8-B2B1-635E2A0302F6}"/>
              </a:ext>
            </a:extLst>
          </p:cNvPr>
          <p:cNvSpPr/>
          <p:nvPr/>
        </p:nvSpPr>
        <p:spPr>
          <a:xfrm rot="16200000">
            <a:off x="3536134" y="3942530"/>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5" name="CuadroTexto 24">
            <a:extLst>
              <a:ext uri="{FF2B5EF4-FFF2-40B4-BE49-F238E27FC236}">
                <a16:creationId xmlns:a16="http://schemas.microsoft.com/office/drawing/2014/main" id="{13C682E8-EFF3-AEAC-EBF3-9B5397C91C48}"/>
              </a:ext>
            </a:extLst>
          </p:cNvPr>
          <p:cNvSpPr txBox="1"/>
          <p:nvPr/>
        </p:nvSpPr>
        <p:spPr>
          <a:xfrm>
            <a:off x="3536134" y="3810653"/>
            <a:ext cx="277246" cy="353623"/>
          </a:xfrm>
          <a:prstGeom prst="rect">
            <a:avLst/>
          </a:prstGeom>
          <a:noFill/>
          <a:ln>
            <a:solidFill>
              <a:srgbClr val="FF0000"/>
            </a:solidFill>
          </a:ln>
        </p:spPr>
        <p:txBody>
          <a:bodyPr wrap="square">
            <a:spAutoFit/>
          </a:bodyPr>
          <a:lstStyle/>
          <a:p>
            <a:r>
              <a:rPr lang="es-MX" sz="1698" b="1" dirty="0">
                <a:solidFill>
                  <a:srgbClr val="FF0000"/>
                </a:solidFill>
              </a:rPr>
              <a:t>3</a:t>
            </a:r>
          </a:p>
        </p:txBody>
      </p:sp>
      <p:sp>
        <p:nvSpPr>
          <p:cNvPr id="32" name="Google Shape;229;p17">
            <a:extLst>
              <a:ext uri="{FF2B5EF4-FFF2-40B4-BE49-F238E27FC236}">
                <a16:creationId xmlns:a16="http://schemas.microsoft.com/office/drawing/2014/main" id="{4E4647BC-B1FE-ABF8-330D-294C4554850C}"/>
              </a:ext>
            </a:extLst>
          </p:cNvPr>
          <p:cNvSpPr/>
          <p:nvPr/>
        </p:nvSpPr>
        <p:spPr>
          <a:xfrm>
            <a:off x="553743" y="3967769"/>
            <a:ext cx="2649470"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Crear Clase </a:t>
            </a:r>
            <a:r>
              <a:rPr lang="es-CL" sz="2183" dirty="0" err="1">
                <a:solidFill>
                  <a:srgbClr val="000000"/>
                </a:solidFill>
                <a:latin typeface="Arial" panose="020B0604020202020204" pitchFamily="34" charset="0"/>
                <a:ea typeface="Century Gothic"/>
                <a:cs typeface="Arial" panose="020B0604020202020204" pitchFamily="34" charset="0"/>
                <a:sym typeface="Century Gothic"/>
              </a:rPr>
              <a:t>Main</a:t>
            </a:r>
            <a:endParaRPr lang="es-CL" sz="2183" dirty="0">
              <a:latin typeface="Arial" panose="020B0604020202020204" pitchFamily="34" charset="0"/>
              <a:cs typeface="Arial" panose="020B0604020202020204" pitchFamily="34" charset="0"/>
            </a:endParaRPr>
          </a:p>
        </p:txBody>
      </p:sp>
      <p:sp>
        <p:nvSpPr>
          <p:cNvPr id="26" name="Flecha: hacia abajo 25">
            <a:extLst>
              <a:ext uri="{FF2B5EF4-FFF2-40B4-BE49-F238E27FC236}">
                <a16:creationId xmlns:a16="http://schemas.microsoft.com/office/drawing/2014/main" id="{620F7368-F6DF-F28F-BB7F-2CF0B8BA137D}"/>
              </a:ext>
            </a:extLst>
          </p:cNvPr>
          <p:cNvSpPr/>
          <p:nvPr/>
        </p:nvSpPr>
        <p:spPr>
          <a:xfrm>
            <a:off x="8098972" y="4893444"/>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27" name="CuadroTexto 26">
            <a:extLst>
              <a:ext uri="{FF2B5EF4-FFF2-40B4-BE49-F238E27FC236}">
                <a16:creationId xmlns:a16="http://schemas.microsoft.com/office/drawing/2014/main" id="{810456F8-6560-4752-3C44-25358AD3A878}"/>
              </a:ext>
            </a:extLst>
          </p:cNvPr>
          <p:cNvSpPr txBox="1"/>
          <p:nvPr/>
        </p:nvSpPr>
        <p:spPr>
          <a:xfrm>
            <a:off x="8422426" y="5041972"/>
            <a:ext cx="277246" cy="353623"/>
          </a:xfrm>
          <a:prstGeom prst="rect">
            <a:avLst/>
          </a:prstGeom>
          <a:noFill/>
          <a:ln>
            <a:solidFill>
              <a:srgbClr val="FF0000"/>
            </a:solidFill>
          </a:ln>
        </p:spPr>
        <p:txBody>
          <a:bodyPr wrap="square">
            <a:spAutoFit/>
          </a:bodyPr>
          <a:lstStyle/>
          <a:p>
            <a:r>
              <a:rPr lang="es-MX" sz="1698" b="1" dirty="0">
                <a:solidFill>
                  <a:srgbClr val="FF0000"/>
                </a:solidFill>
              </a:rPr>
              <a:t>4</a:t>
            </a:r>
          </a:p>
        </p:txBody>
      </p:sp>
    </p:spTree>
    <p:extLst>
      <p:ext uri="{BB962C8B-B14F-4D97-AF65-F5344CB8AC3E}">
        <p14:creationId xmlns:p14="http://schemas.microsoft.com/office/powerpoint/2010/main" val="943529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Primer Programa en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4" name="Imagen 33">
            <a:extLst>
              <a:ext uri="{FF2B5EF4-FFF2-40B4-BE49-F238E27FC236}">
                <a16:creationId xmlns:a16="http://schemas.microsoft.com/office/drawing/2014/main" id="{C47F0E9C-01E4-1A45-4C09-33B7138DC305}"/>
              </a:ext>
            </a:extLst>
          </p:cNvPr>
          <p:cNvPicPr>
            <a:picLocks noChangeAspect="1"/>
          </p:cNvPicPr>
          <p:nvPr/>
        </p:nvPicPr>
        <p:blipFill>
          <a:blip r:embed="rId2"/>
          <a:stretch>
            <a:fillRect/>
          </a:stretch>
        </p:blipFill>
        <p:spPr>
          <a:xfrm>
            <a:off x="920732" y="1732557"/>
            <a:ext cx="7784004" cy="4196643"/>
          </a:xfrm>
          <a:prstGeom prst="rect">
            <a:avLst/>
          </a:prstGeom>
        </p:spPr>
      </p:pic>
      <p:sp>
        <p:nvSpPr>
          <p:cNvPr id="26" name="Flecha: hacia abajo 25">
            <a:extLst>
              <a:ext uri="{FF2B5EF4-FFF2-40B4-BE49-F238E27FC236}">
                <a16:creationId xmlns:a16="http://schemas.microsoft.com/office/drawing/2014/main" id="{620F7368-F6DF-F28F-BB7F-2CF0B8BA137D}"/>
              </a:ext>
            </a:extLst>
          </p:cNvPr>
          <p:cNvSpPr/>
          <p:nvPr/>
        </p:nvSpPr>
        <p:spPr>
          <a:xfrm rot="5400000">
            <a:off x="4767475" y="3211497"/>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13" name="Flecha: hacia abajo 12">
            <a:extLst>
              <a:ext uri="{FF2B5EF4-FFF2-40B4-BE49-F238E27FC236}">
                <a16:creationId xmlns:a16="http://schemas.microsoft.com/office/drawing/2014/main" id="{722B0FC7-751F-5E23-9763-993273E96D88}"/>
              </a:ext>
            </a:extLst>
          </p:cNvPr>
          <p:cNvSpPr/>
          <p:nvPr/>
        </p:nvSpPr>
        <p:spPr>
          <a:xfrm>
            <a:off x="3874341" y="2852270"/>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30" name="Google Shape;229;p17">
            <a:extLst>
              <a:ext uri="{FF2B5EF4-FFF2-40B4-BE49-F238E27FC236}">
                <a16:creationId xmlns:a16="http://schemas.microsoft.com/office/drawing/2014/main" id="{128F8D6A-5247-7EE5-7278-721152D0C33F}"/>
              </a:ext>
            </a:extLst>
          </p:cNvPr>
          <p:cNvSpPr/>
          <p:nvPr/>
        </p:nvSpPr>
        <p:spPr>
          <a:xfrm>
            <a:off x="5301339" y="3232856"/>
            <a:ext cx="2649470"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Nombre de la Clase</a:t>
            </a:r>
            <a:endParaRPr lang="es-CL" sz="2183" dirty="0">
              <a:latin typeface="Arial" panose="020B0604020202020204" pitchFamily="34" charset="0"/>
              <a:cs typeface="Arial" panose="020B0604020202020204" pitchFamily="34" charset="0"/>
            </a:endParaRPr>
          </a:p>
        </p:txBody>
      </p:sp>
      <p:sp>
        <p:nvSpPr>
          <p:cNvPr id="31" name="Google Shape;229;p17">
            <a:extLst>
              <a:ext uri="{FF2B5EF4-FFF2-40B4-BE49-F238E27FC236}">
                <a16:creationId xmlns:a16="http://schemas.microsoft.com/office/drawing/2014/main" id="{562B816A-E4DF-F7FE-6006-885C2418BF2A}"/>
              </a:ext>
            </a:extLst>
          </p:cNvPr>
          <p:cNvSpPr/>
          <p:nvPr/>
        </p:nvSpPr>
        <p:spPr>
          <a:xfrm>
            <a:off x="3530903" y="2315571"/>
            <a:ext cx="1201123"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Clase</a:t>
            </a:r>
            <a:endParaRPr lang="es-CL" sz="2183" dirty="0">
              <a:latin typeface="Arial" panose="020B0604020202020204" pitchFamily="34" charset="0"/>
              <a:cs typeface="Arial" panose="020B0604020202020204" pitchFamily="34" charset="0"/>
            </a:endParaRPr>
          </a:p>
        </p:txBody>
      </p:sp>
      <p:sp>
        <p:nvSpPr>
          <p:cNvPr id="24" name="Flecha: hacia abajo 23">
            <a:extLst>
              <a:ext uri="{FF2B5EF4-FFF2-40B4-BE49-F238E27FC236}">
                <a16:creationId xmlns:a16="http://schemas.microsoft.com/office/drawing/2014/main" id="{78A494F6-3404-5AF8-B2B1-635E2A0302F6}"/>
              </a:ext>
            </a:extLst>
          </p:cNvPr>
          <p:cNvSpPr/>
          <p:nvPr/>
        </p:nvSpPr>
        <p:spPr>
          <a:xfrm rot="16200000">
            <a:off x="3085111" y="3232075"/>
            <a:ext cx="277246" cy="6143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32" name="Google Shape;229;p17">
            <a:extLst>
              <a:ext uri="{FF2B5EF4-FFF2-40B4-BE49-F238E27FC236}">
                <a16:creationId xmlns:a16="http://schemas.microsoft.com/office/drawing/2014/main" id="{4E4647BC-B1FE-ABF8-330D-294C4554850C}"/>
              </a:ext>
            </a:extLst>
          </p:cNvPr>
          <p:cNvSpPr/>
          <p:nvPr/>
        </p:nvSpPr>
        <p:spPr>
          <a:xfrm>
            <a:off x="220591" y="2961502"/>
            <a:ext cx="3188767"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Declaración de la clase</a:t>
            </a:r>
            <a:endParaRPr lang="es-CL" sz="2183" dirty="0">
              <a:latin typeface="Arial" panose="020B0604020202020204" pitchFamily="34" charset="0"/>
              <a:cs typeface="Arial" panose="020B0604020202020204" pitchFamily="34" charset="0"/>
            </a:endParaRPr>
          </a:p>
        </p:txBody>
      </p:sp>
      <p:sp>
        <p:nvSpPr>
          <p:cNvPr id="35" name="CuadroTexto 34">
            <a:extLst>
              <a:ext uri="{FF2B5EF4-FFF2-40B4-BE49-F238E27FC236}">
                <a16:creationId xmlns:a16="http://schemas.microsoft.com/office/drawing/2014/main" id="{C04D3924-9DD0-85CB-9F2D-22F206D53DEF}"/>
              </a:ext>
            </a:extLst>
          </p:cNvPr>
          <p:cNvSpPr txBox="1"/>
          <p:nvPr/>
        </p:nvSpPr>
        <p:spPr>
          <a:xfrm>
            <a:off x="767134" y="1130940"/>
            <a:ext cx="6092492" cy="390876"/>
          </a:xfrm>
          <a:prstGeom prst="rect">
            <a:avLst/>
          </a:prstGeom>
          <a:noFill/>
        </p:spPr>
        <p:txBody>
          <a:bodyPr wrap="square">
            <a:spAutoFit/>
          </a:bodyPr>
          <a:lstStyle/>
          <a:p>
            <a:r>
              <a:rPr lang="es-MX" sz="1940" b="1" i="1" dirty="0">
                <a:latin typeface="Arial" panose="020B0604020202020204" pitchFamily="34" charset="0"/>
                <a:cs typeface="Arial" panose="020B0604020202020204" pitchFamily="34" charset="0"/>
              </a:rPr>
              <a:t>Proyecto Creado</a:t>
            </a:r>
          </a:p>
        </p:txBody>
      </p:sp>
      <p:sp>
        <p:nvSpPr>
          <p:cNvPr id="36" name="CuadroTexto 35">
            <a:extLst>
              <a:ext uri="{FF2B5EF4-FFF2-40B4-BE49-F238E27FC236}">
                <a16:creationId xmlns:a16="http://schemas.microsoft.com/office/drawing/2014/main" id="{D49E8403-BD01-1C4B-5E84-1688B6D3E43E}"/>
              </a:ext>
            </a:extLst>
          </p:cNvPr>
          <p:cNvSpPr txBox="1"/>
          <p:nvPr/>
        </p:nvSpPr>
        <p:spPr>
          <a:xfrm>
            <a:off x="8891318" y="2380383"/>
            <a:ext cx="2777038" cy="2208618"/>
          </a:xfrm>
          <a:prstGeom prst="rect">
            <a:avLst/>
          </a:prstGeom>
          <a:noFill/>
        </p:spPr>
        <p:txBody>
          <a:bodyPr wrap="square">
            <a:spAutoFit/>
          </a:bodyPr>
          <a:lstStyle/>
          <a:p>
            <a:pPr marL="30805" algn="just">
              <a:lnSpc>
                <a:spcPct val="90000"/>
              </a:lnSpc>
              <a:spcBef>
                <a:spcPts val="606"/>
              </a:spcBef>
              <a:buClr>
                <a:srgbClr val="DE3075"/>
              </a:buClr>
              <a:buSzPts val="2800"/>
            </a:pPr>
            <a:r>
              <a:rPr lang="es-MX" sz="2183" dirty="0">
                <a:solidFill>
                  <a:srgbClr val="222222"/>
                </a:solidFill>
                <a:latin typeface="Arial" panose="020B0604020202020204" pitchFamily="34" charset="0"/>
                <a:ea typeface="Calibri"/>
                <a:cs typeface="Arial" panose="020B0604020202020204" pitchFamily="34" charset="0"/>
                <a:sym typeface="Calibri"/>
              </a:rPr>
              <a:t>Se crea el proyecto </a:t>
            </a:r>
            <a:r>
              <a:rPr lang="es-MX" sz="2183" dirty="0" err="1">
                <a:solidFill>
                  <a:srgbClr val="222222"/>
                </a:solidFill>
                <a:latin typeface="Arial" panose="020B0604020202020204" pitchFamily="34" charset="0"/>
                <a:ea typeface="Calibri"/>
                <a:cs typeface="Arial" panose="020B0604020202020204" pitchFamily="34" charset="0"/>
                <a:sym typeface="Calibri"/>
              </a:rPr>
              <a:t>Pizzeria</a:t>
            </a:r>
            <a:r>
              <a:rPr lang="es-MX" sz="2183" dirty="0">
                <a:solidFill>
                  <a:srgbClr val="222222"/>
                </a:solidFill>
                <a:latin typeface="Arial" panose="020B0604020202020204" pitchFamily="34" charset="0"/>
                <a:ea typeface="Calibri"/>
                <a:cs typeface="Arial" panose="020B0604020202020204" pitchFamily="34" charset="0"/>
                <a:sym typeface="Calibri"/>
              </a:rPr>
              <a:t>        con el </a:t>
            </a:r>
            <a:r>
              <a:rPr lang="es-MX" sz="2183" dirty="0" err="1">
                <a:solidFill>
                  <a:srgbClr val="222222"/>
                </a:solidFill>
                <a:latin typeface="Arial" panose="020B0604020202020204" pitchFamily="34" charset="0"/>
                <a:ea typeface="Calibri"/>
                <a:cs typeface="Arial" panose="020B0604020202020204" pitchFamily="34" charset="0"/>
                <a:sym typeface="Calibri"/>
              </a:rPr>
              <a:t>package</a:t>
            </a:r>
            <a:r>
              <a:rPr lang="es-MX" sz="2183" dirty="0">
                <a:solidFill>
                  <a:srgbClr val="222222"/>
                </a:solidFill>
                <a:latin typeface="Arial" panose="020B0604020202020204" pitchFamily="34" charset="0"/>
                <a:ea typeface="Calibri"/>
                <a:cs typeface="Arial" panose="020B0604020202020204" pitchFamily="34" charset="0"/>
                <a:sym typeface="Calibri"/>
              </a:rPr>
              <a:t> </a:t>
            </a:r>
            <a:r>
              <a:rPr lang="es-MX" sz="2183" dirty="0" err="1">
                <a:solidFill>
                  <a:srgbClr val="222222"/>
                </a:solidFill>
                <a:latin typeface="Arial" panose="020B0604020202020204" pitchFamily="34" charset="0"/>
                <a:ea typeface="Calibri"/>
                <a:cs typeface="Arial" panose="020B0604020202020204" pitchFamily="34" charset="0"/>
                <a:sym typeface="Calibri"/>
              </a:rPr>
              <a:t>pizzeria</a:t>
            </a:r>
            <a:r>
              <a:rPr lang="es-MX" sz="2183" dirty="0">
                <a:solidFill>
                  <a:srgbClr val="222222"/>
                </a:solidFill>
                <a:latin typeface="Arial" panose="020B0604020202020204" pitchFamily="34" charset="0"/>
                <a:ea typeface="Calibri"/>
                <a:cs typeface="Arial" panose="020B0604020202020204" pitchFamily="34" charset="0"/>
                <a:sym typeface="Calibri"/>
              </a:rPr>
              <a:t>        y dentro de él, la clase Pizzeria.java, donde se escribirá el código. </a:t>
            </a:r>
            <a:endParaRPr lang="es-MX" sz="2183" dirty="0">
              <a:latin typeface="Arial" panose="020B0604020202020204" pitchFamily="34" charset="0"/>
              <a:cs typeface="Arial" panose="020B0604020202020204" pitchFamily="34" charset="0"/>
            </a:endParaRPr>
          </a:p>
        </p:txBody>
      </p:sp>
      <p:pic>
        <p:nvPicPr>
          <p:cNvPr id="37" name="Google Shape;255;p20">
            <a:extLst>
              <a:ext uri="{FF2B5EF4-FFF2-40B4-BE49-F238E27FC236}">
                <a16:creationId xmlns:a16="http://schemas.microsoft.com/office/drawing/2014/main" id="{E40D7B51-F592-9F0D-4546-0BB815A51C55}"/>
              </a:ext>
            </a:extLst>
          </p:cNvPr>
          <p:cNvPicPr preferRelativeResize="0"/>
          <p:nvPr/>
        </p:nvPicPr>
        <p:blipFill rotWithShape="1">
          <a:blip r:embed="rId3">
            <a:alphaModFix/>
          </a:blip>
          <a:srcRect/>
          <a:stretch/>
        </p:blipFill>
        <p:spPr>
          <a:xfrm>
            <a:off x="10088393" y="2691940"/>
            <a:ext cx="443551" cy="367399"/>
          </a:xfrm>
          <a:prstGeom prst="rect">
            <a:avLst/>
          </a:prstGeom>
          <a:noFill/>
          <a:ln>
            <a:noFill/>
          </a:ln>
        </p:spPr>
      </p:pic>
      <p:pic>
        <p:nvPicPr>
          <p:cNvPr id="38" name="Google Shape;256;p20">
            <a:extLst>
              <a:ext uri="{FF2B5EF4-FFF2-40B4-BE49-F238E27FC236}">
                <a16:creationId xmlns:a16="http://schemas.microsoft.com/office/drawing/2014/main" id="{9C3678C8-826E-D51B-0935-66F55C56DBB8}"/>
              </a:ext>
            </a:extLst>
          </p:cNvPr>
          <p:cNvPicPr preferRelativeResize="0"/>
          <p:nvPr/>
        </p:nvPicPr>
        <p:blipFill rotWithShape="1">
          <a:blip r:embed="rId4">
            <a:alphaModFix/>
          </a:blip>
          <a:srcRect/>
          <a:stretch/>
        </p:blipFill>
        <p:spPr>
          <a:xfrm>
            <a:off x="10117916" y="3092331"/>
            <a:ext cx="414028" cy="277247"/>
          </a:xfrm>
          <a:prstGeom prst="rect">
            <a:avLst/>
          </a:prstGeom>
          <a:noFill/>
          <a:ln>
            <a:noFill/>
          </a:ln>
        </p:spPr>
      </p:pic>
    </p:spTree>
    <p:extLst>
      <p:ext uri="{BB962C8B-B14F-4D97-AF65-F5344CB8AC3E}">
        <p14:creationId xmlns:p14="http://schemas.microsoft.com/office/powerpoint/2010/main" val="3461251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Primer Programa en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35" name="CuadroTexto 34">
            <a:extLst>
              <a:ext uri="{FF2B5EF4-FFF2-40B4-BE49-F238E27FC236}">
                <a16:creationId xmlns:a16="http://schemas.microsoft.com/office/drawing/2014/main" id="{C04D3924-9DD0-85CB-9F2D-22F206D53DEF}"/>
              </a:ext>
            </a:extLst>
          </p:cNvPr>
          <p:cNvSpPr txBox="1"/>
          <p:nvPr/>
        </p:nvSpPr>
        <p:spPr>
          <a:xfrm>
            <a:off x="778686" y="1052438"/>
            <a:ext cx="10457926" cy="394660"/>
          </a:xfrm>
          <a:prstGeom prst="rect">
            <a:avLst/>
          </a:prstGeom>
          <a:noFill/>
        </p:spPr>
        <p:txBody>
          <a:bodyPr wrap="square">
            <a:spAutoFit/>
          </a:bodyPr>
          <a:lstStyle/>
          <a:p>
            <a:pPr marL="30805" algn="just">
              <a:lnSpc>
                <a:spcPct val="90000"/>
              </a:lnSpc>
              <a:spcBef>
                <a:spcPts val="606"/>
              </a:spcBef>
              <a:buSzPts val="2800"/>
            </a:pPr>
            <a:r>
              <a:rPr lang="es-MX" sz="2183" dirty="0">
                <a:solidFill>
                  <a:srgbClr val="222222"/>
                </a:solidFill>
                <a:latin typeface="Arial" panose="020B0604020202020204" pitchFamily="34" charset="0"/>
                <a:cs typeface="Arial" panose="020B0604020202020204" pitchFamily="34" charset="0"/>
              </a:rPr>
              <a:t>Escribamos el código de impresión de un mensaje:</a:t>
            </a:r>
            <a:endParaRPr lang="es-MX" sz="2183" b="1" i="1" dirty="0">
              <a:solidFill>
                <a:srgbClr val="222222"/>
              </a:solidFill>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528C7043-5F2E-1BA8-8DD9-62983B18D333}"/>
              </a:ext>
            </a:extLst>
          </p:cNvPr>
          <p:cNvPicPr>
            <a:picLocks noChangeAspect="1"/>
          </p:cNvPicPr>
          <p:nvPr/>
        </p:nvPicPr>
        <p:blipFill>
          <a:blip r:embed="rId2"/>
          <a:stretch>
            <a:fillRect/>
          </a:stretch>
        </p:blipFill>
        <p:spPr>
          <a:xfrm>
            <a:off x="874525" y="1394349"/>
            <a:ext cx="6525515" cy="3859860"/>
          </a:xfrm>
          <a:prstGeom prst="rect">
            <a:avLst/>
          </a:prstGeom>
        </p:spPr>
      </p:pic>
      <p:sp>
        <p:nvSpPr>
          <p:cNvPr id="32" name="Google Shape;229;p17">
            <a:extLst>
              <a:ext uri="{FF2B5EF4-FFF2-40B4-BE49-F238E27FC236}">
                <a16:creationId xmlns:a16="http://schemas.microsoft.com/office/drawing/2014/main" id="{4E4647BC-B1FE-ABF8-330D-294C4554850C}"/>
              </a:ext>
            </a:extLst>
          </p:cNvPr>
          <p:cNvSpPr/>
          <p:nvPr/>
        </p:nvSpPr>
        <p:spPr>
          <a:xfrm>
            <a:off x="20993" y="3891077"/>
            <a:ext cx="1492282" cy="716199"/>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Imprime mensaje</a:t>
            </a:r>
            <a:endParaRPr lang="es-CL" sz="2183" dirty="0">
              <a:latin typeface="Arial" panose="020B0604020202020204" pitchFamily="34" charset="0"/>
              <a:cs typeface="Arial" panose="020B0604020202020204" pitchFamily="34" charset="0"/>
            </a:endParaRPr>
          </a:p>
        </p:txBody>
      </p:sp>
      <p:sp>
        <p:nvSpPr>
          <p:cNvPr id="13" name="Flecha: hacia abajo 12">
            <a:extLst>
              <a:ext uri="{FF2B5EF4-FFF2-40B4-BE49-F238E27FC236}">
                <a16:creationId xmlns:a16="http://schemas.microsoft.com/office/drawing/2014/main" id="{722B0FC7-751F-5E23-9763-993273E96D88}"/>
              </a:ext>
            </a:extLst>
          </p:cNvPr>
          <p:cNvSpPr/>
          <p:nvPr/>
        </p:nvSpPr>
        <p:spPr>
          <a:xfrm rot="5400000">
            <a:off x="1833051" y="4572861"/>
            <a:ext cx="162022" cy="69284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31" name="Google Shape;229;p17">
            <a:extLst>
              <a:ext uri="{FF2B5EF4-FFF2-40B4-BE49-F238E27FC236}">
                <a16:creationId xmlns:a16="http://schemas.microsoft.com/office/drawing/2014/main" id="{562B816A-E4DF-F7FE-6006-885C2418BF2A}"/>
              </a:ext>
            </a:extLst>
          </p:cNvPr>
          <p:cNvSpPr/>
          <p:nvPr/>
        </p:nvSpPr>
        <p:spPr>
          <a:xfrm>
            <a:off x="2272036" y="4769025"/>
            <a:ext cx="1755894"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Fin de Clase</a:t>
            </a:r>
            <a:endParaRPr lang="es-CL" sz="2183" dirty="0">
              <a:latin typeface="Arial" panose="020B0604020202020204" pitchFamily="34" charset="0"/>
              <a:cs typeface="Arial" panose="020B0604020202020204" pitchFamily="34" charset="0"/>
            </a:endParaRPr>
          </a:p>
        </p:txBody>
      </p:sp>
      <p:sp>
        <p:nvSpPr>
          <p:cNvPr id="24" name="Flecha: hacia abajo 23">
            <a:extLst>
              <a:ext uri="{FF2B5EF4-FFF2-40B4-BE49-F238E27FC236}">
                <a16:creationId xmlns:a16="http://schemas.microsoft.com/office/drawing/2014/main" id="{78A494F6-3404-5AF8-B2B1-635E2A0302F6}"/>
              </a:ext>
            </a:extLst>
          </p:cNvPr>
          <p:cNvSpPr/>
          <p:nvPr/>
        </p:nvSpPr>
        <p:spPr>
          <a:xfrm rot="16200000">
            <a:off x="1402544" y="4497879"/>
            <a:ext cx="112788" cy="42950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30" name="Google Shape;229;p17">
            <a:extLst>
              <a:ext uri="{FF2B5EF4-FFF2-40B4-BE49-F238E27FC236}">
                <a16:creationId xmlns:a16="http://schemas.microsoft.com/office/drawing/2014/main" id="{128F8D6A-5247-7EE5-7278-721152D0C33F}"/>
              </a:ext>
            </a:extLst>
          </p:cNvPr>
          <p:cNvSpPr/>
          <p:nvPr/>
        </p:nvSpPr>
        <p:spPr>
          <a:xfrm>
            <a:off x="3358179" y="3352061"/>
            <a:ext cx="2649470" cy="46749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dirty="0">
                <a:solidFill>
                  <a:srgbClr val="000000"/>
                </a:solidFill>
                <a:latin typeface="Arial" panose="020B0604020202020204" pitchFamily="34" charset="0"/>
                <a:ea typeface="Century Gothic"/>
                <a:cs typeface="Arial" panose="020B0604020202020204" pitchFamily="34" charset="0"/>
                <a:sym typeface="Century Gothic"/>
              </a:rPr>
              <a:t>Inicio de Clase</a:t>
            </a:r>
            <a:endParaRPr lang="es-CL" sz="2183" dirty="0">
              <a:latin typeface="Arial" panose="020B0604020202020204" pitchFamily="34" charset="0"/>
              <a:cs typeface="Arial" panose="020B0604020202020204" pitchFamily="34" charset="0"/>
            </a:endParaRPr>
          </a:p>
        </p:txBody>
      </p:sp>
      <p:sp>
        <p:nvSpPr>
          <p:cNvPr id="26" name="Flecha: hacia abajo 25">
            <a:extLst>
              <a:ext uri="{FF2B5EF4-FFF2-40B4-BE49-F238E27FC236}">
                <a16:creationId xmlns:a16="http://schemas.microsoft.com/office/drawing/2014/main" id="{620F7368-F6DF-F28F-BB7F-2CF0B8BA137D}"/>
              </a:ext>
            </a:extLst>
          </p:cNvPr>
          <p:cNvSpPr/>
          <p:nvPr/>
        </p:nvSpPr>
        <p:spPr>
          <a:xfrm rot="5400000">
            <a:off x="2834585" y="3272024"/>
            <a:ext cx="187582" cy="68833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a:p>
        </p:txBody>
      </p:sp>
      <p:sp>
        <p:nvSpPr>
          <p:cNvPr id="8" name="CuadroTexto 7">
            <a:extLst>
              <a:ext uri="{FF2B5EF4-FFF2-40B4-BE49-F238E27FC236}">
                <a16:creationId xmlns:a16="http://schemas.microsoft.com/office/drawing/2014/main" id="{9343F641-78AE-51B3-A9A2-7145A8FF4406}"/>
              </a:ext>
            </a:extLst>
          </p:cNvPr>
          <p:cNvSpPr txBox="1"/>
          <p:nvPr/>
        </p:nvSpPr>
        <p:spPr>
          <a:xfrm>
            <a:off x="767134" y="5323457"/>
            <a:ext cx="10457926" cy="394660"/>
          </a:xfrm>
          <a:prstGeom prst="rect">
            <a:avLst/>
          </a:prstGeom>
          <a:noFill/>
        </p:spPr>
        <p:txBody>
          <a:bodyPr wrap="square">
            <a:spAutoFit/>
          </a:bodyPr>
          <a:lstStyle/>
          <a:p>
            <a:pPr marL="30805" algn="just">
              <a:lnSpc>
                <a:spcPct val="90000"/>
              </a:lnSpc>
              <a:spcBef>
                <a:spcPts val="606"/>
              </a:spcBef>
              <a:buSzPts val="2800"/>
            </a:pPr>
            <a:r>
              <a:rPr lang="es-MX" sz="2183" dirty="0">
                <a:solidFill>
                  <a:srgbClr val="222222"/>
                </a:solidFill>
                <a:latin typeface="Arial" panose="020B0604020202020204" pitchFamily="34" charset="0"/>
                <a:cs typeface="Arial" panose="020B0604020202020204" pitchFamily="34" charset="0"/>
              </a:rPr>
              <a:t>El código imprime un mensaje por consola al ejecutar el programa </a:t>
            </a:r>
            <a:endParaRPr lang="es-MX" sz="2183" b="1" i="1" dirty="0">
              <a:solidFill>
                <a:srgbClr val="222222"/>
              </a:solidFill>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505CC134-DF7D-B221-5E4B-B66C5D773BED}"/>
              </a:ext>
            </a:extLst>
          </p:cNvPr>
          <p:cNvPicPr>
            <a:picLocks noChangeAspect="1"/>
          </p:cNvPicPr>
          <p:nvPr/>
        </p:nvPicPr>
        <p:blipFill>
          <a:blip r:embed="rId3"/>
          <a:stretch>
            <a:fillRect/>
          </a:stretch>
        </p:blipFill>
        <p:spPr>
          <a:xfrm>
            <a:off x="2740844" y="5664683"/>
            <a:ext cx="3377715" cy="1042611"/>
          </a:xfrm>
          <a:prstGeom prst="rect">
            <a:avLst/>
          </a:prstGeom>
        </p:spPr>
      </p:pic>
      <p:pic>
        <p:nvPicPr>
          <p:cNvPr id="11" name="Google Shape;268;p21">
            <a:extLst>
              <a:ext uri="{FF2B5EF4-FFF2-40B4-BE49-F238E27FC236}">
                <a16:creationId xmlns:a16="http://schemas.microsoft.com/office/drawing/2014/main" id="{58A8D2C7-1891-060C-437B-4A6EF171327C}"/>
              </a:ext>
            </a:extLst>
          </p:cNvPr>
          <p:cNvPicPr preferRelativeResize="0"/>
          <p:nvPr/>
        </p:nvPicPr>
        <p:blipFill rotWithShape="1">
          <a:blip r:embed="rId4">
            <a:alphaModFix/>
          </a:blip>
          <a:srcRect/>
          <a:stretch/>
        </p:blipFill>
        <p:spPr>
          <a:xfrm>
            <a:off x="9053296" y="5306342"/>
            <a:ext cx="519084" cy="358340"/>
          </a:xfrm>
          <a:prstGeom prst="rect">
            <a:avLst/>
          </a:prstGeom>
          <a:noFill/>
          <a:ln>
            <a:noFill/>
          </a:ln>
        </p:spPr>
      </p:pic>
      <p:sp>
        <p:nvSpPr>
          <p:cNvPr id="12" name="Google Shape;229;p17">
            <a:extLst>
              <a:ext uri="{FF2B5EF4-FFF2-40B4-BE49-F238E27FC236}">
                <a16:creationId xmlns:a16="http://schemas.microsoft.com/office/drawing/2014/main" id="{1B2B983F-B32E-A95A-D3B4-92E018E81A30}"/>
              </a:ext>
            </a:extLst>
          </p:cNvPr>
          <p:cNvSpPr/>
          <p:nvPr/>
        </p:nvSpPr>
        <p:spPr>
          <a:xfrm>
            <a:off x="8247645" y="1653908"/>
            <a:ext cx="2649470" cy="3002328"/>
          </a:xfrm>
          <a:custGeom>
            <a:avLst/>
            <a:gdLst/>
            <a:ahLst/>
            <a:cxnLst/>
            <a:rect l="l" t="t" r="r" b="b"/>
            <a:pathLst>
              <a:path w="1285461" h="543339" extrusionOk="0">
                <a:moveTo>
                  <a:pt x="0" y="0"/>
                </a:moveTo>
                <a:cubicBezTo>
                  <a:pt x="177628" y="-49221"/>
                  <a:pt x="319221" y="12342"/>
                  <a:pt x="415632" y="0"/>
                </a:cubicBezTo>
                <a:cubicBezTo>
                  <a:pt x="512043" y="-12342"/>
                  <a:pt x="716629" y="23865"/>
                  <a:pt x="805556" y="0"/>
                </a:cubicBezTo>
                <a:cubicBezTo>
                  <a:pt x="894483" y="-23865"/>
                  <a:pt x="1189261" y="54862"/>
                  <a:pt x="1285461" y="0"/>
                </a:cubicBezTo>
                <a:cubicBezTo>
                  <a:pt x="1288560" y="226890"/>
                  <a:pt x="1276593" y="339126"/>
                  <a:pt x="1285461" y="543339"/>
                </a:cubicBezTo>
                <a:cubicBezTo>
                  <a:pt x="1156618" y="586744"/>
                  <a:pt x="983890" y="533734"/>
                  <a:pt x="882683" y="543339"/>
                </a:cubicBezTo>
                <a:cubicBezTo>
                  <a:pt x="781476" y="552944"/>
                  <a:pt x="544552" y="538926"/>
                  <a:pt x="428487" y="543339"/>
                </a:cubicBezTo>
                <a:cubicBezTo>
                  <a:pt x="312422" y="547752"/>
                  <a:pt x="86124" y="512559"/>
                  <a:pt x="0" y="543339"/>
                </a:cubicBezTo>
                <a:cubicBezTo>
                  <a:pt x="-8440" y="280093"/>
                  <a:pt x="31525" y="258890"/>
                  <a:pt x="0" y="0"/>
                </a:cubicBezTo>
                <a:close/>
              </a:path>
            </a:pathLst>
          </a:custGeom>
          <a:noFill/>
          <a:ln w="9525" cap="flat" cmpd="sng">
            <a:solidFill>
              <a:srgbClr val="0070C0"/>
            </a:solidFill>
            <a:prstDash val="solid"/>
            <a:round/>
            <a:headEnd type="none" w="sm" len="sm"/>
            <a:tailEnd type="none" w="sm" len="sm"/>
          </a:ln>
        </p:spPr>
        <p:txBody>
          <a:bodyPr spcFirstLastPara="1" wrap="square" lIns="55440" tIns="27713" rIns="55440" bIns="27713" anchor="t" anchorCtr="0">
            <a:noAutofit/>
          </a:bodyPr>
          <a:lstStyle/>
          <a:p>
            <a:pPr algn="ctr"/>
            <a:r>
              <a:rPr lang="es-CL" sz="2183" b="1" i="1" dirty="0">
                <a:solidFill>
                  <a:srgbClr val="000000"/>
                </a:solidFill>
                <a:latin typeface="Arial" panose="020B0604020202020204" pitchFamily="34" charset="0"/>
                <a:ea typeface="Century Gothic"/>
                <a:cs typeface="Arial" panose="020B0604020202020204" pitchFamily="34" charset="0"/>
                <a:sym typeface="Century Gothic"/>
              </a:rPr>
              <a:t>Cuerpo de la clase</a:t>
            </a:r>
          </a:p>
          <a:p>
            <a:pPr algn="ctr"/>
            <a:r>
              <a:rPr lang="es-CL" sz="2183" dirty="0">
                <a:solidFill>
                  <a:srgbClr val="000000"/>
                </a:solidFill>
                <a:latin typeface="Arial" panose="020B0604020202020204" pitchFamily="34" charset="0"/>
                <a:cs typeface="Arial" panose="020B0604020202020204" pitchFamily="34" charset="0"/>
                <a:sym typeface="Century Gothic"/>
              </a:rPr>
              <a:t>La llave izquierda { comienza el cuerpo de la clase. Su correspondiente llave derecha } debe terminar la declaración de la clase</a:t>
            </a:r>
            <a:endParaRPr lang="es-CL" sz="218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0215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Primer Programa en Java</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35" name="CuadroTexto 34">
            <a:extLst>
              <a:ext uri="{FF2B5EF4-FFF2-40B4-BE49-F238E27FC236}">
                <a16:creationId xmlns:a16="http://schemas.microsoft.com/office/drawing/2014/main" id="{C04D3924-9DD0-85CB-9F2D-22F206D53DEF}"/>
              </a:ext>
            </a:extLst>
          </p:cNvPr>
          <p:cNvSpPr txBox="1"/>
          <p:nvPr/>
        </p:nvSpPr>
        <p:spPr>
          <a:xfrm>
            <a:off x="778686" y="1052438"/>
            <a:ext cx="10457926" cy="1834798"/>
          </a:xfrm>
          <a:prstGeom prst="rect">
            <a:avLst/>
          </a:prstGeom>
          <a:noFill/>
        </p:spPr>
        <p:txBody>
          <a:bodyPr wrap="square">
            <a:spAutoFit/>
          </a:bodyPr>
          <a:lstStyle/>
          <a:p>
            <a:pPr marL="30805" algn="just">
              <a:lnSpc>
                <a:spcPct val="90000"/>
              </a:lnSpc>
              <a:spcBef>
                <a:spcPts val="606"/>
              </a:spcBef>
              <a:buClr>
                <a:srgbClr val="DE3075"/>
              </a:buClr>
              <a:buSzPts val="2800"/>
            </a:pPr>
            <a:r>
              <a:rPr lang="es-MX" sz="2183" dirty="0">
                <a:solidFill>
                  <a:srgbClr val="222222"/>
                </a:solidFill>
                <a:latin typeface="Arial" panose="020B0604020202020204" pitchFamily="34" charset="0"/>
                <a:ea typeface="Calibri"/>
                <a:cs typeface="Arial" panose="020B0604020202020204" pitchFamily="34" charset="0"/>
                <a:sym typeface="Calibri"/>
              </a:rPr>
              <a:t>Insertamos </a:t>
            </a:r>
            <a:r>
              <a:rPr lang="es-MX" sz="2183" b="1" dirty="0">
                <a:solidFill>
                  <a:srgbClr val="222222"/>
                </a:solidFill>
                <a:latin typeface="Arial" panose="020B0604020202020204" pitchFamily="34" charset="0"/>
                <a:ea typeface="Calibri"/>
                <a:cs typeface="Arial" panose="020B0604020202020204" pitchFamily="34" charset="0"/>
                <a:sym typeface="Calibri"/>
              </a:rPr>
              <a:t>comentarios</a:t>
            </a:r>
            <a:r>
              <a:rPr lang="es-MX" sz="2183" dirty="0">
                <a:solidFill>
                  <a:srgbClr val="222222"/>
                </a:solidFill>
                <a:latin typeface="Arial" panose="020B0604020202020204" pitchFamily="34" charset="0"/>
                <a:ea typeface="Calibri"/>
                <a:cs typeface="Arial" panose="020B0604020202020204" pitchFamily="34" charset="0"/>
                <a:sym typeface="Calibri"/>
              </a:rPr>
              <a:t>, para </a:t>
            </a:r>
            <a:r>
              <a:rPr lang="es-MX" sz="2183" b="1" dirty="0">
                <a:solidFill>
                  <a:srgbClr val="222222"/>
                </a:solidFill>
                <a:latin typeface="Arial" panose="020B0604020202020204" pitchFamily="34" charset="0"/>
                <a:ea typeface="Calibri"/>
                <a:cs typeface="Arial" panose="020B0604020202020204" pitchFamily="34" charset="0"/>
                <a:sym typeface="Calibri"/>
              </a:rPr>
              <a:t>documentar los programas</a:t>
            </a:r>
            <a:r>
              <a:rPr lang="es-MX" sz="2183" dirty="0">
                <a:solidFill>
                  <a:srgbClr val="222222"/>
                </a:solidFill>
                <a:latin typeface="Arial" panose="020B0604020202020204" pitchFamily="34" charset="0"/>
                <a:ea typeface="Calibri"/>
                <a:cs typeface="Arial" panose="020B0604020202020204" pitchFamily="34" charset="0"/>
                <a:sym typeface="Calibri"/>
              </a:rPr>
              <a:t> y </a:t>
            </a:r>
            <a:r>
              <a:rPr lang="es-MX" sz="2183" b="1" dirty="0">
                <a:solidFill>
                  <a:srgbClr val="222222"/>
                </a:solidFill>
                <a:latin typeface="Arial" panose="020B0604020202020204" pitchFamily="34" charset="0"/>
                <a:ea typeface="Calibri"/>
                <a:cs typeface="Arial" panose="020B0604020202020204" pitchFamily="34" charset="0"/>
                <a:sym typeface="Calibri"/>
              </a:rPr>
              <a:t>mejorar su legibilidad</a:t>
            </a:r>
            <a:r>
              <a:rPr lang="es-MX" sz="2183" dirty="0">
                <a:solidFill>
                  <a:srgbClr val="222222"/>
                </a:solidFill>
                <a:latin typeface="Arial" panose="020B0604020202020204" pitchFamily="34" charset="0"/>
                <a:ea typeface="Calibri"/>
                <a:cs typeface="Arial" panose="020B0604020202020204" pitchFamily="34" charset="0"/>
                <a:sym typeface="Calibri"/>
              </a:rPr>
              <a:t>. </a:t>
            </a:r>
          </a:p>
          <a:p>
            <a:pPr marL="30805" algn="just">
              <a:lnSpc>
                <a:spcPct val="90000"/>
              </a:lnSpc>
              <a:spcBef>
                <a:spcPts val="606"/>
              </a:spcBef>
              <a:buClr>
                <a:srgbClr val="DE3075"/>
              </a:buClr>
              <a:buSzPts val="2800"/>
            </a:pPr>
            <a:r>
              <a:rPr lang="es-MX" sz="2183" dirty="0">
                <a:solidFill>
                  <a:srgbClr val="222222"/>
                </a:solidFill>
                <a:latin typeface="Arial" panose="020B0604020202020204" pitchFamily="34" charset="0"/>
                <a:ea typeface="Calibri"/>
                <a:cs typeface="Arial" panose="020B0604020202020204" pitchFamily="34" charset="0"/>
                <a:sym typeface="Calibri"/>
              </a:rPr>
              <a:t>El compilador de Java ignora los comentarios cuando el programa se ejecuta. </a:t>
            </a:r>
          </a:p>
          <a:p>
            <a:pPr marL="30805" algn="just">
              <a:lnSpc>
                <a:spcPct val="90000"/>
              </a:lnSpc>
              <a:spcBef>
                <a:spcPts val="606"/>
              </a:spcBef>
              <a:buClr>
                <a:srgbClr val="DE3075"/>
              </a:buClr>
              <a:buSzPts val="2800"/>
            </a:pPr>
            <a:r>
              <a:rPr lang="es-MX" sz="2183" b="1" dirty="0">
                <a:solidFill>
                  <a:schemeClr val="accent5">
                    <a:lumMod val="75000"/>
                  </a:schemeClr>
                </a:solidFill>
                <a:latin typeface="Arial" panose="020B0604020202020204" pitchFamily="34" charset="0"/>
                <a:ea typeface="Calibri"/>
                <a:cs typeface="Arial" panose="020B0604020202020204" pitchFamily="34" charset="0"/>
                <a:sym typeface="Calibri"/>
              </a:rPr>
              <a:t>Existen tres tipos:</a:t>
            </a:r>
            <a:endParaRPr lang="es-MX" sz="2183" b="1" dirty="0">
              <a:solidFill>
                <a:schemeClr val="accent5">
                  <a:lumMod val="75000"/>
                </a:schemeClr>
              </a:solidFill>
              <a:latin typeface="Arial" panose="020B0604020202020204" pitchFamily="34" charset="0"/>
              <a:cs typeface="Arial" panose="020B0604020202020204" pitchFamily="34" charset="0"/>
            </a:endParaRPr>
          </a:p>
          <a:p>
            <a:pPr marL="30805" algn="just">
              <a:lnSpc>
                <a:spcPct val="90000"/>
              </a:lnSpc>
              <a:spcBef>
                <a:spcPts val="606"/>
              </a:spcBef>
              <a:buSzPts val="2800"/>
            </a:pPr>
            <a:endParaRPr lang="es-MX" sz="2183" b="1" i="1" dirty="0">
              <a:solidFill>
                <a:srgbClr val="222222"/>
              </a:solidFill>
              <a:latin typeface="Arial" panose="020B0604020202020204" pitchFamily="34" charset="0"/>
              <a:cs typeface="Arial" panose="020B0604020202020204" pitchFamily="34" charset="0"/>
            </a:endParaRPr>
          </a:p>
        </p:txBody>
      </p:sp>
      <p:pic>
        <p:nvPicPr>
          <p:cNvPr id="3" name="Google Shape;279;p22">
            <a:extLst>
              <a:ext uri="{FF2B5EF4-FFF2-40B4-BE49-F238E27FC236}">
                <a16:creationId xmlns:a16="http://schemas.microsoft.com/office/drawing/2014/main" id="{DAB39703-651F-84B1-289F-1E6228ED6296}"/>
              </a:ext>
            </a:extLst>
          </p:cNvPr>
          <p:cNvPicPr preferRelativeResize="0"/>
          <p:nvPr/>
        </p:nvPicPr>
        <p:blipFill rotWithShape="1">
          <a:blip r:embed="rId2">
            <a:alphaModFix/>
          </a:blip>
          <a:srcRect/>
          <a:stretch/>
        </p:blipFill>
        <p:spPr>
          <a:xfrm>
            <a:off x="1798680" y="2458637"/>
            <a:ext cx="8594641" cy="2622143"/>
          </a:xfrm>
          <a:prstGeom prst="rect">
            <a:avLst/>
          </a:prstGeom>
          <a:noFill/>
          <a:ln>
            <a:noFill/>
          </a:ln>
        </p:spPr>
      </p:pic>
      <p:sp>
        <p:nvSpPr>
          <p:cNvPr id="6" name="CuadroTexto 5">
            <a:extLst>
              <a:ext uri="{FF2B5EF4-FFF2-40B4-BE49-F238E27FC236}">
                <a16:creationId xmlns:a16="http://schemas.microsoft.com/office/drawing/2014/main" id="{07F47231-D853-71DD-CFDF-0A1F0261C184}"/>
              </a:ext>
            </a:extLst>
          </p:cNvPr>
          <p:cNvSpPr txBox="1"/>
          <p:nvPr/>
        </p:nvSpPr>
        <p:spPr>
          <a:xfrm>
            <a:off x="778686" y="5133984"/>
            <a:ext cx="10457926" cy="1378583"/>
          </a:xfrm>
          <a:prstGeom prst="rect">
            <a:avLst/>
          </a:prstGeom>
          <a:noFill/>
        </p:spPr>
        <p:txBody>
          <a:bodyPr wrap="square">
            <a:spAutoFit/>
          </a:bodyPr>
          <a:lstStyle/>
          <a:p>
            <a:pPr marL="30805" algn="just">
              <a:lnSpc>
                <a:spcPct val="90000"/>
              </a:lnSpc>
              <a:spcBef>
                <a:spcPts val="606"/>
              </a:spcBef>
              <a:buClr>
                <a:srgbClr val="DE3075"/>
              </a:buClr>
              <a:buSzPts val="2800"/>
            </a:pPr>
            <a:r>
              <a:rPr lang="es-CL" sz="2183" dirty="0" err="1">
                <a:solidFill>
                  <a:srgbClr val="222222"/>
                </a:solidFill>
                <a:latin typeface="Arial" panose="020B0604020202020204" pitchFamily="34" charset="0"/>
                <a:ea typeface="Calibri"/>
                <a:cs typeface="Arial" panose="020B0604020202020204" pitchFamily="34" charset="0"/>
                <a:sym typeface="Calibri"/>
              </a:rPr>
              <a:t>Javadoc</a:t>
            </a:r>
            <a:r>
              <a:rPr lang="es-CL" sz="2183" dirty="0">
                <a:solidFill>
                  <a:srgbClr val="222222"/>
                </a:solidFill>
                <a:latin typeface="Arial" panose="020B0604020202020204" pitchFamily="34" charset="0"/>
                <a:ea typeface="Calibri"/>
                <a:cs typeface="Arial" panose="020B0604020202020204" pitchFamily="34" charset="0"/>
                <a:sym typeface="Calibri"/>
              </a:rPr>
              <a:t>, prepara la documentación de su programa, en formato HTML, es decir, todo lo que esté en este tipo de comentario, aparecerá en la documentación. Los comentarios de 1 y varias líneas, son internas para el programador.</a:t>
            </a:r>
            <a:endParaRPr lang="es-CL" sz="2183" dirty="0">
              <a:latin typeface="Arial" panose="020B0604020202020204" pitchFamily="34" charset="0"/>
              <a:cs typeface="Arial" panose="020B0604020202020204" pitchFamily="34" charset="0"/>
            </a:endParaRPr>
          </a:p>
          <a:p>
            <a:pPr marL="30805" algn="just">
              <a:lnSpc>
                <a:spcPct val="90000"/>
              </a:lnSpc>
              <a:spcBef>
                <a:spcPts val="606"/>
              </a:spcBef>
              <a:buSzPts val="2800"/>
            </a:pPr>
            <a:endParaRPr lang="es-MX" sz="2183" b="1" i="1" dirty="0">
              <a:solidFill>
                <a:srgbClr val="22222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1755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Tipos de datos y variables</a:t>
            </a:r>
          </a:p>
        </p:txBody>
      </p:sp>
      <p:sp>
        <p:nvSpPr>
          <p:cNvPr id="3" name="TextBox 2"/>
          <p:cNvSpPr txBox="1"/>
          <p:nvPr/>
        </p:nvSpPr>
        <p:spPr>
          <a:xfrm>
            <a:off x="640080" y="1280160"/>
            <a:ext cx="10972800" cy="4572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Una variable es una </a:t>
            </a:r>
            <a:r>
              <a:rPr sz="1800" b="1" i="0">
                <a:solidFill>
                  <a:srgbClr val="257CE1"/>
                </a:solidFill>
                <a:latin typeface="Arial"/>
              </a:rPr>
              <a:t>caja con etiqueta</a:t>
            </a:r>
            <a:r>
              <a:rPr sz="1800" b="0" i="0">
                <a:solidFill>
                  <a:srgbClr val="4A5A6A"/>
                </a:solidFill>
                <a:latin typeface="Arial"/>
              </a:rPr>
              <a:t>: tiene un nombre, un tipo y guarda un valor.</a:t>
            </a:r>
          </a:p>
        </p:txBody>
      </p:sp>
      <p:sp>
        <p:nvSpPr>
          <p:cNvPr id="4" name="Rounded Rectangle 3"/>
          <p:cNvSpPr/>
          <p:nvPr/>
        </p:nvSpPr>
        <p:spPr>
          <a:xfrm>
            <a:off x="640080" y="1965960"/>
            <a:ext cx="2560320" cy="2651760"/>
          </a:xfrm>
          <a:prstGeom prst="roundRect">
            <a:avLst>
              <a:gd name="adj" fmla="val 8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148840"/>
            <a:ext cx="2103120" cy="548640"/>
          </a:xfrm>
          <a:prstGeom prst="rect">
            <a:avLst/>
          </a:prstGeom>
          <a:noFill/>
        </p:spPr>
        <p:txBody>
          <a:bodyPr wrap="square" lIns="0" rIns="0" tIns="0" bIns="0" anchor="t">
            <a:spAutoFit/>
          </a:bodyPr>
          <a:lstStyle/>
          <a:p>
            <a:pPr algn="l">
              <a:spcAft>
                <a:spcPts val="400"/>
              </a:spcAft>
            </a:pPr>
            <a:r>
              <a:rPr sz="2800" b="1" i="0">
                <a:solidFill>
                  <a:srgbClr val="FFFFFF"/>
                </a:solidFill>
                <a:latin typeface="Courier New"/>
              </a:rPr>
              <a:t>int</a:t>
            </a:r>
          </a:p>
        </p:txBody>
      </p:sp>
      <p:sp>
        <p:nvSpPr>
          <p:cNvPr id="6" name="TextBox 5"/>
          <p:cNvSpPr txBox="1"/>
          <p:nvPr/>
        </p:nvSpPr>
        <p:spPr>
          <a:xfrm>
            <a:off x="868680" y="2743200"/>
            <a:ext cx="2103120" cy="640080"/>
          </a:xfrm>
          <a:prstGeom prst="rect">
            <a:avLst/>
          </a:prstGeom>
          <a:noFill/>
        </p:spPr>
        <p:txBody>
          <a:bodyPr wrap="square" lIns="0" rIns="0" tIns="0" bIns="0" anchor="t">
            <a:spAutoFit/>
          </a:bodyPr>
          <a:lstStyle/>
          <a:p>
            <a:pPr algn="l">
              <a:spcAft>
                <a:spcPts val="400"/>
              </a:spcAft>
            </a:pPr>
            <a:r>
              <a:rPr sz="1600" b="0" i="0">
                <a:solidFill>
                  <a:srgbClr val="FFFFFF"/>
                </a:solidFill>
                <a:latin typeface="Arial"/>
              </a:rPr>
              <a:t>Números enteros</a:t>
            </a:r>
          </a:p>
        </p:txBody>
      </p:sp>
      <p:sp>
        <p:nvSpPr>
          <p:cNvPr id="7" name="Rounded Rectangle 6"/>
          <p:cNvSpPr/>
          <p:nvPr/>
        </p:nvSpPr>
        <p:spPr>
          <a:xfrm>
            <a:off x="822959" y="3611880"/>
            <a:ext cx="219456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611880"/>
            <a:ext cx="2011680" cy="777240"/>
          </a:xfrm>
          <a:prstGeom prst="rect">
            <a:avLst/>
          </a:prstGeom>
          <a:noFill/>
        </p:spPr>
        <p:txBody>
          <a:bodyPr wrap="square" lIns="0" rIns="0" tIns="0" bIns="0" anchor="ctr">
            <a:spAutoFit/>
          </a:bodyPr>
          <a:lstStyle/>
          <a:p>
            <a:pPr algn="ctr">
              <a:spcAft>
                <a:spcPts val="400"/>
              </a:spcAft>
            </a:pPr>
            <a:r>
              <a:rPr sz="1200" b="1" i="0">
                <a:solidFill>
                  <a:srgbClr val="0B2A4A"/>
                </a:solidFill>
                <a:latin typeface="Courier New"/>
              </a:rPr>
              <a:t>int edad = 17;</a:t>
            </a:r>
          </a:p>
        </p:txBody>
      </p:sp>
      <p:sp>
        <p:nvSpPr>
          <p:cNvPr id="9" name="Rounded Rectangle 8"/>
          <p:cNvSpPr/>
          <p:nvPr/>
        </p:nvSpPr>
        <p:spPr>
          <a:xfrm>
            <a:off x="3429000" y="1965960"/>
            <a:ext cx="2560320" cy="2651760"/>
          </a:xfrm>
          <a:prstGeom prst="roundRect">
            <a:avLst>
              <a:gd name="adj" fmla="val 8000"/>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0" y="2148840"/>
            <a:ext cx="2103120" cy="548640"/>
          </a:xfrm>
          <a:prstGeom prst="rect">
            <a:avLst/>
          </a:prstGeom>
          <a:noFill/>
        </p:spPr>
        <p:txBody>
          <a:bodyPr wrap="square" lIns="0" rIns="0" tIns="0" bIns="0" anchor="t">
            <a:spAutoFit/>
          </a:bodyPr>
          <a:lstStyle/>
          <a:p>
            <a:pPr algn="l">
              <a:spcAft>
                <a:spcPts val="400"/>
              </a:spcAft>
            </a:pPr>
            <a:r>
              <a:rPr sz="2800" b="1" i="0">
                <a:solidFill>
                  <a:srgbClr val="FFFFFF"/>
                </a:solidFill>
                <a:latin typeface="Courier New"/>
              </a:rPr>
              <a:t>double</a:t>
            </a:r>
          </a:p>
        </p:txBody>
      </p:sp>
      <p:sp>
        <p:nvSpPr>
          <p:cNvPr id="11" name="TextBox 10"/>
          <p:cNvSpPr txBox="1"/>
          <p:nvPr/>
        </p:nvSpPr>
        <p:spPr>
          <a:xfrm>
            <a:off x="3657600" y="2743200"/>
            <a:ext cx="2103120" cy="640080"/>
          </a:xfrm>
          <a:prstGeom prst="rect">
            <a:avLst/>
          </a:prstGeom>
          <a:noFill/>
        </p:spPr>
        <p:txBody>
          <a:bodyPr wrap="square" lIns="0" rIns="0" tIns="0" bIns="0" anchor="t">
            <a:spAutoFit/>
          </a:bodyPr>
          <a:lstStyle/>
          <a:p>
            <a:pPr algn="l">
              <a:spcAft>
                <a:spcPts val="400"/>
              </a:spcAft>
            </a:pPr>
            <a:r>
              <a:rPr sz="1600" b="0" i="0">
                <a:solidFill>
                  <a:srgbClr val="FFFFFF"/>
                </a:solidFill>
                <a:latin typeface="Arial"/>
              </a:rPr>
              <a:t>Números con decimales</a:t>
            </a:r>
          </a:p>
        </p:txBody>
      </p:sp>
      <p:sp>
        <p:nvSpPr>
          <p:cNvPr id="12" name="Rounded Rectangle 11"/>
          <p:cNvSpPr/>
          <p:nvPr/>
        </p:nvSpPr>
        <p:spPr>
          <a:xfrm>
            <a:off x="3611880" y="3611880"/>
            <a:ext cx="219456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3320" y="3611880"/>
            <a:ext cx="2011680" cy="777240"/>
          </a:xfrm>
          <a:prstGeom prst="rect">
            <a:avLst/>
          </a:prstGeom>
          <a:noFill/>
        </p:spPr>
        <p:txBody>
          <a:bodyPr wrap="square" lIns="0" rIns="0" tIns="0" bIns="0" anchor="ctr">
            <a:spAutoFit/>
          </a:bodyPr>
          <a:lstStyle/>
          <a:p>
            <a:pPr algn="ctr">
              <a:spcAft>
                <a:spcPts val="400"/>
              </a:spcAft>
            </a:pPr>
            <a:r>
              <a:rPr sz="1200" b="1" i="0">
                <a:solidFill>
                  <a:srgbClr val="0B2A4A"/>
                </a:solidFill>
                <a:latin typeface="Courier New"/>
              </a:rPr>
              <a:t>double nota = 6.5;</a:t>
            </a:r>
          </a:p>
        </p:txBody>
      </p:sp>
      <p:sp>
        <p:nvSpPr>
          <p:cNvPr id="14" name="Rounded Rectangle 13"/>
          <p:cNvSpPr/>
          <p:nvPr/>
        </p:nvSpPr>
        <p:spPr>
          <a:xfrm>
            <a:off x="6217920" y="1965960"/>
            <a:ext cx="2560320" cy="2651760"/>
          </a:xfrm>
          <a:prstGeom prst="roundRect">
            <a:avLst>
              <a:gd name="adj" fmla="val 8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2148840"/>
            <a:ext cx="2103120" cy="548640"/>
          </a:xfrm>
          <a:prstGeom prst="rect">
            <a:avLst/>
          </a:prstGeom>
          <a:noFill/>
        </p:spPr>
        <p:txBody>
          <a:bodyPr wrap="square" lIns="0" rIns="0" tIns="0" bIns="0" anchor="t">
            <a:spAutoFit/>
          </a:bodyPr>
          <a:lstStyle/>
          <a:p>
            <a:pPr algn="l">
              <a:spcAft>
                <a:spcPts val="400"/>
              </a:spcAft>
            </a:pPr>
            <a:r>
              <a:rPr sz="2800" b="1" i="0">
                <a:solidFill>
                  <a:srgbClr val="FFFFFF"/>
                </a:solidFill>
                <a:latin typeface="Courier New"/>
              </a:rPr>
              <a:t>char</a:t>
            </a:r>
          </a:p>
        </p:txBody>
      </p:sp>
      <p:sp>
        <p:nvSpPr>
          <p:cNvPr id="16" name="TextBox 15"/>
          <p:cNvSpPr txBox="1"/>
          <p:nvPr/>
        </p:nvSpPr>
        <p:spPr>
          <a:xfrm>
            <a:off x="6446520" y="2743200"/>
            <a:ext cx="2103120" cy="640080"/>
          </a:xfrm>
          <a:prstGeom prst="rect">
            <a:avLst/>
          </a:prstGeom>
          <a:noFill/>
        </p:spPr>
        <p:txBody>
          <a:bodyPr wrap="square" lIns="0" rIns="0" tIns="0" bIns="0" anchor="t">
            <a:spAutoFit/>
          </a:bodyPr>
          <a:lstStyle/>
          <a:p>
            <a:pPr algn="l">
              <a:spcAft>
                <a:spcPts val="400"/>
              </a:spcAft>
            </a:pPr>
            <a:r>
              <a:rPr sz="1600" b="0" i="0">
                <a:solidFill>
                  <a:srgbClr val="FFFFFF"/>
                </a:solidFill>
                <a:latin typeface="Arial"/>
              </a:rPr>
              <a:t>Un solo carácter</a:t>
            </a:r>
          </a:p>
        </p:txBody>
      </p:sp>
      <p:sp>
        <p:nvSpPr>
          <p:cNvPr id="17" name="Rounded Rectangle 16"/>
          <p:cNvSpPr/>
          <p:nvPr/>
        </p:nvSpPr>
        <p:spPr>
          <a:xfrm>
            <a:off x="6400800" y="3611880"/>
            <a:ext cx="219456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3611880"/>
            <a:ext cx="2011680" cy="777240"/>
          </a:xfrm>
          <a:prstGeom prst="rect">
            <a:avLst/>
          </a:prstGeom>
          <a:noFill/>
        </p:spPr>
        <p:txBody>
          <a:bodyPr wrap="square" lIns="0" rIns="0" tIns="0" bIns="0" anchor="ctr">
            <a:spAutoFit/>
          </a:bodyPr>
          <a:lstStyle/>
          <a:p>
            <a:pPr algn="ctr">
              <a:spcAft>
                <a:spcPts val="400"/>
              </a:spcAft>
            </a:pPr>
            <a:r>
              <a:rPr sz="1200" b="1" i="0">
                <a:solidFill>
                  <a:srgbClr val="0B2A4A"/>
                </a:solidFill>
                <a:latin typeface="Courier New"/>
              </a:rPr>
              <a:t>char letra = 'A';</a:t>
            </a:r>
          </a:p>
        </p:txBody>
      </p:sp>
      <p:sp>
        <p:nvSpPr>
          <p:cNvPr id="19" name="Rounded Rectangle 18"/>
          <p:cNvSpPr/>
          <p:nvPr/>
        </p:nvSpPr>
        <p:spPr>
          <a:xfrm>
            <a:off x="9006839" y="1965960"/>
            <a:ext cx="2560320" cy="2651760"/>
          </a:xfrm>
          <a:prstGeom prst="roundRect">
            <a:avLst>
              <a:gd name="adj" fmla="val 8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235439" y="2148840"/>
            <a:ext cx="2103120" cy="548640"/>
          </a:xfrm>
          <a:prstGeom prst="rect">
            <a:avLst/>
          </a:prstGeom>
          <a:noFill/>
        </p:spPr>
        <p:txBody>
          <a:bodyPr wrap="square" lIns="0" rIns="0" tIns="0" bIns="0" anchor="t">
            <a:spAutoFit/>
          </a:bodyPr>
          <a:lstStyle/>
          <a:p>
            <a:pPr algn="l">
              <a:spcAft>
                <a:spcPts val="400"/>
              </a:spcAft>
            </a:pPr>
            <a:r>
              <a:rPr sz="2800" b="1" i="0">
                <a:solidFill>
                  <a:srgbClr val="FFFFFF"/>
                </a:solidFill>
                <a:latin typeface="Courier New"/>
              </a:rPr>
              <a:t>boolean</a:t>
            </a:r>
          </a:p>
        </p:txBody>
      </p:sp>
      <p:sp>
        <p:nvSpPr>
          <p:cNvPr id="21" name="TextBox 20"/>
          <p:cNvSpPr txBox="1"/>
          <p:nvPr/>
        </p:nvSpPr>
        <p:spPr>
          <a:xfrm>
            <a:off x="9235439" y="2743200"/>
            <a:ext cx="2103120" cy="640080"/>
          </a:xfrm>
          <a:prstGeom prst="rect">
            <a:avLst/>
          </a:prstGeom>
          <a:noFill/>
        </p:spPr>
        <p:txBody>
          <a:bodyPr wrap="square" lIns="0" rIns="0" tIns="0" bIns="0" anchor="t">
            <a:spAutoFit/>
          </a:bodyPr>
          <a:lstStyle/>
          <a:p>
            <a:pPr algn="l">
              <a:spcAft>
                <a:spcPts val="400"/>
              </a:spcAft>
            </a:pPr>
            <a:r>
              <a:rPr sz="1600" b="0" i="0">
                <a:solidFill>
                  <a:srgbClr val="FFFFFF"/>
                </a:solidFill>
                <a:latin typeface="Arial"/>
              </a:rPr>
              <a:t>Verdadero o falso</a:t>
            </a:r>
          </a:p>
        </p:txBody>
      </p:sp>
      <p:sp>
        <p:nvSpPr>
          <p:cNvPr id="22" name="Rounded Rectangle 21"/>
          <p:cNvSpPr/>
          <p:nvPr/>
        </p:nvSpPr>
        <p:spPr>
          <a:xfrm>
            <a:off x="9189719" y="3611880"/>
            <a:ext cx="219456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81159" y="3611880"/>
            <a:ext cx="2011680" cy="777240"/>
          </a:xfrm>
          <a:prstGeom prst="rect">
            <a:avLst/>
          </a:prstGeom>
          <a:noFill/>
        </p:spPr>
        <p:txBody>
          <a:bodyPr wrap="square" lIns="0" rIns="0" tIns="0" bIns="0" anchor="ctr">
            <a:spAutoFit/>
          </a:bodyPr>
          <a:lstStyle/>
          <a:p>
            <a:pPr algn="ctr">
              <a:spcAft>
                <a:spcPts val="400"/>
              </a:spcAft>
            </a:pPr>
            <a:r>
              <a:rPr sz="1200" b="1" i="0">
                <a:solidFill>
                  <a:srgbClr val="0B2A4A"/>
                </a:solidFill>
                <a:latin typeface="Courier New"/>
              </a:rPr>
              <a:t>boolean ok = true;</a:t>
            </a:r>
          </a:p>
        </p:txBody>
      </p:sp>
      <p:sp>
        <p:nvSpPr>
          <p:cNvPr id="24" name="Rounded Rectangle 23"/>
          <p:cNvSpPr/>
          <p:nvPr/>
        </p:nvSpPr>
        <p:spPr>
          <a:xfrm>
            <a:off x="640080" y="4892040"/>
            <a:ext cx="10927080" cy="10058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4892040"/>
            <a:ext cx="10424160" cy="1005840"/>
          </a:xfrm>
          <a:prstGeom prst="rect">
            <a:avLst/>
          </a:prstGeom>
          <a:noFill/>
        </p:spPr>
        <p:txBody>
          <a:bodyPr wrap="square" lIns="0" rIns="0" tIns="0" bIns="0" anchor="ctr">
            <a:spAutoFit/>
          </a:bodyPr>
          <a:lstStyle/>
          <a:p>
            <a:pPr algn="l">
              <a:spcAft>
                <a:spcPts val="400"/>
              </a:spcAft>
            </a:pPr>
            <a:r>
              <a:rPr sz="1700" b="1" i="0">
                <a:solidFill>
                  <a:srgbClr val="257CE1"/>
                </a:solidFill>
                <a:latin typeface="Arial"/>
              </a:rPr>
              <a:t>Declarar</a:t>
            </a:r>
            <a:r>
              <a:rPr sz="1700" b="0" i="0">
                <a:solidFill>
                  <a:srgbClr val="0B2A4A"/>
                </a:solidFill>
                <a:latin typeface="Arial"/>
              </a:rPr>
              <a:t> = crear la caja  →  </a:t>
            </a:r>
            <a:r>
              <a:rPr sz="1700" b="1" i="0">
                <a:solidFill>
                  <a:srgbClr val="0B2A4A"/>
                </a:solidFill>
                <a:latin typeface="Courier New"/>
              </a:rPr>
              <a:t>int puntos;</a:t>
            </a:r>
            <a:r>
              <a:rPr sz="1700" b="1" i="0">
                <a:solidFill>
                  <a:srgbClr val="257CE1"/>
                </a:solidFill>
                <a:latin typeface="Arial"/>
              </a:rPr>
              <a:t>        Asignar</a:t>
            </a:r>
            <a:r>
              <a:rPr sz="1700" b="0" i="0">
                <a:solidFill>
                  <a:srgbClr val="0B2A4A"/>
                </a:solidFill>
                <a:latin typeface="Arial"/>
              </a:rPr>
              <a:t> = guardar algo  →  </a:t>
            </a:r>
            <a:r>
              <a:rPr sz="1700" b="1" i="0">
                <a:solidFill>
                  <a:srgbClr val="0B2A4A"/>
                </a:solidFill>
                <a:latin typeface="Courier New"/>
              </a:rPr>
              <a:t>puntos = 100;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6" name="Marcador de texto 3">
            <a:extLst>
              <a:ext uri="{FF2B5EF4-FFF2-40B4-BE49-F238E27FC236}">
                <a16:creationId xmlns:a16="http://schemas.microsoft.com/office/drawing/2014/main" id="{3F8F1B7A-F4E9-E5CE-32E2-14C53D8FB290}"/>
              </a:ext>
            </a:extLst>
          </p:cNvPr>
          <p:cNvSpPr txBox="1">
            <a:spLocks/>
          </p:cNvSpPr>
          <p:nvPr/>
        </p:nvSpPr>
        <p:spPr>
          <a:xfrm>
            <a:off x="479124"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MX" sz="2183" dirty="0">
                <a:latin typeface="Arial" panose="020B0604020202020204" pitchFamily="34" charset="0"/>
                <a:ea typeface="Calibri"/>
                <a:cs typeface="Arial" panose="020B0604020202020204" pitchFamily="34" charset="0"/>
                <a:sym typeface="Calibri"/>
              </a:rPr>
              <a:t>Los </a:t>
            </a:r>
            <a:r>
              <a:rPr lang="es-MX" sz="2183" b="1" dirty="0">
                <a:latin typeface="Arial" panose="020B0604020202020204" pitchFamily="34" charset="0"/>
                <a:ea typeface="Calibri"/>
                <a:cs typeface="Arial" panose="020B0604020202020204" pitchFamily="34" charset="0"/>
                <a:sym typeface="Calibri"/>
              </a:rPr>
              <a:t>tipos de datos  </a:t>
            </a:r>
            <a:r>
              <a:rPr lang="es-MX" sz="2183" dirty="0">
                <a:latin typeface="Arial" panose="020B0604020202020204" pitchFamily="34" charset="0"/>
                <a:ea typeface="Calibri"/>
                <a:cs typeface="Arial" panose="020B0604020202020204" pitchFamily="34" charset="0"/>
                <a:sym typeface="Calibri"/>
              </a:rPr>
              <a:t>en Java, pueden ser primitivos o estructurados.</a:t>
            </a:r>
            <a:endParaRPr lang="es-MX" sz="2183" dirty="0">
              <a:latin typeface="Arial" panose="020B0604020202020204" pitchFamily="34" charset="0"/>
              <a:cs typeface="Arial" panose="020B0604020202020204" pitchFamily="34" charset="0"/>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r>
              <a:rPr lang="es-MX" sz="2183" dirty="0">
                <a:solidFill>
                  <a:srgbClr val="0F243E"/>
                </a:solidFill>
                <a:latin typeface="Arial" panose="020B0604020202020204" pitchFamily="34" charset="0"/>
                <a:ea typeface="Century Gothic"/>
                <a:cs typeface="Arial" panose="020B0604020202020204" pitchFamily="34" charset="0"/>
                <a:sym typeface="Century Gothic"/>
              </a:rPr>
              <a:t> </a:t>
            </a:r>
            <a:endParaRPr lang="es-MX" sz="2183" dirty="0">
              <a:latin typeface="Arial" panose="020B0604020202020204" pitchFamily="34" charset="0"/>
              <a:cs typeface="Arial" panose="020B0604020202020204" pitchFamily="34" charset="0"/>
            </a:endParaRPr>
          </a:p>
          <a:p>
            <a:pPr algn="just"/>
            <a:r>
              <a:rPr lang="es-MX" sz="2183" dirty="0">
                <a:solidFill>
                  <a:srgbClr val="0F243E"/>
                </a:solidFill>
                <a:latin typeface="Arial" panose="020B0604020202020204" pitchFamily="34" charset="0"/>
                <a:ea typeface="Century Gothic"/>
                <a:cs typeface="Arial" panose="020B0604020202020204" pitchFamily="34" charset="0"/>
                <a:sym typeface="Century Gothic"/>
              </a:rPr>
              <a:t>      </a:t>
            </a:r>
          </a:p>
          <a:p>
            <a:pPr algn="just"/>
            <a:r>
              <a:rPr lang="es-MX" sz="2183" dirty="0">
                <a:solidFill>
                  <a:srgbClr val="0F243E"/>
                </a:solidFill>
                <a:latin typeface="Arial" panose="020B0604020202020204" pitchFamily="34" charset="0"/>
                <a:ea typeface="Century Gothic"/>
                <a:cs typeface="Arial" panose="020B0604020202020204" pitchFamily="34" charset="0"/>
                <a:sym typeface="Century Gothic"/>
              </a:rPr>
              <a:t>      </a:t>
            </a:r>
          </a:p>
          <a:p>
            <a:pPr algn="just"/>
            <a:endParaRPr lang="es-MX" sz="2183" dirty="0">
              <a:solidFill>
                <a:srgbClr val="0F243E"/>
              </a:solidFill>
              <a:latin typeface="Arial" panose="020B0604020202020204" pitchFamily="34" charset="0"/>
              <a:ea typeface="Century Gothic"/>
              <a:cs typeface="Arial" panose="020B0604020202020204" pitchFamily="34" charset="0"/>
              <a:sym typeface="Century Gothic"/>
            </a:endParaRPr>
          </a:p>
          <a:p>
            <a:pPr algn="just"/>
            <a:r>
              <a:rPr lang="es-MX" sz="2183" dirty="0">
                <a:solidFill>
                  <a:srgbClr val="0F243E"/>
                </a:solidFill>
                <a:latin typeface="Arial" panose="020B0604020202020204" pitchFamily="34" charset="0"/>
                <a:ea typeface="Century Gothic"/>
                <a:cs typeface="Arial" panose="020B0604020202020204" pitchFamily="34" charset="0"/>
                <a:sym typeface="Century Gothic"/>
              </a:rPr>
              <a:t>                                                                                                                        </a:t>
            </a:r>
            <a:endParaRPr lang="es-MX" sz="2183" dirty="0">
              <a:latin typeface="Arial" panose="020B0604020202020204" pitchFamily="34" charset="0"/>
              <a:cs typeface="Arial" panose="020B0604020202020204" pitchFamily="34" charset="0"/>
            </a:endParaRPr>
          </a:p>
          <a:p>
            <a:pPr algn="just"/>
            <a:endParaRPr lang="es-MX" sz="2183" dirty="0">
              <a:solidFill>
                <a:srgbClr val="0F243E"/>
              </a:solidFill>
              <a:latin typeface="Arial" panose="020B0604020202020204" pitchFamily="34" charset="0"/>
              <a:ea typeface="Century Gothic"/>
              <a:cs typeface="Arial" panose="020B0604020202020204" pitchFamily="34" charset="0"/>
              <a:sym typeface="Century Gothic"/>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algn="just"/>
            <a:endParaRPr lang="es-MX" sz="2183" dirty="0">
              <a:solidFill>
                <a:srgbClr val="0F243E"/>
              </a:solidFill>
              <a:latin typeface="Arial" panose="020B0604020202020204" pitchFamily="34" charset="0"/>
              <a:ea typeface="Calibri"/>
              <a:cs typeface="Arial" panose="020B0604020202020204" pitchFamily="34" charset="0"/>
              <a:sym typeface="Calibri"/>
            </a:endParaRPr>
          </a:p>
          <a:p>
            <a:pPr marL="207935" indent="-207935" algn="just">
              <a:buFont typeface="Arial" panose="020B0604020202020204" pitchFamily="34" charset="0"/>
              <a:buChar char="•"/>
            </a:pPr>
            <a:r>
              <a:rPr lang="es-MX" sz="2183" dirty="0">
                <a:latin typeface="Arial" panose="020B0604020202020204" pitchFamily="34" charset="0"/>
                <a:ea typeface="Calibri"/>
                <a:cs typeface="Arial" panose="020B0604020202020204" pitchFamily="34" charset="0"/>
                <a:sym typeface="Calibri"/>
              </a:rPr>
              <a:t>Los tipos de datos </a:t>
            </a:r>
            <a:r>
              <a:rPr lang="es-MX" sz="2183" b="1" dirty="0">
                <a:latin typeface="Arial" panose="020B0604020202020204" pitchFamily="34" charset="0"/>
                <a:ea typeface="Calibri"/>
                <a:cs typeface="Arial" panose="020B0604020202020204" pitchFamily="34" charset="0"/>
                <a:sym typeface="Calibri"/>
              </a:rPr>
              <a:t>primitivos</a:t>
            </a:r>
            <a:r>
              <a:rPr lang="es-MX" sz="2183" dirty="0">
                <a:latin typeface="Arial" panose="020B0604020202020204" pitchFamily="34" charset="0"/>
                <a:ea typeface="Calibri"/>
                <a:cs typeface="Arial" panose="020B0604020202020204" pitchFamily="34" charset="0"/>
                <a:sym typeface="Calibri"/>
              </a:rPr>
              <a:t> son los fundamentales. </a:t>
            </a:r>
          </a:p>
          <a:p>
            <a:pPr marL="207935" indent="-207935" algn="just">
              <a:buFont typeface="Arial" panose="020B0604020202020204" pitchFamily="34" charset="0"/>
              <a:buChar char="•"/>
            </a:pPr>
            <a:r>
              <a:rPr lang="es-MX" sz="2183" dirty="0">
                <a:latin typeface="Arial" panose="020B0604020202020204" pitchFamily="34" charset="0"/>
                <a:ea typeface="Calibri"/>
                <a:cs typeface="Arial" panose="020B0604020202020204" pitchFamily="34" charset="0"/>
                <a:sym typeface="Calibri"/>
              </a:rPr>
              <a:t>Los </a:t>
            </a:r>
            <a:r>
              <a:rPr lang="es-MX" sz="2183" b="1" dirty="0">
                <a:latin typeface="Arial" panose="020B0604020202020204" pitchFamily="34" charset="0"/>
                <a:ea typeface="Calibri"/>
                <a:cs typeface="Arial" panose="020B0604020202020204" pitchFamily="34" charset="0"/>
                <a:sym typeface="Calibri"/>
              </a:rPr>
              <a:t>estructurados </a:t>
            </a:r>
            <a:r>
              <a:rPr lang="es-MX" sz="2183" dirty="0">
                <a:latin typeface="Arial" panose="020B0604020202020204" pitchFamily="34" charset="0"/>
                <a:ea typeface="Calibri"/>
                <a:cs typeface="Arial" panose="020B0604020202020204" pitchFamily="34" charset="0"/>
                <a:sym typeface="Calibri"/>
              </a:rPr>
              <a:t>son composiciones a partir de estos más básicos</a:t>
            </a:r>
            <a:r>
              <a:rPr lang="es-MX" sz="2183" dirty="0">
                <a:solidFill>
                  <a:srgbClr val="0F243E"/>
                </a:solidFill>
                <a:latin typeface="Arial" panose="020B0604020202020204" pitchFamily="34" charset="0"/>
                <a:ea typeface="Calibri"/>
                <a:cs typeface="Arial" panose="020B0604020202020204" pitchFamily="34" charset="0"/>
                <a:sym typeface="Calibri"/>
              </a:rPr>
              <a:t>.</a:t>
            </a:r>
          </a:p>
          <a:p>
            <a:pPr marL="30805" algn="just">
              <a:lnSpc>
                <a:spcPct val="90000"/>
              </a:lnSpc>
              <a:spcBef>
                <a:spcPts val="606"/>
              </a:spcBef>
              <a:buSzPts val="2800"/>
            </a:pPr>
            <a:endParaRPr lang="es-MX" sz="2183" dirty="0">
              <a:latin typeface="Arial" panose="020B0604020202020204" pitchFamily="34" charset="0"/>
              <a:cs typeface="Arial" panose="020B0604020202020204" pitchFamily="34" charset="0"/>
            </a:endParaRPr>
          </a:p>
          <a:p>
            <a:pPr marL="30805" algn="just">
              <a:lnSpc>
                <a:spcPct val="90000"/>
              </a:lnSpc>
              <a:spcBef>
                <a:spcPts val="606"/>
              </a:spcBef>
              <a:buSzPts val="2800"/>
            </a:pPr>
            <a:endParaRPr lang="es-MX" sz="2183" dirty="0">
              <a:latin typeface="Arial" panose="020B0604020202020204" pitchFamily="34" charset="0"/>
              <a:cs typeface="Arial" panose="020B0604020202020204" pitchFamily="34" charset="0"/>
            </a:endParaRPr>
          </a:p>
          <a:p>
            <a:pPr marL="277246" lvl="1" algn="just">
              <a:spcBef>
                <a:spcPts val="291"/>
              </a:spcBef>
              <a:buClr>
                <a:srgbClr val="818990"/>
              </a:buClr>
              <a:buSzPts val="2400"/>
            </a:pPr>
            <a:endParaRPr lang="es-MX" sz="2183" dirty="0">
              <a:solidFill>
                <a:srgbClr val="222222"/>
              </a:solidFill>
              <a:latin typeface="Arial" panose="020B0604020202020204" pitchFamily="34" charset="0"/>
              <a:ea typeface="Calibri"/>
              <a:cs typeface="Arial" panose="020B0604020202020204" pitchFamily="34" charset="0"/>
              <a:sym typeface="Calibri"/>
            </a:endParaRPr>
          </a:p>
          <a:p>
            <a:pPr marL="277246" lvl="1" algn="just">
              <a:spcBef>
                <a:spcPts val="291"/>
              </a:spcBef>
              <a:buClr>
                <a:srgbClr val="222222"/>
              </a:buClr>
              <a:buSzPts val="2400"/>
            </a:pPr>
            <a:endParaRPr lang="es-MX" sz="2183" b="1" i="1" dirty="0">
              <a:solidFill>
                <a:srgbClr val="222222"/>
              </a:solidFill>
              <a:latin typeface="Arial" panose="020B0604020202020204" pitchFamily="34" charset="0"/>
              <a:ea typeface="Calibri"/>
              <a:cs typeface="Arial" panose="020B0604020202020204" pitchFamily="34" charset="0"/>
              <a:sym typeface="Calibri"/>
            </a:endParaRPr>
          </a:p>
          <a:p>
            <a:pPr marL="277246" lvl="1" algn="just">
              <a:spcBef>
                <a:spcPts val="291"/>
              </a:spcBef>
              <a:buClr>
                <a:srgbClr val="222222"/>
              </a:buClr>
              <a:buSzPts val="2400"/>
            </a:pPr>
            <a:endParaRPr lang="es-MX" sz="2183" b="1" i="1" dirty="0">
              <a:solidFill>
                <a:srgbClr val="222222"/>
              </a:solidFill>
              <a:latin typeface="Arial" panose="020B0604020202020204" pitchFamily="34" charset="0"/>
              <a:ea typeface="Calibri"/>
              <a:cs typeface="Arial" panose="020B0604020202020204" pitchFamily="34" charset="0"/>
              <a:sym typeface="Calibri"/>
            </a:endParaRPr>
          </a:p>
          <a:p>
            <a:pPr algn="just"/>
            <a:endParaRPr lang="es-CL" sz="2183" dirty="0">
              <a:solidFill>
                <a:srgbClr val="222222"/>
              </a:solidFill>
              <a:latin typeface="Arial" panose="020B0604020202020204" pitchFamily="34" charset="0"/>
              <a:cs typeface="Arial" panose="020B0604020202020204" pitchFamily="34" charset="0"/>
              <a:sym typeface="Calibri"/>
            </a:endParaRPr>
          </a:p>
          <a:p>
            <a:pPr marL="173279" indent="-173279" algn="just">
              <a:buFont typeface="Arial" panose="020B0604020202020204" pitchFamily="34" charset="0"/>
              <a:buChar char="•"/>
            </a:pPr>
            <a:endParaRPr lang="es-ES_tradnl" sz="728" dirty="0">
              <a:latin typeface="Calibri" panose="020F0502020204030204" pitchFamily="34" charset="0"/>
              <a:cs typeface="Calibri" panose="020F0502020204030204" pitchFamily="34" charset="0"/>
            </a:endParaRPr>
          </a:p>
        </p:txBody>
      </p:sp>
      <p:sp>
        <p:nvSpPr>
          <p:cNvPr id="11" name="Cerrar llave 10">
            <a:extLst>
              <a:ext uri="{FF2B5EF4-FFF2-40B4-BE49-F238E27FC236}">
                <a16:creationId xmlns:a16="http://schemas.microsoft.com/office/drawing/2014/main" id="{9F043559-3120-9CC5-F0CC-CCFDEFFDF316}"/>
              </a:ext>
            </a:extLst>
          </p:cNvPr>
          <p:cNvSpPr/>
          <p:nvPr/>
        </p:nvSpPr>
        <p:spPr>
          <a:xfrm rot="10800000">
            <a:off x="2014448" y="3521415"/>
            <a:ext cx="349193" cy="785532"/>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sz="1092"/>
          </a:p>
        </p:txBody>
      </p:sp>
      <p:pic>
        <p:nvPicPr>
          <p:cNvPr id="4" name="Imagen 3">
            <a:extLst>
              <a:ext uri="{FF2B5EF4-FFF2-40B4-BE49-F238E27FC236}">
                <a16:creationId xmlns:a16="http://schemas.microsoft.com/office/drawing/2014/main" id="{0E65E76D-03B7-9053-A8BE-09B7FB60D70B}"/>
              </a:ext>
            </a:extLst>
          </p:cNvPr>
          <p:cNvPicPr>
            <a:picLocks noChangeAspect="1"/>
          </p:cNvPicPr>
          <p:nvPr/>
        </p:nvPicPr>
        <p:blipFill>
          <a:blip r:embed="rId2"/>
          <a:stretch>
            <a:fillRect/>
          </a:stretch>
        </p:blipFill>
        <p:spPr>
          <a:xfrm>
            <a:off x="2287393" y="1601630"/>
            <a:ext cx="6627280" cy="4219639"/>
          </a:xfrm>
          <a:prstGeom prst="rect">
            <a:avLst/>
          </a:prstGeom>
        </p:spPr>
      </p:pic>
      <p:sp>
        <p:nvSpPr>
          <p:cNvPr id="13" name="Cerrar llave 12">
            <a:extLst>
              <a:ext uri="{FF2B5EF4-FFF2-40B4-BE49-F238E27FC236}">
                <a16:creationId xmlns:a16="http://schemas.microsoft.com/office/drawing/2014/main" id="{117BDC91-8D97-FFEE-3353-6AFE0B74C73C}"/>
              </a:ext>
            </a:extLst>
          </p:cNvPr>
          <p:cNvSpPr/>
          <p:nvPr/>
        </p:nvSpPr>
        <p:spPr>
          <a:xfrm rot="10800000">
            <a:off x="2011376" y="2042768"/>
            <a:ext cx="349194" cy="1478648"/>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sz="1092"/>
          </a:p>
        </p:txBody>
      </p:sp>
      <p:sp>
        <p:nvSpPr>
          <p:cNvPr id="17" name="CuadroTexto 16">
            <a:extLst>
              <a:ext uri="{FF2B5EF4-FFF2-40B4-BE49-F238E27FC236}">
                <a16:creationId xmlns:a16="http://schemas.microsoft.com/office/drawing/2014/main" id="{44EB0C61-3770-6889-7282-40AFFD6493E2}"/>
              </a:ext>
            </a:extLst>
          </p:cNvPr>
          <p:cNvSpPr txBox="1"/>
          <p:nvPr/>
        </p:nvSpPr>
        <p:spPr>
          <a:xfrm>
            <a:off x="828317" y="2586123"/>
            <a:ext cx="1663479" cy="428259"/>
          </a:xfrm>
          <a:prstGeom prst="rect">
            <a:avLst/>
          </a:prstGeom>
          <a:noFill/>
        </p:spPr>
        <p:txBody>
          <a:bodyPr wrap="square" rtlCol="0">
            <a:spAutoFit/>
          </a:bodyPr>
          <a:lstStyle/>
          <a:p>
            <a:r>
              <a:rPr lang="es-CL" sz="2183" dirty="0">
                <a:latin typeface="Arial" panose="020B0604020202020204" pitchFamily="34" charset="0"/>
                <a:cs typeface="Arial" panose="020B0604020202020204" pitchFamily="34" charset="0"/>
              </a:rPr>
              <a:t>enteros</a:t>
            </a:r>
          </a:p>
        </p:txBody>
      </p:sp>
      <p:sp>
        <p:nvSpPr>
          <p:cNvPr id="18" name="CuadroTexto 17">
            <a:extLst>
              <a:ext uri="{FF2B5EF4-FFF2-40B4-BE49-F238E27FC236}">
                <a16:creationId xmlns:a16="http://schemas.microsoft.com/office/drawing/2014/main" id="{967D453B-D7D6-37A3-938E-D55B04E45500}"/>
              </a:ext>
            </a:extLst>
          </p:cNvPr>
          <p:cNvSpPr txBox="1"/>
          <p:nvPr/>
        </p:nvSpPr>
        <p:spPr>
          <a:xfrm>
            <a:off x="828317" y="3699814"/>
            <a:ext cx="1663479" cy="428259"/>
          </a:xfrm>
          <a:prstGeom prst="rect">
            <a:avLst/>
          </a:prstGeom>
          <a:noFill/>
        </p:spPr>
        <p:txBody>
          <a:bodyPr wrap="square" rtlCol="0">
            <a:spAutoFit/>
          </a:bodyPr>
          <a:lstStyle/>
          <a:p>
            <a:r>
              <a:rPr lang="es-CL" sz="2183" dirty="0">
                <a:latin typeface="Arial" panose="020B0604020202020204" pitchFamily="34" charset="0"/>
                <a:cs typeface="Arial" panose="020B0604020202020204" pitchFamily="34" charset="0"/>
              </a:rPr>
              <a:t>decimal</a:t>
            </a:r>
          </a:p>
        </p:txBody>
      </p:sp>
      <p:sp>
        <p:nvSpPr>
          <p:cNvPr id="19" name="CuadroTexto 18">
            <a:extLst>
              <a:ext uri="{FF2B5EF4-FFF2-40B4-BE49-F238E27FC236}">
                <a16:creationId xmlns:a16="http://schemas.microsoft.com/office/drawing/2014/main" id="{E239F453-88F6-F75E-9988-95D238DF1061}"/>
              </a:ext>
            </a:extLst>
          </p:cNvPr>
          <p:cNvSpPr txBox="1"/>
          <p:nvPr/>
        </p:nvSpPr>
        <p:spPr>
          <a:xfrm>
            <a:off x="8935142" y="4284229"/>
            <a:ext cx="1663479" cy="428259"/>
          </a:xfrm>
          <a:prstGeom prst="rect">
            <a:avLst/>
          </a:prstGeom>
          <a:noFill/>
        </p:spPr>
        <p:txBody>
          <a:bodyPr wrap="square" rtlCol="0">
            <a:spAutoFit/>
          </a:bodyPr>
          <a:lstStyle/>
          <a:p>
            <a:r>
              <a:rPr lang="es-CL" sz="2183" dirty="0">
                <a:latin typeface="Arial" panose="020B0604020202020204" pitchFamily="34" charset="0"/>
                <a:cs typeface="Arial" panose="020B0604020202020204" pitchFamily="34" charset="0"/>
              </a:rPr>
              <a:t>1 caracter</a:t>
            </a:r>
          </a:p>
        </p:txBody>
      </p:sp>
      <p:sp>
        <p:nvSpPr>
          <p:cNvPr id="7" name="Título 6">
            <a:extLst>
              <a:ext uri="{FF2B5EF4-FFF2-40B4-BE49-F238E27FC236}">
                <a16:creationId xmlns:a16="http://schemas.microsoft.com/office/drawing/2014/main" id="{235A21E6-42B6-D691-EEB9-4AC905352A63}"/>
              </a:ext>
            </a:extLst>
          </p:cNvPr>
          <p:cNvSpPr>
            <a:spLocks noGrp="1"/>
          </p:cNvSpPr>
          <p:nvPr>
            <p:ph type="title"/>
          </p:nvPr>
        </p:nvSpPr>
        <p:spPr/>
        <p:txBody>
          <a:bodyPr>
            <a:normAutofit fontScale="90000"/>
          </a:bodyPr>
          <a:lstStyle/>
          <a:p>
            <a:r>
              <a:rPr lang="es-CL" dirty="0"/>
              <a:t>Tipos de datos</a:t>
            </a:r>
          </a:p>
        </p:txBody>
      </p:sp>
    </p:spTree>
    <p:extLst>
      <p:ext uri="{BB962C8B-B14F-4D97-AF65-F5344CB8AC3E}">
        <p14:creationId xmlns:p14="http://schemas.microsoft.com/office/powerpoint/2010/main" val="1585611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Entrada/Salida por consola</a:t>
            </a:r>
          </a:p>
        </p:txBody>
      </p:sp>
      <p:sp>
        <p:nvSpPr>
          <p:cNvPr id="3" name="Oval 2"/>
          <p:cNvSpPr/>
          <p:nvPr/>
        </p:nvSpPr>
        <p:spPr>
          <a:xfrm>
            <a:off x="1463040" y="1325880"/>
            <a:ext cx="1005840" cy="100584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keyboard_w.png"/>
          <p:cNvPicPr>
            <a:picLocks noChangeAspect="1"/>
          </p:cNvPicPr>
          <p:nvPr/>
        </p:nvPicPr>
        <p:blipFill>
          <a:blip r:embed="rId2"/>
          <a:stretch>
            <a:fillRect/>
          </a:stretch>
        </p:blipFill>
        <p:spPr>
          <a:xfrm>
            <a:off x="1704441" y="1567281"/>
            <a:ext cx="523036" cy="523036"/>
          </a:xfrm>
          <a:prstGeom prst="rect">
            <a:avLst/>
          </a:prstGeom>
        </p:spPr>
      </p:pic>
      <p:sp>
        <p:nvSpPr>
          <p:cNvPr id="5" name="TextBox 4"/>
          <p:cNvSpPr txBox="1"/>
          <p:nvPr/>
        </p:nvSpPr>
        <p:spPr>
          <a:xfrm>
            <a:off x="2606040" y="1417320"/>
            <a:ext cx="173736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Arial"/>
              </a:rPr>
              <a:t>Teclado</a:t>
            </a:r>
          </a:p>
        </p:txBody>
      </p:sp>
      <p:sp>
        <p:nvSpPr>
          <p:cNvPr id="6" name="TextBox 5"/>
          <p:cNvSpPr txBox="1"/>
          <p:nvPr/>
        </p:nvSpPr>
        <p:spPr>
          <a:xfrm>
            <a:off x="2606040" y="1828800"/>
            <a:ext cx="1737360" cy="36576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Tú escribes</a:t>
            </a:r>
          </a:p>
        </p:txBody>
      </p:sp>
      <p:cxnSp>
        <p:nvCxnSpPr>
          <p:cNvPr id="7" name="Connector 6"/>
          <p:cNvCxnSpPr/>
          <p:nvPr/>
        </p:nvCxnSpPr>
        <p:spPr>
          <a:xfrm>
            <a:off x="4160520" y="1828800"/>
            <a:ext cx="731520" cy="0"/>
          </a:xfrm>
          <a:prstGeom prst="line">
            <a:avLst/>
          </a:prstGeom>
          <a:ln w="31750">
            <a:solidFill>
              <a:srgbClr val="FF5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029200" y="1325880"/>
            <a:ext cx="1005840" cy="100584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_w.png"/>
          <p:cNvPicPr>
            <a:picLocks noChangeAspect="1"/>
          </p:cNvPicPr>
          <p:nvPr/>
        </p:nvPicPr>
        <p:blipFill>
          <a:blip r:embed="rId3"/>
          <a:stretch>
            <a:fillRect/>
          </a:stretch>
        </p:blipFill>
        <p:spPr>
          <a:xfrm>
            <a:off x="5270601" y="1567281"/>
            <a:ext cx="523036" cy="523036"/>
          </a:xfrm>
          <a:prstGeom prst="rect">
            <a:avLst/>
          </a:prstGeom>
        </p:spPr>
      </p:pic>
      <p:sp>
        <p:nvSpPr>
          <p:cNvPr id="10" name="TextBox 9"/>
          <p:cNvSpPr txBox="1"/>
          <p:nvPr/>
        </p:nvSpPr>
        <p:spPr>
          <a:xfrm>
            <a:off x="6172200" y="1417320"/>
            <a:ext cx="173736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Arial"/>
              </a:rPr>
              <a:t>Programa</a:t>
            </a:r>
          </a:p>
        </p:txBody>
      </p:sp>
      <p:sp>
        <p:nvSpPr>
          <p:cNvPr id="11" name="TextBox 10"/>
          <p:cNvSpPr txBox="1"/>
          <p:nvPr/>
        </p:nvSpPr>
        <p:spPr>
          <a:xfrm>
            <a:off x="6172200" y="1828800"/>
            <a:ext cx="1737360" cy="36576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Procesa</a:t>
            </a:r>
          </a:p>
        </p:txBody>
      </p:sp>
      <p:cxnSp>
        <p:nvCxnSpPr>
          <p:cNvPr id="12" name="Connector 11"/>
          <p:cNvCxnSpPr/>
          <p:nvPr/>
        </p:nvCxnSpPr>
        <p:spPr>
          <a:xfrm>
            <a:off x="7726679" y="1828800"/>
            <a:ext cx="731521" cy="0"/>
          </a:xfrm>
          <a:prstGeom prst="line">
            <a:avLst/>
          </a:prstGeom>
          <a:ln w="31750">
            <a:solidFill>
              <a:srgbClr val="257CE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595360" y="1325880"/>
            <a:ext cx="1005840" cy="100584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erminal_w.png"/>
          <p:cNvPicPr>
            <a:picLocks noChangeAspect="1"/>
          </p:cNvPicPr>
          <p:nvPr/>
        </p:nvPicPr>
        <p:blipFill>
          <a:blip r:embed="rId4"/>
          <a:stretch>
            <a:fillRect/>
          </a:stretch>
        </p:blipFill>
        <p:spPr>
          <a:xfrm>
            <a:off x="8836761" y="1567281"/>
            <a:ext cx="523036" cy="523036"/>
          </a:xfrm>
          <a:prstGeom prst="rect">
            <a:avLst/>
          </a:prstGeom>
        </p:spPr>
      </p:pic>
      <p:sp>
        <p:nvSpPr>
          <p:cNvPr id="15" name="TextBox 14"/>
          <p:cNvSpPr txBox="1"/>
          <p:nvPr/>
        </p:nvSpPr>
        <p:spPr>
          <a:xfrm>
            <a:off x="9738360" y="1417320"/>
            <a:ext cx="1737360" cy="411480"/>
          </a:xfrm>
          <a:prstGeom prst="rect">
            <a:avLst/>
          </a:prstGeom>
          <a:noFill/>
        </p:spPr>
        <p:txBody>
          <a:bodyPr wrap="square" lIns="0" rIns="0" tIns="0" bIns="0" anchor="t">
            <a:spAutoFit/>
          </a:bodyPr>
          <a:lstStyle/>
          <a:p>
            <a:pPr algn="l">
              <a:spcAft>
                <a:spcPts val="400"/>
              </a:spcAft>
            </a:pPr>
            <a:r>
              <a:rPr sz="2000" b="1" i="0">
                <a:solidFill>
                  <a:srgbClr val="0B2A4A"/>
                </a:solidFill>
                <a:latin typeface="Arial"/>
              </a:rPr>
              <a:t>Pantalla</a:t>
            </a:r>
          </a:p>
        </p:txBody>
      </p:sp>
      <p:sp>
        <p:nvSpPr>
          <p:cNvPr id="16" name="TextBox 15"/>
          <p:cNvSpPr txBox="1"/>
          <p:nvPr/>
        </p:nvSpPr>
        <p:spPr>
          <a:xfrm>
            <a:off x="9738360" y="1828800"/>
            <a:ext cx="1737360" cy="36576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Muestra</a:t>
            </a:r>
          </a:p>
        </p:txBody>
      </p:sp>
      <p:sp>
        <p:nvSpPr>
          <p:cNvPr id="17" name="TextBox 16"/>
          <p:cNvSpPr txBox="1"/>
          <p:nvPr/>
        </p:nvSpPr>
        <p:spPr>
          <a:xfrm>
            <a:off x="640080" y="2697480"/>
            <a:ext cx="5303520" cy="411480"/>
          </a:xfrm>
          <a:prstGeom prst="rect">
            <a:avLst/>
          </a:prstGeom>
          <a:noFill/>
        </p:spPr>
        <p:txBody>
          <a:bodyPr wrap="square" lIns="0" rIns="0" tIns="0" bIns="0" anchor="t">
            <a:spAutoFit/>
          </a:bodyPr>
          <a:lstStyle/>
          <a:p>
            <a:pPr algn="l">
              <a:spcAft>
                <a:spcPts val="400"/>
              </a:spcAft>
            </a:pPr>
            <a:r>
              <a:rPr sz="1800" b="1" i="0">
                <a:solidFill>
                  <a:srgbClr val="FF5A5F"/>
                </a:solidFill>
                <a:latin typeface="Arial"/>
              </a:rPr>
              <a:t>ENTRADA  ·  Scanner</a:t>
            </a:r>
          </a:p>
        </p:txBody>
      </p:sp>
      <p:sp>
        <p:nvSpPr>
          <p:cNvPr id="18" name="Rounded Rectangle 17"/>
          <p:cNvSpPr/>
          <p:nvPr/>
        </p:nvSpPr>
        <p:spPr>
          <a:xfrm>
            <a:off x="640080" y="3154680"/>
            <a:ext cx="5303520" cy="123444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3337560"/>
            <a:ext cx="4846320" cy="914399"/>
          </a:xfrm>
          <a:prstGeom prst="rect">
            <a:avLst/>
          </a:prstGeom>
          <a:noFill/>
        </p:spPr>
        <p:txBody>
          <a:bodyPr wrap="square" lIns="0" rIns="0" tIns="0" bIns="0" anchor="t">
            <a:spAutoFit/>
          </a:bodyPr>
          <a:lstStyle/>
          <a:p>
            <a:pPr algn="l">
              <a:spcAft>
                <a:spcPts val="0"/>
              </a:spcAft>
            </a:pPr>
            <a:r>
              <a:rPr sz="1300" b="0" i="0">
                <a:solidFill>
                  <a:srgbClr val="5EC8FF"/>
                </a:solidFill>
                <a:latin typeface="Courier New"/>
              </a:rPr>
              <a:t>Scanner</a:t>
            </a:r>
            <a:r>
              <a:rPr sz="1300" b="0" i="0">
                <a:solidFill>
                  <a:srgbClr val="E6EDF3"/>
                </a:solidFill>
                <a:latin typeface="Courier New"/>
              </a:rPr>
              <a:t> </a:t>
            </a:r>
            <a:r>
              <a:rPr sz="1300" b="0" i="0">
                <a:solidFill>
                  <a:srgbClr val="E6EDF3"/>
                </a:solidFill>
                <a:latin typeface="Courier New"/>
              </a:rPr>
              <a:t>sc</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C792EA"/>
                </a:solidFill>
                <a:latin typeface="Courier New"/>
              </a:rPr>
              <a:t>new</a:t>
            </a:r>
            <a:r>
              <a:rPr sz="1300" b="0" i="0">
                <a:solidFill>
                  <a:srgbClr val="E6EDF3"/>
                </a:solidFill>
                <a:latin typeface="Courier New"/>
              </a:rPr>
              <a:t> </a:t>
            </a:r>
            <a:r>
              <a:rPr sz="1300" b="0" i="0">
                <a:solidFill>
                  <a:srgbClr val="5EC8FF"/>
                </a:solidFill>
                <a:latin typeface="Courier New"/>
              </a:rPr>
              <a:t>Scanner</a:t>
            </a:r>
            <a:r>
              <a:rPr sz="1300" b="0" i="0">
                <a:solidFill>
                  <a:srgbClr val="E6EDF3"/>
                </a:solidFill>
                <a:latin typeface="Courier New"/>
              </a:rPr>
              <a:t>(</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in</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5EC8FF"/>
                </a:solidFill>
                <a:latin typeface="Courier New"/>
              </a:rPr>
              <a:t>String</a:t>
            </a:r>
            <a:r>
              <a:rPr sz="1300" b="0" i="0">
                <a:solidFill>
                  <a:srgbClr val="E6EDF3"/>
                </a:solidFill>
                <a:latin typeface="Courier New"/>
              </a:rPr>
              <a:t> </a:t>
            </a:r>
            <a:r>
              <a:rPr sz="1300" b="0" i="0">
                <a:solidFill>
                  <a:srgbClr val="E6EDF3"/>
                </a:solidFill>
                <a:latin typeface="Courier New"/>
              </a:rPr>
              <a:t>nombre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sc</a:t>
            </a:r>
            <a:r>
              <a:rPr sz="1300" b="0" i="0">
                <a:solidFill>
                  <a:srgbClr val="E6EDF3"/>
                </a:solidFill>
                <a:latin typeface="Courier New"/>
              </a:rPr>
              <a:t>.</a:t>
            </a:r>
            <a:r>
              <a:rPr sz="1300" b="0" i="0">
                <a:solidFill>
                  <a:srgbClr val="E6EDF3"/>
                </a:solidFill>
                <a:latin typeface="Courier New"/>
              </a:rPr>
              <a:t>nextLine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5EC8FF"/>
                </a:solidFill>
                <a:latin typeface="Courier New"/>
              </a:rPr>
              <a:t>int</a:t>
            </a:r>
            <a:r>
              <a:rPr sz="1300" b="0" i="0">
                <a:solidFill>
                  <a:srgbClr val="E6EDF3"/>
                </a:solidFill>
                <a:latin typeface="Courier New"/>
              </a:rPr>
              <a:t> </a:t>
            </a:r>
            <a:r>
              <a:rPr sz="1300" b="0" i="0">
                <a:solidFill>
                  <a:srgbClr val="E6EDF3"/>
                </a:solidFill>
                <a:latin typeface="Courier New"/>
              </a:rPr>
              <a:t>edad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sc</a:t>
            </a:r>
            <a:r>
              <a:rPr sz="1300" b="0" i="0">
                <a:solidFill>
                  <a:srgbClr val="E6EDF3"/>
                </a:solidFill>
                <a:latin typeface="Courier New"/>
              </a:rPr>
              <a:t>.</a:t>
            </a:r>
            <a:r>
              <a:rPr sz="1300" b="0" i="0">
                <a:solidFill>
                  <a:srgbClr val="E6EDF3"/>
                </a:solidFill>
                <a:latin typeface="Courier New"/>
              </a:rPr>
              <a:t>nextInt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20" name="TextBox 19"/>
          <p:cNvSpPr txBox="1"/>
          <p:nvPr/>
        </p:nvSpPr>
        <p:spPr>
          <a:xfrm>
            <a:off x="640080" y="4526280"/>
            <a:ext cx="5303520" cy="36576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Lee lo que escribe el usuario</a:t>
            </a:r>
          </a:p>
        </p:txBody>
      </p:sp>
      <p:sp>
        <p:nvSpPr>
          <p:cNvPr id="21" name="TextBox 20"/>
          <p:cNvSpPr txBox="1"/>
          <p:nvPr/>
        </p:nvSpPr>
        <p:spPr>
          <a:xfrm>
            <a:off x="6217920" y="2697480"/>
            <a:ext cx="5303520" cy="411480"/>
          </a:xfrm>
          <a:prstGeom prst="rect">
            <a:avLst/>
          </a:prstGeom>
          <a:noFill/>
        </p:spPr>
        <p:txBody>
          <a:bodyPr wrap="square" lIns="0" rIns="0" tIns="0" bIns="0" anchor="t">
            <a:spAutoFit/>
          </a:bodyPr>
          <a:lstStyle/>
          <a:p>
            <a:pPr algn="l">
              <a:spcAft>
                <a:spcPts val="400"/>
              </a:spcAft>
            </a:pPr>
            <a:r>
              <a:rPr sz="1800" b="1" i="0">
                <a:solidFill>
                  <a:srgbClr val="1FB58F"/>
                </a:solidFill>
                <a:latin typeface="Arial"/>
              </a:rPr>
              <a:t>SALIDA  ·  System.out.println</a:t>
            </a:r>
          </a:p>
        </p:txBody>
      </p:sp>
      <p:sp>
        <p:nvSpPr>
          <p:cNvPr id="22" name="Rounded Rectangle 21"/>
          <p:cNvSpPr/>
          <p:nvPr/>
        </p:nvSpPr>
        <p:spPr>
          <a:xfrm>
            <a:off x="6217920" y="3154680"/>
            <a:ext cx="5303520" cy="123444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2240" y="3337560"/>
            <a:ext cx="4846320" cy="914399"/>
          </a:xfrm>
          <a:prstGeom prst="rect">
            <a:avLst/>
          </a:prstGeom>
          <a:noFill/>
        </p:spPr>
        <p:txBody>
          <a:bodyPr wrap="square" lIns="0" rIns="0" tIns="0" bIns="0" anchor="t">
            <a:spAutoFit/>
          </a:bodyPr>
          <a:lstStyle/>
          <a:p>
            <a:pPr algn="l">
              <a:spcAft>
                <a:spcPts val="0"/>
              </a:spcAft>
            </a:pP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"Hola "</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nombre</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a:t>
            </a:r>
            <a:r>
              <a:rPr sz="1300" b="0" i="0">
                <a:solidFill>
                  <a:srgbClr val="E6EDF3"/>
                </a:solidFill>
                <a:latin typeface="Courier New"/>
              </a:rPr>
              <a:t>(</a:t>
            </a:r>
            <a:r>
              <a:rPr sz="1300" b="0" i="0">
                <a:solidFill>
                  <a:srgbClr val="FFB86B"/>
                </a:solidFill>
                <a:latin typeface="Courier New"/>
              </a:rPr>
              <a:t>"Sin salto de línea"</a:t>
            </a:r>
            <a:r>
              <a:rPr sz="1300" b="0" i="0">
                <a:solidFill>
                  <a:srgbClr val="E6EDF3"/>
                </a:solidFill>
                <a:latin typeface="Courier New"/>
              </a:rPr>
              <a:t>)</a:t>
            </a:r>
            <a:r>
              <a:rPr sz="1300" b="0" i="0">
                <a:solidFill>
                  <a:srgbClr val="E6EDF3"/>
                </a:solidFill>
                <a:latin typeface="Courier New"/>
              </a:rPr>
              <a:t>;</a:t>
            </a:r>
          </a:p>
        </p:txBody>
      </p:sp>
      <p:sp>
        <p:nvSpPr>
          <p:cNvPr id="24" name="TextBox 23"/>
          <p:cNvSpPr txBox="1"/>
          <p:nvPr/>
        </p:nvSpPr>
        <p:spPr>
          <a:xfrm>
            <a:off x="6217920" y="4526280"/>
            <a:ext cx="5303520" cy="36576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Muestra mensajes en pantalla</a:t>
            </a:r>
          </a:p>
        </p:txBody>
      </p:sp>
      <p:sp>
        <p:nvSpPr>
          <p:cNvPr id="25" name="Rounded Rectangle 24"/>
          <p:cNvSpPr/>
          <p:nvPr/>
        </p:nvSpPr>
        <p:spPr>
          <a:xfrm>
            <a:off x="2651760" y="5212080"/>
            <a:ext cx="6858000" cy="54864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ghtbulb_n.png"/>
          <p:cNvPicPr>
            <a:picLocks noChangeAspect="1"/>
          </p:cNvPicPr>
          <p:nvPr/>
        </p:nvPicPr>
        <p:blipFill>
          <a:blip r:embed="rId5"/>
          <a:stretch>
            <a:fillRect/>
          </a:stretch>
        </p:blipFill>
        <p:spPr>
          <a:xfrm>
            <a:off x="2788920" y="5280660"/>
            <a:ext cx="411480" cy="411480"/>
          </a:xfrm>
          <a:prstGeom prst="rect">
            <a:avLst/>
          </a:prstGeom>
        </p:spPr>
      </p:pic>
      <p:sp>
        <p:nvSpPr>
          <p:cNvPr id="27" name="TextBox 26"/>
          <p:cNvSpPr txBox="1"/>
          <p:nvPr/>
        </p:nvSpPr>
        <p:spPr>
          <a:xfrm>
            <a:off x="3337560" y="5212080"/>
            <a:ext cx="5989320" cy="54864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Tip: Scanner necesita  import java.util.Scanner;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67B3-7D3C-929F-BD11-3CD1E4715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28254-F9CF-85D1-11B1-DEB694BB7E6B}"/>
              </a:ext>
            </a:extLst>
          </p:cNvPr>
          <p:cNvSpPr>
            <a:spLocks noGrp="1"/>
          </p:cNvSpPr>
          <p:nvPr>
            <p:ph type="title"/>
          </p:nvPr>
        </p:nvSpPr>
        <p:spPr/>
        <p:txBody>
          <a:bodyPr/>
          <a:lstStyle/>
          <a:p>
            <a:r>
              <a:rPr lang="es-CL" dirty="0" sz="3000"/>
              <a:t>Ejemplo 1: </a:t>
            </a:r>
            <a:r>
              <a:rPr dirty="0" sz="3000"/>
              <a:t>Entrada/Salida </a:t>
            </a:r>
            <a:r>
              <a:rPr dirty="0" err="1" sz="3000"/>
              <a:t>por</a:t>
            </a:r>
            <a:r>
              <a:rPr dirty="0" sz="3000"/>
              <a:t> </a:t>
            </a:r>
            <a:r>
              <a:rPr dirty="0" err="1" sz="3000"/>
              <a:t>consola</a:t>
            </a:r>
            <a:endParaRPr dirty="0"/>
          </a:p>
        </p:txBody>
      </p:sp>
      <p:pic>
        <p:nvPicPr>
          <p:cNvPr id="9" name="Imagen 8">
            <a:extLst>
              <a:ext uri="{FF2B5EF4-FFF2-40B4-BE49-F238E27FC236}">
                <a16:creationId xmlns:a16="http://schemas.microsoft.com/office/drawing/2014/main" id="{709C339C-C3C5-1743-5DC0-4AAC33DC49A3}"/>
              </a:ext>
            </a:extLst>
          </p:cNvPr>
          <p:cNvPicPr>
            <a:picLocks noChangeAspect="1"/>
          </p:cNvPicPr>
          <p:nvPr/>
        </p:nvPicPr>
        <p:blipFill>
          <a:blip r:embed="rId2"/>
          <a:stretch>
            <a:fillRect/>
          </a:stretch>
        </p:blipFill>
        <p:spPr>
          <a:xfrm>
            <a:off x="6903720" y="1600200"/>
            <a:ext cx="4663440" cy="2798063"/>
          </a:xfrm>
          <a:prstGeom prst="rect">
            <a:avLst/>
          </a:prstGeom>
        </p:spPr>
      </p:pic>
      <p:sp>
        <p:nvSpPr>
          <p:cNvPr id="10" name="Rounded Rectangle 9"/>
          <p:cNvSpPr/>
          <p:nvPr/>
        </p:nvSpPr>
        <p:spPr>
          <a:xfrm>
            <a:off x="548640" y="1600200"/>
            <a:ext cx="6172200" cy="443484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520" y="175564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60120" y="175564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88720" y="175564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63040" y="1691640"/>
            <a:ext cx="5074920"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EntradaSalida.java</a:t>
            </a:r>
          </a:p>
        </p:txBody>
      </p:sp>
      <p:sp>
        <p:nvSpPr>
          <p:cNvPr id="15" name="TextBox 14"/>
          <p:cNvSpPr txBox="1"/>
          <p:nvPr/>
        </p:nvSpPr>
        <p:spPr>
          <a:xfrm>
            <a:off x="822959" y="2057400"/>
            <a:ext cx="5715000" cy="3840479"/>
          </a:xfrm>
          <a:prstGeom prst="rect">
            <a:avLst/>
          </a:prstGeom>
          <a:noFill/>
        </p:spPr>
        <p:txBody>
          <a:bodyPr wrap="square" lIns="0" rIns="0" tIns="0" bIns="0" anchor="t">
            <a:spAutoFit/>
          </a:bodyPr>
          <a:lstStyle/>
          <a:p>
            <a:pPr algn="l">
              <a:spcAft>
                <a:spcPts val="0"/>
              </a:spcAft>
            </a:pPr>
            <a:r>
              <a:rPr sz="900" b="0" i="0">
                <a:solidFill>
                  <a:srgbClr val="C792EA"/>
                </a:solidFill>
                <a:latin typeface="Courier New"/>
              </a:rPr>
              <a:t>import</a:t>
            </a:r>
            <a:r>
              <a:rPr sz="900" b="0" i="0">
                <a:solidFill>
                  <a:srgbClr val="E6EDF3"/>
                </a:solidFill>
                <a:latin typeface="Courier New"/>
              </a:rPr>
              <a:t> </a:t>
            </a:r>
            <a:r>
              <a:rPr sz="900" b="0" i="0">
                <a:solidFill>
                  <a:srgbClr val="E6EDF3"/>
                </a:solidFill>
                <a:latin typeface="Courier New"/>
              </a:rPr>
              <a:t>java</a:t>
            </a:r>
            <a:r>
              <a:rPr sz="900" b="0" i="0">
                <a:solidFill>
                  <a:srgbClr val="E6EDF3"/>
                </a:solidFill>
                <a:latin typeface="Courier New"/>
              </a:rPr>
              <a:t>.</a:t>
            </a:r>
            <a:r>
              <a:rPr sz="900" b="0" i="0">
                <a:solidFill>
                  <a:srgbClr val="E6EDF3"/>
                </a:solidFill>
                <a:latin typeface="Courier New"/>
              </a:rPr>
              <a:t>util</a:t>
            </a:r>
            <a:r>
              <a:rPr sz="900" b="0" i="0">
                <a:solidFill>
                  <a:srgbClr val="E6EDF3"/>
                </a:solidFill>
                <a:latin typeface="Courier New"/>
              </a:rPr>
              <a:t>.</a:t>
            </a:r>
            <a:r>
              <a:rPr sz="900" b="0" i="0">
                <a:solidFill>
                  <a:srgbClr val="5EC8FF"/>
                </a:solidFill>
                <a:latin typeface="Courier New"/>
              </a:rPr>
              <a:t>Scanner</a:t>
            </a:r>
            <a:r>
              <a:rPr sz="900" b="0" i="0">
                <a:solidFill>
                  <a:srgbClr val="E6EDF3"/>
                </a:solidFill>
                <a:latin typeface="Courier New"/>
              </a:rPr>
              <a:t>;</a:t>
            </a:r>
          </a:p>
          <a:p>
            <a:pPr algn="l">
              <a:spcAft>
                <a:spcPts val="0"/>
              </a:spcAft>
            </a:pPr>
            <a:r>
              <a:rPr sz="900" b="0" i="0">
                <a:solidFill>
                  <a:srgbClr val="C792EA"/>
                </a:solidFill>
                <a:latin typeface="Courier New"/>
              </a:rPr>
              <a:t>public</a:t>
            </a:r>
            <a:r>
              <a:rPr sz="900" b="0" i="0">
                <a:solidFill>
                  <a:srgbClr val="E6EDF3"/>
                </a:solidFill>
                <a:latin typeface="Courier New"/>
              </a:rPr>
              <a:t> </a:t>
            </a:r>
            <a:r>
              <a:rPr sz="900" b="0" i="0">
                <a:solidFill>
                  <a:srgbClr val="C792EA"/>
                </a:solidFill>
                <a:latin typeface="Courier New"/>
              </a:rPr>
              <a:t>class</a:t>
            </a:r>
            <a:r>
              <a:rPr sz="900" b="0" i="0">
                <a:solidFill>
                  <a:srgbClr val="E6EDF3"/>
                </a:solidFill>
                <a:latin typeface="Courier New"/>
              </a:rPr>
              <a:t> </a:t>
            </a:r>
            <a:r>
              <a:rPr sz="900" b="0" i="0">
                <a:solidFill>
                  <a:srgbClr val="E6EDF3"/>
                </a:solidFill>
                <a:latin typeface="Courier New"/>
              </a:rPr>
              <a:t>EntradaSalida</a:t>
            </a:r>
            <a:r>
              <a:rPr sz="900" b="0" i="0">
                <a:solidFill>
                  <a:srgbClr val="E6EDF3"/>
                </a:solidFill>
                <a:latin typeface="Courier New"/>
              </a:rPr>
              <a:t> </a:t>
            </a:r>
            <a:r>
              <a:rPr sz="900" b="0" i="0">
                <a:solidFill>
                  <a:srgbClr val="E6EDF3"/>
                </a:solidFill>
                <a:latin typeface="Courier New"/>
              </a:rPr>
              <a:t>{</a:t>
            </a:r>
          </a:p>
          <a:p>
            <a:pPr algn="l">
              <a:spcAft>
                <a:spcPts val="0"/>
              </a:spcAft>
            </a:pPr>
            <a:r>
              <a:rPr sz="900" b="0" i="0">
                <a:solidFill>
                  <a:srgbClr val="E6EDF3"/>
                </a:solidFill>
                <a:latin typeface="Courier New"/>
              </a:rPr>
              <a:t>    </a:t>
            </a:r>
            <a:r>
              <a:rPr sz="900" b="0" i="0">
                <a:solidFill>
                  <a:srgbClr val="C792EA"/>
                </a:solidFill>
                <a:latin typeface="Courier New"/>
              </a:rPr>
              <a:t>public</a:t>
            </a:r>
            <a:r>
              <a:rPr sz="900" b="0" i="0">
                <a:solidFill>
                  <a:srgbClr val="E6EDF3"/>
                </a:solidFill>
                <a:latin typeface="Courier New"/>
              </a:rPr>
              <a:t> </a:t>
            </a:r>
            <a:r>
              <a:rPr sz="900" b="0" i="0">
                <a:solidFill>
                  <a:srgbClr val="C792EA"/>
                </a:solidFill>
                <a:latin typeface="Courier New"/>
              </a:rPr>
              <a:t>static</a:t>
            </a:r>
            <a:r>
              <a:rPr sz="900" b="0" i="0">
                <a:solidFill>
                  <a:srgbClr val="E6EDF3"/>
                </a:solidFill>
                <a:latin typeface="Courier New"/>
              </a:rPr>
              <a:t> </a:t>
            </a:r>
            <a:r>
              <a:rPr sz="900" b="0" i="0">
                <a:solidFill>
                  <a:srgbClr val="C792EA"/>
                </a:solidFill>
                <a:latin typeface="Courier New"/>
              </a:rPr>
              <a:t>void</a:t>
            </a:r>
            <a:r>
              <a:rPr sz="900" b="0" i="0">
                <a:solidFill>
                  <a:srgbClr val="E6EDF3"/>
                </a:solidFill>
                <a:latin typeface="Courier New"/>
              </a:rPr>
              <a:t> </a:t>
            </a:r>
            <a:r>
              <a:rPr sz="900" b="0" i="0">
                <a:solidFill>
                  <a:srgbClr val="E6EDF3"/>
                </a:solidFill>
                <a:latin typeface="Courier New"/>
              </a:rPr>
              <a:t>main</a:t>
            </a:r>
            <a:r>
              <a:rPr sz="900" b="0" i="0">
                <a:solidFill>
                  <a:srgbClr val="E6EDF3"/>
                </a:solidFill>
                <a:latin typeface="Courier New"/>
              </a:rPr>
              <a:t>(</a:t>
            </a:r>
            <a:r>
              <a:rPr sz="900" b="0" i="0">
                <a:solidFill>
                  <a:srgbClr val="5EC8FF"/>
                </a:solidFill>
                <a:latin typeface="Courier New"/>
              </a:rPr>
              <a:t>String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args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p>
          <a:p>
            <a:pPr algn="l">
              <a:spcAft>
                <a:spcPts val="0"/>
              </a:spcAft>
            </a:pPr>
            <a:r>
              <a:rPr sz="900" b="0" i="0">
                <a:solidFill>
                  <a:srgbClr val="E6EDF3"/>
                </a:solidFill>
                <a:latin typeface="Courier New"/>
              </a:rPr>
              <a:t>        </a:t>
            </a:r>
            <a:r>
              <a:rPr sz="900" b="0" i="1">
                <a:solidFill>
                  <a:srgbClr val="7FD18B"/>
                </a:solidFill>
                <a:latin typeface="Courier New"/>
              </a:rPr>
              <a:t>// Salida por consola</a:t>
            </a:r>
          </a:p>
          <a:p>
            <a:pPr algn="l">
              <a:spcAft>
                <a:spcPts val="0"/>
              </a:spcAft>
            </a:pPr>
            <a:r>
              <a:rPr sz="900" b="0" i="0">
                <a:solidFill>
                  <a:srgbClr val="E6EDF3"/>
                </a:solidFill>
                <a:latin typeface="Courier New"/>
              </a:rPr>
              <a:t>        </a:t>
            </a:r>
            <a:r>
              <a:rPr sz="900" b="0" i="0">
                <a:solidFill>
                  <a:srgbClr val="E6EDF3"/>
                </a:solidFill>
                <a:latin typeface="Courier New"/>
              </a:rPr>
              <a:t>System</a:t>
            </a:r>
            <a:r>
              <a:rPr sz="900" b="0" i="0">
                <a:solidFill>
                  <a:srgbClr val="E6EDF3"/>
                </a:solidFill>
                <a:latin typeface="Courier New"/>
              </a:rPr>
              <a:t>.</a:t>
            </a:r>
            <a:r>
              <a:rPr sz="900" b="0" i="0">
                <a:solidFill>
                  <a:srgbClr val="E6EDF3"/>
                </a:solidFill>
                <a:latin typeface="Courier New"/>
              </a:rPr>
              <a:t>out</a:t>
            </a:r>
            <a:r>
              <a:rPr sz="900" b="0" i="0">
                <a:solidFill>
                  <a:srgbClr val="E6EDF3"/>
                </a:solidFill>
                <a:latin typeface="Courier New"/>
              </a:rPr>
              <a:t>.</a:t>
            </a:r>
            <a:r>
              <a:rPr sz="900" b="0" i="0">
                <a:solidFill>
                  <a:srgbClr val="E6EDF3"/>
                </a:solidFill>
                <a:latin typeface="Courier New"/>
              </a:rPr>
              <a:t>println</a:t>
            </a:r>
            <a:r>
              <a:rPr sz="900" b="0" i="0">
                <a:solidFill>
                  <a:srgbClr val="E6EDF3"/>
                </a:solidFill>
                <a:latin typeface="Courier New"/>
              </a:rPr>
              <a:t>(</a:t>
            </a:r>
            <a:r>
              <a:rPr sz="900" b="0" i="0">
                <a:solidFill>
                  <a:srgbClr val="FFB86B"/>
                </a:solidFill>
                <a:latin typeface="Courier New"/>
              </a:rPr>
              <a:t>"=== Bienvenido al programa de entrada/salida ==="</a:t>
            </a:r>
            <a:r>
              <a:rPr sz="900" b="0" i="0">
                <a:solidFill>
                  <a:srgbClr val="E6EDF3"/>
                </a:solidFill>
                <a:latin typeface="Courier New"/>
              </a:rPr>
              <a:t>)</a:t>
            </a:r>
            <a:r>
              <a:rPr sz="900" b="0" i="0">
                <a:solidFill>
                  <a:srgbClr val="E6EDF3"/>
                </a:solidFill>
                <a:latin typeface="Courier New"/>
              </a:rPr>
              <a:t>;</a:t>
            </a:r>
          </a:p>
          <a:p>
            <a:pPr algn="l">
              <a:spcAft>
                <a:spcPts val="0"/>
              </a:spcAft>
            </a:pPr>
            <a:r>
              <a:rPr sz="900" b="0" i="0">
                <a:solidFill>
                  <a:srgbClr val="E6EDF3"/>
                </a:solidFill>
                <a:latin typeface="Courier New"/>
              </a:rPr>
              <a:t>        </a:t>
            </a:r>
            <a:r>
              <a:rPr sz="900" b="0" i="1">
                <a:solidFill>
                  <a:srgbClr val="7FD18B"/>
                </a:solidFill>
                <a:latin typeface="Courier New"/>
              </a:rPr>
              <a:t>// Crear un objeto Scanner para leer desde teclado</a:t>
            </a:r>
          </a:p>
          <a:p>
            <a:pPr algn="l">
              <a:spcAft>
                <a:spcPts val="0"/>
              </a:spcAft>
            </a:pPr>
            <a:r>
              <a:rPr sz="900" b="0" i="0">
                <a:solidFill>
                  <a:srgbClr val="E6EDF3"/>
                </a:solidFill>
                <a:latin typeface="Courier New"/>
              </a:rPr>
              <a:t>        </a:t>
            </a:r>
            <a:r>
              <a:rPr sz="900" b="0" i="0">
                <a:solidFill>
                  <a:srgbClr val="5EC8FF"/>
                </a:solidFill>
                <a:latin typeface="Courier New"/>
              </a:rPr>
              <a:t>Scanner</a:t>
            </a:r>
            <a:r>
              <a:rPr sz="900" b="0" i="0">
                <a:solidFill>
                  <a:srgbClr val="E6EDF3"/>
                </a:solidFill>
                <a:latin typeface="Courier New"/>
              </a:rPr>
              <a:t> </a:t>
            </a:r>
            <a:r>
              <a:rPr sz="900" b="0" i="0">
                <a:solidFill>
                  <a:srgbClr val="E6EDF3"/>
                </a:solidFill>
                <a:latin typeface="Courier New"/>
              </a:rPr>
              <a:t>sc</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C792EA"/>
                </a:solidFill>
                <a:latin typeface="Courier New"/>
              </a:rPr>
              <a:t>new</a:t>
            </a:r>
            <a:r>
              <a:rPr sz="900" b="0" i="0">
                <a:solidFill>
                  <a:srgbClr val="E6EDF3"/>
                </a:solidFill>
                <a:latin typeface="Courier New"/>
              </a:rPr>
              <a:t> </a:t>
            </a:r>
            <a:r>
              <a:rPr sz="900" b="0" i="0">
                <a:solidFill>
                  <a:srgbClr val="5EC8FF"/>
                </a:solidFill>
                <a:latin typeface="Courier New"/>
              </a:rPr>
              <a:t>Scanner</a:t>
            </a:r>
            <a:r>
              <a:rPr sz="900" b="0" i="0">
                <a:solidFill>
                  <a:srgbClr val="E6EDF3"/>
                </a:solidFill>
                <a:latin typeface="Courier New"/>
              </a:rPr>
              <a:t>(</a:t>
            </a:r>
            <a:r>
              <a:rPr sz="900" b="0" i="0">
                <a:solidFill>
                  <a:srgbClr val="E6EDF3"/>
                </a:solidFill>
                <a:latin typeface="Courier New"/>
              </a:rPr>
              <a:t>System</a:t>
            </a:r>
            <a:r>
              <a:rPr sz="900" b="0" i="0">
                <a:solidFill>
                  <a:srgbClr val="E6EDF3"/>
                </a:solidFill>
                <a:latin typeface="Courier New"/>
              </a:rPr>
              <a:t>.</a:t>
            </a:r>
            <a:r>
              <a:rPr sz="900" b="0" i="0">
                <a:solidFill>
                  <a:srgbClr val="E6EDF3"/>
                </a:solidFill>
                <a:latin typeface="Courier New"/>
              </a:rPr>
              <a:t>in</a:t>
            </a:r>
            <a:r>
              <a:rPr sz="900" b="0" i="0">
                <a:solidFill>
                  <a:srgbClr val="E6EDF3"/>
                </a:solidFill>
                <a:latin typeface="Courier New"/>
              </a:rPr>
              <a:t>)</a:t>
            </a:r>
            <a:r>
              <a:rPr sz="900" b="0" i="0">
                <a:solidFill>
                  <a:srgbClr val="E6EDF3"/>
                </a:solidFill>
                <a:latin typeface="Courier New"/>
              </a:rPr>
              <a:t>;</a:t>
            </a:r>
          </a:p>
          <a:p>
            <a:pPr algn="l">
              <a:spcAft>
                <a:spcPts val="0"/>
              </a:spcAft>
            </a:pPr>
            <a:r>
              <a:rPr sz="900" b="0" i="0">
                <a:solidFill>
                  <a:srgbClr val="E6EDF3"/>
                </a:solidFill>
                <a:latin typeface="Courier New"/>
              </a:rPr>
              <a:t>        </a:t>
            </a:r>
            <a:r>
              <a:rPr sz="900" b="0" i="1">
                <a:solidFill>
                  <a:srgbClr val="7FD18B"/>
                </a:solidFill>
                <a:latin typeface="Courier New"/>
              </a:rPr>
              <a:t>// Entrada de datos</a:t>
            </a:r>
          </a:p>
          <a:p>
            <a:pPr algn="l">
              <a:spcAft>
                <a:spcPts val="0"/>
              </a:spcAft>
            </a:pPr>
            <a:r>
              <a:rPr sz="900" b="0" i="0">
                <a:solidFill>
                  <a:srgbClr val="E6EDF3"/>
                </a:solidFill>
                <a:latin typeface="Courier New"/>
              </a:rPr>
              <a:t>        </a:t>
            </a:r>
            <a:r>
              <a:rPr sz="900" b="0" i="0">
                <a:solidFill>
                  <a:srgbClr val="E6EDF3"/>
                </a:solidFill>
                <a:latin typeface="Courier New"/>
              </a:rPr>
              <a:t>System</a:t>
            </a:r>
            <a:r>
              <a:rPr sz="900" b="0" i="0">
                <a:solidFill>
                  <a:srgbClr val="E6EDF3"/>
                </a:solidFill>
                <a:latin typeface="Courier New"/>
              </a:rPr>
              <a:t>.</a:t>
            </a:r>
            <a:r>
              <a:rPr sz="900" b="0" i="0">
                <a:solidFill>
                  <a:srgbClr val="E6EDF3"/>
                </a:solidFill>
                <a:latin typeface="Courier New"/>
              </a:rPr>
              <a:t>out</a:t>
            </a:r>
            <a:r>
              <a:rPr sz="900" b="0" i="0">
                <a:solidFill>
                  <a:srgbClr val="E6EDF3"/>
                </a:solidFill>
                <a:latin typeface="Courier New"/>
              </a:rPr>
              <a:t>.</a:t>
            </a:r>
            <a:r>
              <a:rPr sz="900" b="0" i="0">
                <a:solidFill>
                  <a:srgbClr val="E6EDF3"/>
                </a:solidFill>
                <a:latin typeface="Courier New"/>
              </a:rPr>
              <a:t>print</a:t>
            </a:r>
            <a:r>
              <a:rPr sz="900" b="0" i="0">
                <a:solidFill>
                  <a:srgbClr val="E6EDF3"/>
                </a:solidFill>
                <a:latin typeface="Courier New"/>
              </a:rPr>
              <a:t>(</a:t>
            </a:r>
            <a:r>
              <a:rPr sz="900" b="0" i="0">
                <a:solidFill>
                  <a:srgbClr val="FFB86B"/>
                </a:solidFill>
                <a:latin typeface="Courier New"/>
              </a:rPr>
              <a:t>"Ingresa tu nombre: "</a:t>
            </a:r>
            <a:r>
              <a:rPr sz="900" b="0" i="0">
                <a:solidFill>
                  <a:srgbClr val="E6EDF3"/>
                </a:solidFill>
                <a:latin typeface="Courier New"/>
              </a:rPr>
              <a:t>)</a:t>
            </a:r>
            <a:r>
              <a:rPr sz="900" b="0" i="0">
                <a:solidFill>
                  <a:srgbClr val="E6EDF3"/>
                </a:solidFill>
                <a:latin typeface="Courier New"/>
              </a:rPr>
              <a:t>;</a:t>
            </a:r>
          </a:p>
          <a:p>
            <a:pPr algn="l">
              <a:spcAft>
                <a:spcPts val="0"/>
              </a:spcAft>
            </a:pPr>
            <a:r>
              <a:rPr sz="900" b="0" i="0">
                <a:solidFill>
                  <a:srgbClr val="E6EDF3"/>
                </a:solidFill>
                <a:latin typeface="Courier New"/>
              </a:rPr>
              <a:t>        </a:t>
            </a:r>
            <a:r>
              <a:rPr sz="900" b="0" i="0">
                <a:solidFill>
                  <a:srgbClr val="5EC8FF"/>
                </a:solidFill>
                <a:latin typeface="Courier New"/>
              </a:rPr>
              <a:t>String</a:t>
            </a:r>
            <a:r>
              <a:rPr sz="900" b="0" i="0">
                <a:solidFill>
                  <a:srgbClr val="E6EDF3"/>
                </a:solidFill>
                <a:latin typeface="Courier New"/>
              </a:rPr>
              <a:t> </a:t>
            </a:r>
            <a:r>
              <a:rPr sz="900" b="0" i="0">
                <a:solidFill>
                  <a:srgbClr val="E6EDF3"/>
                </a:solidFill>
                <a:latin typeface="Courier New"/>
              </a:rPr>
              <a:t>nombre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sc</a:t>
            </a:r>
            <a:r>
              <a:rPr sz="900" b="0" i="0">
                <a:solidFill>
                  <a:srgbClr val="E6EDF3"/>
                </a:solidFill>
                <a:latin typeface="Courier New"/>
              </a:rPr>
              <a:t>.</a:t>
            </a:r>
            <a:r>
              <a:rPr sz="900" b="0" i="0">
                <a:solidFill>
                  <a:srgbClr val="E6EDF3"/>
                </a:solidFill>
                <a:latin typeface="Courier New"/>
              </a:rPr>
              <a:t>nextLine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1">
                <a:solidFill>
                  <a:srgbClr val="7FD18B"/>
                </a:solidFill>
                <a:latin typeface="Courier New"/>
              </a:rPr>
              <a:t>// Leer cadena de texto</a:t>
            </a:r>
          </a:p>
          <a:p>
            <a:pPr algn="l">
              <a:spcAft>
                <a:spcPts val="0"/>
              </a:spcAft>
            </a:pPr>
            <a:r>
              <a:rPr sz="900" b="0" i="0">
                <a:solidFill>
                  <a:srgbClr val="E6EDF3"/>
                </a:solidFill>
                <a:latin typeface="Courier New"/>
              </a:rPr>
              <a:t>        </a:t>
            </a:r>
            <a:r>
              <a:rPr sz="900" b="0" i="0">
                <a:solidFill>
                  <a:srgbClr val="E6EDF3"/>
                </a:solidFill>
                <a:latin typeface="Courier New"/>
              </a:rPr>
              <a:t>System</a:t>
            </a:r>
            <a:r>
              <a:rPr sz="900" b="0" i="0">
                <a:solidFill>
                  <a:srgbClr val="E6EDF3"/>
                </a:solidFill>
                <a:latin typeface="Courier New"/>
              </a:rPr>
              <a:t>.</a:t>
            </a:r>
            <a:r>
              <a:rPr sz="900" b="0" i="0">
                <a:solidFill>
                  <a:srgbClr val="E6EDF3"/>
                </a:solidFill>
                <a:latin typeface="Courier New"/>
              </a:rPr>
              <a:t>out</a:t>
            </a:r>
            <a:r>
              <a:rPr sz="900" b="0" i="0">
                <a:solidFill>
                  <a:srgbClr val="E6EDF3"/>
                </a:solidFill>
                <a:latin typeface="Courier New"/>
              </a:rPr>
              <a:t>.</a:t>
            </a:r>
            <a:r>
              <a:rPr sz="900" b="0" i="0">
                <a:solidFill>
                  <a:srgbClr val="E6EDF3"/>
                </a:solidFill>
                <a:latin typeface="Courier New"/>
              </a:rPr>
              <a:t>print</a:t>
            </a:r>
            <a:r>
              <a:rPr sz="900" b="0" i="0">
                <a:solidFill>
                  <a:srgbClr val="E6EDF3"/>
                </a:solidFill>
                <a:latin typeface="Courier New"/>
              </a:rPr>
              <a:t>(</a:t>
            </a:r>
            <a:r>
              <a:rPr sz="900" b="0" i="0">
                <a:solidFill>
                  <a:srgbClr val="FFB86B"/>
                </a:solidFill>
                <a:latin typeface="Courier New"/>
              </a:rPr>
              <a:t>"Ingresa tu edad: "</a:t>
            </a:r>
            <a:r>
              <a:rPr sz="900" b="0" i="0">
                <a:solidFill>
                  <a:srgbClr val="E6EDF3"/>
                </a:solidFill>
                <a:latin typeface="Courier New"/>
              </a:rPr>
              <a:t>)</a:t>
            </a:r>
            <a:r>
              <a:rPr sz="900" b="0" i="0">
                <a:solidFill>
                  <a:srgbClr val="E6EDF3"/>
                </a:solidFill>
                <a:latin typeface="Courier New"/>
              </a:rPr>
              <a:t>;</a:t>
            </a:r>
          </a:p>
          <a:p>
            <a:pPr algn="l">
              <a:spcAft>
                <a:spcPts val="0"/>
              </a:spcAft>
            </a:pPr>
            <a:r>
              <a:rPr sz="900" b="0" i="0">
                <a:solidFill>
                  <a:srgbClr val="E6EDF3"/>
                </a:solidFill>
                <a:latin typeface="Courier New"/>
              </a:rPr>
              <a:t>        </a:t>
            </a:r>
            <a:r>
              <a:rPr sz="900" b="0" i="0">
                <a:solidFill>
                  <a:srgbClr val="5EC8FF"/>
                </a:solidFill>
                <a:latin typeface="Courier New"/>
              </a:rPr>
              <a:t>int</a:t>
            </a:r>
            <a:r>
              <a:rPr sz="900" b="0" i="0">
                <a:solidFill>
                  <a:srgbClr val="E6EDF3"/>
                </a:solidFill>
                <a:latin typeface="Courier New"/>
              </a:rPr>
              <a:t> </a:t>
            </a:r>
            <a:r>
              <a:rPr sz="900" b="0" i="0">
                <a:solidFill>
                  <a:srgbClr val="E6EDF3"/>
                </a:solidFill>
                <a:latin typeface="Courier New"/>
              </a:rPr>
              <a:t>edad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sc</a:t>
            </a:r>
            <a:r>
              <a:rPr sz="900" b="0" i="0">
                <a:solidFill>
                  <a:srgbClr val="E6EDF3"/>
                </a:solidFill>
                <a:latin typeface="Courier New"/>
              </a:rPr>
              <a:t>.</a:t>
            </a:r>
            <a:r>
              <a:rPr sz="900" b="0" i="0">
                <a:solidFill>
                  <a:srgbClr val="E6EDF3"/>
                </a:solidFill>
                <a:latin typeface="Courier New"/>
              </a:rPr>
              <a:t>nextInt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1">
                <a:solidFill>
                  <a:srgbClr val="7FD18B"/>
                </a:solidFill>
                <a:latin typeface="Courier New"/>
              </a:rPr>
              <a:t>// Leer número entero</a:t>
            </a:r>
          </a:p>
          <a:p>
            <a:pPr algn="l">
              <a:spcAft>
                <a:spcPts val="0"/>
              </a:spcAft>
            </a:pPr>
            <a:r>
              <a:rPr sz="900" b="0" i="0">
                <a:solidFill>
                  <a:srgbClr val="E6EDF3"/>
                </a:solidFill>
                <a:latin typeface="Courier New"/>
              </a:rPr>
              <a:t>        </a:t>
            </a:r>
            <a:r>
              <a:rPr sz="900" b="0" i="1">
                <a:solidFill>
                  <a:srgbClr val="7FD18B"/>
                </a:solidFill>
                <a:latin typeface="Courier New"/>
              </a:rPr>
              <a:t>// Salida con los datos ingresados</a:t>
            </a:r>
          </a:p>
          <a:p>
            <a:pPr algn="l">
              <a:spcAft>
                <a:spcPts val="0"/>
              </a:spcAft>
            </a:pPr>
            <a:r>
              <a:rPr sz="900" b="0" i="0">
                <a:solidFill>
                  <a:srgbClr val="E6EDF3"/>
                </a:solidFill>
                <a:latin typeface="Courier New"/>
              </a:rPr>
              <a:t>        </a:t>
            </a:r>
            <a:r>
              <a:rPr sz="900" b="0" i="0">
                <a:solidFill>
                  <a:srgbClr val="E6EDF3"/>
                </a:solidFill>
                <a:latin typeface="Courier New"/>
              </a:rPr>
              <a:t>System</a:t>
            </a:r>
            <a:r>
              <a:rPr sz="900" b="0" i="0">
                <a:solidFill>
                  <a:srgbClr val="E6EDF3"/>
                </a:solidFill>
                <a:latin typeface="Courier New"/>
              </a:rPr>
              <a:t>.</a:t>
            </a:r>
            <a:r>
              <a:rPr sz="900" b="0" i="0">
                <a:solidFill>
                  <a:srgbClr val="E6EDF3"/>
                </a:solidFill>
                <a:latin typeface="Courier New"/>
              </a:rPr>
              <a:t>out</a:t>
            </a:r>
            <a:r>
              <a:rPr sz="900" b="0" i="0">
                <a:solidFill>
                  <a:srgbClr val="E6EDF3"/>
                </a:solidFill>
                <a:latin typeface="Courier New"/>
              </a:rPr>
              <a:t>.</a:t>
            </a:r>
            <a:r>
              <a:rPr sz="900" b="0" i="0">
                <a:solidFill>
                  <a:srgbClr val="E6EDF3"/>
                </a:solidFill>
                <a:latin typeface="Courier New"/>
              </a:rPr>
              <a:t>println</a:t>
            </a:r>
            <a:r>
              <a:rPr sz="900" b="0" i="0">
                <a:solidFill>
                  <a:srgbClr val="E6EDF3"/>
                </a:solidFill>
                <a:latin typeface="Courier New"/>
              </a:rPr>
              <a:t>(</a:t>
            </a:r>
            <a:r>
              <a:rPr sz="900" b="0" i="0">
                <a:solidFill>
                  <a:srgbClr val="FFB86B"/>
                </a:solidFill>
                <a:latin typeface="Courier New"/>
              </a:rPr>
              <a:t>"Hola, "</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nombre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FFB86B"/>
                </a:solidFill>
                <a:latin typeface="Courier New"/>
              </a:rPr>
              <a:t>". Tienes "</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edad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FFB86B"/>
                </a:solidFill>
                <a:latin typeface="Courier New"/>
              </a:rPr>
              <a:t>" años."</a:t>
            </a:r>
            <a:r>
              <a:rPr sz="900" b="0" i="0">
                <a:solidFill>
                  <a:srgbClr val="E6EDF3"/>
                </a:solidFill>
                <a:latin typeface="Courier New"/>
              </a:rPr>
              <a:t>)</a:t>
            </a:r>
            <a:r>
              <a:rPr sz="900" b="0" i="0">
                <a:solidFill>
                  <a:srgbClr val="E6EDF3"/>
                </a:solidFill>
                <a:latin typeface="Courier New"/>
              </a:rPr>
              <a:t>;</a:t>
            </a:r>
          </a:p>
          <a:p>
            <a:pPr algn="l">
              <a:spcAft>
                <a:spcPts val="0"/>
              </a:spcAft>
            </a:pPr>
            <a:r>
              <a:rPr sz="900" b="0" i="0">
                <a:solidFill>
                  <a:srgbClr val="E6EDF3"/>
                </a:solidFill>
                <a:latin typeface="Courier New"/>
              </a:rPr>
              <a:t>        </a:t>
            </a:r>
            <a:r>
              <a:rPr sz="900" b="0" i="0">
                <a:solidFill>
                  <a:srgbClr val="E6EDF3"/>
                </a:solidFill>
                <a:latin typeface="Courier New"/>
              </a:rPr>
              <a:t>sc</a:t>
            </a:r>
            <a:r>
              <a:rPr sz="900" b="0" i="0">
                <a:solidFill>
                  <a:srgbClr val="E6EDF3"/>
                </a:solidFill>
                <a:latin typeface="Courier New"/>
              </a:rPr>
              <a:t>.</a:t>
            </a:r>
            <a:r>
              <a:rPr sz="900" b="0" i="0">
                <a:solidFill>
                  <a:srgbClr val="E6EDF3"/>
                </a:solidFill>
                <a:latin typeface="Courier New"/>
              </a:rPr>
              <a:t>close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1">
                <a:solidFill>
                  <a:srgbClr val="7FD18B"/>
                </a:solidFill>
                <a:latin typeface="Courier New"/>
              </a:rPr>
              <a:t>// cerrar el Scanner (buena práctica)</a:t>
            </a:r>
          </a:p>
          <a:p>
            <a:pPr algn="l">
              <a:spcAft>
                <a:spcPts val="0"/>
              </a:spcAft>
            </a:pPr>
            <a:r>
              <a:rPr sz="900" b="0" i="0">
                <a:solidFill>
                  <a:srgbClr val="E6EDF3"/>
                </a:solidFill>
                <a:latin typeface="Courier New"/>
              </a:rPr>
              <a:t>    </a:t>
            </a:r>
            <a:r>
              <a:rPr sz="900" b="0" i="0">
                <a:solidFill>
                  <a:srgbClr val="E6EDF3"/>
                </a:solidFill>
                <a:latin typeface="Courier New"/>
              </a:rPr>
              <a:t>}</a:t>
            </a:r>
          </a:p>
          <a:p>
            <a:pPr algn="l">
              <a:spcAft>
                <a:spcPts val="0"/>
              </a:spcAft>
            </a:pPr>
            <a:r>
              <a:rPr sz="900" b="0" i="0">
                <a:solidFill>
                  <a:srgbClr val="E6EDF3"/>
                </a:solidFill>
                <a:latin typeface="Courier New"/>
              </a:rPr>
              <a:t>}</a:t>
            </a:r>
          </a:p>
        </p:txBody>
      </p:sp>
      <p:sp>
        <p:nvSpPr>
          <p:cNvPr id="16" name="Rounded Rectangle 15"/>
          <p:cNvSpPr/>
          <p:nvPr/>
        </p:nvSpPr>
        <p:spPr>
          <a:xfrm>
            <a:off x="6903720" y="4572000"/>
            <a:ext cx="4663440" cy="1463040"/>
          </a:xfrm>
          <a:prstGeom prst="roundRect">
            <a:avLst>
              <a:gd name="adj" fmla="val 6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32320" y="4681728"/>
            <a:ext cx="4297680" cy="1280160"/>
          </a:xfrm>
          <a:prstGeom prst="rect">
            <a:avLst/>
          </a:prstGeom>
          <a:noFill/>
        </p:spPr>
        <p:txBody>
          <a:bodyPr wrap="square" lIns="0" rIns="0" tIns="0" bIns="0" anchor="t">
            <a:spAutoFit/>
          </a:bodyPr>
          <a:lstStyle/>
          <a:p>
            <a:pPr algn="l">
              <a:spcAft>
                <a:spcPts val="300"/>
              </a:spcAft>
            </a:pPr>
            <a:r>
              <a:rPr sz="900" b="0" i="0">
                <a:solidFill>
                  <a:srgbClr val="E6EDF3"/>
                </a:solidFill>
                <a:latin typeface="Courier New"/>
              </a:rPr>
              <a:t>=== Bienvenido al programa de entrada/salida ===</a:t>
            </a:r>
          </a:p>
          <a:p>
            <a:pPr algn="l">
              <a:spcAft>
                <a:spcPts val="300"/>
              </a:spcAft>
            </a:pPr>
            <a:r>
              <a:rPr sz="1100" b="0" i="0">
                <a:solidFill>
                  <a:srgbClr val="E6EDF3"/>
                </a:solidFill>
                <a:latin typeface="Courier New"/>
              </a:rPr>
              <a:t>Ingresa tu nombre: </a:t>
            </a:r>
            <a:r>
              <a:rPr sz="1100" b="0" i="0">
                <a:solidFill>
                  <a:srgbClr val="FFC629"/>
                </a:solidFill>
                <a:latin typeface="Courier New"/>
              </a:rPr>
              <a:t>Sofía</a:t>
            </a:r>
          </a:p>
          <a:p>
            <a:pPr algn="l">
              <a:spcAft>
                <a:spcPts val="300"/>
              </a:spcAft>
            </a:pPr>
            <a:r>
              <a:rPr sz="1100" b="0" i="0">
                <a:solidFill>
                  <a:srgbClr val="E6EDF3"/>
                </a:solidFill>
                <a:latin typeface="Courier New"/>
              </a:rPr>
              <a:t>Ingresa tu edad: </a:t>
            </a:r>
            <a:r>
              <a:rPr sz="1100" b="0" i="0">
                <a:solidFill>
                  <a:srgbClr val="FFC629"/>
                </a:solidFill>
                <a:latin typeface="Courier New"/>
              </a:rPr>
              <a:t>17</a:t>
            </a:r>
          </a:p>
          <a:p>
            <a:pPr algn="l">
              <a:spcAft>
                <a:spcPts val="300"/>
              </a:spcAft>
            </a:pPr>
            <a:r>
              <a:rPr sz="1100" b="1" i="0">
                <a:solidFill>
                  <a:srgbClr val="1FB58F"/>
                </a:solidFill>
                <a:latin typeface="Courier New"/>
              </a:rPr>
              <a:t>Hola, Sofía. Tienes 17 años.</a:t>
            </a:r>
          </a:p>
        </p:txBody>
      </p:sp>
    </p:spTree>
    <p:extLst>
      <p:ext uri="{BB962C8B-B14F-4D97-AF65-F5344CB8AC3E}">
        <p14:creationId xmlns:p14="http://schemas.microsoft.com/office/powerpoint/2010/main" val="1325244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35200" y="4491779"/>
            <a:ext cx="6302645" cy="1231797"/>
          </a:xfrm>
        </p:spPr>
        <p:txBody>
          <a:bodyPr/>
          <a:lstStyle/>
          <a:p>
            <a:r>
              <a:rPr lang="es-CL" sz="3200" dirty="0"/>
              <a:t>PROGRAMACIÓN ORIENTADA A OBJETOS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5512534" y="3752454"/>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latin typeface="Arial Black" panose="020B0604020202020204" pitchFamily="34" charset="0"/>
                <a:cs typeface="Arial Black" panose="020B0604020202020204" pitchFamily="34" charset="0"/>
              </a:rPr>
              <a:t>05</a:t>
            </a:r>
          </a:p>
        </p:txBody>
      </p:sp>
    </p:spTree>
    <p:extLst>
      <p:ext uri="{BB962C8B-B14F-4D97-AF65-F5344CB8AC3E}">
        <p14:creationId xmlns:p14="http://schemas.microsoft.com/office/powerpoint/2010/main" val="117780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¿Qué es la Programación Orientada a Objetos?</a:t>
            </a:r>
          </a:p>
        </p:txBody>
      </p:sp>
      <p:sp>
        <p:nvSpPr>
          <p:cNvPr id="3" name="TextBox 2"/>
          <p:cNvSpPr txBox="1"/>
          <p:nvPr/>
        </p:nvSpPr>
        <p:spPr>
          <a:xfrm>
            <a:off x="640080" y="1371600"/>
            <a:ext cx="5852160" cy="2377440"/>
          </a:xfrm>
          <a:prstGeom prst="rect">
            <a:avLst/>
          </a:prstGeom>
          <a:noFill/>
        </p:spPr>
        <p:txBody>
          <a:bodyPr wrap="square" lIns="0" rIns="0" tIns="0" bIns="0" anchor="t">
            <a:spAutoFit/>
          </a:bodyPr>
          <a:lstStyle/>
          <a:p>
            <a:pPr algn="l">
              <a:spcAft>
                <a:spcPts val="1800"/>
              </a:spcAft>
            </a:pPr>
            <a:r>
              <a:rPr sz="2400" b="0" i="0">
                <a:solidFill>
                  <a:srgbClr val="0B2A4A"/>
                </a:solidFill>
                <a:latin typeface="Arial"/>
              </a:rPr>
              <a:t>La </a:t>
            </a:r>
            <a:r>
              <a:rPr sz="2400" b="1" i="0">
                <a:solidFill>
                  <a:srgbClr val="257CE1"/>
                </a:solidFill>
                <a:latin typeface="Arial"/>
              </a:rPr>
              <a:t>POO</a:t>
            </a:r>
            <a:r>
              <a:rPr sz="2400" b="0" i="0">
                <a:solidFill>
                  <a:srgbClr val="0B2A4A"/>
                </a:solidFill>
                <a:latin typeface="Arial"/>
              </a:rPr>
              <a:t> es una forma de programar donde organizamos el código </a:t>
            </a:r>
            <a:r>
              <a:rPr sz="2400" b="1" i="0">
                <a:solidFill>
                  <a:srgbClr val="0B2A4A"/>
                </a:solidFill>
                <a:latin typeface="Arial"/>
              </a:rPr>
              <a:t>imitando el mundo real</a:t>
            </a:r>
          </a:p>
          <a:p>
            <a:pPr algn="l">
              <a:spcAft>
                <a:spcPts val="1800"/>
              </a:spcAft>
            </a:pPr>
            <a:r>
              <a:rPr sz="2400" b="0" i="0">
                <a:solidFill>
                  <a:srgbClr val="0B2A4A"/>
                </a:solidFill>
                <a:latin typeface="Arial"/>
              </a:rPr>
              <a:t>Todo es un </a:t>
            </a:r>
            <a:r>
              <a:rPr sz="2400" b="1" i="0">
                <a:solidFill>
                  <a:srgbClr val="FF5A5F"/>
                </a:solidFill>
                <a:latin typeface="Arial"/>
              </a:rPr>
              <a:t>OBJETO</a:t>
            </a:r>
            <a:r>
              <a:rPr sz="2400" b="0" i="0">
                <a:solidFill>
                  <a:srgbClr val="0B2A4A"/>
                </a:solidFill>
                <a:latin typeface="Arial"/>
              </a:rPr>
              <a:t>: algo que </a:t>
            </a:r>
            <a:r>
              <a:rPr sz="2400" b="1" i="0">
                <a:solidFill>
                  <a:srgbClr val="0B2A4A"/>
                </a:solidFill>
                <a:latin typeface="Arial"/>
              </a:rPr>
              <a:t>tiene características</a:t>
            </a:r>
            <a:r>
              <a:rPr sz="2400" b="0" i="0">
                <a:solidFill>
                  <a:srgbClr val="0B2A4A"/>
                </a:solidFill>
                <a:latin typeface="Arial"/>
              </a:rPr>
              <a:t> y </a:t>
            </a:r>
            <a:r>
              <a:rPr sz="2400" b="1" i="0">
                <a:solidFill>
                  <a:srgbClr val="0B2A4A"/>
                </a:solidFill>
                <a:latin typeface="Arial"/>
              </a:rPr>
              <a:t>sabe hacer cosas</a:t>
            </a:r>
            <a:r>
              <a:rPr sz="2400" b="0" i="0">
                <a:solidFill>
                  <a:srgbClr val="0B2A4A"/>
                </a:solidFill>
                <a:latin typeface="Arial"/>
              </a:rPr>
              <a:t>.</a:t>
            </a:r>
          </a:p>
        </p:txBody>
      </p:sp>
      <p:sp>
        <p:nvSpPr>
          <p:cNvPr id="4" name="Rounded Rectangle 3"/>
          <p:cNvSpPr/>
          <p:nvPr/>
        </p:nvSpPr>
        <p:spPr>
          <a:xfrm>
            <a:off x="640080" y="3840480"/>
            <a:ext cx="5852160" cy="20116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14400" y="4114800"/>
            <a:ext cx="822960" cy="8229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uzzle_n.png"/>
          <p:cNvPicPr>
            <a:picLocks noChangeAspect="1"/>
          </p:cNvPicPr>
          <p:nvPr/>
        </p:nvPicPr>
        <p:blipFill>
          <a:blip r:embed="rId2"/>
          <a:stretch>
            <a:fillRect/>
          </a:stretch>
        </p:blipFill>
        <p:spPr>
          <a:xfrm>
            <a:off x="1111910" y="4312310"/>
            <a:ext cx="427939" cy="427939"/>
          </a:xfrm>
          <a:prstGeom prst="rect">
            <a:avLst/>
          </a:prstGeom>
        </p:spPr>
      </p:pic>
      <p:sp>
        <p:nvSpPr>
          <p:cNvPr id="7" name="TextBox 6"/>
          <p:cNvSpPr txBox="1"/>
          <p:nvPr/>
        </p:nvSpPr>
        <p:spPr>
          <a:xfrm>
            <a:off x="1965960" y="4023360"/>
            <a:ext cx="4297680" cy="1737360"/>
          </a:xfrm>
          <a:prstGeom prst="rect">
            <a:avLst/>
          </a:prstGeom>
          <a:noFill/>
        </p:spPr>
        <p:txBody>
          <a:bodyPr wrap="square" lIns="0" rIns="0" tIns="0" bIns="0" anchor="ctr">
            <a:spAutoFit/>
          </a:bodyPr>
          <a:lstStyle/>
          <a:p>
            <a:pPr algn="l">
              <a:spcAft>
                <a:spcPts val="1000"/>
              </a:spcAft>
            </a:pPr>
            <a:r>
              <a:rPr sz="1600" b="1" i="0">
                <a:solidFill>
                  <a:srgbClr val="FF5A5F"/>
                </a:solidFill>
                <a:latin typeface="Arial"/>
              </a:rPr>
              <a:t>Sin POO: </a:t>
            </a:r>
            <a:r>
              <a:rPr sz="1600" b="0" i="0">
                <a:solidFill>
                  <a:srgbClr val="0B2A4A"/>
                </a:solidFill>
                <a:latin typeface="Arial"/>
              </a:rPr>
              <a:t>un programa gigante, todo revuelto.</a:t>
            </a:r>
          </a:p>
          <a:p>
            <a:pPr algn="l">
              <a:spcAft>
                <a:spcPts val="1000"/>
              </a:spcAft>
            </a:pPr>
            <a:r>
              <a:rPr sz="1600" b="1" i="0">
                <a:solidFill>
                  <a:srgbClr val="1FB58F"/>
                </a:solidFill>
                <a:latin typeface="Arial"/>
              </a:rPr>
              <a:t>Con POO: </a:t>
            </a:r>
            <a:r>
              <a:rPr sz="1600" b="0" i="0">
                <a:solidFill>
                  <a:srgbClr val="0B2A4A"/>
                </a:solidFill>
                <a:latin typeface="Arial"/>
              </a:rPr>
              <a:t>piezas tipo LEGO que se combinan y se reutilizan.</a:t>
            </a:r>
          </a:p>
        </p:txBody>
      </p:sp>
      <p:sp>
        <p:nvSpPr>
          <p:cNvPr id="8" name="Rounded Rectangle 7"/>
          <p:cNvSpPr/>
          <p:nvPr/>
        </p:nvSpPr>
        <p:spPr>
          <a:xfrm>
            <a:off x="6858000" y="1371600"/>
            <a:ext cx="4709160" cy="4480560"/>
          </a:xfrm>
          <a:prstGeom prst="roundRect">
            <a:avLst>
              <a:gd name="adj" fmla="val 6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132320" y="1645920"/>
            <a:ext cx="731520" cy="73152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amepad_n.png"/>
          <p:cNvPicPr>
            <a:picLocks noChangeAspect="1"/>
          </p:cNvPicPr>
          <p:nvPr/>
        </p:nvPicPr>
        <p:blipFill>
          <a:blip r:embed="rId3"/>
          <a:stretch>
            <a:fillRect/>
          </a:stretch>
        </p:blipFill>
        <p:spPr>
          <a:xfrm>
            <a:off x="7307884" y="1821484"/>
            <a:ext cx="380390" cy="380390"/>
          </a:xfrm>
          <a:prstGeom prst="rect">
            <a:avLst/>
          </a:prstGeom>
        </p:spPr>
      </p:pic>
      <p:sp>
        <p:nvSpPr>
          <p:cNvPr id="11" name="TextBox 10"/>
          <p:cNvSpPr txBox="1"/>
          <p:nvPr/>
        </p:nvSpPr>
        <p:spPr>
          <a:xfrm>
            <a:off x="8001000" y="1645920"/>
            <a:ext cx="3383280" cy="731520"/>
          </a:xfrm>
          <a:prstGeom prst="rect">
            <a:avLst/>
          </a:prstGeom>
          <a:noFill/>
        </p:spPr>
        <p:txBody>
          <a:bodyPr wrap="square" lIns="0" rIns="0" tIns="0" bIns="0" anchor="ctr">
            <a:spAutoFit/>
          </a:bodyPr>
          <a:lstStyle/>
          <a:p>
            <a:pPr algn="l">
              <a:spcAft>
                <a:spcPts val="400"/>
              </a:spcAft>
            </a:pPr>
            <a:r>
              <a:rPr sz="2000" b="1" i="0">
                <a:solidFill>
                  <a:srgbClr val="FFFFFF"/>
                </a:solidFill>
                <a:latin typeface="Arial"/>
              </a:rPr>
              <a:t>Piensa en un videojuego…</a:t>
            </a:r>
          </a:p>
        </p:txBody>
      </p:sp>
      <p:sp>
        <p:nvSpPr>
          <p:cNvPr id="12" name="Rounded Rectangle 11"/>
          <p:cNvSpPr/>
          <p:nvPr/>
        </p:nvSpPr>
        <p:spPr>
          <a:xfrm>
            <a:off x="7178040" y="2651760"/>
            <a:ext cx="1920240" cy="105156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0" y="2834640"/>
            <a:ext cx="685800" cy="6858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word_w.png"/>
          <p:cNvPicPr>
            <a:picLocks noChangeAspect="1"/>
          </p:cNvPicPr>
          <p:nvPr/>
        </p:nvPicPr>
        <p:blipFill>
          <a:blip r:embed="rId4"/>
          <a:stretch>
            <a:fillRect/>
          </a:stretch>
        </p:blipFill>
        <p:spPr>
          <a:xfrm>
            <a:off x="7479792" y="2999232"/>
            <a:ext cx="356616" cy="356616"/>
          </a:xfrm>
          <a:prstGeom prst="rect">
            <a:avLst/>
          </a:prstGeom>
        </p:spPr>
      </p:pic>
      <p:sp>
        <p:nvSpPr>
          <p:cNvPr id="15" name="TextBox 14"/>
          <p:cNvSpPr txBox="1"/>
          <p:nvPr/>
        </p:nvSpPr>
        <p:spPr>
          <a:xfrm>
            <a:off x="8092440" y="2651760"/>
            <a:ext cx="960120" cy="1051560"/>
          </a:xfrm>
          <a:prstGeom prst="rect">
            <a:avLst/>
          </a:prstGeom>
          <a:noFill/>
        </p:spPr>
        <p:txBody>
          <a:bodyPr wrap="square" lIns="0" rIns="0" tIns="0" bIns="0" anchor="ctr">
            <a:spAutoFit/>
          </a:bodyPr>
          <a:lstStyle/>
          <a:p>
            <a:pPr algn="l">
              <a:spcAft>
                <a:spcPts val="400"/>
              </a:spcAft>
            </a:pPr>
            <a:r>
              <a:rPr sz="1400" b="1" i="0">
                <a:solidFill>
                  <a:srgbClr val="FFFFFF"/>
                </a:solidFill>
                <a:latin typeface="Arial"/>
              </a:rPr>
              <a:t>Guerrera</a:t>
            </a:r>
          </a:p>
        </p:txBody>
      </p:sp>
      <p:sp>
        <p:nvSpPr>
          <p:cNvPr id="16" name="Rounded Rectangle 15"/>
          <p:cNvSpPr/>
          <p:nvPr/>
        </p:nvSpPr>
        <p:spPr>
          <a:xfrm>
            <a:off x="9281159" y="2651760"/>
            <a:ext cx="1920240" cy="105156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418319" y="2834640"/>
            <a:ext cx="685800" cy="68580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ow_w.png"/>
          <p:cNvPicPr>
            <a:picLocks noChangeAspect="1"/>
          </p:cNvPicPr>
          <p:nvPr/>
        </p:nvPicPr>
        <p:blipFill>
          <a:blip r:embed="rId5"/>
          <a:stretch>
            <a:fillRect/>
          </a:stretch>
        </p:blipFill>
        <p:spPr>
          <a:xfrm>
            <a:off x="9582911" y="2999232"/>
            <a:ext cx="356616" cy="356616"/>
          </a:xfrm>
          <a:prstGeom prst="rect">
            <a:avLst/>
          </a:prstGeom>
        </p:spPr>
      </p:pic>
      <p:sp>
        <p:nvSpPr>
          <p:cNvPr id="19" name="TextBox 18"/>
          <p:cNvSpPr txBox="1"/>
          <p:nvPr/>
        </p:nvSpPr>
        <p:spPr>
          <a:xfrm>
            <a:off x="10195559" y="2651760"/>
            <a:ext cx="960120" cy="1051560"/>
          </a:xfrm>
          <a:prstGeom prst="rect">
            <a:avLst/>
          </a:prstGeom>
          <a:noFill/>
        </p:spPr>
        <p:txBody>
          <a:bodyPr wrap="square" lIns="0" rIns="0" tIns="0" bIns="0" anchor="ctr">
            <a:spAutoFit/>
          </a:bodyPr>
          <a:lstStyle/>
          <a:p>
            <a:pPr algn="l">
              <a:spcAft>
                <a:spcPts val="400"/>
              </a:spcAft>
            </a:pPr>
            <a:r>
              <a:rPr sz="1400" b="1" i="0">
                <a:solidFill>
                  <a:srgbClr val="FFFFFF"/>
                </a:solidFill>
                <a:latin typeface="Arial"/>
              </a:rPr>
              <a:t>Arquero</a:t>
            </a:r>
          </a:p>
        </p:txBody>
      </p:sp>
      <p:sp>
        <p:nvSpPr>
          <p:cNvPr id="20" name="Rounded Rectangle 19"/>
          <p:cNvSpPr/>
          <p:nvPr/>
        </p:nvSpPr>
        <p:spPr>
          <a:xfrm>
            <a:off x="7178040" y="3886200"/>
            <a:ext cx="1920240" cy="105156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315200" y="4069080"/>
            <a:ext cx="685800" cy="6858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wizard_w.png"/>
          <p:cNvPicPr>
            <a:picLocks noChangeAspect="1"/>
          </p:cNvPicPr>
          <p:nvPr/>
        </p:nvPicPr>
        <p:blipFill>
          <a:blip r:embed="rId6"/>
          <a:stretch>
            <a:fillRect/>
          </a:stretch>
        </p:blipFill>
        <p:spPr>
          <a:xfrm>
            <a:off x="7479792" y="4233672"/>
            <a:ext cx="356616" cy="356616"/>
          </a:xfrm>
          <a:prstGeom prst="rect">
            <a:avLst/>
          </a:prstGeom>
        </p:spPr>
      </p:pic>
      <p:sp>
        <p:nvSpPr>
          <p:cNvPr id="23" name="TextBox 22"/>
          <p:cNvSpPr txBox="1"/>
          <p:nvPr/>
        </p:nvSpPr>
        <p:spPr>
          <a:xfrm>
            <a:off x="8092440" y="3886200"/>
            <a:ext cx="960120" cy="1051560"/>
          </a:xfrm>
          <a:prstGeom prst="rect">
            <a:avLst/>
          </a:prstGeom>
          <a:noFill/>
        </p:spPr>
        <p:txBody>
          <a:bodyPr wrap="square" lIns="0" rIns="0" tIns="0" bIns="0" anchor="ctr">
            <a:spAutoFit/>
          </a:bodyPr>
          <a:lstStyle/>
          <a:p>
            <a:pPr algn="l">
              <a:spcAft>
                <a:spcPts val="400"/>
              </a:spcAft>
            </a:pPr>
            <a:r>
              <a:rPr sz="1400" b="1" i="0">
                <a:solidFill>
                  <a:srgbClr val="FFFFFF"/>
                </a:solidFill>
                <a:latin typeface="Arial"/>
              </a:rPr>
              <a:t>Mago</a:t>
            </a:r>
          </a:p>
        </p:txBody>
      </p:sp>
      <p:sp>
        <p:nvSpPr>
          <p:cNvPr id="24" name="Rounded Rectangle 23"/>
          <p:cNvSpPr/>
          <p:nvPr/>
        </p:nvSpPr>
        <p:spPr>
          <a:xfrm>
            <a:off x="9281159" y="3886200"/>
            <a:ext cx="1920240" cy="105156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418319" y="4069080"/>
            <a:ext cx="685800" cy="6858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otion_w.png"/>
          <p:cNvPicPr>
            <a:picLocks noChangeAspect="1"/>
          </p:cNvPicPr>
          <p:nvPr/>
        </p:nvPicPr>
        <p:blipFill>
          <a:blip r:embed="rId7"/>
          <a:stretch>
            <a:fillRect/>
          </a:stretch>
        </p:blipFill>
        <p:spPr>
          <a:xfrm>
            <a:off x="9582911" y="4233672"/>
            <a:ext cx="356616" cy="356616"/>
          </a:xfrm>
          <a:prstGeom prst="rect">
            <a:avLst/>
          </a:prstGeom>
        </p:spPr>
      </p:pic>
      <p:sp>
        <p:nvSpPr>
          <p:cNvPr id="27" name="TextBox 26"/>
          <p:cNvSpPr txBox="1"/>
          <p:nvPr/>
        </p:nvSpPr>
        <p:spPr>
          <a:xfrm>
            <a:off x="10195559" y="3886200"/>
            <a:ext cx="960120" cy="1051560"/>
          </a:xfrm>
          <a:prstGeom prst="rect">
            <a:avLst/>
          </a:prstGeom>
          <a:noFill/>
        </p:spPr>
        <p:txBody>
          <a:bodyPr wrap="square" lIns="0" rIns="0" tIns="0" bIns="0" anchor="ctr">
            <a:spAutoFit/>
          </a:bodyPr>
          <a:lstStyle/>
          <a:p>
            <a:pPr algn="l">
              <a:spcAft>
                <a:spcPts val="400"/>
              </a:spcAft>
            </a:pPr>
            <a:r>
              <a:rPr sz="1400" b="1" i="0">
                <a:solidFill>
                  <a:srgbClr val="FFFFFF"/>
                </a:solidFill>
                <a:latin typeface="Arial"/>
              </a:rPr>
              <a:t>Poción</a:t>
            </a:r>
          </a:p>
        </p:txBody>
      </p:sp>
      <p:sp>
        <p:nvSpPr>
          <p:cNvPr id="28" name="TextBox 27"/>
          <p:cNvSpPr txBox="1"/>
          <p:nvPr/>
        </p:nvSpPr>
        <p:spPr>
          <a:xfrm>
            <a:off x="7178040" y="5166360"/>
            <a:ext cx="4206240" cy="548640"/>
          </a:xfrm>
          <a:prstGeom prst="rect">
            <a:avLst/>
          </a:prstGeom>
          <a:noFill/>
        </p:spPr>
        <p:txBody>
          <a:bodyPr wrap="square" lIns="0" rIns="0" tIns="0" bIns="0" anchor="ctr">
            <a:spAutoFit/>
          </a:bodyPr>
          <a:lstStyle/>
          <a:p>
            <a:pPr algn="ctr">
              <a:spcAft>
                <a:spcPts val="400"/>
              </a:spcAft>
            </a:pPr>
            <a:r>
              <a:rPr sz="1700" b="1" i="0">
                <a:solidFill>
                  <a:srgbClr val="FFC629"/>
                </a:solidFill>
                <a:latin typeface="Arial"/>
              </a:rPr>
              <a:t>…cada uno es un objeto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Clase vs Objeto: el molde y las galletas</a:t>
            </a:r>
          </a:p>
        </p:txBody>
      </p:sp>
      <p:sp>
        <p:nvSpPr>
          <p:cNvPr id="3" name="Rounded Rectangle 2"/>
          <p:cNvSpPr/>
          <p:nvPr/>
        </p:nvSpPr>
        <p:spPr>
          <a:xfrm>
            <a:off x="640080" y="1371600"/>
            <a:ext cx="4206240" cy="3840480"/>
          </a:xfrm>
          <a:prstGeom prst="roundRect">
            <a:avLst>
              <a:gd name="adj" fmla="val 6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14400" y="1645920"/>
            <a:ext cx="777240" cy="7772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ookie_b.png"/>
          <p:cNvPicPr>
            <a:picLocks noChangeAspect="1"/>
          </p:cNvPicPr>
          <p:nvPr/>
        </p:nvPicPr>
        <p:blipFill>
          <a:blip r:embed="rId2"/>
          <a:stretch>
            <a:fillRect/>
          </a:stretch>
        </p:blipFill>
        <p:spPr>
          <a:xfrm>
            <a:off x="1100937" y="1832457"/>
            <a:ext cx="404164" cy="404164"/>
          </a:xfrm>
          <a:prstGeom prst="rect">
            <a:avLst/>
          </a:prstGeom>
        </p:spPr>
      </p:pic>
      <p:sp>
        <p:nvSpPr>
          <p:cNvPr id="6" name="TextBox 5"/>
          <p:cNvSpPr txBox="1"/>
          <p:nvPr/>
        </p:nvSpPr>
        <p:spPr>
          <a:xfrm>
            <a:off x="1874519" y="1645920"/>
            <a:ext cx="2743200" cy="777240"/>
          </a:xfrm>
          <a:prstGeom prst="rect">
            <a:avLst/>
          </a:prstGeom>
          <a:noFill/>
        </p:spPr>
        <p:txBody>
          <a:bodyPr wrap="square" lIns="0" rIns="0" tIns="0" bIns="0" anchor="ctr">
            <a:spAutoFit/>
          </a:bodyPr>
          <a:lstStyle/>
          <a:p>
            <a:pPr algn="l">
              <a:spcAft>
                <a:spcPts val="0"/>
              </a:spcAft>
            </a:pPr>
            <a:r>
              <a:rPr sz="2600" b="1" i="0">
                <a:solidFill>
                  <a:srgbClr val="FFC629"/>
                </a:solidFill>
                <a:latin typeface="Arial"/>
              </a:rPr>
              <a:t>CLASE</a:t>
            </a:r>
          </a:p>
          <a:p>
            <a:pPr algn="l">
              <a:spcAft>
                <a:spcPts val="0"/>
              </a:spcAft>
            </a:pPr>
            <a:r>
              <a:rPr sz="1600" b="0" i="0">
                <a:solidFill>
                  <a:srgbClr val="FFFFFF"/>
                </a:solidFill>
                <a:latin typeface="Arial"/>
              </a:rPr>
              <a:t>= el molde / plano</a:t>
            </a:r>
          </a:p>
        </p:txBody>
      </p:sp>
      <p:sp>
        <p:nvSpPr>
          <p:cNvPr id="7" name="TextBox 6"/>
          <p:cNvSpPr txBox="1"/>
          <p:nvPr/>
        </p:nvSpPr>
        <p:spPr>
          <a:xfrm>
            <a:off x="914400" y="2606040"/>
            <a:ext cx="3749039" cy="731520"/>
          </a:xfrm>
          <a:prstGeom prst="rect">
            <a:avLst/>
          </a:prstGeom>
          <a:noFill/>
        </p:spPr>
        <p:txBody>
          <a:bodyPr wrap="square" lIns="0" rIns="0" tIns="0" bIns="0" anchor="t">
            <a:spAutoFit/>
          </a:bodyPr>
          <a:lstStyle/>
          <a:p>
            <a:pPr algn="l">
              <a:spcAft>
                <a:spcPts val="400"/>
              </a:spcAft>
            </a:pPr>
            <a:r>
              <a:rPr sz="1500" b="0" i="0">
                <a:solidFill>
                  <a:srgbClr val="FFFFFF"/>
                </a:solidFill>
                <a:latin typeface="Arial"/>
              </a:rPr>
              <a:t>Describe cómo serán los objetos, pero no es ninguno en particular.</a:t>
            </a:r>
          </a:p>
        </p:txBody>
      </p:sp>
      <p:sp>
        <p:nvSpPr>
          <p:cNvPr id="8" name="Rounded Rectangle 7"/>
          <p:cNvSpPr/>
          <p:nvPr/>
        </p:nvSpPr>
        <p:spPr>
          <a:xfrm>
            <a:off x="914400" y="3429000"/>
            <a:ext cx="365760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97280" y="3520440"/>
            <a:ext cx="3383280" cy="1371600"/>
          </a:xfrm>
          <a:prstGeom prst="rect">
            <a:avLst/>
          </a:prstGeom>
          <a:noFill/>
        </p:spPr>
        <p:txBody>
          <a:bodyPr wrap="square" lIns="0" rIns="0" tIns="0" bIns="0" anchor="t">
            <a:spAutoFit/>
          </a:bodyPr>
          <a:lstStyle/>
          <a:p>
            <a:pPr algn="l">
              <a:spcAft>
                <a:spcPts val="200"/>
              </a:spcAft>
            </a:pPr>
            <a:r>
              <a:rPr sz="1500" b="1" i="0">
                <a:solidFill>
                  <a:srgbClr val="257CE1"/>
                </a:solidFill>
                <a:latin typeface="Courier New"/>
              </a:rPr>
              <a:t>class Personaje</a:t>
            </a:r>
          </a:p>
          <a:p>
            <a:pPr algn="l">
              <a:spcAft>
                <a:spcPts val="200"/>
              </a:spcAft>
            </a:pPr>
            <a:r>
              <a:rPr sz="1500" b="0" i="0">
                <a:solidFill>
                  <a:srgbClr val="0B2A4A"/>
                </a:solidFill>
                <a:latin typeface="Arial"/>
              </a:rPr>
              <a:t>• nombre</a:t>
            </a:r>
          </a:p>
          <a:p>
            <a:pPr algn="l">
              <a:spcAft>
                <a:spcPts val="200"/>
              </a:spcAft>
            </a:pPr>
            <a:r>
              <a:rPr sz="1500" b="0" i="0">
                <a:solidFill>
                  <a:srgbClr val="0B2A4A"/>
                </a:solidFill>
                <a:latin typeface="Arial"/>
              </a:rPr>
              <a:t>• vida</a:t>
            </a:r>
          </a:p>
          <a:p>
            <a:pPr algn="l">
              <a:spcAft>
                <a:spcPts val="200"/>
              </a:spcAft>
            </a:pPr>
            <a:r>
              <a:rPr sz="1500" b="0" i="0">
                <a:solidFill>
                  <a:srgbClr val="0B2A4A"/>
                </a:solidFill>
                <a:latin typeface="Arial"/>
              </a:rPr>
              <a:t>• ataque</a:t>
            </a:r>
          </a:p>
        </p:txBody>
      </p:sp>
      <p:cxnSp>
        <p:nvCxnSpPr>
          <p:cNvPr id="10" name="Connector 9"/>
          <p:cNvCxnSpPr/>
          <p:nvPr/>
        </p:nvCxnSpPr>
        <p:spPr>
          <a:xfrm>
            <a:off x="4983480" y="3291840"/>
            <a:ext cx="822960" cy="0"/>
          </a:xfrm>
          <a:prstGeom prst="line">
            <a:avLst/>
          </a:prstGeom>
          <a:ln w="44450">
            <a:solidFill>
              <a:srgbClr val="0B2A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92040" y="2743200"/>
            <a:ext cx="1005840" cy="411480"/>
          </a:xfrm>
          <a:prstGeom prst="rect">
            <a:avLst/>
          </a:prstGeom>
          <a:noFill/>
        </p:spPr>
        <p:txBody>
          <a:bodyPr wrap="square" lIns="0" rIns="0" tIns="0" bIns="0" anchor="t">
            <a:spAutoFit/>
          </a:bodyPr>
          <a:lstStyle/>
          <a:p>
            <a:pPr algn="ctr">
              <a:spcAft>
                <a:spcPts val="400"/>
              </a:spcAft>
            </a:pPr>
            <a:r>
              <a:rPr sz="1800" b="1" i="0">
                <a:solidFill>
                  <a:srgbClr val="FF5A5F"/>
                </a:solidFill>
                <a:latin typeface="Courier New"/>
              </a:rPr>
              <a:t>new</a:t>
            </a:r>
          </a:p>
        </p:txBody>
      </p:sp>
      <p:sp>
        <p:nvSpPr>
          <p:cNvPr id="12" name="Rounded Rectangle 11"/>
          <p:cNvSpPr/>
          <p:nvPr/>
        </p:nvSpPr>
        <p:spPr>
          <a:xfrm>
            <a:off x="5943600" y="1371600"/>
            <a:ext cx="562356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126480" y="1554480"/>
            <a:ext cx="777240" cy="77724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word_w.png"/>
          <p:cNvPicPr>
            <a:picLocks noChangeAspect="1"/>
          </p:cNvPicPr>
          <p:nvPr/>
        </p:nvPicPr>
        <p:blipFill>
          <a:blip r:embed="rId3"/>
          <a:stretch>
            <a:fillRect/>
          </a:stretch>
        </p:blipFill>
        <p:spPr>
          <a:xfrm>
            <a:off x="6313017" y="1741017"/>
            <a:ext cx="404164" cy="404164"/>
          </a:xfrm>
          <a:prstGeom prst="rect">
            <a:avLst/>
          </a:prstGeom>
        </p:spPr>
      </p:pic>
      <p:sp>
        <p:nvSpPr>
          <p:cNvPr id="15" name="TextBox 14"/>
          <p:cNvSpPr txBox="1"/>
          <p:nvPr/>
        </p:nvSpPr>
        <p:spPr>
          <a:xfrm>
            <a:off x="7086600" y="1481328"/>
            <a:ext cx="2103120" cy="457200"/>
          </a:xfrm>
          <a:prstGeom prst="rect">
            <a:avLst/>
          </a:prstGeom>
          <a:noFill/>
        </p:spPr>
        <p:txBody>
          <a:bodyPr wrap="square" lIns="0" rIns="0" tIns="0" bIns="0" anchor="t">
            <a:spAutoFit/>
          </a:bodyPr>
          <a:lstStyle/>
          <a:p>
            <a:pPr algn="l">
              <a:spcAft>
                <a:spcPts val="400"/>
              </a:spcAft>
            </a:pPr>
            <a:r>
              <a:rPr sz="1200" b="1" i="0">
                <a:solidFill>
                  <a:srgbClr val="FF5A5F"/>
                </a:solidFill>
                <a:latin typeface="Arial"/>
              </a:rPr>
              <a:t>OBJETO </a:t>
            </a:r>
            <a:r>
              <a:rPr sz="1700" b="1" i="0">
                <a:solidFill>
                  <a:srgbClr val="0B2A4A"/>
                </a:solidFill>
                <a:latin typeface="Courier New"/>
              </a:rPr>
              <a:t>luna</a:t>
            </a:r>
          </a:p>
        </p:txBody>
      </p:sp>
      <p:sp>
        <p:nvSpPr>
          <p:cNvPr id="16" name="TextBox 15"/>
          <p:cNvSpPr txBox="1"/>
          <p:nvPr/>
        </p:nvSpPr>
        <p:spPr>
          <a:xfrm>
            <a:off x="7086600" y="1938528"/>
            <a:ext cx="4297680" cy="457200"/>
          </a:xfrm>
          <a:prstGeom prst="rect">
            <a:avLst/>
          </a:prstGeom>
          <a:noFill/>
        </p:spPr>
        <p:txBody>
          <a:bodyPr wrap="square" lIns="0" rIns="0" tIns="0" bIns="0" anchor="t">
            <a:spAutoFit/>
          </a:bodyPr>
          <a:lstStyle/>
          <a:p>
            <a:pPr algn="l">
              <a:spcAft>
                <a:spcPts val="400"/>
              </a:spcAft>
            </a:pPr>
            <a:r>
              <a:rPr sz="1400" b="0" i="0">
                <a:solidFill>
                  <a:srgbClr val="4A5A6A"/>
                </a:solidFill>
                <a:latin typeface="Courier New"/>
              </a:rPr>
              <a:t>nombre = Luna   vida = 100   ataque = 25</a:t>
            </a:r>
          </a:p>
        </p:txBody>
      </p:sp>
      <p:sp>
        <p:nvSpPr>
          <p:cNvPr id="17" name="Rounded Rectangle 16"/>
          <p:cNvSpPr/>
          <p:nvPr/>
        </p:nvSpPr>
        <p:spPr>
          <a:xfrm>
            <a:off x="5943600" y="2697480"/>
            <a:ext cx="562356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126480" y="2880360"/>
            <a:ext cx="777240" cy="77724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w_w.png"/>
          <p:cNvPicPr>
            <a:picLocks noChangeAspect="1"/>
          </p:cNvPicPr>
          <p:nvPr/>
        </p:nvPicPr>
        <p:blipFill>
          <a:blip r:embed="rId4"/>
          <a:stretch>
            <a:fillRect/>
          </a:stretch>
        </p:blipFill>
        <p:spPr>
          <a:xfrm>
            <a:off x="6313017" y="3066897"/>
            <a:ext cx="404164" cy="404164"/>
          </a:xfrm>
          <a:prstGeom prst="rect">
            <a:avLst/>
          </a:prstGeom>
        </p:spPr>
      </p:pic>
      <p:sp>
        <p:nvSpPr>
          <p:cNvPr id="20" name="TextBox 19"/>
          <p:cNvSpPr txBox="1"/>
          <p:nvPr/>
        </p:nvSpPr>
        <p:spPr>
          <a:xfrm>
            <a:off x="7086600" y="2807208"/>
            <a:ext cx="2103120" cy="457200"/>
          </a:xfrm>
          <a:prstGeom prst="rect">
            <a:avLst/>
          </a:prstGeom>
          <a:noFill/>
        </p:spPr>
        <p:txBody>
          <a:bodyPr wrap="square" lIns="0" rIns="0" tIns="0" bIns="0" anchor="t">
            <a:spAutoFit/>
          </a:bodyPr>
          <a:lstStyle/>
          <a:p>
            <a:pPr algn="l">
              <a:spcAft>
                <a:spcPts val="400"/>
              </a:spcAft>
            </a:pPr>
            <a:r>
              <a:rPr sz="1200" b="1" i="0">
                <a:solidFill>
                  <a:srgbClr val="1FB58F"/>
                </a:solidFill>
                <a:latin typeface="Arial"/>
              </a:rPr>
              <a:t>OBJETO </a:t>
            </a:r>
            <a:r>
              <a:rPr sz="1700" b="1" i="0">
                <a:solidFill>
                  <a:srgbClr val="0B2A4A"/>
                </a:solidFill>
                <a:latin typeface="Courier New"/>
              </a:rPr>
              <a:t>kai</a:t>
            </a:r>
          </a:p>
        </p:txBody>
      </p:sp>
      <p:sp>
        <p:nvSpPr>
          <p:cNvPr id="21" name="TextBox 20"/>
          <p:cNvSpPr txBox="1"/>
          <p:nvPr/>
        </p:nvSpPr>
        <p:spPr>
          <a:xfrm>
            <a:off x="7086600" y="3264408"/>
            <a:ext cx="4297680" cy="457200"/>
          </a:xfrm>
          <a:prstGeom prst="rect">
            <a:avLst/>
          </a:prstGeom>
          <a:noFill/>
        </p:spPr>
        <p:txBody>
          <a:bodyPr wrap="square" lIns="0" rIns="0" tIns="0" bIns="0" anchor="t">
            <a:spAutoFit/>
          </a:bodyPr>
          <a:lstStyle/>
          <a:p>
            <a:pPr algn="l">
              <a:spcAft>
                <a:spcPts val="400"/>
              </a:spcAft>
            </a:pPr>
            <a:r>
              <a:rPr sz="1400" b="0" i="0">
                <a:solidFill>
                  <a:srgbClr val="4A5A6A"/>
                </a:solidFill>
                <a:latin typeface="Courier New"/>
              </a:rPr>
              <a:t>nombre = Kai   vida = 90   ataque = 20</a:t>
            </a:r>
          </a:p>
        </p:txBody>
      </p:sp>
      <p:sp>
        <p:nvSpPr>
          <p:cNvPr id="22" name="Rounded Rectangle 21"/>
          <p:cNvSpPr/>
          <p:nvPr/>
        </p:nvSpPr>
        <p:spPr>
          <a:xfrm>
            <a:off x="5943600" y="4023360"/>
            <a:ext cx="562356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126480" y="4206240"/>
            <a:ext cx="777240" cy="77724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wizard_w.png"/>
          <p:cNvPicPr>
            <a:picLocks noChangeAspect="1"/>
          </p:cNvPicPr>
          <p:nvPr/>
        </p:nvPicPr>
        <p:blipFill>
          <a:blip r:embed="rId5"/>
          <a:stretch>
            <a:fillRect/>
          </a:stretch>
        </p:blipFill>
        <p:spPr>
          <a:xfrm>
            <a:off x="6313017" y="4392777"/>
            <a:ext cx="404164" cy="404164"/>
          </a:xfrm>
          <a:prstGeom prst="rect">
            <a:avLst/>
          </a:prstGeom>
        </p:spPr>
      </p:pic>
      <p:sp>
        <p:nvSpPr>
          <p:cNvPr id="25" name="TextBox 24"/>
          <p:cNvSpPr txBox="1"/>
          <p:nvPr/>
        </p:nvSpPr>
        <p:spPr>
          <a:xfrm>
            <a:off x="7086600" y="4133088"/>
            <a:ext cx="2103120" cy="457200"/>
          </a:xfrm>
          <a:prstGeom prst="rect">
            <a:avLst/>
          </a:prstGeom>
          <a:noFill/>
        </p:spPr>
        <p:txBody>
          <a:bodyPr wrap="square" lIns="0" rIns="0" tIns="0" bIns="0" anchor="t">
            <a:spAutoFit/>
          </a:bodyPr>
          <a:lstStyle/>
          <a:p>
            <a:pPr algn="l">
              <a:spcAft>
                <a:spcPts val="400"/>
              </a:spcAft>
            </a:pPr>
            <a:r>
              <a:rPr sz="1200" b="1" i="0">
                <a:solidFill>
                  <a:srgbClr val="7B5CFA"/>
                </a:solidFill>
                <a:latin typeface="Arial"/>
              </a:rPr>
              <a:t>OBJETO </a:t>
            </a:r>
            <a:r>
              <a:rPr sz="1700" b="1" i="0">
                <a:solidFill>
                  <a:srgbClr val="0B2A4A"/>
                </a:solidFill>
                <a:latin typeface="Courier New"/>
              </a:rPr>
              <a:t>draco</a:t>
            </a:r>
          </a:p>
        </p:txBody>
      </p:sp>
      <p:sp>
        <p:nvSpPr>
          <p:cNvPr id="26" name="TextBox 25"/>
          <p:cNvSpPr txBox="1"/>
          <p:nvPr/>
        </p:nvSpPr>
        <p:spPr>
          <a:xfrm>
            <a:off x="7086600" y="4590288"/>
            <a:ext cx="4297680" cy="457200"/>
          </a:xfrm>
          <a:prstGeom prst="rect">
            <a:avLst/>
          </a:prstGeom>
          <a:noFill/>
        </p:spPr>
        <p:txBody>
          <a:bodyPr wrap="square" lIns="0" rIns="0" tIns="0" bIns="0" anchor="t">
            <a:spAutoFit/>
          </a:bodyPr>
          <a:lstStyle/>
          <a:p>
            <a:pPr algn="l">
              <a:spcAft>
                <a:spcPts val="400"/>
              </a:spcAft>
            </a:pPr>
            <a:r>
              <a:rPr sz="1400" b="0" i="0">
                <a:solidFill>
                  <a:srgbClr val="4A5A6A"/>
                </a:solidFill>
                <a:latin typeface="Courier New"/>
              </a:rPr>
              <a:t>nombre = Draco   vida = 80   ataque = 30</a:t>
            </a:r>
          </a:p>
        </p:txBody>
      </p:sp>
      <p:sp>
        <p:nvSpPr>
          <p:cNvPr id="27" name="Rounded Rectangle 26"/>
          <p:cNvSpPr/>
          <p:nvPr/>
        </p:nvSpPr>
        <p:spPr>
          <a:xfrm>
            <a:off x="1463040" y="5486400"/>
            <a:ext cx="9235440" cy="566928"/>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okie_n.png"/>
          <p:cNvPicPr>
            <a:picLocks noChangeAspect="1"/>
          </p:cNvPicPr>
          <p:nvPr/>
        </p:nvPicPr>
        <p:blipFill>
          <a:blip r:embed="rId6"/>
          <a:stretch>
            <a:fillRect/>
          </a:stretch>
        </p:blipFill>
        <p:spPr>
          <a:xfrm>
            <a:off x="1600200" y="5564124"/>
            <a:ext cx="411480" cy="411480"/>
          </a:xfrm>
          <a:prstGeom prst="rect">
            <a:avLst/>
          </a:prstGeom>
        </p:spPr>
      </p:pic>
      <p:sp>
        <p:nvSpPr>
          <p:cNvPr id="29" name="TextBox 28"/>
          <p:cNvSpPr txBox="1"/>
          <p:nvPr/>
        </p:nvSpPr>
        <p:spPr>
          <a:xfrm>
            <a:off x="2148840" y="5486400"/>
            <a:ext cx="8366760" cy="566928"/>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1 molde → muchas galletas.  1 clase → ¡todos los objetos que quieras!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Atributos y Métodos: lo que TIENE y lo que HACE</a:t>
            </a:r>
          </a:p>
        </p:txBody>
      </p:sp>
      <p:sp>
        <p:nvSpPr>
          <p:cNvPr id="3" name="Oval 2"/>
          <p:cNvSpPr/>
          <p:nvPr/>
        </p:nvSpPr>
        <p:spPr>
          <a:xfrm>
            <a:off x="5074920" y="1920240"/>
            <a:ext cx="2011680" cy="2011680"/>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mobile_w.png"/>
          <p:cNvPicPr>
            <a:picLocks noChangeAspect="1"/>
          </p:cNvPicPr>
          <p:nvPr/>
        </p:nvPicPr>
        <p:blipFill>
          <a:blip r:embed="rId2"/>
          <a:stretch>
            <a:fillRect/>
          </a:stretch>
        </p:blipFill>
        <p:spPr>
          <a:xfrm>
            <a:off x="5577840" y="2423160"/>
            <a:ext cx="1005840" cy="1005840"/>
          </a:xfrm>
          <a:prstGeom prst="rect">
            <a:avLst/>
          </a:prstGeom>
        </p:spPr>
      </p:pic>
      <p:sp>
        <p:nvSpPr>
          <p:cNvPr id="5" name="TextBox 4"/>
          <p:cNvSpPr txBox="1"/>
          <p:nvPr/>
        </p:nvSpPr>
        <p:spPr>
          <a:xfrm>
            <a:off x="4754880" y="4069080"/>
            <a:ext cx="2651760" cy="457200"/>
          </a:xfrm>
          <a:prstGeom prst="rect">
            <a:avLst/>
          </a:prstGeom>
          <a:noFill/>
        </p:spPr>
        <p:txBody>
          <a:bodyPr wrap="square" lIns="0" rIns="0" tIns="0" bIns="0" anchor="t">
            <a:spAutoFit/>
          </a:bodyPr>
          <a:lstStyle/>
          <a:p>
            <a:pPr algn="ctr">
              <a:spcAft>
                <a:spcPts val="400"/>
              </a:spcAft>
            </a:pPr>
            <a:r>
              <a:rPr sz="1600" b="1" i="0">
                <a:solidFill>
                  <a:srgbClr val="0B2A4A"/>
                </a:solidFill>
                <a:latin typeface="Courier New"/>
              </a:rPr>
              <a:t>Objeto: miCelular</a:t>
            </a:r>
          </a:p>
        </p:txBody>
      </p:sp>
      <p:sp>
        <p:nvSpPr>
          <p:cNvPr id="6" name="Oval 5"/>
          <p:cNvSpPr/>
          <p:nvPr/>
        </p:nvSpPr>
        <p:spPr>
          <a:xfrm>
            <a:off x="640080" y="137160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g_w.png"/>
          <p:cNvPicPr>
            <a:picLocks noChangeAspect="1"/>
          </p:cNvPicPr>
          <p:nvPr/>
        </p:nvPicPr>
        <p:blipFill>
          <a:blip r:embed="rId3"/>
          <a:stretch>
            <a:fillRect/>
          </a:stretch>
        </p:blipFill>
        <p:spPr>
          <a:xfrm>
            <a:off x="793699" y="1525219"/>
            <a:ext cx="332841" cy="332841"/>
          </a:xfrm>
          <a:prstGeom prst="rect">
            <a:avLst/>
          </a:prstGeom>
        </p:spPr>
      </p:pic>
      <p:sp>
        <p:nvSpPr>
          <p:cNvPr id="8" name="TextBox 7"/>
          <p:cNvSpPr txBox="1"/>
          <p:nvPr/>
        </p:nvSpPr>
        <p:spPr>
          <a:xfrm>
            <a:off x="1417319" y="1325880"/>
            <a:ext cx="3108960" cy="411480"/>
          </a:xfrm>
          <a:prstGeom prst="rect">
            <a:avLst/>
          </a:prstGeom>
          <a:noFill/>
        </p:spPr>
        <p:txBody>
          <a:bodyPr wrap="square" lIns="0" rIns="0" tIns="0" bIns="0" anchor="t">
            <a:spAutoFit/>
          </a:bodyPr>
          <a:lstStyle/>
          <a:p>
            <a:pPr algn="l">
              <a:spcAft>
                <a:spcPts val="400"/>
              </a:spcAft>
            </a:pPr>
            <a:r>
              <a:rPr sz="2000" b="1" i="0">
                <a:solidFill>
                  <a:srgbClr val="257CE1"/>
                </a:solidFill>
                <a:latin typeface="Arial"/>
              </a:rPr>
              <a:t>ATRIBUTOS</a:t>
            </a:r>
          </a:p>
        </p:txBody>
      </p:sp>
      <p:sp>
        <p:nvSpPr>
          <p:cNvPr id="9" name="TextBox 8"/>
          <p:cNvSpPr txBox="1"/>
          <p:nvPr/>
        </p:nvSpPr>
        <p:spPr>
          <a:xfrm>
            <a:off x="1417319" y="1709928"/>
            <a:ext cx="310896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lo que TIENE (datos)</a:t>
            </a:r>
          </a:p>
        </p:txBody>
      </p:sp>
      <p:sp>
        <p:nvSpPr>
          <p:cNvPr id="10" name="Rounded Rectangle 9"/>
          <p:cNvSpPr/>
          <p:nvPr/>
        </p:nvSpPr>
        <p:spPr>
          <a:xfrm>
            <a:off x="640080" y="2331720"/>
            <a:ext cx="3840480" cy="5943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2331720"/>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marca</a:t>
            </a:r>
            <a:r>
              <a:rPr sz="1500" b="0" i="0">
                <a:solidFill>
                  <a:srgbClr val="4A5A6A"/>
                </a:solidFill>
                <a:latin typeface="Courier New"/>
              </a:rPr>
              <a:t> = "Nokia"</a:t>
            </a:r>
          </a:p>
        </p:txBody>
      </p:sp>
      <p:sp>
        <p:nvSpPr>
          <p:cNvPr id="12" name="Rounded Rectangle 11"/>
          <p:cNvSpPr/>
          <p:nvPr/>
        </p:nvSpPr>
        <p:spPr>
          <a:xfrm>
            <a:off x="640080" y="3081527"/>
            <a:ext cx="3840480" cy="5943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081527"/>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color</a:t>
            </a:r>
            <a:r>
              <a:rPr sz="1500" b="0" i="0">
                <a:solidFill>
                  <a:srgbClr val="4A5A6A"/>
                </a:solidFill>
                <a:latin typeface="Courier New"/>
              </a:rPr>
              <a:t> = "negro"</a:t>
            </a:r>
          </a:p>
        </p:txBody>
      </p:sp>
      <p:sp>
        <p:nvSpPr>
          <p:cNvPr id="14" name="Rounded Rectangle 13"/>
          <p:cNvSpPr/>
          <p:nvPr/>
        </p:nvSpPr>
        <p:spPr>
          <a:xfrm>
            <a:off x="640080" y="3831335"/>
            <a:ext cx="3840480" cy="5943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3831335"/>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bateria</a:t>
            </a:r>
            <a:r>
              <a:rPr sz="1500" b="0" i="0">
                <a:solidFill>
                  <a:srgbClr val="4A5A6A"/>
                </a:solidFill>
                <a:latin typeface="Courier New"/>
              </a:rPr>
              <a:t> = 80</a:t>
            </a:r>
          </a:p>
        </p:txBody>
      </p:sp>
      <p:sp>
        <p:nvSpPr>
          <p:cNvPr id="16" name="Rounded Rectangle 15"/>
          <p:cNvSpPr/>
          <p:nvPr/>
        </p:nvSpPr>
        <p:spPr>
          <a:xfrm>
            <a:off x="640080" y="4581144"/>
            <a:ext cx="3840480" cy="5943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581144"/>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memoriaGB</a:t>
            </a:r>
            <a:r>
              <a:rPr sz="1500" b="0" i="0">
                <a:solidFill>
                  <a:srgbClr val="4A5A6A"/>
                </a:solidFill>
                <a:latin typeface="Courier New"/>
              </a:rPr>
              <a:t> = 128</a:t>
            </a:r>
          </a:p>
        </p:txBody>
      </p:sp>
      <p:sp>
        <p:nvSpPr>
          <p:cNvPr id="18" name="Oval 17"/>
          <p:cNvSpPr/>
          <p:nvPr/>
        </p:nvSpPr>
        <p:spPr>
          <a:xfrm>
            <a:off x="7726679" y="137160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lt_w.png"/>
          <p:cNvPicPr>
            <a:picLocks noChangeAspect="1"/>
          </p:cNvPicPr>
          <p:nvPr/>
        </p:nvPicPr>
        <p:blipFill>
          <a:blip r:embed="rId4"/>
          <a:stretch>
            <a:fillRect/>
          </a:stretch>
        </p:blipFill>
        <p:spPr>
          <a:xfrm>
            <a:off x="7880299" y="1525219"/>
            <a:ext cx="332841" cy="332841"/>
          </a:xfrm>
          <a:prstGeom prst="rect">
            <a:avLst/>
          </a:prstGeom>
        </p:spPr>
      </p:pic>
      <p:sp>
        <p:nvSpPr>
          <p:cNvPr id="20" name="TextBox 19"/>
          <p:cNvSpPr txBox="1"/>
          <p:nvPr/>
        </p:nvSpPr>
        <p:spPr>
          <a:xfrm>
            <a:off x="8503919" y="1325880"/>
            <a:ext cx="3108960" cy="411480"/>
          </a:xfrm>
          <a:prstGeom prst="rect">
            <a:avLst/>
          </a:prstGeom>
          <a:noFill/>
        </p:spPr>
        <p:txBody>
          <a:bodyPr wrap="square" lIns="0" rIns="0" tIns="0" bIns="0" anchor="t">
            <a:spAutoFit/>
          </a:bodyPr>
          <a:lstStyle/>
          <a:p>
            <a:pPr algn="l">
              <a:spcAft>
                <a:spcPts val="400"/>
              </a:spcAft>
            </a:pPr>
            <a:r>
              <a:rPr sz="2000" b="1" i="0">
                <a:solidFill>
                  <a:srgbClr val="FF5A5F"/>
                </a:solidFill>
                <a:latin typeface="Arial"/>
              </a:rPr>
              <a:t>MÉTODOS</a:t>
            </a:r>
          </a:p>
        </p:txBody>
      </p:sp>
      <p:sp>
        <p:nvSpPr>
          <p:cNvPr id="21" name="TextBox 20"/>
          <p:cNvSpPr txBox="1"/>
          <p:nvPr/>
        </p:nvSpPr>
        <p:spPr>
          <a:xfrm>
            <a:off x="8503919" y="1709928"/>
            <a:ext cx="310896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lo que HACE (acciones)</a:t>
            </a:r>
          </a:p>
        </p:txBody>
      </p:sp>
      <p:sp>
        <p:nvSpPr>
          <p:cNvPr id="22" name="Rounded Rectangle 21"/>
          <p:cNvSpPr/>
          <p:nvPr/>
        </p:nvSpPr>
        <p:spPr>
          <a:xfrm>
            <a:off x="7726679" y="2331720"/>
            <a:ext cx="3840480" cy="594360"/>
          </a:xfrm>
          <a:prstGeom prst="roundRect">
            <a:avLst>
              <a:gd name="adj" fmla="val 7000"/>
            </a:avLst>
          </a:prstGeom>
          <a:solidFill>
            <a:srgbClr val="FF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955279" y="2331720"/>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llamar()</a:t>
            </a:r>
            <a:r>
              <a:rPr sz="1500" b="0" i="0">
                <a:solidFill>
                  <a:srgbClr val="4A5A6A"/>
                </a:solidFill>
                <a:latin typeface="Courier New"/>
              </a:rPr>
              <a:t/>
            </a:r>
          </a:p>
        </p:txBody>
      </p:sp>
      <p:sp>
        <p:nvSpPr>
          <p:cNvPr id="24" name="Rounded Rectangle 23"/>
          <p:cNvSpPr/>
          <p:nvPr/>
        </p:nvSpPr>
        <p:spPr>
          <a:xfrm>
            <a:off x="7726679" y="3081527"/>
            <a:ext cx="3840480" cy="594360"/>
          </a:xfrm>
          <a:prstGeom prst="roundRect">
            <a:avLst>
              <a:gd name="adj" fmla="val 7000"/>
            </a:avLst>
          </a:prstGeom>
          <a:solidFill>
            <a:srgbClr val="FF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55279" y="3081527"/>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tomarFoto()</a:t>
            </a:r>
            <a:r>
              <a:rPr sz="1500" b="0" i="0">
                <a:solidFill>
                  <a:srgbClr val="4A5A6A"/>
                </a:solidFill>
                <a:latin typeface="Courier New"/>
              </a:rPr>
              <a:t/>
            </a:r>
          </a:p>
        </p:txBody>
      </p:sp>
      <p:sp>
        <p:nvSpPr>
          <p:cNvPr id="26" name="Rounded Rectangle 25"/>
          <p:cNvSpPr/>
          <p:nvPr/>
        </p:nvSpPr>
        <p:spPr>
          <a:xfrm>
            <a:off x="7726679" y="3831335"/>
            <a:ext cx="3840480" cy="594360"/>
          </a:xfrm>
          <a:prstGeom prst="roundRect">
            <a:avLst>
              <a:gd name="adj" fmla="val 7000"/>
            </a:avLst>
          </a:prstGeom>
          <a:solidFill>
            <a:srgbClr val="FF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55279" y="3831335"/>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cargar()</a:t>
            </a:r>
            <a:r>
              <a:rPr sz="1500" b="0" i="0">
                <a:solidFill>
                  <a:srgbClr val="4A5A6A"/>
                </a:solidFill>
                <a:latin typeface="Courier New"/>
              </a:rPr>
              <a:t/>
            </a:r>
          </a:p>
        </p:txBody>
      </p:sp>
      <p:sp>
        <p:nvSpPr>
          <p:cNvPr id="28" name="Rounded Rectangle 27"/>
          <p:cNvSpPr/>
          <p:nvPr/>
        </p:nvSpPr>
        <p:spPr>
          <a:xfrm>
            <a:off x="7726679" y="4581144"/>
            <a:ext cx="3840480" cy="594360"/>
          </a:xfrm>
          <a:prstGeom prst="roundRect">
            <a:avLst>
              <a:gd name="adj" fmla="val 7000"/>
            </a:avLst>
          </a:prstGeom>
          <a:solidFill>
            <a:srgbClr val="FF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55279" y="4581144"/>
            <a:ext cx="347472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Courier New"/>
              </a:rPr>
              <a:t>enviarMensaje()</a:t>
            </a:r>
            <a:r>
              <a:rPr sz="1500" b="0" i="0">
                <a:solidFill>
                  <a:srgbClr val="4A5A6A"/>
                </a:solidFill>
                <a:latin typeface="Courier New"/>
              </a:rPr>
              <a:t/>
            </a:r>
          </a:p>
        </p:txBody>
      </p:sp>
      <p:cxnSp>
        <p:nvCxnSpPr>
          <p:cNvPr id="30" name="Connector 29"/>
          <p:cNvCxnSpPr/>
          <p:nvPr/>
        </p:nvCxnSpPr>
        <p:spPr>
          <a:xfrm>
            <a:off x="4572000" y="3017520"/>
            <a:ext cx="457200" cy="0"/>
          </a:xfrm>
          <a:prstGeom prst="line">
            <a:avLst/>
          </a:prstGeom>
          <a:ln w="31750">
            <a:solidFill>
              <a:srgbClr val="257CE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7178040" y="3017520"/>
            <a:ext cx="457200" cy="0"/>
          </a:xfrm>
          <a:prstGeom prst="line">
            <a:avLst/>
          </a:prstGeom>
          <a:ln w="31750">
            <a:solidFill>
              <a:srgbClr val="FF5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011680" y="5486400"/>
            <a:ext cx="8138160" cy="566928"/>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ightbulb_n.png"/>
          <p:cNvPicPr>
            <a:picLocks noChangeAspect="1"/>
          </p:cNvPicPr>
          <p:nvPr/>
        </p:nvPicPr>
        <p:blipFill>
          <a:blip r:embed="rId5"/>
          <a:stretch>
            <a:fillRect/>
          </a:stretch>
        </p:blipFill>
        <p:spPr>
          <a:xfrm>
            <a:off x="2148840" y="5564124"/>
            <a:ext cx="411480" cy="411480"/>
          </a:xfrm>
          <a:prstGeom prst="rect">
            <a:avLst/>
          </a:prstGeom>
        </p:spPr>
      </p:pic>
      <p:sp>
        <p:nvSpPr>
          <p:cNvPr id="34" name="TextBox 33"/>
          <p:cNvSpPr txBox="1"/>
          <p:nvPr/>
        </p:nvSpPr>
        <p:spPr>
          <a:xfrm>
            <a:off x="2697480" y="5486400"/>
            <a:ext cx="7269480" cy="566928"/>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Truco: atributos = sustantivos  ·  métodos = verbos (terminan en ( )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¿Para qué sirve la POO?</a:t>
            </a:r>
          </a:p>
        </p:txBody>
      </p:sp>
      <p:sp>
        <p:nvSpPr>
          <p:cNvPr id="3" name="Rounded Rectangle 2"/>
          <p:cNvSpPr/>
          <p:nvPr/>
        </p:nvSpPr>
        <p:spPr>
          <a:xfrm>
            <a:off x="640080" y="1371600"/>
            <a:ext cx="4846320" cy="4251960"/>
          </a:xfrm>
          <a:prstGeom prst="roundRect">
            <a:avLst>
              <a:gd name="adj" fmla="val 6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554480"/>
            <a:ext cx="4389120" cy="731520"/>
          </a:xfrm>
          <a:prstGeom prst="rect">
            <a:avLst/>
          </a:prstGeom>
          <a:noFill/>
        </p:spPr>
        <p:txBody>
          <a:bodyPr wrap="square" lIns="0" rIns="0" tIns="0" bIns="0" anchor="t">
            <a:spAutoFit/>
          </a:bodyPr>
          <a:lstStyle/>
          <a:p>
            <a:pPr algn="l">
              <a:spcAft>
                <a:spcPts val="400"/>
              </a:spcAft>
            </a:pPr>
            <a:r>
              <a:rPr sz="1800" b="1" i="0">
                <a:solidFill>
                  <a:srgbClr val="FFFFFF"/>
                </a:solidFill>
                <a:latin typeface="Arial"/>
              </a:rPr>
              <a:t>Una red social vista con ojos de programador</a:t>
            </a:r>
          </a:p>
        </p:txBody>
      </p:sp>
      <p:sp>
        <p:nvSpPr>
          <p:cNvPr id="5" name="Rounded Rectangle 4"/>
          <p:cNvSpPr/>
          <p:nvPr/>
        </p:nvSpPr>
        <p:spPr>
          <a:xfrm>
            <a:off x="914400" y="2377440"/>
            <a:ext cx="4297680" cy="91440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51560" y="251460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user_w.png"/>
          <p:cNvPicPr>
            <a:picLocks noChangeAspect="1"/>
          </p:cNvPicPr>
          <p:nvPr/>
        </p:nvPicPr>
        <p:blipFill>
          <a:blip r:embed="rId2"/>
          <a:stretch>
            <a:fillRect/>
          </a:stretch>
        </p:blipFill>
        <p:spPr>
          <a:xfrm>
            <a:off x="1205179" y="2668219"/>
            <a:ext cx="332841" cy="332841"/>
          </a:xfrm>
          <a:prstGeom prst="rect">
            <a:avLst/>
          </a:prstGeom>
        </p:spPr>
      </p:pic>
      <p:sp>
        <p:nvSpPr>
          <p:cNvPr id="8" name="TextBox 7"/>
          <p:cNvSpPr txBox="1"/>
          <p:nvPr/>
        </p:nvSpPr>
        <p:spPr>
          <a:xfrm>
            <a:off x="1874519" y="2450592"/>
            <a:ext cx="3200400" cy="365760"/>
          </a:xfrm>
          <a:prstGeom prst="rect">
            <a:avLst/>
          </a:prstGeom>
          <a:noFill/>
        </p:spPr>
        <p:txBody>
          <a:bodyPr wrap="square" lIns="0" rIns="0" tIns="0" bIns="0" anchor="t">
            <a:spAutoFit/>
          </a:bodyPr>
          <a:lstStyle/>
          <a:p>
            <a:pPr algn="l">
              <a:spcAft>
                <a:spcPts val="400"/>
              </a:spcAft>
            </a:pPr>
            <a:r>
              <a:rPr sz="1600" b="1" i="0">
                <a:solidFill>
                  <a:srgbClr val="FFFFFF"/>
                </a:solidFill>
                <a:latin typeface="Arial"/>
              </a:rPr>
              <a:t>Usuario</a:t>
            </a:r>
          </a:p>
        </p:txBody>
      </p:sp>
      <p:sp>
        <p:nvSpPr>
          <p:cNvPr id="9" name="TextBox 8"/>
          <p:cNvSpPr txBox="1"/>
          <p:nvPr/>
        </p:nvSpPr>
        <p:spPr>
          <a:xfrm>
            <a:off x="1874519" y="2834640"/>
            <a:ext cx="3246120" cy="365760"/>
          </a:xfrm>
          <a:prstGeom prst="rect">
            <a:avLst/>
          </a:prstGeom>
          <a:noFill/>
        </p:spPr>
        <p:txBody>
          <a:bodyPr wrap="square" lIns="0" rIns="0" tIns="0" bIns="0" anchor="t">
            <a:spAutoFit/>
          </a:bodyPr>
          <a:lstStyle/>
          <a:p>
            <a:pPr algn="l">
              <a:spcAft>
                <a:spcPts val="400"/>
              </a:spcAft>
            </a:pPr>
            <a:r>
              <a:rPr sz="1200" b="0" i="0">
                <a:solidFill>
                  <a:srgbClr val="C8D6E5"/>
                </a:solidFill>
                <a:latin typeface="Courier New"/>
              </a:rPr>
              <a:t>nombre, seguidores · seguir()</a:t>
            </a:r>
          </a:p>
        </p:txBody>
      </p:sp>
      <p:sp>
        <p:nvSpPr>
          <p:cNvPr id="10" name="Rounded Rectangle 9"/>
          <p:cNvSpPr/>
          <p:nvPr/>
        </p:nvSpPr>
        <p:spPr>
          <a:xfrm>
            <a:off x="914400" y="3474720"/>
            <a:ext cx="4297680" cy="91440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51560" y="3611879"/>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_w.png"/>
          <p:cNvPicPr>
            <a:picLocks noChangeAspect="1"/>
          </p:cNvPicPr>
          <p:nvPr/>
        </p:nvPicPr>
        <p:blipFill>
          <a:blip r:embed="rId3"/>
          <a:stretch>
            <a:fillRect/>
          </a:stretch>
        </p:blipFill>
        <p:spPr>
          <a:xfrm>
            <a:off x="1205179" y="3765499"/>
            <a:ext cx="332841" cy="332841"/>
          </a:xfrm>
          <a:prstGeom prst="rect">
            <a:avLst/>
          </a:prstGeom>
        </p:spPr>
      </p:pic>
      <p:sp>
        <p:nvSpPr>
          <p:cNvPr id="13" name="TextBox 12"/>
          <p:cNvSpPr txBox="1"/>
          <p:nvPr/>
        </p:nvSpPr>
        <p:spPr>
          <a:xfrm>
            <a:off x="1874519" y="3547872"/>
            <a:ext cx="3200400" cy="365760"/>
          </a:xfrm>
          <a:prstGeom prst="rect">
            <a:avLst/>
          </a:prstGeom>
          <a:noFill/>
        </p:spPr>
        <p:txBody>
          <a:bodyPr wrap="square" lIns="0" rIns="0" tIns="0" bIns="0" anchor="t">
            <a:spAutoFit/>
          </a:bodyPr>
          <a:lstStyle/>
          <a:p>
            <a:pPr algn="l">
              <a:spcAft>
                <a:spcPts val="400"/>
              </a:spcAft>
            </a:pPr>
            <a:r>
              <a:rPr sz="1600" b="1" i="0">
                <a:solidFill>
                  <a:srgbClr val="FFFFFF"/>
                </a:solidFill>
                <a:latin typeface="Arial"/>
              </a:rPr>
              <a:t>Publicación</a:t>
            </a:r>
          </a:p>
        </p:txBody>
      </p:sp>
      <p:sp>
        <p:nvSpPr>
          <p:cNvPr id="14" name="TextBox 13"/>
          <p:cNvSpPr txBox="1"/>
          <p:nvPr/>
        </p:nvSpPr>
        <p:spPr>
          <a:xfrm>
            <a:off x="1874519" y="3931920"/>
            <a:ext cx="3246120" cy="365760"/>
          </a:xfrm>
          <a:prstGeom prst="rect">
            <a:avLst/>
          </a:prstGeom>
          <a:noFill/>
        </p:spPr>
        <p:txBody>
          <a:bodyPr wrap="square" lIns="0" rIns="0" tIns="0" bIns="0" anchor="t">
            <a:spAutoFit/>
          </a:bodyPr>
          <a:lstStyle/>
          <a:p>
            <a:pPr algn="l">
              <a:spcAft>
                <a:spcPts val="400"/>
              </a:spcAft>
            </a:pPr>
            <a:r>
              <a:rPr sz="1200" b="0" i="0">
                <a:solidFill>
                  <a:srgbClr val="C8D6E5"/>
                </a:solidFill>
                <a:latin typeface="Courier New"/>
              </a:rPr>
              <a:t>foto, likes · darLike()</a:t>
            </a:r>
          </a:p>
        </p:txBody>
      </p:sp>
      <p:sp>
        <p:nvSpPr>
          <p:cNvPr id="15" name="Rounded Rectangle 14"/>
          <p:cNvSpPr/>
          <p:nvPr/>
        </p:nvSpPr>
        <p:spPr>
          <a:xfrm>
            <a:off x="914400" y="4572000"/>
            <a:ext cx="4297680" cy="914400"/>
          </a:xfrm>
          <a:prstGeom prst="roundRect">
            <a:avLst>
              <a:gd name="adj" fmla="val 12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51560" y="4709160"/>
            <a:ext cx="640080" cy="64008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mment_w.png"/>
          <p:cNvPicPr>
            <a:picLocks noChangeAspect="1"/>
          </p:cNvPicPr>
          <p:nvPr/>
        </p:nvPicPr>
        <p:blipFill>
          <a:blip r:embed="rId4"/>
          <a:stretch>
            <a:fillRect/>
          </a:stretch>
        </p:blipFill>
        <p:spPr>
          <a:xfrm>
            <a:off x="1205179" y="4862779"/>
            <a:ext cx="332841" cy="332841"/>
          </a:xfrm>
          <a:prstGeom prst="rect">
            <a:avLst/>
          </a:prstGeom>
        </p:spPr>
      </p:pic>
      <p:sp>
        <p:nvSpPr>
          <p:cNvPr id="18" name="TextBox 17"/>
          <p:cNvSpPr txBox="1"/>
          <p:nvPr/>
        </p:nvSpPr>
        <p:spPr>
          <a:xfrm>
            <a:off x="1874519" y="4645152"/>
            <a:ext cx="3200400" cy="365760"/>
          </a:xfrm>
          <a:prstGeom prst="rect">
            <a:avLst/>
          </a:prstGeom>
          <a:noFill/>
        </p:spPr>
        <p:txBody>
          <a:bodyPr wrap="square" lIns="0" rIns="0" tIns="0" bIns="0" anchor="t">
            <a:spAutoFit/>
          </a:bodyPr>
          <a:lstStyle/>
          <a:p>
            <a:pPr algn="l">
              <a:spcAft>
                <a:spcPts val="400"/>
              </a:spcAft>
            </a:pPr>
            <a:r>
              <a:rPr sz="1600" b="1" i="0">
                <a:solidFill>
                  <a:srgbClr val="FFFFFF"/>
                </a:solidFill>
                <a:latin typeface="Arial"/>
              </a:rPr>
              <a:t>Comentario</a:t>
            </a:r>
          </a:p>
        </p:txBody>
      </p:sp>
      <p:sp>
        <p:nvSpPr>
          <p:cNvPr id="19" name="TextBox 18"/>
          <p:cNvSpPr txBox="1"/>
          <p:nvPr/>
        </p:nvSpPr>
        <p:spPr>
          <a:xfrm>
            <a:off x="1874519" y="5029200"/>
            <a:ext cx="3246120" cy="365760"/>
          </a:xfrm>
          <a:prstGeom prst="rect">
            <a:avLst/>
          </a:prstGeom>
          <a:noFill/>
        </p:spPr>
        <p:txBody>
          <a:bodyPr wrap="square" lIns="0" rIns="0" tIns="0" bIns="0" anchor="t">
            <a:spAutoFit/>
          </a:bodyPr>
          <a:lstStyle/>
          <a:p>
            <a:pPr algn="l">
              <a:spcAft>
                <a:spcPts val="400"/>
              </a:spcAft>
            </a:pPr>
            <a:r>
              <a:rPr sz="1200" b="0" i="0">
                <a:solidFill>
                  <a:srgbClr val="C8D6E5"/>
                </a:solidFill>
                <a:latin typeface="Courier New"/>
              </a:rPr>
              <a:t>texto, autor · responder()</a:t>
            </a:r>
          </a:p>
        </p:txBody>
      </p:sp>
      <p:sp>
        <p:nvSpPr>
          <p:cNvPr id="20" name="Oval 19"/>
          <p:cNvSpPr/>
          <p:nvPr/>
        </p:nvSpPr>
        <p:spPr>
          <a:xfrm>
            <a:off x="5852160" y="1417320"/>
            <a:ext cx="731520" cy="73152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recycle_w.png"/>
          <p:cNvPicPr>
            <a:picLocks noChangeAspect="1"/>
          </p:cNvPicPr>
          <p:nvPr/>
        </p:nvPicPr>
        <p:blipFill>
          <a:blip r:embed="rId5"/>
          <a:stretch>
            <a:fillRect/>
          </a:stretch>
        </p:blipFill>
        <p:spPr>
          <a:xfrm>
            <a:off x="6027724" y="1592884"/>
            <a:ext cx="380390" cy="380390"/>
          </a:xfrm>
          <a:prstGeom prst="rect">
            <a:avLst/>
          </a:prstGeom>
        </p:spPr>
      </p:pic>
      <p:sp>
        <p:nvSpPr>
          <p:cNvPr id="22" name="TextBox 21"/>
          <p:cNvSpPr txBox="1"/>
          <p:nvPr/>
        </p:nvSpPr>
        <p:spPr>
          <a:xfrm>
            <a:off x="6766560" y="1371600"/>
            <a:ext cx="4846320" cy="365760"/>
          </a:xfrm>
          <a:prstGeom prst="rect">
            <a:avLst/>
          </a:prstGeom>
          <a:noFill/>
        </p:spPr>
        <p:txBody>
          <a:bodyPr wrap="square" lIns="0" rIns="0" tIns="0" bIns="0" anchor="t">
            <a:spAutoFit/>
          </a:bodyPr>
          <a:lstStyle/>
          <a:p>
            <a:pPr algn="l">
              <a:spcAft>
                <a:spcPts val="400"/>
              </a:spcAft>
            </a:pPr>
            <a:r>
              <a:rPr sz="1800" b="1" i="0">
                <a:solidFill>
                  <a:srgbClr val="0B2A4A"/>
                </a:solidFill>
                <a:latin typeface="Arial"/>
              </a:rPr>
              <a:t>Reutilizar</a:t>
            </a:r>
          </a:p>
        </p:txBody>
      </p:sp>
      <p:sp>
        <p:nvSpPr>
          <p:cNvPr id="23" name="TextBox 22"/>
          <p:cNvSpPr txBox="1"/>
          <p:nvPr/>
        </p:nvSpPr>
        <p:spPr>
          <a:xfrm>
            <a:off x="6766560" y="1755648"/>
            <a:ext cx="4846320" cy="68580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Escribes la clase una vez y creas millones de objetos (¡un Usuario por cada persona!).</a:t>
            </a:r>
          </a:p>
        </p:txBody>
      </p:sp>
      <p:sp>
        <p:nvSpPr>
          <p:cNvPr id="24" name="Oval 23"/>
          <p:cNvSpPr/>
          <p:nvPr/>
        </p:nvSpPr>
        <p:spPr>
          <a:xfrm>
            <a:off x="5852160" y="2560320"/>
            <a:ext cx="731520" cy="73152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ayer_w.png"/>
          <p:cNvPicPr>
            <a:picLocks noChangeAspect="1"/>
          </p:cNvPicPr>
          <p:nvPr/>
        </p:nvPicPr>
        <p:blipFill>
          <a:blip r:embed="rId6"/>
          <a:stretch>
            <a:fillRect/>
          </a:stretch>
        </p:blipFill>
        <p:spPr>
          <a:xfrm>
            <a:off x="6027724" y="2735884"/>
            <a:ext cx="380390" cy="380390"/>
          </a:xfrm>
          <a:prstGeom prst="rect">
            <a:avLst/>
          </a:prstGeom>
        </p:spPr>
      </p:pic>
      <p:sp>
        <p:nvSpPr>
          <p:cNvPr id="26" name="TextBox 25"/>
          <p:cNvSpPr txBox="1"/>
          <p:nvPr/>
        </p:nvSpPr>
        <p:spPr>
          <a:xfrm>
            <a:off x="6766560" y="2514600"/>
            <a:ext cx="4846320" cy="365760"/>
          </a:xfrm>
          <a:prstGeom prst="rect">
            <a:avLst/>
          </a:prstGeom>
          <a:noFill/>
        </p:spPr>
        <p:txBody>
          <a:bodyPr wrap="square" lIns="0" rIns="0" tIns="0" bIns="0" anchor="t">
            <a:spAutoFit/>
          </a:bodyPr>
          <a:lstStyle/>
          <a:p>
            <a:pPr algn="l">
              <a:spcAft>
                <a:spcPts val="400"/>
              </a:spcAft>
            </a:pPr>
            <a:r>
              <a:rPr sz="1800" b="1" i="0">
                <a:solidFill>
                  <a:srgbClr val="0B2A4A"/>
                </a:solidFill>
                <a:latin typeface="Arial"/>
              </a:rPr>
              <a:t>Organizar</a:t>
            </a:r>
          </a:p>
        </p:txBody>
      </p:sp>
      <p:sp>
        <p:nvSpPr>
          <p:cNvPr id="27" name="TextBox 26"/>
          <p:cNvSpPr txBox="1"/>
          <p:nvPr/>
        </p:nvSpPr>
        <p:spPr>
          <a:xfrm>
            <a:off x="6766560" y="2898648"/>
            <a:ext cx="4846320" cy="68580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Cada cosa en su lugar: el código se lee y entiende más fácil.</a:t>
            </a:r>
          </a:p>
        </p:txBody>
      </p:sp>
      <p:sp>
        <p:nvSpPr>
          <p:cNvPr id="28" name="Oval 27"/>
          <p:cNvSpPr/>
          <p:nvPr/>
        </p:nvSpPr>
        <p:spPr>
          <a:xfrm>
            <a:off x="5852160" y="3703320"/>
            <a:ext cx="731520" cy="73152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tools_w.png"/>
          <p:cNvPicPr>
            <a:picLocks noChangeAspect="1"/>
          </p:cNvPicPr>
          <p:nvPr/>
        </p:nvPicPr>
        <p:blipFill>
          <a:blip r:embed="rId7"/>
          <a:stretch>
            <a:fillRect/>
          </a:stretch>
        </p:blipFill>
        <p:spPr>
          <a:xfrm>
            <a:off x="6027724" y="3878884"/>
            <a:ext cx="380390" cy="380390"/>
          </a:xfrm>
          <a:prstGeom prst="rect">
            <a:avLst/>
          </a:prstGeom>
        </p:spPr>
      </p:pic>
      <p:sp>
        <p:nvSpPr>
          <p:cNvPr id="30" name="TextBox 29"/>
          <p:cNvSpPr txBox="1"/>
          <p:nvPr/>
        </p:nvSpPr>
        <p:spPr>
          <a:xfrm>
            <a:off x="6766560" y="3657600"/>
            <a:ext cx="4846320" cy="365760"/>
          </a:xfrm>
          <a:prstGeom prst="rect">
            <a:avLst/>
          </a:prstGeom>
          <a:noFill/>
        </p:spPr>
        <p:txBody>
          <a:bodyPr wrap="square" lIns="0" rIns="0" tIns="0" bIns="0" anchor="t">
            <a:spAutoFit/>
          </a:bodyPr>
          <a:lstStyle/>
          <a:p>
            <a:pPr algn="l">
              <a:spcAft>
                <a:spcPts val="400"/>
              </a:spcAft>
            </a:pPr>
            <a:r>
              <a:rPr sz="1800" b="1" i="0">
                <a:solidFill>
                  <a:srgbClr val="0B2A4A"/>
                </a:solidFill>
                <a:latin typeface="Arial"/>
              </a:rPr>
              <a:t>Mantener</a:t>
            </a:r>
          </a:p>
        </p:txBody>
      </p:sp>
      <p:sp>
        <p:nvSpPr>
          <p:cNvPr id="31" name="TextBox 30"/>
          <p:cNvSpPr txBox="1"/>
          <p:nvPr/>
        </p:nvSpPr>
        <p:spPr>
          <a:xfrm>
            <a:off x="6766560" y="4041648"/>
            <a:ext cx="4846320" cy="68580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Si algo falla en los likes, sabes exactamente qué clase revisar.</a:t>
            </a:r>
          </a:p>
        </p:txBody>
      </p:sp>
      <p:sp>
        <p:nvSpPr>
          <p:cNvPr id="32" name="Oval 31"/>
          <p:cNvSpPr/>
          <p:nvPr/>
        </p:nvSpPr>
        <p:spPr>
          <a:xfrm>
            <a:off x="5852160" y="4846320"/>
            <a:ext cx="731520" cy="73152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users_w.png"/>
          <p:cNvPicPr>
            <a:picLocks noChangeAspect="1"/>
          </p:cNvPicPr>
          <p:nvPr/>
        </p:nvPicPr>
        <p:blipFill>
          <a:blip r:embed="rId8"/>
          <a:stretch>
            <a:fillRect/>
          </a:stretch>
        </p:blipFill>
        <p:spPr>
          <a:xfrm>
            <a:off x="6027724" y="5021884"/>
            <a:ext cx="380390" cy="380390"/>
          </a:xfrm>
          <a:prstGeom prst="rect">
            <a:avLst/>
          </a:prstGeom>
        </p:spPr>
      </p:pic>
      <p:sp>
        <p:nvSpPr>
          <p:cNvPr id="34" name="TextBox 33"/>
          <p:cNvSpPr txBox="1"/>
          <p:nvPr/>
        </p:nvSpPr>
        <p:spPr>
          <a:xfrm>
            <a:off x="6766560" y="4800600"/>
            <a:ext cx="4846320" cy="365760"/>
          </a:xfrm>
          <a:prstGeom prst="rect">
            <a:avLst/>
          </a:prstGeom>
          <a:noFill/>
        </p:spPr>
        <p:txBody>
          <a:bodyPr wrap="square" lIns="0" rIns="0" tIns="0" bIns="0" anchor="t">
            <a:spAutoFit/>
          </a:bodyPr>
          <a:lstStyle/>
          <a:p>
            <a:pPr algn="l">
              <a:spcAft>
                <a:spcPts val="400"/>
              </a:spcAft>
            </a:pPr>
            <a:r>
              <a:rPr sz="1800" b="1" i="0">
                <a:solidFill>
                  <a:srgbClr val="0B2A4A"/>
                </a:solidFill>
                <a:latin typeface="Arial"/>
              </a:rPr>
              <a:t>Trabajar en equipo</a:t>
            </a:r>
          </a:p>
        </p:txBody>
      </p:sp>
      <p:sp>
        <p:nvSpPr>
          <p:cNvPr id="35" name="TextBox 34"/>
          <p:cNvSpPr txBox="1"/>
          <p:nvPr/>
        </p:nvSpPr>
        <p:spPr>
          <a:xfrm>
            <a:off x="6766560" y="5184648"/>
            <a:ext cx="4846320" cy="68580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Cada programador puede hacerse cargo de una clase distinta.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Los 4 pilares de la POO</a:t>
            </a:r>
          </a:p>
        </p:txBody>
      </p:sp>
      <p:sp>
        <p:nvSpPr>
          <p:cNvPr id="3" name="Rounded Rectangle 2"/>
          <p:cNvSpPr/>
          <p:nvPr/>
        </p:nvSpPr>
        <p:spPr>
          <a:xfrm>
            <a:off x="640080" y="1325880"/>
            <a:ext cx="534924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14400" y="160020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ock_w.png"/>
          <p:cNvPicPr>
            <a:picLocks noChangeAspect="1"/>
          </p:cNvPicPr>
          <p:nvPr/>
        </p:nvPicPr>
        <p:blipFill>
          <a:blip r:embed="rId2"/>
          <a:stretch>
            <a:fillRect/>
          </a:stretch>
        </p:blipFill>
        <p:spPr>
          <a:xfrm>
            <a:off x="1133856" y="1819656"/>
            <a:ext cx="475488" cy="475488"/>
          </a:xfrm>
          <a:prstGeom prst="rect">
            <a:avLst/>
          </a:prstGeom>
        </p:spPr>
      </p:pic>
      <p:sp>
        <p:nvSpPr>
          <p:cNvPr id="6" name="TextBox 5"/>
          <p:cNvSpPr txBox="1"/>
          <p:nvPr/>
        </p:nvSpPr>
        <p:spPr>
          <a:xfrm>
            <a:off x="2057400" y="1554480"/>
            <a:ext cx="3749039" cy="457200"/>
          </a:xfrm>
          <a:prstGeom prst="rect">
            <a:avLst/>
          </a:prstGeom>
          <a:noFill/>
        </p:spPr>
        <p:txBody>
          <a:bodyPr wrap="square" lIns="0" rIns="0" tIns="0" bIns="0" anchor="t">
            <a:spAutoFit/>
          </a:bodyPr>
          <a:lstStyle/>
          <a:p>
            <a:pPr algn="l">
              <a:spcAft>
                <a:spcPts val="400"/>
              </a:spcAft>
            </a:pPr>
            <a:r>
              <a:rPr sz="2200" b="1" i="0">
                <a:solidFill>
                  <a:srgbClr val="257CE1"/>
                </a:solidFill>
                <a:latin typeface="Arial"/>
              </a:rPr>
              <a:t>Encapsulamiento</a:t>
            </a:r>
          </a:p>
        </p:txBody>
      </p:sp>
      <p:sp>
        <p:nvSpPr>
          <p:cNvPr id="7" name="TextBox 6"/>
          <p:cNvSpPr txBox="1"/>
          <p:nvPr/>
        </p:nvSpPr>
        <p:spPr>
          <a:xfrm>
            <a:off x="2057400" y="2039112"/>
            <a:ext cx="3749039" cy="4114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Proteger los datos del objeto.</a:t>
            </a:r>
          </a:p>
        </p:txBody>
      </p:sp>
      <p:sp>
        <p:nvSpPr>
          <p:cNvPr id="8" name="TextBox 7"/>
          <p:cNvSpPr txBox="1"/>
          <p:nvPr/>
        </p:nvSpPr>
        <p:spPr>
          <a:xfrm>
            <a:off x="2057400" y="2468880"/>
            <a:ext cx="3749039" cy="8686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Nadie puede poner tu vida en 9999 desde afuera: solo con los métodos permitidos.</a:t>
            </a:r>
          </a:p>
        </p:txBody>
      </p:sp>
      <p:sp>
        <p:nvSpPr>
          <p:cNvPr id="9" name="Rounded Rectangle 8"/>
          <p:cNvSpPr/>
          <p:nvPr/>
        </p:nvSpPr>
        <p:spPr>
          <a:xfrm>
            <a:off x="6217920" y="1325880"/>
            <a:ext cx="534924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92240" y="1600200"/>
            <a:ext cx="914400" cy="91440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ar_w.png"/>
          <p:cNvPicPr>
            <a:picLocks noChangeAspect="1"/>
          </p:cNvPicPr>
          <p:nvPr/>
        </p:nvPicPr>
        <p:blipFill>
          <a:blip r:embed="rId3"/>
          <a:stretch>
            <a:fillRect/>
          </a:stretch>
        </p:blipFill>
        <p:spPr>
          <a:xfrm>
            <a:off x="6711696" y="1819656"/>
            <a:ext cx="475488" cy="475488"/>
          </a:xfrm>
          <a:prstGeom prst="rect">
            <a:avLst/>
          </a:prstGeom>
        </p:spPr>
      </p:pic>
      <p:sp>
        <p:nvSpPr>
          <p:cNvPr id="12" name="TextBox 11"/>
          <p:cNvSpPr txBox="1"/>
          <p:nvPr/>
        </p:nvSpPr>
        <p:spPr>
          <a:xfrm>
            <a:off x="7635240" y="1554480"/>
            <a:ext cx="3749039" cy="457200"/>
          </a:xfrm>
          <a:prstGeom prst="rect">
            <a:avLst/>
          </a:prstGeom>
          <a:noFill/>
        </p:spPr>
        <p:txBody>
          <a:bodyPr wrap="square" lIns="0" rIns="0" tIns="0" bIns="0" anchor="t">
            <a:spAutoFit/>
          </a:bodyPr>
          <a:lstStyle/>
          <a:p>
            <a:pPr algn="l">
              <a:spcAft>
                <a:spcPts val="400"/>
              </a:spcAft>
            </a:pPr>
            <a:r>
              <a:rPr sz="2200" b="1" i="0">
                <a:solidFill>
                  <a:srgbClr val="1FB58F"/>
                </a:solidFill>
                <a:latin typeface="Arial"/>
              </a:rPr>
              <a:t>Abstracción</a:t>
            </a:r>
          </a:p>
        </p:txBody>
      </p:sp>
      <p:sp>
        <p:nvSpPr>
          <p:cNvPr id="13" name="TextBox 12"/>
          <p:cNvSpPr txBox="1"/>
          <p:nvPr/>
        </p:nvSpPr>
        <p:spPr>
          <a:xfrm>
            <a:off x="7635240" y="2039112"/>
            <a:ext cx="3749039" cy="4114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Mostrar solo lo importante.</a:t>
            </a:r>
          </a:p>
        </p:txBody>
      </p:sp>
      <p:sp>
        <p:nvSpPr>
          <p:cNvPr id="14" name="TextBox 13"/>
          <p:cNvSpPr txBox="1"/>
          <p:nvPr/>
        </p:nvSpPr>
        <p:spPr>
          <a:xfrm>
            <a:off x="7635240" y="2468880"/>
            <a:ext cx="3749039" cy="8686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Manejas un auto con volante y pedales, sin saber cómo funciona el motor.</a:t>
            </a:r>
          </a:p>
        </p:txBody>
      </p:sp>
      <p:sp>
        <p:nvSpPr>
          <p:cNvPr id="15" name="Rounded Rectangle 14"/>
          <p:cNvSpPr/>
          <p:nvPr/>
        </p:nvSpPr>
        <p:spPr>
          <a:xfrm>
            <a:off x="640080" y="3657600"/>
            <a:ext cx="534924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14400" y="3931920"/>
            <a:ext cx="914400" cy="9144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itemap_w.png"/>
          <p:cNvPicPr>
            <a:picLocks noChangeAspect="1"/>
          </p:cNvPicPr>
          <p:nvPr/>
        </p:nvPicPr>
        <p:blipFill>
          <a:blip r:embed="rId4"/>
          <a:stretch>
            <a:fillRect/>
          </a:stretch>
        </p:blipFill>
        <p:spPr>
          <a:xfrm>
            <a:off x="1133856" y="4151376"/>
            <a:ext cx="475488" cy="475488"/>
          </a:xfrm>
          <a:prstGeom prst="rect">
            <a:avLst/>
          </a:prstGeom>
        </p:spPr>
      </p:pic>
      <p:sp>
        <p:nvSpPr>
          <p:cNvPr id="18" name="TextBox 17"/>
          <p:cNvSpPr txBox="1"/>
          <p:nvPr/>
        </p:nvSpPr>
        <p:spPr>
          <a:xfrm>
            <a:off x="2057400" y="3886200"/>
            <a:ext cx="3749039" cy="457200"/>
          </a:xfrm>
          <a:prstGeom prst="rect">
            <a:avLst/>
          </a:prstGeom>
          <a:noFill/>
        </p:spPr>
        <p:txBody>
          <a:bodyPr wrap="square" lIns="0" rIns="0" tIns="0" bIns="0" anchor="t">
            <a:spAutoFit/>
          </a:bodyPr>
          <a:lstStyle/>
          <a:p>
            <a:pPr algn="l">
              <a:spcAft>
                <a:spcPts val="400"/>
              </a:spcAft>
            </a:pPr>
            <a:r>
              <a:rPr sz="2200" b="1" i="0">
                <a:solidFill>
                  <a:srgbClr val="7B5CFA"/>
                </a:solidFill>
                <a:latin typeface="Arial"/>
              </a:rPr>
              <a:t>Herencia</a:t>
            </a:r>
          </a:p>
        </p:txBody>
      </p:sp>
      <p:sp>
        <p:nvSpPr>
          <p:cNvPr id="19" name="TextBox 18"/>
          <p:cNvSpPr txBox="1"/>
          <p:nvPr/>
        </p:nvSpPr>
        <p:spPr>
          <a:xfrm>
            <a:off x="2057400" y="4370832"/>
            <a:ext cx="3749039" cy="4114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Heredar lo de la clase padre.</a:t>
            </a:r>
          </a:p>
        </p:txBody>
      </p:sp>
      <p:sp>
        <p:nvSpPr>
          <p:cNvPr id="20" name="TextBox 19"/>
          <p:cNvSpPr txBox="1"/>
          <p:nvPr/>
        </p:nvSpPr>
        <p:spPr>
          <a:xfrm>
            <a:off x="2057400" y="4800600"/>
            <a:ext cx="3749039" cy="8686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Perro y Gato heredan nombre y edad de Mascota.</a:t>
            </a:r>
          </a:p>
        </p:txBody>
      </p:sp>
      <p:sp>
        <p:nvSpPr>
          <p:cNvPr id="21" name="Rounded Rectangle 20"/>
          <p:cNvSpPr/>
          <p:nvPr/>
        </p:nvSpPr>
        <p:spPr>
          <a:xfrm>
            <a:off x="6217920" y="3657600"/>
            <a:ext cx="534924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92240" y="3931920"/>
            <a:ext cx="914400" cy="9144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asks_w.png"/>
          <p:cNvPicPr>
            <a:picLocks noChangeAspect="1"/>
          </p:cNvPicPr>
          <p:nvPr/>
        </p:nvPicPr>
        <p:blipFill>
          <a:blip r:embed="rId5"/>
          <a:stretch>
            <a:fillRect/>
          </a:stretch>
        </p:blipFill>
        <p:spPr>
          <a:xfrm>
            <a:off x="6711696" y="4151376"/>
            <a:ext cx="475488" cy="475488"/>
          </a:xfrm>
          <a:prstGeom prst="rect">
            <a:avLst/>
          </a:prstGeom>
        </p:spPr>
      </p:pic>
      <p:sp>
        <p:nvSpPr>
          <p:cNvPr id="24" name="TextBox 23"/>
          <p:cNvSpPr txBox="1"/>
          <p:nvPr/>
        </p:nvSpPr>
        <p:spPr>
          <a:xfrm>
            <a:off x="7635240" y="3886200"/>
            <a:ext cx="3749039" cy="457200"/>
          </a:xfrm>
          <a:prstGeom prst="rect">
            <a:avLst/>
          </a:prstGeom>
          <a:noFill/>
        </p:spPr>
        <p:txBody>
          <a:bodyPr wrap="square" lIns="0" rIns="0" tIns="0" bIns="0" anchor="t">
            <a:spAutoFit/>
          </a:bodyPr>
          <a:lstStyle/>
          <a:p>
            <a:pPr algn="l">
              <a:spcAft>
                <a:spcPts val="400"/>
              </a:spcAft>
            </a:pPr>
            <a:r>
              <a:rPr sz="2200" b="1" i="0">
                <a:solidFill>
                  <a:srgbClr val="FF5A5F"/>
                </a:solidFill>
                <a:latin typeface="Arial"/>
              </a:rPr>
              <a:t>Polimorfismo</a:t>
            </a:r>
          </a:p>
        </p:txBody>
      </p:sp>
      <p:sp>
        <p:nvSpPr>
          <p:cNvPr id="25" name="TextBox 24"/>
          <p:cNvSpPr txBox="1"/>
          <p:nvPr/>
        </p:nvSpPr>
        <p:spPr>
          <a:xfrm>
            <a:off x="7635240" y="4370832"/>
            <a:ext cx="3749039" cy="4114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Mismo mensaje, distinta respuesta.</a:t>
            </a:r>
          </a:p>
        </p:txBody>
      </p:sp>
      <p:sp>
        <p:nvSpPr>
          <p:cNvPr id="26" name="TextBox 25"/>
          <p:cNvSpPr txBox="1"/>
          <p:nvPr/>
        </p:nvSpPr>
        <p:spPr>
          <a:xfrm>
            <a:off x="7635240" y="4800600"/>
            <a:ext cx="3749039" cy="8686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hacerSonido(): el perro ladra, el gato maúlla.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Herencia y Polimorfismo en acción</a:t>
            </a:r>
          </a:p>
        </p:txBody>
      </p:sp>
      <p:sp>
        <p:nvSpPr>
          <p:cNvPr id="3" name="Rounded Rectangle 2"/>
          <p:cNvSpPr/>
          <p:nvPr/>
        </p:nvSpPr>
        <p:spPr>
          <a:xfrm>
            <a:off x="4251960" y="1280160"/>
            <a:ext cx="3657600" cy="1508760"/>
          </a:xfrm>
          <a:prstGeom prst="roundRect">
            <a:avLst>
              <a:gd name="adj" fmla="val 10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434840" y="1481328"/>
            <a:ext cx="731520" cy="73152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paw_n.png"/>
          <p:cNvPicPr>
            <a:picLocks noChangeAspect="1"/>
          </p:cNvPicPr>
          <p:nvPr/>
        </p:nvPicPr>
        <p:blipFill>
          <a:blip r:embed="rId2"/>
          <a:stretch>
            <a:fillRect/>
          </a:stretch>
        </p:blipFill>
        <p:spPr>
          <a:xfrm>
            <a:off x="4610404" y="1656892"/>
            <a:ext cx="380390" cy="380390"/>
          </a:xfrm>
          <a:prstGeom prst="rect">
            <a:avLst/>
          </a:prstGeom>
        </p:spPr>
      </p:pic>
      <p:sp>
        <p:nvSpPr>
          <p:cNvPr id="6" name="TextBox 5"/>
          <p:cNvSpPr txBox="1"/>
          <p:nvPr/>
        </p:nvSpPr>
        <p:spPr>
          <a:xfrm>
            <a:off x="5303520" y="1371600"/>
            <a:ext cx="2468880" cy="457200"/>
          </a:xfrm>
          <a:prstGeom prst="rect">
            <a:avLst/>
          </a:prstGeom>
          <a:noFill/>
        </p:spPr>
        <p:txBody>
          <a:bodyPr wrap="square" lIns="0" rIns="0" tIns="0" bIns="0" anchor="t">
            <a:spAutoFit/>
          </a:bodyPr>
          <a:lstStyle/>
          <a:p>
            <a:pPr algn="l">
              <a:spcAft>
                <a:spcPts val="400"/>
              </a:spcAft>
            </a:pPr>
            <a:r>
              <a:rPr sz="2200" b="1" i="0">
                <a:solidFill>
                  <a:srgbClr val="FFFFFF"/>
                </a:solidFill>
                <a:latin typeface="Arial"/>
              </a:rPr>
              <a:t>Mascota</a:t>
            </a:r>
          </a:p>
        </p:txBody>
      </p:sp>
      <p:sp>
        <p:nvSpPr>
          <p:cNvPr id="7" name="TextBox 6"/>
          <p:cNvSpPr txBox="1"/>
          <p:nvPr/>
        </p:nvSpPr>
        <p:spPr>
          <a:xfrm>
            <a:off x="5303520" y="1810512"/>
            <a:ext cx="2560320" cy="914400"/>
          </a:xfrm>
          <a:prstGeom prst="rect">
            <a:avLst/>
          </a:prstGeom>
          <a:noFill/>
        </p:spPr>
        <p:txBody>
          <a:bodyPr wrap="square" lIns="0" rIns="0" tIns="0" bIns="0" anchor="t">
            <a:spAutoFit/>
          </a:bodyPr>
          <a:lstStyle/>
          <a:p>
            <a:pPr algn="l">
              <a:spcAft>
                <a:spcPts val="200"/>
              </a:spcAft>
            </a:pPr>
            <a:r>
              <a:rPr sz="1300" b="0" i="0">
                <a:solidFill>
                  <a:srgbClr val="C8D6E5"/>
                </a:solidFill>
                <a:latin typeface="Courier New"/>
              </a:rPr>
              <a:t>nombre, edad</a:t>
            </a:r>
          </a:p>
          <a:p>
            <a:pPr algn="l">
              <a:spcAft>
                <a:spcPts val="200"/>
              </a:spcAft>
            </a:pPr>
            <a:r>
              <a:rPr sz="1300" b="0" i="0">
                <a:solidFill>
                  <a:srgbClr val="C8D6E5"/>
                </a:solidFill>
                <a:latin typeface="Courier New"/>
              </a:rPr>
              <a:t>comer()  hacerSonido()</a:t>
            </a:r>
          </a:p>
        </p:txBody>
      </p:sp>
      <p:sp>
        <p:nvSpPr>
          <p:cNvPr id="8" name="TextBox 7"/>
          <p:cNvSpPr txBox="1"/>
          <p:nvPr/>
        </p:nvSpPr>
        <p:spPr>
          <a:xfrm>
            <a:off x="8092440" y="1417320"/>
            <a:ext cx="3474720" cy="10972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Clase padre</a:t>
            </a:r>
          </a:p>
          <a:p>
            <a:pPr algn="l">
              <a:spcAft>
                <a:spcPts val="400"/>
              </a:spcAft>
            </a:pPr>
            <a:r>
              <a:rPr sz="1500" b="0" i="0">
                <a:solidFill>
                  <a:srgbClr val="4A5A6A"/>
                </a:solidFill>
                <a:latin typeface="Arial"/>
              </a:rPr>
              <a:t>Lo que TODAS las mascotas tienen y hacen.</a:t>
            </a:r>
          </a:p>
        </p:txBody>
      </p:sp>
      <p:cxnSp>
        <p:nvCxnSpPr>
          <p:cNvPr id="9" name="Connector 8"/>
          <p:cNvCxnSpPr/>
          <p:nvPr/>
        </p:nvCxnSpPr>
        <p:spPr>
          <a:xfrm flipH="1">
            <a:off x="2331720" y="2834640"/>
            <a:ext cx="3749040" cy="594360"/>
          </a:xfrm>
          <a:prstGeom prst="line">
            <a:avLst/>
          </a:prstGeom>
          <a:ln w="25400">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3474720"/>
            <a:ext cx="3429000" cy="1874519"/>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68680" y="3657600"/>
            <a:ext cx="777240" cy="77724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og_w.png"/>
          <p:cNvPicPr>
            <a:picLocks noChangeAspect="1"/>
          </p:cNvPicPr>
          <p:nvPr/>
        </p:nvPicPr>
        <p:blipFill>
          <a:blip r:embed="rId3"/>
          <a:stretch>
            <a:fillRect/>
          </a:stretch>
        </p:blipFill>
        <p:spPr>
          <a:xfrm>
            <a:off x="1055217" y="3844137"/>
            <a:ext cx="404164" cy="404164"/>
          </a:xfrm>
          <a:prstGeom prst="rect">
            <a:avLst/>
          </a:prstGeom>
        </p:spPr>
      </p:pic>
      <p:sp>
        <p:nvSpPr>
          <p:cNvPr id="13" name="TextBox 12"/>
          <p:cNvSpPr txBox="1"/>
          <p:nvPr/>
        </p:nvSpPr>
        <p:spPr>
          <a:xfrm>
            <a:off x="1783080" y="3611880"/>
            <a:ext cx="2103120" cy="457200"/>
          </a:xfrm>
          <a:prstGeom prst="rect">
            <a:avLst/>
          </a:prstGeom>
          <a:noFill/>
        </p:spPr>
        <p:txBody>
          <a:bodyPr wrap="square" lIns="0" rIns="0" tIns="0" bIns="0" anchor="t">
            <a:spAutoFit/>
          </a:bodyPr>
          <a:lstStyle/>
          <a:p>
            <a:pPr algn="l">
              <a:spcAft>
                <a:spcPts val="400"/>
              </a:spcAft>
            </a:pPr>
            <a:r>
              <a:rPr sz="2000" b="1" i="0">
                <a:solidFill>
                  <a:srgbClr val="FF5A5F"/>
                </a:solidFill>
                <a:latin typeface="Arial"/>
              </a:rPr>
              <a:t>Perro</a:t>
            </a:r>
          </a:p>
        </p:txBody>
      </p:sp>
      <p:sp>
        <p:nvSpPr>
          <p:cNvPr id="14" name="TextBox 13"/>
          <p:cNvSpPr txBox="1"/>
          <p:nvPr/>
        </p:nvSpPr>
        <p:spPr>
          <a:xfrm>
            <a:off x="1783080" y="4041648"/>
            <a:ext cx="2194560" cy="36576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hereda de Mascota</a:t>
            </a:r>
          </a:p>
        </p:txBody>
      </p:sp>
      <p:sp>
        <p:nvSpPr>
          <p:cNvPr id="15" name="Rounded Rectangle 14"/>
          <p:cNvSpPr/>
          <p:nvPr/>
        </p:nvSpPr>
        <p:spPr>
          <a:xfrm>
            <a:off x="868680" y="4572000"/>
            <a:ext cx="2971800" cy="594360"/>
          </a:xfrm>
          <a:prstGeom prst="roundRect">
            <a:avLst>
              <a:gd name="adj" fmla="val 30000"/>
            </a:avLst>
          </a:prstGeom>
          <a:solidFill>
            <a:srgbClr val="FFFFFF"/>
          </a:solidFill>
          <a:ln w="25400">
            <a:solidFill>
              <a:srgbClr val="FF5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0119" y="4572000"/>
            <a:ext cx="2788920" cy="594360"/>
          </a:xfrm>
          <a:prstGeom prst="rect">
            <a:avLst/>
          </a:prstGeom>
          <a:noFill/>
        </p:spPr>
        <p:txBody>
          <a:bodyPr wrap="square" lIns="0" rIns="0" tIns="0" bIns="0" anchor="ctr">
            <a:spAutoFit/>
          </a:bodyPr>
          <a:lstStyle/>
          <a:p>
            <a:pPr algn="ctr">
              <a:spcAft>
                <a:spcPts val="400"/>
              </a:spcAft>
            </a:pPr>
            <a:r>
              <a:rPr sz="1200" b="0" i="0">
                <a:solidFill>
                  <a:srgbClr val="4A5A6A"/>
                </a:solidFill>
                <a:latin typeface="Courier New"/>
              </a:rPr>
              <a:t>hacerSonido() → </a:t>
            </a:r>
            <a:r>
              <a:rPr sz="1500" b="1" i="0">
                <a:solidFill>
                  <a:srgbClr val="0B2A4A"/>
                </a:solidFill>
                <a:latin typeface="Arial"/>
              </a:rPr>
              <a:t>¡Guau guau!</a:t>
            </a:r>
          </a:p>
        </p:txBody>
      </p:sp>
      <p:cxnSp>
        <p:nvCxnSpPr>
          <p:cNvPr id="17" name="Connector 16"/>
          <p:cNvCxnSpPr/>
          <p:nvPr/>
        </p:nvCxnSpPr>
        <p:spPr>
          <a:xfrm>
            <a:off x="6080760" y="2834640"/>
            <a:ext cx="0" cy="594360"/>
          </a:xfrm>
          <a:prstGeom prst="line">
            <a:avLst/>
          </a:prstGeom>
          <a:ln w="25400">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89120" y="3474720"/>
            <a:ext cx="3429000" cy="1874519"/>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617720" y="3657600"/>
            <a:ext cx="777240" cy="77724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t_w.png"/>
          <p:cNvPicPr>
            <a:picLocks noChangeAspect="1"/>
          </p:cNvPicPr>
          <p:nvPr/>
        </p:nvPicPr>
        <p:blipFill>
          <a:blip r:embed="rId4"/>
          <a:stretch>
            <a:fillRect/>
          </a:stretch>
        </p:blipFill>
        <p:spPr>
          <a:xfrm>
            <a:off x="4804257" y="3844137"/>
            <a:ext cx="404164" cy="404164"/>
          </a:xfrm>
          <a:prstGeom prst="rect">
            <a:avLst/>
          </a:prstGeom>
        </p:spPr>
      </p:pic>
      <p:sp>
        <p:nvSpPr>
          <p:cNvPr id="21" name="TextBox 20"/>
          <p:cNvSpPr txBox="1"/>
          <p:nvPr/>
        </p:nvSpPr>
        <p:spPr>
          <a:xfrm>
            <a:off x="5532120" y="3611880"/>
            <a:ext cx="2103120" cy="457200"/>
          </a:xfrm>
          <a:prstGeom prst="rect">
            <a:avLst/>
          </a:prstGeom>
          <a:noFill/>
        </p:spPr>
        <p:txBody>
          <a:bodyPr wrap="square" lIns="0" rIns="0" tIns="0" bIns="0" anchor="t">
            <a:spAutoFit/>
          </a:bodyPr>
          <a:lstStyle/>
          <a:p>
            <a:pPr algn="l">
              <a:spcAft>
                <a:spcPts val="400"/>
              </a:spcAft>
            </a:pPr>
            <a:r>
              <a:rPr sz="2000" b="1" i="0">
                <a:solidFill>
                  <a:srgbClr val="7B5CFA"/>
                </a:solidFill>
                <a:latin typeface="Arial"/>
              </a:rPr>
              <a:t>Gato</a:t>
            </a:r>
          </a:p>
        </p:txBody>
      </p:sp>
      <p:sp>
        <p:nvSpPr>
          <p:cNvPr id="22" name="TextBox 21"/>
          <p:cNvSpPr txBox="1"/>
          <p:nvPr/>
        </p:nvSpPr>
        <p:spPr>
          <a:xfrm>
            <a:off x="5532120" y="4041648"/>
            <a:ext cx="2194560" cy="36576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hereda de Mascota</a:t>
            </a:r>
          </a:p>
        </p:txBody>
      </p:sp>
      <p:sp>
        <p:nvSpPr>
          <p:cNvPr id="23" name="Rounded Rectangle 22"/>
          <p:cNvSpPr/>
          <p:nvPr/>
        </p:nvSpPr>
        <p:spPr>
          <a:xfrm>
            <a:off x="4617720" y="4572000"/>
            <a:ext cx="2971800" cy="594360"/>
          </a:xfrm>
          <a:prstGeom prst="roundRect">
            <a:avLst>
              <a:gd name="adj" fmla="val 30000"/>
            </a:avLst>
          </a:prstGeom>
          <a:solidFill>
            <a:srgbClr val="FFFFFF"/>
          </a:solidFill>
          <a:ln w="25400">
            <a:solidFill>
              <a:srgbClr val="7B5C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709159" y="4572000"/>
            <a:ext cx="2788920" cy="594360"/>
          </a:xfrm>
          <a:prstGeom prst="rect">
            <a:avLst/>
          </a:prstGeom>
          <a:noFill/>
        </p:spPr>
        <p:txBody>
          <a:bodyPr wrap="square" lIns="0" rIns="0" tIns="0" bIns="0" anchor="ctr">
            <a:spAutoFit/>
          </a:bodyPr>
          <a:lstStyle/>
          <a:p>
            <a:pPr algn="ctr">
              <a:spcAft>
                <a:spcPts val="400"/>
              </a:spcAft>
            </a:pPr>
            <a:r>
              <a:rPr sz="1200" b="0" i="0">
                <a:solidFill>
                  <a:srgbClr val="4A5A6A"/>
                </a:solidFill>
                <a:latin typeface="Courier New"/>
              </a:rPr>
              <a:t>hacerSonido() → </a:t>
            </a:r>
            <a:r>
              <a:rPr sz="1500" b="1" i="0">
                <a:solidFill>
                  <a:srgbClr val="0B2A4A"/>
                </a:solidFill>
                <a:latin typeface="Arial"/>
              </a:rPr>
              <a:t>¡Miau!</a:t>
            </a:r>
          </a:p>
        </p:txBody>
      </p:sp>
      <p:cxnSp>
        <p:nvCxnSpPr>
          <p:cNvPr id="25" name="Connector 24"/>
          <p:cNvCxnSpPr/>
          <p:nvPr/>
        </p:nvCxnSpPr>
        <p:spPr>
          <a:xfrm>
            <a:off x="6080760" y="2834640"/>
            <a:ext cx="3749039" cy="594360"/>
          </a:xfrm>
          <a:prstGeom prst="line">
            <a:avLst/>
          </a:prstGeom>
          <a:ln w="25400">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8159" y="3474720"/>
            <a:ext cx="3429000" cy="1874519"/>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66759" y="3657600"/>
            <a:ext cx="777240" cy="77724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mment_w.png"/>
          <p:cNvPicPr>
            <a:picLocks noChangeAspect="1"/>
          </p:cNvPicPr>
          <p:nvPr/>
        </p:nvPicPr>
        <p:blipFill>
          <a:blip r:embed="rId5"/>
          <a:stretch>
            <a:fillRect/>
          </a:stretch>
        </p:blipFill>
        <p:spPr>
          <a:xfrm>
            <a:off x="8553297" y="3844137"/>
            <a:ext cx="404164" cy="404164"/>
          </a:xfrm>
          <a:prstGeom prst="rect">
            <a:avLst/>
          </a:prstGeom>
        </p:spPr>
      </p:pic>
      <p:sp>
        <p:nvSpPr>
          <p:cNvPr id="29" name="TextBox 28"/>
          <p:cNvSpPr txBox="1"/>
          <p:nvPr/>
        </p:nvSpPr>
        <p:spPr>
          <a:xfrm>
            <a:off x="9281159" y="3611880"/>
            <a:ext cx="2103120" cy="457200"/>
          </a:xfrm>
          <a:prstGeom prst="rect">
            <a:avLst/>
          </a:prstGeom>
          <a:noFill/>
        </p:spPr>
        <p:txBody>
          <a:bodyPr wrap="square" lIns="0" rIns="0" tIns="0" bIns="0" anchor="t">
            <a:spAutoFit/>
          </a:bodyPr>
          <a:lstStyle/>
          <a:p>
            <a:pPr algn="l">
              <a:spcAft>
                <a:spcPts val="400"/>
              </a:spcAft>
            </a:pPr>
            <a:r>
              <a:rPr sz="2000" b="1" i="0">
                <a:solidFill>
                  <a:srgbClr val="1FB58F"/>
                </a:solidFill>
                <a:latin typeface="Arial"/>
              </a:rPr>
              <a:t>Loro</a:t>
            </a:r>
          </a:p>
        </p:txBody>
      </p:sp>
      <p:sp>
        <p:nvSpPr>
          <p:cNvPr id="30" name="TextBox 29"/>
          <p:cNvSpPr txBox="1"/>
          <p:nvPr/>
        </p:nvSpPr>
        <p:spPr>
          <a:xfrm>
            <a:off x="9281159" y="4041648"/>
            <a:ext cx="2194560" cy="36576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hereda de Mascota</a:t>
            </a:r>
          </a:p>
        </p:txBody>
      </p:sp>
      <p:sp>
        <p:nvSpPr>
          <p:cNvPr id="31" name="Rounded Rectangle 30"/>
          <p:cNvSpPr/>
          <p:nvPr/>
        </p:nvSpPr>
        <p:spPr>
          <a:xfrm>
            <a:off x="8366759" y="4572000"/>
            <a:ext cx="2971800" cy="594360"/>
          </a:xfrm>
          <a:prstGeom prst="roundRect">
            <a:avLst>
              <a:gd name="adj" fmla="val 30000"/>
            </a:avLst>
          </a:prstGeom>
          <a:solidFill>
            <a:srgbClr val="FFFFFF"/>
          </a:solidFill>
          <a:ln w="25400">
            <a:solidFill>
              <a:srgbClr val="1FB5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458199" y="4572000"/>
            <a:ext cx="2788920" cy="594360"/>
          </a:xfrm>
          <a:prstGeom prst="rect">
            <a:avLst/>
          </a:prstGeom>
          <a:noFill/>
        </p:spPr>
        <p:txBody>
          <a:bodyPr wrap="square" lIns="0" rIns="0" tIns="0" bIns="0" anchor="ctr">
            <a:spAutoFit/>
          </a:bodyPr>
          <a:lstStyle/>
          <a:p>
            <a:pPr algn="ctr">
              <a:spcAft>
                <a:spcPts val="400"/>
              </a:spcAft>
            </a:pPr>
            <a:r>
              <a:rPr sz="1200" b="0" i="0">
                <a:solidFill>
                  <a:srgbClr val="4A5A6A"/>
                </a:solidFill>
                <a:latin typeface="Courier New"/>
              </a:rPr>
              <a:t>hacerSonido() → </a:t>
            </a:r>
            <a:r>
              <a:rPr sz="1500" b="1" i="0">
                <a:solidFill>
                  <a:srgbClr val="0B2A4A"/>
                </a:solidFill>
                <a:latin typeface="Arial"/>
              </a:rPr>
              <a:t>¡Hola, hola!</a:t>
            </a:r>
          </a:p>
        </p:txBody>
      </p:sp>
      <p:sp>
        <p:nvSpPr>
          <p:cNvPr id="33" name="Rounded Rectangle 32"/>
          <p:cNvSpPr/>
          <p:nvPr/>
        </p:nvSpPr>
        <p:spPr>
          <a:xfrm>
            <a:off x="1280160" y="5577840"/>
            <a:ext cx="9601200" cy="50292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ightbulb_n.png"/>
          <p:cNvPicPr>
            <a:picLocks noChangeAspect="1"/>
          </p:cNvPicPr>
          <p:nvPr/>
        </p:nvPicPr>
        <p:blipFill>
          <a:blip r:embed="rId6"/>
          <a:stretch>
            <a:fillRect/>
          </a:stretch>
        </p:blipFill>
        <p:spPr>
          <a:xfrm>
            <a:off x="1417319" y="5623559"/>
            <a:ext cx="411480" cy="411480"/>
          </a:xfrm>
          <a:prstGeom prst="rect">
            <a:avLst/>
          </a:prstGeom>
        </p:spPr>
      </p:pic>
      <p:sp>
        <p:nvSpPr>
          <p:cNvPr id="35" name="TextBox 34"/>
          <p:cNvSpPr txBox="1"/>
          <p:nvPr/>
        </p:nvSpPr>
        <p:spPr>
          <a:xfrm>
            <a:off x="1965960" y="5577840"/>
            <a:ext cx="8732520" cy="5029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Herencia: no repites código.   Polimorfismo: el mismo método se comporta distinto.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Manos al código: la clase Personaje</a:t>
            </a:r>
          </a:p>
        </p:txBody>
      </p:sp>
      <p:sp>
        <p:nvSpPr>
          <p:cNvPr id="3" name="Rounded Rectangle 2"/>
          <p:cNvSpPr/>
          <p:nvPr/>
        </p:nvSpPr>
        <p:spPr>
          <a:xfrm>
            <a:off x="640080" y="1234440"/>
            <a:ext cx="7406640" cy="48463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38988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38988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38988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325880"/>
            <a:ext cx="6309359"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Personaje.java</a:t>
            </a:r>
          </a:p>
        </p:txBody>
      </p:sp>
      <p:sp>
        <p:nvSpPr>
          <p:cNvPr id="8" name="TextBox 7"/>
          <p:cNvSpPr txBox="1"/>
          <p:nvPr/>
        </p:nvSpPr>
        <p:spPr>
          <a:xfrm>
            <a:off x="914400" y="1691640"/>
            <a:ext cx="6949440" cy="4251959"/>
          </a:xfrm>
          <a:prstGeom prst="rect">
            <a:avLst/>
          </a:prstGeom>
          <a:noFill/>
        </p:spPr>
        <p:txBody>
          <a:bodyPr wrap="square" lIns="0" rIns="0" tIns="0" bIns="0" anchor="t">
            <a:spAutoFit/>
          </a:bodyPr>
          <a:lstStyle/>
          <a:p>
            <a:pPr algn="l">
              <a:spcAft>
                <a:spcPts val="0"/>
              </a:spcAft>
            </a:pPr>
            <a:r>
              <a:rPr sz="1200" b="0" i="0">
                <a:solidFill>
                  <a:srgbClr val="C792EA"/>
                </a:solidFill>
                <a:latin typeface="Courier New"/>
              </a:rPr>
              <a:t>public</a:t>
            </a:r>
            <a:r>
              <a:rPr sz="1200" b="0" i="0">
                <a:solidFill>
                  <a:srgbClr val="E6EDF3"/>
                </a:solidFill>
                <a:latin typeface="Courier New"/>
              </a:rPr>
              <a:t> </a:t>
            </a:r>
            <a:r>
              <a:rPr sz="1200" b="0" i="0">
                <a:solidFill>
                  <a:srgbClr val="C792EA"/>
                </a:solidFill>
                <a:latin typeface="Courier New"/>
              </a:rPr>
              <a:t>class</a:t>
            </a:r>
            <a:r>
              <a:rPr sz="1200" b="0" i="0">
                <a:solidFill>
                  <a:srgbClr val="E6EDF3"/>
                </a:solidFill>
                <a:latin typeface="Courier New"/>
              </a:rPr>
              <a:t> </a:t>
            </a:r>
            <a:r>
              <a:rPr sz="1200" b="0" i="0">
                <a:solidFill>
                  <a:srgbClr val="5EC8FF"/>
                </a:solidFill>
                <a:latin typeface="Courier New"/>
              </a:rPr>
              <a:t>Personaje</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1">
                <a:solidFill>
                  <a:srgbClr val="7FD18B"/>
                </a:solidFill>
                <a:latin typeface="Courier New"/>
              </a:rPr>
              <a:t>// ATRIBUTOS: lo que TIENE</a:t>
            </a:r>
          </a:p>
          <a:p>
            <a:pPr algn="l">
              <a:spcAft>
                <a:spcPts val="0"/>
              </a:spcAft>
            </a:pPr>
            <a:r>
              <a:rPr sz="1200" b="0" i="0">
                <a:solidFill>
                  <a:srgbClr val="E6EDF3"/>
                </a:solidFill>
                <a:latin typeface="Courier New"/>
              </a:rPr>
              <a:t>    </a:t>
            </a:r>
            <a:r>
              <a:rPr sz="1200" b="0" i="0">
                <a:solidFill>
                  <a:srgbClr val="5EC8FF"/>
                </a:solidFill>
                <a:latin typeface="Courier New"/>
              </a:rPr>
              <a:t>String</a:t>
            </a:r>
            <a:r>
              <a:rPr sz="1200" b="0" i="0">
                <a:solidFill>
                  <a:srgbClr val="E6EDF3"/>
                </a:solidFill>
                <a:latin typeface="Courier New"/>
              </a:rPr>
              <a:t> </a:t>
            </a:r>
            <a:r>
              <a:rPr sz="1200" b="0" i="0">
                <a:solidFill>
                  <a:srgbClr val="E6EDF3"/>
                </a:solidFill>
                <a:latin typeface="Courier New"/>
              </a:rPr>
              <a:t>nombre</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vida</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ataque</a:t>
            </a:r>
            <a:r>
              <a:rPr sz="1200" b="0" i="0">
                <a:solidFill>
                  <a:srgbClr val="E6EDF3"/>
                </a:solidFill>
                <a:latin typeface="Courier New"/>
              </a:rPr>
              <a:t>;</a:t>
            </a:r>
          </a:p>
          <a:p>
            <a:pPr algn="l">
              <a:spcAft>
                <a:spcPts val="0"/>
              </a:spcAft>
            </a:pPr>
            <a:r>
              <a:rPr sz="1200" b="0" i="0">
                <a:solidFill>
                  <a:srgbClr val="E6EDF3"/>
                </a:solidFill>
                <a:latin typeface="Courier New"/>
              </a:rPr>
              <a:t> </a:t>
            </a:r>
          </a:p>
          <a:p>
            <a:pPr algn="l">
              <a:spcAft>
                <a:spcPts val="0"/>
              </a:spcAft>
            </a:pPr>
            <a:r>
              <a:rPr sz="1200" b="0" i="0">
                <a:solidFill>
                  <a:srgbClr val="E6EDF3"/>
                </a:solidFill>
                <a:latin typeface="Courier New"/>
              </a:rPr>
              <a:t>    </a:t>
            </a:r>
            <a:r>
              <a:rPr sz="1200" b="0" i="1">
                <a:solidFill>
                  <a:srgbClr val="7FD18B"/>
                </a:solidFill>
                <a:latin typeface="Courier New"/>
              </a:rPr>
              <a:t>// CONSTRUCTOR: "fabrica" cada objeto</a:t>
            </a:r>
          </a:p>
          <a:p>
            <a:pPr algn="l">
              <a:spcAft>
                <a:spcPts val="0"/>
              </a:spcAft>
            </a:pPr>
            <a:r>
              <a:rPr sz="1200" b="0" i="0">
                <a:solidFill>
                  <a:srgbClr val="E6EDF3"/>
                </a:solidFill>
                <a:latin typeface="Courier New"/>
              </a:rPr>
              <a:t>    </a:t>
            </a:r>
            <a:r>
              <a:rPr sz="1200" b="0" i="0">
                <a:solidFill>
                  <a:srgbClr val="C792EA"/>
                </a:solidFill>
                <a:latin typeface="Courier New"/>
              </a:rPr>
              <a:t>public</a:t>
            </a:r>
            <a:r>
              <a:rPr sz="1200" b="0" i="0">
                <a:solidFill>
                  <a:srgbClr val="E6EDF3"/>
                </a:solidFill>
                <a:latin typeface="Courier New"/>
              </a:rPr>
              <a:t> </a:t>
            </a:r>
            <a:r>
              <a:rPr sz="1200" b="0" i="0">
                <a:solidFill>
                  <a:srgbClr val="5EC8FF"/>
                </a:solidFill>
                <a:latin typeface="Courier New"/>
              </a:rPr>
              <a:t>Personaje</a:t>
            </a:r>
            <a:r>
              <a:rPr sz="1200" b="0" i="0">
                <a:solidFill>
                  <a:srgbClr val="E6EDF3"/>
                </a:solidFill>
                <a:latin typeface="Courier New"/>
              </a:rPr>
              <a:t>(</a:t>
            </a:r>
            <a:r>
              <a:rPr sz="1200" b="0" i="0">
                <a:solidFill>
                  <a:srgbClr val="5EC8FF"/>
                </a:solidFill>
                <a:latin typeface="Courier New"/>
              </a:rPr>
              <a:t>String</a:t>
            </a:r>
            <a:r>
              <a:rPr sz="1200" b="0" i="0">
                <a:solidFill>
                  <a:srgbClr val="E6EDF3"/>
                </a:solidFill>
                <a:latin typeface="Courier New"/>
              </a:rPr>
              <a:t> </a:t>
            </a:r>
            <a:r>
              <a:rPr sz="1200" b="0" i="0">
                <a:solidFill>
                  <a:srgbClr val="E6EDF3"/>
                </a:solidFill>
                <a:latin typeface="Courier New"/>
              </a:rPr>
              <a:t>nombre</a:t>
            </a:r>
            <a:r>
              <a:rPr sz="1200" b="0" i="0">
                <a:solidFill>
                  <a:srgbClr val="E6EDF3"/>
                </a:solidFill>
                <a:latin typeface="Courier New"/>
              </a:rPr>
              <a:t>,</a:t>
            </a:r>
            <a:r>
              <a:rPr sz="1200" b="0" i="0">
                <a:solidFill>
                  <a:srgbClr val="E6EDF3"/>
                </a:solidFill>
                <a:latin typeface="Courier New"/>
              </a:rPr>
              <a:t> </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vida</a:t>
            </a:r>
            <a:r>
              <a:rPr sz="1200" b="0" i="0">
                <a:solidFill>
                  <a:srgbClr val="E6EDF3"/>
                </a:solidFill>
                <a:latin typeface="Courier New"/>
              </a:rPr>
              <a:t>,</a:t>
            </a:r>
            <a:r>
              <a:rPr sz="1200" b="0" i="0">
                <a:solidFill>
                  <a:srgbClr val="E6EDF3"/>
                </a:solidFill>
                <a:latin typeface="Courier New"/>
              </a:rPr>
              <a:t> </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ataque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C792EA"/>
                </a:solidFill>
                <a:latin typeface="Courier New"/>
              </a:rPr>
              <a:t>this</a:t>
            </a:r>
            <a:r>
              <a:rPr sz="1200" b="0" i="0">
                <a:solidFill>
                  <a:srgbClr val="E6EDF3"/>
                </a:solidFill>
                <a:latin typeface="Courier New"/>
              </a:rPr>
              <a:t>.</a:t>
            </a:r>
            <a:r>
              <a:rPr sz="1200" b="0" i="0">
                <a:solidFill>
                  <a:srgbClr val="E6EDF3"/>
                </a:solidFill>
                <a:latin typeface="Courier New"/>
              </a:rPr>
              <a:t>nombre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nombre</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C792EA"/>
                </a:solidFill>
                <a:latin typeface="Courier New"/>
              </a:rPr>
              <a:t>this</a:t>
            </a:r>
            <a:r>
              <a:rPr sz="1200" b="0" i="0">
                <a:solidFill>
                  <a:srgbClr val="E6EDF3"/>
                </a:solidFill>
                <a:latin typeface="Courier New"/>
              </a:rPr>
              <a:t>.</a:t>
            </a:r>
            <a:r>
              <a:rPr sz="1200" b="0" i="0">
                <a:solidFill>
                  <a:srgbClr val="E6EDF3"/>
                </a:solidFill>
                <a:latin typeface="Courier New"/>
              </a:rPr>
              <a:t>vida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vida</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C792EA"/>
                </a:solidFill>
                <a:latin typeface="Courier New"/>
              </a:rPr>
              <a:t>this</a:t>
            </a:r>
            <a:r>
              <a:rPr sz="1200" b="0" i="0">
                <a:solidFill>
                  <a:srgbClr val="E6EDF3"/>
                </a:solidFill>
                <a:latin typeface="Courier New"/>
              </a:rPr>
              <a:t>.</a:t>
            </a:r>
            <a:r>
              <a:rPr sz="1200" b="0" i="0">
                <a:solidFill>
                  <a:srgbClr val="E6EDF3"/>
                </a:solidFill>
                <a:latin typeface="Courier New"/>
              </a:rPr>
              <a:t>ataque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ataque</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p>
          <a:p>
            <a:pPr algn="l">
              <a:spcAft>
                <a:spcPts val="0"/>
              </a:spcAft>
            </a:pPr>
            <a:r>
              <a:rPr sz="1200" b="0" i="0">
                <a:solidFill>
                  <a:srgbClr val="E6EDF3"/>
                </a:solidFill>
                <a:latin typeface="Courier New"/>
              </a:rPr>
              <a:t>    </a:t>
            </a:r>
            <a:r>
              <a:rPr sz="1200" b="0" i="1">
                <a:solidFill>
                  <a:srgbClr val="7FD18B"/>
                </a:solidFill>
                <a:latin typeface="Courier New"/>
              </a:rPr>
              <a:t>// MÉTODOS: lo que HACE</a:t>
            </a:r>
          </a:p>
          <a:p>
            <a:pPr algn="l">
              <a:spcAft>
                <a:spcPts val="0"/>
              </a:spcAft>
            </a:pPr>
            <a:r>
              <a:rPr sz="1200" b="0" i="0">
                <a:solidFill>
                  <a:srgbClr val="E6EDF3"/>
                </a:solidFill>
                <a:latin typeface="Courier New"/>
              </a:rPr>
              <a:t>    </a:t>
            </a:r>
            <a:r>
              <a:rPr sz="1200" b="0" i="0">
                <a:solidFill>
                  <a:srgbClr val="C792EA"/>
                </a:solidFill>
                <a:latin typeface="Courier New"/>
              </a:rPr>
              <a:t>public</a:t>
            </a:r>
            <a:r>
              <a:rPr sz="1200" b="0" i="0">
                <a:solidFill>
                  <a:srgbClr val="E6EDF3"/>
                </a:solidFill>
                <a:latin typeface="Courier New"/>
              </a:rPr>
              <a:t> </a:t>
            </a:r>
            <a:r>
              <a:rPr sz="1200" b="0" i="0">
                <a:solidFill>
                  <a:srgbClr val="C792EA"/>
                </a:solidFill>
                <a:latin typeface="Courier New"/>
              </a:rPr>
              <a:t>void</a:t>
            </a:r>
            <a:r>
              <a:rPr sz="1200" b="0" i="0">
                <a:solidFill>
                  <a:srgbClr val="E6EDF3"/>
                </a:solidFill>
                <a:latin typeface="Courier New"/>
              </a:rPr>
              <a:t> </a:t>
            </a:r>
            <a:r>
              <a:rPr sz="1200" b="0" i="0">
                <a:solidFill>
                  <a:srgbClr val="E6EDF3"/>
                </a:solidFill>
                <a:latin typeface="Courier New"/>
              </a:rPr>
              <a:t>atacar</a:t>
            </a:r>
            <a:r>
              <a:rPr sz="1200" b="0" i="0">
                <a:solidFill>
                  <a:srgbClr val="E6EDF3"/>
                </a:solidFill>
                <a:latin typeface="Courier New"/>
              </a:rPr>
              <a:t>(</a:t>
            </a:r>
            <a:r>
              <a:rPr sz="1200" b="0" i="0">
                <a:solidFill>
                  <a:srgbClr val="5EC8FF"/>
                </a:solidFill>
                <a:latin typeface="Courier New"/>
              </a:rPr>
              <a:t>Personaje</a:t>
            </a:r>
            <a:r>
              <a:rPr sz="1200" b="0" i="0">
                <a:solidFill>
                  <a:srgbClr val="E6EDF3"/>
                </a:solidFill>
                <a:latin typeface="Courier New"/>
              </a:rPr>
              <a:t> </a:t>
            </a:r>
            <a:r>
              <a:rPr sz="1200" b="0" i="0">
                <a:solidFill>
                  <a:srgbClr val="E6EDF3"/>
                </a:solidFill>
                <a:latin typeface="Courier New"/>
              </a:rPr>
              <a:t>enemigo</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enemigo</a:t>
            </a:r>
            <a:r>
              <a:rPr sz="1200" b="0" i="0">
                <a:solidFill>
                  <a:srgbClr val="E6EDF3"/>
                </a:solidFill>
                <a:latin typeface="Courier New"/>
              </a:rPr>
              <a:t>.</a:t>
            </a:r>
            <a:r>
              <a:rPr sz="1200" b="0" i="0">
                <a:solidFill>
                  <a:srgbClr val="E6EDF3"/>
                </a:solidFill>
                <a:latin typeface="Courier New"/>
              </a:rPr>
              <a:t>vida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enemigo</a:t>
            </a:r>
            <a:r>
              <a:rPr sz="1200" b="0" i="0">
                <a:solidFill>
                  <a:srgbClr val="E6EDF3"/>
                </a:solidFill>
                <a:latin typeface="Courier New"/>
              </a:rPr>
              <a:t>.</a:t>
            </a:r>
            <a:r>
              <a:rPr sz="1200" b="0" i="0">
                <a:solidFill>
                  <a:srgbClr val="E6EDF3"/>
                </a:solidFill>
                <a:latin typeface="Courier New"/>
              </a:rPr>
              <a:t>vida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C792EA"/>
                </a:solidFill>
                <a:latin typeface="Courier New"/>
              </a:rPr>
              <a:t>this</a:t>
            </a:r>
            <a:r>
              <a:rPr sz="1200" b="0" i="0">
                <a:solidFill>
                  <a:srgbClr val="E6EDF3"/>
                </a:solidFill>
                <a:latin typeface="Courier New"/>
              </a:rPr>
              <a:t>.</a:t>
            </a:r>
            <a:r>
              <a:rPr sz="1200" b="0" i="0">
                <a:solidFill>
                  <a:srgbClr val="E6EDF3"/>
                </a:solidFill>
                <a:latin typeface="Courier New"/>
              </a:rPr>
              <a:t>ataque</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E6EDF3"/>
                </a:solidFill>
                <a:latin typeface="Courier New"/>
              </a:rPr>
              <a:t>nombre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B86B"/>
                </a:solidFill>
                <a:latin typeface="Courier New"/>
              </a:rPr>
              <a:t>" ataca a "</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enemigo</a:t>
            </a:r>
            <a:r>
              <a:rPr sz="1200" b="0" i="0">
                <a:solidFill>
                  <a:srgbClr val="E6EDF3"/>
                </a:solidFill>
                <a:latin typeface="Courier New"/>
              </a:rPr>
              <a:t>.</a:t>
            </a:r>
            <a:r>
              <a:rPr sz="1200" b="0" i="0">
                <a:solidFill>
                  <a:srgbClr val="E6EDF3"/>
                </a:solidFill>
                <a:latin typeface="Courier New"/>
              </a:rPr>
              <a:t>nombre</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p>
          <a:p>
            <a:pPr algn="l">
              <a:spcAft>
                <a:spcPts val="0"/>
              </a:spcAft>
            </a:pPr>
            <a:r>
              <a:rPr sz="1200" b="0" i="0">
                <a:solidFill>
                  <a:srgbClr val="E6EDF3"/>
                </a:solidFill>
                <a:latin typeface="Courier New"/>
              </a:rPr>
              <a:t>    </a:t>
            </a:r>
            <a:r>
              <a:rPr sz="1200" b="0" i="0">
                <a:solidFill>
                  <a:srgbClr val="C792EA"/>
                </a:solidFill>
                <a:latin typeface="Courier New"/>
              </a:rPr>
              <a:t>public</a:t>
            </a:r>
            <a:r>
              <a:rPr sz="1200" b="0" i="0">
                <a:solidFill>
                  <a:srgbClr val="E6EDF3"/>
                </a:solidFill>
                <a:latin typeface="Courier New"/>
              </a:rPr>
              <a:t> </a:t>
            </a:r>
            <a:r>
              <a:rPr sz="1200" b="0" i="0">
                <a:solidFill>
                  <a:srgbClr val="C792EA"/>
                </a:solidFill>
                <a:latin typeface="Courier New"/>
              </a:rPr>
              <a:t>void</a:t>
            </a:r>
            <a:r>
              <a:rPr sz="1200" b="0" i="0">
                <a:solidFill>
                  <a:srgbClr val="E6EDF3"/>
                </a:solidFill>
                <a:latin typeface="Courier New"/>
              </a:rPr>
              <a:t> </a:t>
            </a:r>
            <a:r>
              <a:rPr sz="1200" b="0" i="0">
                <a:solidFill>
                  <a:srgbClr val="E6EDF3"/>
                </a:solidFill>
                <a:latin typeface="Courier New"/>
              </a:rPr>
              <a:t>mostrarEstado</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E6EDF3"/>
                </a:solidFill>
                <a:latin typeface="Courier New"/>
              </a:rPr>
              <a:t>nombre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B86B"/>
                </a:solidFill>
                <a:latin typeface="Courier New"/>
              </a:rPr>
              <a:t>" | Vida: "</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vida</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a:t>
            </a:r>
          </a:p>
        </p:txBody>
      </p:sp>
      <p:sp>
        <p:nvSpPr>
          <p:cNvPr id="9" name="Rounded Rectangle 8"/>
          <p:cNvSpPr/>
          <p:nvPr/>
        </p:nvSpPr>
        <p:spPr>
          <a:xfrm>
            <a:off x="8321040" y="1325880"/>
            <a:ext cx="324612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03920" y="1527048"/>
            <a:ext cx="274320" cy="27432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15400" y="1435607"/>
            <a:ext cx="2560320" cy="411480"/>
          </a:xfrm>
          <a:prstGeom prst="rect">
            <a:avLst/>
          </a:prstGeom>
          <a:noFill/>
        </p:spPr>
        <p:txBody>
          <a:bodyPr wrap="square" lIns="0" rIns="0" tIns="0" bIns="0" anchor="t">
            <a:spAutoFit/>
          </a:bodyPr>
          <a:lstStyle/>
          <a:p>
            <a:pPr algn="l">
              <a:spcAft>
                <a:spcPts val="400"/>
              </a:spcAft>
            </a:pPr>
            <a:r>
              <a:rPr sz="1700" b="1" i="0">
                <a:solidFill>
                  <a:srgbClr val="257CE1"/>
                </a:solidFill>
                <a:latin typeface="Arial"/>
              </a:rPr>
              <a:t>Atributos</a:t>
            </a:r>
          </a:p>
        </p:txBody>
      </p:sp>
      <p:sp>
        <p:nvSpPr>
          <p:cNvPr id="12" name="TextBox 11"/>
          <p:cNvSpPr txBox="1"/>
          <p:nvPr/>
        </p:nvSpPr>
        <p:spPr>
          <a:xfrm>
            <a:off x="8503920" y="1828800"/>
            <a:ext cx="2926080" cy="640080"/>
          </a:xfrm>
          <a:prstGeom prst="rect">
            <a:avLst/>
          </a:prstGeom>
          <a:noFill/>
        </p:spPr>
        <p:txBody>
          <a:bodyPr wrap="square" lIns="0" rIns="0" tIns="0" bIns="0" anchor="t">
            <a:spAutoFit/>
          </a:bodyPr>
          <a:lstStyle/>
          <a:p>
            <a:pPr algn="l">
              <a:spcAft>
                <a:spcPts val="400"/>
              </a:spcAft>
            </a:pPr>
            <a:r>
              <a:rPr sz="1300" b="0" i="0">
                <a:solidFill>
                  <a:srgbClr val="4A5A6A"/>
                </a:solidFill>
                <a:latin typeface="Arial"/>
              </a:rPr>
              <a:t>Variables que guardan los datos de cada objeto.</a:t>
            </a:r>
          </a:p>
        </p:txBody>
      </p:sp>
      <p:sp>
        <p:nvSpPr>
          <p:cNvPr id="13" name="Rounded Rectangle 12"/>
          <p:cNvSpPr/>
          <p:nvPr/>
        </p:nvSpPr>
        <p:spPr>
          <a:xfrm>
            <a:off x="8321040" y="2651760"/>
            <a:ext cx="324612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503920" y="2852928"/>
            <a:ext cx="274320" cy="27432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15400" y="2761488"/>
            <a:ext cx="2560320" cy="411480"/>
          </a:xfrm>
          <a:prstGeom prst="rect">
            <a:avLst/>
          </a:prstGeom>
          <a:noFill/>
        </p:spPr>
        <p:txBody>
          <a:bodyPr wrap="square" lIns="0" rIns="0" tIns="0" bIns="0" anchor="t">
            <a:spAutoFit/>
          </a:bodyPr>
          <a:lstStyle/>
          <a:p>
            <a:pPr algn="l">
              <a:spcAft>
                <a:spcPts val="400"/>
              </a:spcAft>
            </a:pPr>
            <a:r>
              <a:rPr sz="1700" b="1" i="0">
                <a:solidFill>
                  <a:srgbClr val="1FB58F"/>
                </a:solidFill>
                <a:latin typeface="Arial"/>
              </a:rPr>
              <a:t>Constructor</a:t>
            </a:r>
          </a:p>
        </p:txBody>
      </p:sp>
      <p:sp>
        <p:nvSpPr>
          <p:cNvPr id="16" name="TextBox 15"/>
          <p:cNvSpPr txBox="1"/>
          <p:nvPr/>
        </p:nvSpPr>
        <p:spPr>
          <a:xfrm>
            <a:off x="8503920" y="3154680"/>
            <a:ext cx="2926080" cy="640080"/>
          </a:xfrm>
          <a:prstGeom prst="rect">
            <a:avLst/>
          </a:prstGeom>
          <a:noFill/>
        </p:spPr>
        <p:txBody>
          <a:bodyPr wrap="square" lIns="0" rIns="0" tIns="0" bIns="0" anchor="t">
            <a:spAutoFit/>
          </a:bodyPr>
          <a:lstStyle/>
          <a:p>
            <a:pPr algn="l">
              <a:spcAft>
                <a:spcPts val="400"/>
              </a:spcAft>
            </a:pPr>
            <a:r>
              <a:rPr sz="1300" b="0" i="0">
                <a:solidFill>
                  <a:srgbClr val="4A5A6A"/>
                </a:solidFill>
                <a:latin typeface="Arial"/>
              </a:rPr>
              <a:t>Se ejecuta con new. Tiene el mismo nombre de la clase.</a:t>
            </a:r>
          </a:p>
        </p:txBody>
      </p:sp>
      <p:sp>
        <p:nvSpPr>
          <p:cNvPr id="17" name="Rounded Rectangle 16"/>
          <p:cNvSpPr/>
          <p:nvPr/>
        </p:nvSpPr>
        <p:spPr>
          <a:xfrm>
            <a:off x="8321040" y="3977639"/>
            <a:ext cx="3246120" cy="11430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503920" y="4178807"/>
            <a:ext cx="274320" cy="27432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15400" y="4087368"/>
            <a:ext cx="2560320" cy="411480"/>
          </a:xfrm>
          <a:prstGeom prst="rect">
            <a:avLst/>
          </a:prstGeom>
          <a:noFill/>
        </p:spPr>
        <p:txBody>
          <a:bodyPr wrap="square" lIns="0" rIns="0" tIns="0" bIns="0" anchor="t">
            <a:spAutoFit/>
          </a:bodyPr>
          <a:lstStyle/>
          <a:p>
            <a:pPr algn="l">
              <a:spcAft>
                <a:spcPts val="400"/>
              </a:spcAft>
            </a:pPr>
            <a:r>
              <a:rPr sz="1700" b="1" i="0">
                <a:solidFill>
                  <a:srgbClr val="FF5A5F"/>
                </a:solidFill>
                <a:latin typeface="Arial"/>
              </a:rPr>
              <a:t>Métodos</a:t>
            </a:r>
          </a:p>
        </p:txBody>
      </p:sp>
      <p:sp>
        <p:nvSpPr>
          <p:cNvPr id="20" name="TextBox 19"/>
          <p:cNvSpPr txBox="1"/>
          <p:nvPr/>
        </p:nvSpPr>
        <p:spPr>
          <a:xfrm>
            <a:off x="8503920" y="4480559"/>
            <a:ext cx="2926080" cy="640080"/>
          </a:xfrm>
          <a:prstGeom prst="rect">
            <a:avLst/>
          </a:prstGeom>
          <a:noFill/>
        </p:spPr>
        <p:txBody>
          <a:bodyPr wrap="square" lIns="0" rIns="0" tIns="0" bIns="0" anchor="t">
            <a:spAutoFit/>
          </a:bodyPr>
          <a:lstStyle/>
          <a:p>
            <a:pPr algn="l">
              <a:spcAft>
                <a:spcPts val="400"/>
              </a:spcAft>
            </a:pPr>
            <a:r>
              <a:rPr sz="1300" b="0" i="0">
                <a:solidFill>
                  <a:srgbClr val="4A5A6A"/>
                </a:solidFill>
                <a:latin typeface="Arial"/>
              </a:rPr>
              <a:t>Acciones que el objeto sabe hacer.</a:t>
            </a:r>
          </a:p>
        </p:txBody>
      </p:sp>
      <p:sp>
        <p:nvSpPr>
          <p:cNvPr id="21" name="Rounded Rectangle 20"/>
          <p:cNvSpPr/>
          <p:nvPr/>
        </p:nvSpPr>
        <p:spPr>
          <a:xfrm>
            <a:off x="8321040" y="5349240"/>
            <a:ext cx="3246120" cy="731520"/>
          </a:xfrm>
          <a:prstGeom prst="roundRect">
            <a:avLst>
              <a:gd name="adj" fmla="val 15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03920" y="5349240"/>
            <a:ext cx="2926080" cy="731520"/>
          </a:xfrm>
          <a:prstGeom prst="rect">
            <a:avLst/>
          </a:prstGeom>
          <a:noFill/>
        </p:spPr>
        <p:txBody>
          <a:bodyPr wrap="square" lIns="0" rIns="0" tIns="0" bIns="0" anchor="ctr">
            <a:spAutoFit/>
          </a:bodyPr>
          <a:lstStyle/>
          <a:p>
            <a:pPr algn="l">
              <a:spcAft>
                <a:spcPts val="400"/>
              </a:spcAft>
            </a:pPr>
            <a:r>
              <a:rPr sz="1400" b="1" i="0">
                <a:solidFill>
                  <a:srgbClr val="0B2A4A"/>
                </a:solidFill>
                <a:latin typeface="Courier New"/>
              </a:rPr>
              <a:t>this</a:t>
            </a:r>
            <a:r>
              <a:rPr sz="1400" b="0" i="0">
                <a:solidFill>
                  <a:srgbClr val="0B2A4A"/>
                </a:solidFill>
                <a:latin typeface="Arial"/>
              </a:rPr>
              <a:t> = "yo mismo", este objeto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¡A jugar! Creando objetos en el main</a:t>
            </a:r>
          </a:p>
        </p:txBody>
      </p:sp>
      <p:sp>
        <p:nvSpPr>
          <p:cNvPr id="3" name="Rounded Rectangle 2"/>
          <p:cNvSpPr/>
          <p:nvPr/>
        </p:nvSpPr>
        <p:spPr>
          <a:xfrm>
            <a:off x="640080" y="1234440"/>
            <a:ext cx="7223760" cy="3749039"/>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38988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38988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38988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325880"/>
            <a:ext cx="6126480"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Juego.java</a:t>
            </a:r>
          </a:p>
        </p:txBody>
      </p:sp>
      <p:sp>
        <p:nvSpPr>
          <p:cNvPr id="8" name="TextBox 7"/>
          <p:cNvSpPr txBox="1"/>
          <p:nvPr/>
        </p:nvSpPr>
        <p:spPr>
          <a:xfrm>
            <a:off x="914400" y="1691640"/>
            <a:ext cx="6766560" cy="3154679"/>
          </a:xfrm>
          <a:prstGeom prst="rect">
            <a:avLst/>
          </a:prstGeom>
          <a:noFill/>
        </p:spPr>
        <p:txBody>
          <a:bodyPr wrap="square" lIns="0" rIns="0" tIns="0" bIns="0" anchor="t">
            <a:spAutoFit/>
          </a:bodyPr>
          <a:lstStyle/>
          <a:p>
            <a:pPr algn="l">
              <a:spcAft>
                <a:spcPts val="0"/>
              </a:spcAft>
            </a:pPr>
            <a:r>
              <a:rPr sz="1300" b="0" i="0">
                <a:solidFill>
                  <a:srgbClr val="C792EA"/>
                </a:solidFill>
                <a:latin typeface="Courier New"/>
              </a:rPr>
              <a:t>public</a:t>
            </a:r>
            <a:r>
              <a:rPr sz="1300" b="0" i="0">
                <a:solidFill>
                  <a:srgbClr val="E6EDF3"/>
                </a:solidFill>
                <a:latin typeface="Courier New"/>
              </a:rPr>
              <a:t> </a:t>
            </a:r>
            <a:r>
              <a:rPr sz="1300" b="0" i="0">
                <a:solidFill>
                  <a:srgbClr val="C792EA"/>
                </a:solidFill>
                <a:latin typeface="Courier New"/>
              </a:rPr>
              <a:t>class</a:t>
            </a:r>
            <a:r>
              <a:rPr sz="1300" b="0" i="0">
                <a:solidFill>
                  <a:srgbClr val="E6EDF3"/>
                </a:solidFill>
                <a:latin typeface="Courier New"/>
              </a:rPr>
              <a:t> </a:t>
            </a:r>
            <a:r>
              <a:rPr sz="1300" b="0" i="0">
                <a:solidFill>
                  <a:srgbClr val="E6EDF3"/>
                </a:solidFill>
                <a:latin typeface="Courier New"/>
              </a:rPr>
              <a:t>Juego</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C792EA"/>
                </a:solidFill>
                <a:latin typeface="Courier New"/>
              </a:rPr>
              <a:t>public</a:t>
            </a:r>
            <a:r>
              <a:rPr sz="1300" b="0" i="0">
                <a:solidFill>
                  <a:srgbClr val="E6EDF3"/>
                </a:solidFill>
                <a:latin typeface="Courier New"/>
              </a:rPr>
              <a:t> </a:t>
            </a:r>
            <a:r>
              <a:rPr sz="1300" b="0" i="0">
                <a:solidFill>
                  <a:srgbClr val="C792EA"/>
                </a:solidFill>
                <a:latin typeface="Courier New"/>
              </a:rPr>
              <a:t>static</a:t>
            </a:r>
            <a:r>
              <a:rPr sz="1300" b="0" i="0">
                <a:solidFill>
                  <a:srgbClr val="E6EDF3"/>
                </a:solidFill>
                <a:latin typeface="Courier New"/>
              </a:rPr>
              <a:t> </a:t>
            </a:r>
            <a:r>
              <a:rPr sz="1300" b="0" i="0">
                <a:solidFill>
                  <a:srgbClr val="C792EA"/>
                </a:solidFill>
                <a:latin typeface="Courier New"/>
              </a:rPr>
              <a:t>void</a:t>
            </a:r>
            <a:r>
              <a:rPr sz="1300" b="0" i="0">
                <a:solidFill>
                  <a:srgbClr val="E6EDF3"/>
                </a:solidFill>
                <a:latin typeface="Courier New"/>
              </a:rPr>
              <a:t> </a:t>
            </a:r>
            <a:r>
              <a:rPr sz="1300" b="0" i="0">
                <a:solidFill>
                  <a:srgbClr val="E6EDF3"/>
                </a:solidFill>
                <a:latin typeface="Courier New"/>
              </a:rPr>
              <a:t>main</a:t>
            </a:r>
            <a:r>
              <a:rPr sz="1300" b="0" i="0">
                <a:solidFill>
                  <a:srgbClr val="E6EDF3"/>
                </a:solidFill>
                <a:latin typeface="Courier New"/>
              </a:rPr>
              <a:t>(</a:t>
            </a:r>
            <a:r>
              <a:rPr sz="1300" b="0" i="0">
                <a:solidFill>
                  <a:srgbClr val="5EC8FF"/>
                </a:solidFill>
                <a:latin typeface="Courier New"/>
              </a:rPr>
              <a:t>String</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args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1">
                <a:solidFill>
                  <a:srgbClr val="7FD18B"/>
                </a:solidFill>
                <a:latin typeface="Courier New"/>
              </a:rPr>
              <a:t>// Creamos objetos con new</a:t>
            </a:r>
          </a:p>
          <a:p>
            <a:pPr algn="l">
              <a:spcAft>
                <a:spcPts val="0"/>
              </a:spcAft>
            </a:pPr>
            <a:r>
              <a:rPr sz="1300" b="0" i="0">
                <a:solidFill>
                  <a:srgbClr val="E6EDF3"/>
                </a:solidFill>
                <a:latin typeface="Courier New"/>
              </a:rPr>
              <a:t>        </a:t>
            </a:r>
            <a:r>
              <a:rPr sz="1300" b="0" i="0">
                <a:solidFill>
                  <a:srgbClr val="5EC8FF"/>
                </a:solidFill>
                <a:latin typeface="Courier New"/>
              </a:rPr>
              <a:t>Personaje</a:t>
            </a:r>
            <a:r>
              <a:rPr sz="1300" b="0" i="0">
                <a:solidFill>
                  <a:srgbClr val="E6EDF3"/>
                </a:solidFill>
                <a:latin typeface="Courier New"/>
              </a:rPr>
              <a:t> </a:t>
            </a:r>
            <a:r>
              <a:rPr sz="1300" b="0" i="0">
                <a:solidFill>
                  <a:srgbClr val="E6EDF3"/>
                </a:solidFill>
                <a:latin typeface="Courier New"/>
              </a:rPr>
              <a:t>luna</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C792EA"/>
                </a:solidFill>
                <a:latin typeface="Courier New"/>
              </a:rPr>
              <a:t>new</a:t>
            </a:r>
            <a:r>
              <a:rPr sz="1300" b="0" i="0">
                <a:solidFill>
                  <a:srgbClr val="E6EDF3"/>
                </a:solidFill>
                <a:latin typeface="Courier New"/>
              </a:rPr>
              <a:t> </a:t>
            </a:r>
            <a:r>
              <a:rPr sz="1300" b="0" i="0">
                <a:solidFill>
                  <a:srgbClr val="5EC8FF"/>
                </a:solidFill>
                <a:latin typeface="Courier New"/>
              </a:rPr>
              <a:t>Personaje</a:t>
            </a:r>
            <a:r>
              <a:rPr sz="1300" b="0" i="0">
                <a:solidFill>
                  <a:srgbClr val="E6EDF3"/>
                </a:solidFill>
                <a:latin typeface="Courier New"/>
              </a:rPr>
              <a:t>(</a:t>
            </a:r>
            <a:r>
              <a:rPr sz="1300" b="0" i="0">
                <a:solidFill>
                  <a:srgbClr val="FFB86B"/>
                </a:solidFill>
                <a:latin typeface="Courier New"/>
              </a:rPr>
              <a:t>"Luna"</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100</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25</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5EC8FF"/>
                </a:solidFill>
                <a:latin typeface="Courier New"/>
              </a:rPr>
              <a:t>Personaje</a:t>
            </a:r>
            <a:r>
              <a:rPr sz="1300" b="0" i="0">
                <a:solidFill>
                  <a:srgbClr val="E6EDF3"/>
                </a:solidFill>
                <a:latin typeface="Courier New"/>
              </a:rPr>
              <a:t> </a:t>
            </a:r>
            <a:r>
              <a:rPr sz="1300" b="0" i="0">
                <a:solidFill>
                  <a:srgbClr val="E6EDF3"/>
                </a:solidFill>
                <a:latin typeface="Courier New"/>
              </a:rPr>
              <a:t>draco</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C792EA"/>
                </a:solidFill>
                <a:latin typeface="Courier New"/>
              </a:rPr>
              <a:t>new</a:t>
            </a:r>
            <a:r>
              <a:rPr sz="1300" b="0" i="0">
                <a:solidFill>
                  <a:srgbClr val="E6EDF3"/>
                </a:solidFill>
                <a:latin typeface="Courier New"/>
              </a:rPr>
              <a:t> </a:t>
            </a:r>
            <a:r>
              <a:rPr sz="1300" b="0" i="0">
                <a:solidFill>
                  <a:srgbClr val="5EC8FF"/>
                </a:solidFill>
                <a:latin typeface="Courier New"/>
              </a:rPr>
              <a:t>Personaje</a:t>
            </a:r>
            <a:r>
              <a:rPr sz="1300" b="0" i="0">
                <a:solidFill>
                  <a:srgbClr val="E6EDF3"/>
                </a:solidFill>
                <a:latin typeface="Courier New"/>
              </a:rPr>
              <a:t>(</a:t>
            </a:r>
            <a:r>
              <a:rPr sz="1300" b="0" i="0">
                <a:solidFill>
                  <a:srgbClr val="FFB86B"/>
                </a:solidFill>
                <a:latin typeface="Courier New"/>
              </a:rPr>
              <a:t>"Draco"</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80</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30</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E6EDF3"/>
                </a:solidFill>
                <a:latin typeface="Courier New"/>
              </a:rPr>
              <a:t>        </a:t>
            </a:r>
            <a:r>
              <a:rPr sz="1300" b="0" i="0">
                <a:solidFill>
                  <a:srgbClr val="E6EDF3"/>
                </a:solidFill>
                <a:latin typeface="Courier New"/>
              </a:rPr>
              <a:t>luna</a:t>
            </a:r>
            <a:r>
              <a:rPr sz="1300" b="0" i="0">
                <a:solidFill>
                  <a:srgbClr val="E6EDF3"/>
                </a:solidFill>
                <a:latin typeface="Courier New"/>
              </a:rPr>
              <a:t>.</a:t>
            </a:r>
            <a:r>
              <a:rPr sz="1300" b="0" i="0">
                <a:solidFill>
                  <a:srgbClr val="E6EDF3"/>
                </a:solidFill>
                <a:latin typeface="Courier New"/>
              </a:rPr>
              <a:t>mostrarEstado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draco</a:t>
            </a:r>
            <a:r>
              <a:rPr sz="1300" b="0" i="0">
                <a:solidFill>
                  <a:srgbClr val="E6EDF3"/>
                </a:solidFill>
                <a:latin typeface="Courier New"/>
              </a:rPr>
              <a:t>.</a:t>
            </a:r>
            <a:r>
              <a:rPr sz="1300" b="0" i="0">
                <a:solidFill>
                  <a:srgbClr val="E6EDF3"/>
                </a:solidFill>
                <a:latin typeface="Courier New"/>
              </a:rPr>
              <a:t>mostrarEstado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E6EDF3"/>
                </a:solidFill>
                <a:latin typeface="Courier New"/>
              </a:rPr>
              <a:t>        </a:t>
            </a:r>
            <a:r>
              <a:rPr sz="1300" b="0" i="0">
                <a:solidFill>
                  <a:srgbClr val="E6EDF3"/>
                </a:solidFill>
                <a:latin typeface="Courier New"/>
              </a:rPr>
              <a:t>luna</a:t>
            </a:r>
            <a:r>
              <a:rPr sz="1300" b="0" i="0">
                <a:solidFill>
                  <a:srgbClr val="E6EDF3"/>
                </a:solidFill>
                <a:latin typeface="Courier New"/>
              </a:rPr>
              <a:t>.</a:t>
            </a:r>
            <a:r>
              <a:rPr sz="1300" b="0" i="0">
                <a:solidFill>
                  <a:srgbClr val="E6EDF3"/>
                </a:solidFill>
                <a:latin typeface="Courier New"/>
              </a:rPr>
              <a:t>atacar</a:t>
            </a:r>
            <a:r>
              <a:rPr sz="1300" b="0" i="0">
                <a:solidFill>
                  <a:srgbClr val="E6EDF3"/>
                </a:solidFill>
                <a:latin typeface="Courier New"/>
              </a:rPr>
              <a:t>(</a:t>
            </a:r>
            <a:r>
              <a:rPr sz="1300" b="0" i="0">
                <a:solidFill>
                  <a:srgbClr val="E6EDF3"/>
                </a:solidFill>
                <a:latin typeface="Courier New"/>
              </a:rPr>
              <a:t>draco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1">
                <a:solidFill>
                  <a:srgbClr val="7FD18B"/>
                </a:solidFill>
                <a:latin typeface="Courier New"/>
              </a:rPr>
              <a:t>// Luna golpea a Draco</a:t>
            </a:r>
          </a:p>
          <a:p>
            <a:pPr algn="l">
              <a:spcAft>
                <a:spcPts val="0"/>
              </a:spcAft>
            </a:pPr>
            <a:r>
              <a:rPr sz="1300" b="0" i="0">
                <a:solidFill>
                  <a:srgbClr val="E6EDF3"/>
                </a:solidFill>
                <a:latin typeface="Courier New"/>
              </a:rPr>
              <a:t>        </a:t>
            </a:r>
            <a:r>
              <a:rPr sz="1300" b="0" i="0">
                <a:solidFill>
                  <a:srgbClr val="E6EDF3"/>
                </a:solidFill>
                <a:latin typeface="Courier New"/>
              </a:rPr>
              <a:t>draco</a:t>
            </a:r>
            <a:r>
              <a:rPr sz="1300" b="0" i="0">
                <a:solidFill>
                  <a:srgbClr val="E6EDF3"/>
                </a:solidFill>
                <a:latin typeface="Courier New"/>
              </a:rPr>
              <a:t>.</a:t>
            </a:r>
            <a:r>
              <a:rPr sz="1300" b="0" i="0">
                <a:solidFill>
                  <a:srgbClr val="E6EDF3"/>
                </a:solidFill>
                <a:latin typeface="Courier New"/>
              </a:rPr>
              <a:t>mostrarEstado</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a:t>
            </a:r>
          </a:p>
        </p:txBody>
      </p:sp>
      <p:sp>
        <p:nvSpPr>
          <p:cNvPr id="9" name="Rounded Rectangle 8"/>
          <p:cNvSpPr/>
          <p:nvPr/>
        </p:nvSpPr>
        <p:spPr>
          <a:xfrm>
            <a:off x="8138160" y="1234440"/>
            <a:ext cx="3429000" cy="3749039"/>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66760" y="1371600"/>
            <a:ext cx="3017520" cy="32004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Consola  ▸ Output</a:t>
            </a:r>
          </a:p>
        </p:txBody>
      </p:sp>
      <p:sp>
        <p:nvSpPr>
          <p:cNvPr id="11" name="TextBox 10"/>
          <p:cNvSpPr txBox="1"/>
          <p:nvPr/>
        </p:nvSpPr>
        <p:spPr>
          <a:xfrm>
            <a:off x="8366760" y="1828800"/>
            <a:ext cx="3063240" cy="2926080"/>
          </a:xfrm>
          <a:prstGeom prst="rect">
            <a:avLst/>
          </a:prstGeom>
          <a:noFill/>
        </p:spPr>
        <p:txBody>
          <a:bodyPr wrap="square" lIns="0" rIns="0" tIns="0" bIns="0" anchor="t">
            <a:spAutoFit/>
          </a:bodyPr>
          <a:lstStyle/>
          <a:p>
            <a:pPr algn="l">
              <a:spcAft>
                <a:spcPts val="1200"/>
              </a:spcAft>
            </a:pPr>
            <a:r>
              <a:rPr sz="1500" b="0" i="0">
                <a:solidFill>
                  <a:srgbClr val="7FE0A8"/>
                </a:solidFill>
                <a:latin typeface="Courier New"/>
              </a:rPr>
              <a:t>Luna | Vida: 100</a:t>
            </a:r>
          </a:p>
          <a:p>
            <a:pPr algn="l">
              <a:spcAft>
                <a:spcPts val="1200"/>
              </a:spcAft>
            </a:pPr>
            <a:r>
              <a:rPr sz="1500" b="0" i="0">
                <a:solidFill>
                  <a:srgbClr val="7FE0A8"/>
                </a:solidFill>
                <a:latin typeface="Courier New"/>
              </a:rPr>
              <a:t>Draco | Vida: 80</a:t>
            </a:r>
          </a:p>
          <a:p>
            <a:pPr algn="l">
              <a:spcAft>
                <a:spcPts val="1200"/>
              </a:spcAft>
            </a:pPr>
            <a:r>
              <a:rPr sz="1500" b="0" i="0">
                <a:solidFill>
                  <a:srgbClr val="FFC629"/>
                </a:solidFill>
                <a:latin typeface="Courier New"/>
              </a:rPr>
              <a:t>Luna ataca a Draco</a:t>
            </a:r>
          </a:p>
          <a:p>
            <a:pPr algn="l">
              <a:spcAft>
                <a:spcPts val="1200"/>
              </a:spcAft>
            </a:pPr>
            <a:r>
              <a:rPr sz="1500" b="1" i="0">
                <a:solidFill>
                  <a:srgbClr val="FF5A5F"/>
                </a:solidFill>
                <a:latin typeface="Courier New"/>
              </a:rPr>
              <a:t>Draco | Vida: 55</a:t>
            </a:r>
          </a:p>
        </p:txBody>
      </p:sp>
      <p:sp>
        <p:nvSpPr>
          <p:cNvPr id="12" name="Oval 11"/>
          <p:cNvSpPr/>
          <p:nvPr/>
        </p:nvSpPr>
        <p:spPr>
          <a:xfrm>
            <a:off x="640080" y="5257800"/>
            <a:ext cx="685800" cy="6858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box_w.png"/>
          <p:cNvPicPr>
            <a:picLocks noChangeAspect="1"/>
          </p:cNvPicPr>
          <p:nvPr/>
        </p:nvPicPr>
        <p:blipFill>
          <a:blip r:embed="rId2"/>
          <a:stretch>
            <a:fillRect/>
          </a:stretch>
        </p:blipFill>
        <p:spPr>
          <a:xfrm>
            <a:off x="804671" y="5422392"/>
            <a:ext cx="356616" cy="356616"/>
          </a:xfrm>
          <a:prstGeom prst="rect">
            <a:avLst/>
          </a:prstGeom>
        </p:spPr>
      </p:pic>
      <p:sp>
        <p:nvSpPr>
          <p:cNvPr id="14" name="TextBox 13"/>
          <p:cNvSpPr txBox="1"/>
          <p:nvPr/>
        </p:nvSpPr>
        <p:spPr>
          <a:xfrm>
            <a:off x="1463040" y="5212080"/>
            <a:ext cx="4572000" cy="365760"/>
          </a:xfrm>
          <a:prstGeom prst="rect">
            <a:avLst/>
          </a:prstGeom>
          <a:noFill/>
        </p:spPr>
        <p:txBody>
          <a:bodyPr wrap="square" lIns="0" rIns="0" tIns="0" bIns="0" anchor="t">
            <a:spAutoFit/>
          </a:bodyPr>
          <a:lstStyle/>
          <a:p>
            <a:pPr algn="l">
              <a:spcAft>
                <a:spcPts val="400"/>
              </a:spcAft>
            </a:pPr>
            <a:r>
              <a:rPr sz="1700" b="1" i="0">
                <a:solidFill>
                  <a:srgbClr val="257CE1"/>
                </a:solidFill>
                <a:latin typeface="Courier New"/>
              </a:rPr>
              <a:t>new</a:t>
            </a:r>
          </a:p>
        </p:txBody>
      </p:sp>
      <p:sp>
        <p:nvSpPr>
          <p:cNvPr id="15" name="TextBox 14"/>
          <p:cNvSpPr txBox="1"/>
          <p:nvPr/>
        </p:nvSpPr>
        <p:spPr>
          <a:xfrm>
            <a:off x="1463040" y="5577840"/>
            <a:ext cx="4572000" cy="4114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crea un objeto nuevo a partir de la clase</a:t>
            </a:r>
          </a:p>
        </p:txBody>
      </p:sp>
      <p:sp>
        <p:nvSpPr>
          <p:cNvPr id="16" name="Oval 15"/>
          <p:cNvSpPr/>
          <p:nvPr/>
        </p:nvSpPr>
        <p:spPr>
          <a:xfrm>
            <a:off x="6172200" y="5257800"/>
            <a:ext cx="685800" cy="6858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ullseye_w.png"/>
          <p:cNvPicPr>
            <a:picLocks noChangeAspect="1"/>
          </p:cNvPicPr>
          <p:nvPr/>
        </p:nvPicPr>
        <p:blipFill>
          <a:blip r:embed="rId3"/>
          <a:stretch>
            <a:fillRect/>
          </a:stretch>
        </p:blipFill>
        <p:spPr>
          <a:xfrm>
            <a:off x="6336792" y="5422392"/>
            <a:ext cx="356616" cy="356616"/>
          </a:xfrm>
          <a:prstGeom prst="rect">
            <a:avLst/>
          </a:prstGeom>
        </p:spPr>
      </p:pic>
      <p:sp>
        <p:nvSpPr>
          <p:cNvPr id="18" name="TextBox 17"/>
          <p:cNvSpPr txBox="1"/>
          <p:nvPr/>
        </p:nvSpPr>
        <p:spPr>
          <a:xfrm>
            <a:off x="6995160" y="5212080"/>
            <a:ext cx="4572000" cy="365760"/>
          </a:xfrm>
          <a:prstGeom prst="rect">
            <a:avLst/>
          </a:prstGeom>
          <a:noFill/>
        </p:spPr>
        <p:txBody>
          <a:bodyPr wrap="square" lIns="0" rIns="0" tIns="0" bIns="0" anchor="t">
            <a:spAutoFit/>
          </a:bodyPr>
          <a:lstStyle/>
          <a:p>
            <a:pPr algn="l">
              <a:spcAft>
                <a:spcPts val="400"/>
              </a:spcAft>
            </a:pPr>
            <a:r>
              <a:rPr sz="1700" b="1" i="0">
                <a:solidFill>
                  <a:srgbClr val="FF5A5F"/>
                </a:solidFill>
                <a:latin typeface="Courier New"/>
              </a:rPr>
              <a:t>punto ( . )</a:t>
            </a:r>
          </a:p>
        </p:txBody>
      </p:sp>
      <p:sp>
        <p:nvSpPr>
          <p:cNvPr id="19" name="TextBox 18"/>
          <p:cNvSpPr txBox="1"/>
          <p:nvPr/>
        </p:nvSpPr>
        <p:spPr>
          <a:xfrm>
            <a:off x="6995160" y="5577840"/>
            <a:ext cx="4572000" cy="41148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le pide al objeto que haga algo: luna.atacar(…)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Juego: ¿CLASE u OBJETO?</a:t>
            </a:r>
          </a:p>
        </p:txBody>
      </p:sp>
      <p:sp>
        <p:nvSpPr>
          <p:cNvPr id="3" name="TextBox 2"/>
          <p:cNvSpPr txBox="1"/>
          <p:nvPr/>
        </p:nvSpPr>
        <p:spPr>
          <a:xfrm>
            <a:off x="640080" y="1234440"/>
            <a:ext cx="10972800" cy="457200"/>
          </a:xfrm>
          <a:prstGeom prst="rect">
            <a:avLst/>
          </a:prstGeom>
          <a:noFill/>
        </p:spPr>
        <p:txBody>
          <a:bodyPr wrap="square" lIns="0" rIns="0" tIns="0" bIns="0" anchor="t">
            <a:spAutoFit/>
          </a:bodyPr>
          <a:lstStyle/>
          <a:p>
            <a:pPr algn="l">
              <a:spcAft>
                <a:spcPts val="400"/>
              </a:spcAft>
            </a:pPr>
            <a:r>
              <a:rPr sz="1800" b="1" i="0">
                <a:solidFill>
                  <a:srgbClr val="FF5A5F"/>
                </a:solidFill>
                <a:latin typeface="Arial"/>
              </a:rPr>
              <a:t>Levanta la mano: </a:t>
            </a:r>
            <a:r>
              <a:rPr sz="1800" b="0" i="0">
                <a:solidFill>
                  <a:srgbClr val="4A5A6A"/>
                </a:solidFill>
                <a:latin typeface="Arial"/>
              </a:rPr>
              <a:t>¿cada tarjeta es un molde (clase) o algo concreto (objeto)?</a:t>
            </a:r>
          </a:p>
        </p:txBody>
      </p:sp>
      <p:sp>
        <p:nvSpPr>
          <p:cNvPr id="4" name="Rounded Rectangle 3"/>
          <p:cNvSpPr/>
          <p:nvPr/>
        </p:nvSpPr>
        <p:spPr>
          <a:xfrm>
            <a:off x="640080" y="1874519"/>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2057400"/>
            <a:ext cx="594360" cy="59436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g_w.png"/>
          <p:cNvPicPr>
            <a:picLocks noChangeAspect="1"/>
          </p:cNvPicPr>
          <p:nvPr/>
        </p:nvPicPr>
        <p:blipFill>
          <a:blip r:embed="rId2"/>
          <a:stretch>
            <a:fillRect/>
          </a:stretch>
        </p:blipFill>
        <p:spPr>
          <a:xfrm>
            <a:off x="965606" y="2200046"/>
            <a:ext cx="309067" cy="309067"/>
          </a:xfrm>
          <a:prstGeom prst="rect">
            <a:avLst/>
          </a:prstGeom>
        </p:spPr>
      </p:pic>
      <p:sp>
        <p:nvSpPr>
          <p:cNvPr id="7" name="TextBox 6"/>
          <p:cNvSpPr txBox="1"/>
          <p:nvPr/>
        </p:nvSpPr>
        <p:spPr>
          <a:xfrm>
            <a:off x="2514600" y="2011679"/>
            <a:ext cx="548640" cy="640080"/>
          </a:xfrm>
          <a:prstGeom prst="rect">
            <a:avLst/>
          </a:prstGeom>
          <a:noFill/>
        </p:spPr>
        <p:txBody>
          <a:bodyPr wrap="square" lIns="0" rIns="0" tIns="0" bIns="0" anchor="t">
            <a:spAutoFit/>
          </a:bodyPr>
          <a:lstStyle/>
          <a:p>
            <a:pPr algn="r">
              <a:spcAft>
                <a:spcPts val="400"/>
              </a:spcAft>
            </a:pPr>
            <a:r>
              <a:rPr sz="3200" b="1" i="0">
                <a:solidFill>
                  <a:srgbClr val="257CE1"/>
                </a:solidFill>
                <a:latin typeface="Arial"/>
              </a:rPr>
              <a:t>?</a:t>
            </a:r>
          </a:p>
        </p:txBody>
      </p:sp>
      <p:sp>
        <p:nvSpPr>
          <p:cNvPr id="8" name="TextBox 7"/>
          <p:cNvSpPr txBox="1"/>
          <p:nvPr/>
        </p:nvSpPr>
        <p:spPr>
          <a:xfrm>
            <a:off x="822959" y="274320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Perro</a:t>
            </a:r>
          </a:p>
        </p:txBody>
      </p:sp>
      <p:sp>
        <p:nvSpPr>
          <p:cNvPr id="9" name="Rounded Rectangle 8"/>
          <p:cNvSpPr/>
          <p:nvPr/>
        </p:nvSpPr>
        <p:spPr>
          <a:xfrm>
            <a:off x="3429000" y="1874519"/>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11880" y="2057400"/>
            <a:ext cx="594360" cy="59436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aw_w.png"/>
          <p:cNvPicPr>
            <a:picLocks noChangeAspect="1"/>
          </p:cNvPicPr>
          <p:nvPr/>
        </p:nvPicPr>
        <p:blipFill>
          <a:blip r:embed="rId3"/>
          <a:stretch>
            <a:fillRect/>
          </a:stretch>
        </p:blipFill>
        <p:spPr>
          <a:xfrm>
            <a:off x="3754526" y="2200046"/>
            <a:ext cx="309067" cy="309067"/>
          </a:xfrm>
          <a:prstGeom prst="rect">
            <a:avLst/>
          </a:prstGeom>
        </p:spPr>
      </p:pic>
      <p:sp>
        <p:nvSpPr>
          <p:cNvPr id="12" name="TextBox 11"/>
          <p:cNvSpPr txBox="1"/>
          <p:nvPr/>
        </p:nvSpPr>
        <p:spPr>
          <a:xfrm>
            <a:off x="5303520" y="2011679"/>
            <a:ext cx="548640" cy="640080"/>
          </a:xfrm>
          <a:prstGeom prst="rect">
            <a:avLst/>
          </a:prstGeom>
          <a:noFill/>
        </p:spPr>
        <p:txBody>
          <a:bodyPr wrap="square" lIns="0" rIns="0" tIns="0" bIns="0" anchor="t">
            <a:spAutoFit/>
          </a:bodyPr>
          <a:lstStyle/>
          <a:p>
            <a:pPr algn="r">
              <a:spcAft>
                <a:spcPts val="400"/>
              </a:spcAft>
            </a:pPr>
            <a:r>
              <a:rPr sz="3200" b="1" i="0">
                <a:solidFill>
                  <a:srgbClr val="257CE1"/>
                </a:solidFill>
                <a:latin typeface="Arial"/>
              </a:rPr>
              <a:t>?</a:t>
            </a:r>
          </a:p>
        </p:txBody>
      </p:sp>
      <p:sp>
        <p:nvSpPr>
          <p:cNvPr id="13" name="TextBox 12"/>
          <p:cNvSpPr txBox="1"/>
          <p:nvPr/>
        </p:nvSpPr>
        <p:spPr>
          <a:xfrm>
            <a:off x="3611880" y="274320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Firulais, el perro de tu vecino</a:t>
            </a:r>
          </a:p>
        </p:txBody>
      </p:sp>
      <p:sp>
        <p:nvSpPr>
          <p:cNvPr id="14" name="Rounded Rectangle 13"/>
          <p:cNvSpPr/>
          <p:nvPr/>
        </p:nvSpPr>
        <p:spPr>
          <a:xfrm>
            <a:off x="6217920" y="1874519"/>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0" y="2057400"/>
            <a:ext cx="594360" cy="5943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r_w.png"/>
          <p:cNvPicPr>
            <a:picLocks noChangeAspect="1"/>
          </p:cNvPicPr>
          <p:nvPr/>
        </p:nvPicPr>
        <p:blipFill>
          <a:blip r:embed="rId4"/>
          <a:stretch>
            <a:fillRect/>
          </a:stretch>
        </p:blipFill>
        <p:spPr>
          <a:xfrm>
            <a:off x="6543446" y="2200046"/>
            <a:ext cx="309067" cy="309067"/>
          </a:xfrm>
          <a:prstGeom prst="rect">
            <a:avLst/>
          </a:prstGeom>
        </p:spPr>
      </p:pic>
      <p:sp>
        <p:nvSpPr>
          <p:cNvPr id="17" name="TextBox 16"/>
          <p:cNvSpPr txBox="1"/>
          <p:nvPr/>
        </p:nvSpPr>
        <p:spPr>
          <a:xfrm>
            <a:off x="8092440" y="2011679"/>
            <a:ext cx="548640" cy="640080"/>
          </a:xfrm>
          <a:prstGeom prst="rect">
            <a:avLst/>
          </a:prstGeom>
          <a:noFill/>
        </p:spPr>
        <p:txBody>
          <a:bodyPr wrap="square" lIns="0" rIns="0" tIns="0" bIns="0" anchor="t">
            <a:spAutoFit/>
          </a:bodyPr>
          <a:lstStyle/>
          <a:p>
            <a:pPr algn="r">
              <a:spcAft>
                <a:spcPts val="400"/>
              </a:spcAft>
            </a:pPr>
            <a:r>
              <a:rPr sz="3200" b="1" i="0">
                <a:solidFill>
                  <a:srgbClr val="FF5A5F"/>
                </a:solidFill>
                <a:latin typeface="Arial"/>
              </a:rPr>
              <a:t>?</a:t>
            </a:r>
          </a:p>
        </p:txBody>
      </p:sp>
      <p:sp>
        <p:nvSpPr>
          <p:cNvPr id="18" name="TextBox 17"/>
          <p:cNvSpPr txBox="1"/>
          <p:nvPr/>
        </p:nvSpPr>
        <p:spPr>
          <a:xfrm>
            <a:off x="6400800" y="274320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Auto</a:t>
            </a:r>
          </a:p>
        </p:txBody>
      </p:sp>
      <p:sp>
        <p:nvSpPr>
          <p:cNvPr id="19" name="Rounded Rectangle 18"/>
          <p:cNvSpPr/>
          <p:nvPr/>
        </p:nvSpPr>
        <p:spPr>
          <a:xfrm>
            <a:off x="9006839" y="1874519"/>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189719" y="2057400"/>
            <a:ext cx="594360" cy="5943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ar_w.png"/>
          <p:cNvPicPr>
            <a:picLocks noChangeAspect="1"/>
          </p:cNvPicPr>
          <p:nvPr/>
        </p:nvPicPr>
        <p:blipFill>
          <a:blip r:embed="rId4"/>
          <a:stretch>
            <a:fillRect/>
          </a:stretch>
        </p:blipFill>
        <p:spPr>
          <a:xfrm>
            <a:off x="9332366" y="2200046"/>
            <a:ext cx="309067" cy="309067"/>
          </a:xfrm>
          <a:prstGeom prst="rect">
            <a:avLst/>
          </a:prstGeom>
        </p:spPr>
      </p:pic>
      <p:sp>
        <p:nvSpPr>
          <p:cNvPr id="22" name="TextBox 21"/>
          <p:cNvSpPr txBox="1"/>
          <p:nvPr/>
        </p:nvSpPr>
        <p:spPr>
          <a:xfrm>
            <a:off x="10881359" y="2011679"/>
            <a:ext cx="548640" cy="640080"/>
          </a:xfrm>
          <a:prstGeom prst="rect">
            <a:avLst/>
          </a:prstGeom>
          <a:noFill/>
        </p:spPr>
        <p:txBody>
          <a:bodyPr wrap="square" lIns="0" rIns="0" tIns="0" bIns="0" anchor="t">
            <a:spAutoFit/>
          </a:bodyPr>
          <a:lstStyle/>
          <a:p>
            <a:pPr algn="r">
              <a:spcAft>
                <a:spcPts val="400"/>
              </a:spcAft>
            </a:pPr>
            <a:r>
              <a:rPr sz="3200" b="1" i="0">
                <a:solidFill>
                  <a:srgbClr val="FF5A5F"/>
                </a:solidFill>
                <a:latin typeface="Arial"/>
              </a:rPr>
              <a:t>?</a:t>
            </a:r>
          </a:p>
        </p:txBody>
      </p:sp>
      <p:sp>
        <p:nvSpPr>
          <p:cNvPr id="23" name="TextBox 22"/>
          <p:cNvSpPr txBox="1"/>
          <p:nvPr/>
        </p:nvSpPr>
        <p:spPr>
          <a:xfrm>
            <a:off x="9189719" y="274320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El auto rojo patente AB-CD-12</a:t>
            </a:r>
          </a:p>
        </p:txBody>
      </p:sp>
      <p:sp>
        <p:nvSpPr>
          <p:cNvPr id="24" name="Rounded Rectangle 23"/>
          <p:cNvSpPr/>
          <p:nvPr/>
        </p:nvSpPr>
        <p:spPr>
          <a:xfrm>
            <a:off x="640080" y="3794760"/>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22959" y="3977640"/>
            <a:ext cx="594360" cy="5943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music_w.png"/>
          <p:cNvPicPr>
            <a:picLocks noChangeAspect="1"/>
          </p:cNvPicPr>
          <p:nvPr/>
        </p:nvPicPr>
        <p:blipFill>
          <a:blip r:embed="rId5"/>
          <a:stretch>
            <a:fillRect/>
          </a:stretch>
        </p:blipFill>
        <p:spPr>
          <a:xfrm>
            <a:off x="965606" y="4120286"/>
            <a:ext cx="309067" cy="309067"/>
          </a:xfrm>
          <a:prstGeom prst="rect">
            <a:avLst/>
          </a:prstGeom>
        </p:spPr>
      </p:pic>
      <p:sp>
        <p:nvSpPr>
          <p:cNvPr id="27" name="TextBox 26"/>
          <p:cNvSpPr txBox="1"/>
          <p:nvPr/>
        </p:nvSpPr>
        <p:spPr>
          <a:xfrm>
            <a:off x="2514600" y="3931920"/>
            <a:ext cx="548640" cy="640080"/>
          </a:xfrm>
          <a:prstGeom prst="rect">
            <a:avLst/>
          </a:prstGeom>
          <a:noFill/>
        </p:spPr>
        <p:txBody>
          <a:bodyPr wrap="square" lIns="0" rIns="0" tIns="0" bIns="0" anchor="t">
            <a:spAutoFit/>
          </a:bodyPr>
          <a:lstStyle/>
          <a:p>
            <a:pPr algn="r">
              <a:spcAft>
                <a:spcPts val="400"/>
              </a:spcAft>
            </a:pPr>
            <a:r>
              <a:rPr sz="3200" b="1" i="0">
                <a:solidFill>
                  <a:srgbClr val="1FB58F"/>
                </a:solidFill>
                <a:latin typeface="Arial"/>
              </a:rPr>
              <a:t>?</a:t>
            </a:r>
          </a:p>
        </p:txBody>
      </p:sp>
      <p:sp>
        <p:nvSpPr>
          <p:cNvPr id="28" name="TextBox 27"/>
          <p:cNvSpPr txBox="1"/>
          <p:nvPr/>
        </p:nvSpPr>
        <p:spPr>
          <a:xfrm>
            <a:off x="822959" y="466344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Canción</a:t>
            </a:r>
          </a:p>
        </p:txBody>
      </p:sp>
      <p:sp>
        <p:nvSpPr>
          <p:cNvPr id="29" name="Rounded Rectangle 28"/>
          <p:cNvSpPr/>
          <p:nvPr/>
        </p:nvSpPr>
        <p:spPr>
          <a:xfrm>
            <a:off x="3429000" y="3794760"/>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611880" y="3977640"/>
            <a:ext cx="594360" cy="5943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music_w.png"/>
          <p:cNvPicPr>
            <a:picLocks noChangeAspect="1"/>
          </p:cNvPicPr>
          <p:nvPr/>
        </p:nvPicPr>
        <p:blipFill>
          <a:blip r:embed="rId5"/>
          <a:stretch>
            <a:fillRect/>
          </a:stretch>
        </p:blipFill>
        <p:spPr>
          <a:xfrm>
            <a:off x="3754526" y="4120286"/>
            <a:ext cx="309067" cy="309067"/>
          </a:xfrm>
          <a:prstGeom prst="rect">
            <a:avLst/>
          </a:prstGeom>
        </p:spPr>
      </p:pic>
      <p:sp>
        <p:nvSpPr>
          <p:cNvPr id="32" name="TextBox 31"/>
          <p:cNvSpPr txBox="1"/>
          <p:nvPr/>
        </p:nvSpPr>
        <p:spPr>
          <a:xfrm>
            <a:off x="5303520" y="3931920"/>
            <a:ext cx="548640" cy="640080"/>
          </a:xfrm>
          <a:prstGeom prst="rect">
            <a:avLst/>
          </a:prstGeom>
          <a:noFill/>
        </p:spPr>
        <p:txBody>
          <a:bodyPr wrap="square" lIns="0" rIns="0" tIns="0" bIns="0" anchor="t">
            <a:spAutoFit/>
          </a:bodyPr>
          <a:lstStyle/>
          <a:p>
            <a:pPr algn="r">
              <a:spcAft>
                <a:spcPts val="400"/>
              </a:spcAft>
            </a:pPr>
            <a:r>
              <a:rPr sz="3200" b="1" i="0">
                <a:solidFill>
                  <a:srgbClr val="1FB58F"/>
                </a:solidFill>
                <a:latin typeface="Arial"/>
              </a:rPr>
              <a:t>?</a:t>
            </a:r>
          </a:p>
        </p:txBody>
      </p:sp>
      <p:sp>
        <p:nvSpPr>
          <p:cNvPr id="33" name="TextBox 32"/>
          <p:cNvSpPr txBox="1"/>
          <p:nvPr/>
        </p:nvSpPr>
        <p:spPr>
          <a:xfrm>
            <a:off x="3611880" y="466344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La canción que tienes pegada hoy</a:t>
            </a:r>
          </a:p>
        </p:txBody>
      </p:sp>
      <p:sp>
        <p:nvSpPr>
          <p:cNvPr id="34" name="Rounded Rectangle 33"/>
          <p:cNvSpPr/>
          <p:nvPr/>
        </p:nvSpPr>
        <p:spPr>
          <a:xfrm>
            <a:off x="6217920" y="3794760"/>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800" y="3977640"/>
            <a:ext cx="594360" cy="59436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user_w.png"/>
          <p:cNvPicPr>
            <a:picLocks noChangeAspect="1"/>
          </p:cNvPicPr>
          <p:nvPr/>
        </p:nvPicPr>
        <p:blipFill>
          <a:blip r:embed="rId6"/>
          <a:stretch>
            <a:fillRect/>
          </a:stretch>
        </p:blipFill>
        <p:spPr>
          <a:xfrm>
            <a:off x="6543446" y="4120286"/>
            <a:ext cx="309067" cy="309067"/>
          </a:xfrm>
          <a:prstGeom prst="rect">
            <a:avLst/>
          </a:prstGeom>
        </p:spPr>
      </p:pic>
      <p:sp>
        <p:nvSpPr>
          <p:cNvPr id="37" name="TextBox 36"/>
          <p:cNvSpPr txBox="1"/>
          <p:nvPr/>
        </p:nvSpPr>
        <p:spPr>
          <a:xfrm>
            <a:off x="8092440" y="3931920"/>
            <a:ext cx="548640" cy="640080"/>
          </a:xfrm>
          <a:prstGeom prst="rect">
            <a:avLst/>
          </a:prstGeom>
          <a:noFill/>
        </p:spPr>
        <p:txBody>
          <a:bodyPr wrap="square" lIns="0" rIns="0" tIns="0" bIns="0" anchor="t">
            <a:spAutoFit/>
          </a:bodyPr>
          <a:lstStyle/>
          <a:p>
            <a:pPr algn="r">
              <a:spcAft>
                <a:spcPts val="400"/>
              </a:spcAft>
            </a:pPr>
            <a:r>
              <a:rPr sz="3200" b="1" i="0">
                <a:solidFill>
                  <a:srgbClr val="7B5CFA"/>
                </a:solidFill>
                <a:latin typeface="Arial"/>
              </a:rPr>
              <a:t>?</a:t>
            </a:r>
          </a:p>
        </p:txBody>
      </p:sp>
      <p:sp>
        <p:nvSpPr>
          <p:cNvPr id="38" name="TextBox 37"/>
          <p:cNvSpPr txBox="1"/>
          <p:nvPr/>
        </p:nvSpPr>
        <p:spPr>
          <a:xfrm>
            <a:off x="6400800" y="466344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Estudiante</a:t>
            </a:r>
          </a:p>
        </p:txBody>
      </p:sp>
      <p:sp>
        <p:nvSpPr>
          <p:cNvPr id="39" name="Rounded Rectangle 38"/>
          <p:cNvSpPr/>
          <p:nvPr/>
        </p:nvSpPr>
        <p:spPr>
          <a:xfrm>
            <a:off x="9006839" y="3794760"/>
            <a:ext cx="2560320" cy="169164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189719" y="3977640"/>
            <a:ext cx="594360" cy="59436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user_w.png"/>
          <p:cNvPicPr>
            <a:picLocks noChangeAspect="1"/>
          </p:cNvPicPr>
          <p:nvPr/>
        </p:nvPicPr>
        <p:blipFill>
          <a:blip r:embed="rId6"/>
          <a:stretch>
            <a:fillRect/>
          </a:stretch>
        </p:blipFill>
        <p:spPr>
          <a:xfrm>
            <a:off x="9332366" y="4120286"/>
            <a:ext cx="309067" cy="309067"/>
          </a:xfrm>
          <a:prstGeom prst="rect">
            <a:avLst/>
          </a:prstGeom>
        </p:spPr>
      </p:pic>
      <p:sp>
        <p:nvSpPr>
          <p:cNvPr id="42" name="TextBox 41"/>
          <p:cNvSpPr txBox="1"/>
          <p:nvPr/>
        </p:nvSpPr>
        <p:spPr>
          <a:xfrm>
            <a:off x="10881359" y="3931920"/>
            <a:ext cx="548640" cy="640080"/>
          </a:xfrm>
          <a:prstGeom prst="rect">
            <a:avLst/>
          </a:prstGeom>
          <a:noFill/>
        </p:spPr>
        <p:txBody>
          <a:bodyPr wrap="square" lIns="0" rIns="0" tIns="0" bIns="0" anchor="t">
            <a:spAutoFit/>
          </a:bodyPr>
          <a:lstStyle/>
          <a:p>
            <a:pPr algn="r">
              <a:spcAft>
                <a:spcPts val="400"/>
              </a:spcAft>
            </a:pPr>
            <a:r>
              <a:rPr sz="3200" b="1" i="0">
                <a:solidFill>
                  <a:srgbClr val="7B5CFA"/>
                </a:solidFill>
                <a:latin typeface="Arial"/>
              </a:rPr>
              <a:t>?</a:t>
            </a:r>
          </a:p>
        </p:txBody>
      </p:sp>
      <p:sp>
        <p:nvSpPr>
          <p:cNvPr id="43" name="TextBox 42"/>
          <p:cNvSpPr txBox="1"/>
          <p:nvPr/>
        </p:nvSpPr>
        <p:spPr>
          <a:xfrm>
            <a:off x="9189719" y="4663440"/>
            <a:ext cx="22402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¡Tú!</a:t>
            </a:r>
          </a:p>
        </p:txBody>
      </p:sp>
      <p:sp>
        <p:nvSpPr>
          <p:cNvPr id="44" name="Rounded Rectangle 43"/>
          <p:cNvSpPr/>
          <p:nvPr/>
        </p:nvSpPr>
        <p:spPr>
          <a:xfrm>
            <a:off x="2011680" y="5760720"/>
            <a:ext cx="8138160" cy="50292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trophy_n.png"/>
          <p:cNvPicPr>
            <a:picLocks noChangeAspect="1"/>
          </p:cNvPicPr>
          <p:nvPr/>
        </p:nvPicPr>
        <p:blipFill>
          <a:blip r:embed="rId7"/>
          <a:stretch>
            <a:fillRect/>
          </a:stretch>
        </p:blipFill>
        <p:spPr>
          <a:xfrm>
            <a:off x="2148840" y="5806440"/>
            <a:ext cx="411480" cy="411480"/>
          </a:xfrm>
          <a:prstGeom prst="rect">
            <a:avLst/>
          </a:prstGeom>
        </p:spPr>
      </p:pic>
      <p:sp>
        <p:nvSpPr>
          <p:cNvPr id="46" name="TextBox 45"/>
          <p:cNvSpPr txBox="1"/>
          <p:nvPr/>
        </p:nvSpPr>
        <p:spPr>
          <a:xfrm>
            <a:off x="2697480" y="5760720"/>
            <a:ext cx="7269480" cy="5029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Bonus: ¿qué atributos y métodos tendría la clase Estudiante?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Ejercicio 1 · Individual</a:t>
            </a:r>
          </a:p>
        </p:txBody>
      </p:sp>
      <p:sp>
        <p:nvSpPr>
          <p:cNvPr id="3" name="Oval 2"/>
          <p:cNvSpPr/>
          <p:nvPr/>
        </p:nvSpPr>
        <p:spPr>
          <a:xfrm>
            <a:off x="640080" y="137160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user_w.png"/>
          <p:cNvPicPr>
            <a:picLocks noChangeAspect="1"/>
          </p:cNvPicPr>
          <p:nvPr/>
        </p:nvPicPr>
        <p:blipFill>
          <a:blip r:embed="rId2"/>
          <a:stretch>
            <a:fillRect/>
          </a:stretch>
        </p:blipFill>
        <p:spPr>
          <a:xfrm>
            <a:off x="859536" y="1591056"/>
            <a:ext cx="475488" cy="475488"/>
          </a:xfrm>
          <a:prstGeom prst="rect">
            <a:avLst/>
          </a:prstGeom>
        </p:spPr>
      </p:pic>
      <p:sp>
        <p:nvSpPr>
          <p:cNvPr id="5" name="TextBox 4"/>
          <p:cNvSpPr txBox="1"/>
          <p:nvPr/>
        </p:nvSpPr>
        <p:spPr>
          <a:xfrm>
            <a:off x="1783080" y="1371600"/>
            <a:ext cx="9601200" cy="914400"/>
          </a:xfrm>
          <a:prstGeom prst="rect">
            <a:avLst/>
          </a:prstGeom>
          <a:noFill/>
        </p:spPr>
        <p:txBody>
          <a:bodyPr wrap="square" lIns="0" rIns="0" tIns="0" bIns="0" anchor="ctr">
            <a:spAutoFit/>
          </a:bodyPr>
          <a:lstStyle/>
          <a:p>
            <a:pPr algn="l">
              <a:spcAft>
                <a:spcPts val="400"/>
              </a:spcAft>
            </a:pPr>
            <a:r>
              <a:rPr sz="2000" b="0" i="0">
                <a:solidFill>
                  <a:srgbClr val="0B2A4A"/>
                </a:solidFill>
                <a:latin typeface="Arial"/>
              </a:rPr>
              <a:t>Crea un programa que pida por teclado tus datos y luego los muestre ordenados en pantalla:</a:t>
            </a:r>
          </a:p>
        </p:txBody>
      </p:sp>
      <p:sp>
        <p:nvSpPr>
          <p:cNvPr id="6" name="Rounded Rectangle 5"/>
          <p:cNvSpPr/>
          <p:nvPr/>
        </p:nvSpPr>
        <p:spPr>
          <a:xfrm>
            <a:off x="640080" y="2651760"/>
            <a:ext cx="201168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8719" y="292608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_w.png"/>
          <p:cNvPicPr>
            <a:picLocks noChangeAspect="1"/>
          </p:cNvPicPr>
          <p:nvPr/>
        </p:nvPicPr>
        <p:blipFill>
          <a:blip r:embed="rId2"/>
          <a:stretch>
            <a:fillRect/>
          </a:stretch>
        </p:blipFill>
        <p:spPr>
          <a:xfrm>
            <a:off x="1408175" y="3145536"/>
            <a:ext cx="475488" cy="475488"/>
          </a:xfrm>
          <a:prstGeom prst="rect">
            <a:avLst/>
          </a:prstGeom>
        </p:spPr>
      </p:pic>
      <p:sp>
        <p:nvSpPr>
          <p:cNvPr id="9" name="TextBox 8"/>
          <p:cNvSpPr txBox="1"/>
          <p:nvPr/>
        </p:nvSpPr>
        <p:spPr>
          <a:xfrm>
            <a:off x="640080" y="4069080"/>
            <a:ext cx="2011680" cy="457200"/>
          </a:xfrm>
          <a:prstGeom prst="rect">
            <a:avLst/>
          </a:prstGeom>
          <a:noFill/>
        </p:spPr>
        <p:txBody>
          <a:bodyPr wrap="square" lIns="0" rIns="0" tIns="0" bIns="0" anchor="t">
            <a:spAutoFit/>
          </a:bodyPr>
          <a:lstStyle/>
          <a:p>
            <a:pPr algn="ctr">
              <a:spcAft>
                <a:spcPts val="400"/>
              </a:spcAft>
            </a:pPr>
            <a:r>
              <a:rPr sz="1800" b="1" i="0">
                <a:solidFill>
                  <a:srgbClr val="0B2A4A"/>
                </a:solidFill>
                <a:latin typeface="Arial"/>
              </a:rPr>
              <a:t>Nombre</a:t>
            </a:r>
          </a:p>
        </p:txBody>
      </p:sp>
      <p:sp>
        <p:nvSpPr>
          <p:cNvPr id="10" name="Rounded Rectangle 9"/>
          <p:cNvSpPr/>
          <p:nvPr/>
        </p:nvSpPr>
        <p:spPr>
          <a:xfrm>
            <a:off x="2862072" y="2651760"/>
            <a:ext cx="201168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410712" y="2926080"/>
            <a:ext cx="914400" cy="9144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dcard_w.png"/>
          <p:cNvPicPr>
            <a:picLocks noChangeAspect="1"/>
          </p:cNvPicPr>
          <p:nvPr/>
        </p:nvPicPr>
        <p:blipFill>
          <a:blip r:embed="rId3"/>
          <a:stretch>
            <a:fillRect/>
          </a:stretch>
        </p:blipFill>
        <p:spPr>
          <a:xfrm>
            <a:off x="3630168" y="3145536"/>
            <a:ext cx="475488" cy="475488"/>
          </a:xfrm>
          <a:prstGeom prst="rect">
            <a:avLst/>
          </a:prstGeom>
        </p:spPr>
      </p:pic>
      <p:sp>
        <p:nvSpPr>
          <p:cNvPr id="13" name="TextBox 12"/>
          <p:cNvSpPr txBox="1"/>
          <p:nvPr/>
        </p:nvSpPr>
        <p:spPr>
          <a:xfrm>
            <a:off x="2862072" y="4069080"/>
            <a:ext cx="2011680" cy="457200"/>
          </a:xfrm>
          <a:prstGeom prst="rect">
            <a:avLst/>
          </a:prstGeom>
          <a:noFill/>
        </p:spPr>
        <p:txBody>
          <a:bodyPr wrap="square" lIns="0" rIns="0" tIns="0" bIns="0" anchor="t">
            <a:spAutoFit/>
          </a:bodyPr>
          <a:lstStyle/>
          <a:p>
            <a:pPr algn="ctr">
              <a:spcAft>
                <a:spcPts val="400"/>
              </a:spcAft>
            </a:pPr>
            <a:r>
              <a:rPr sz="1800" b="1" i="0">
                <a:solidFill>
                  <a:srgbClr val="0B2A4A"/>
                </a:solidFill>
                <a:latin typeface="Arial"/>
              </a:rPr>
              <a:t>RUT</a:t>
            </a:r>
          </a:p>
        </p:txBody>
      </p:sp>
      <p:sp>
        <p:nvSpPr>
          <p:cNvPr id="14" name="Rounded Rectangle 13"/>
          <p:cNvSpPr/>
          <p:nvPr/>
        </p:nvSpPr>
        <p:spPr>
          <a:xfrm>
            <a:off x="5084064" y="2651760"/>
            <a:ext cx="201168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632704" y="2926080"/>
            <a:ext cx="914400" cy="91440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_w.png"/>
          <p:cNvPicPr>
            <a:picLocks noChangeAspect="1"/>
          </p:cNvPicPr>
          <p:nvPr/>
        </p:nvPicPr>
        <p:blipFill>
          <a:blip r:embed="rId4"/>
          <a:stretch>
            <a:fillRect/>
          </a:stretch>
        </p:blipFill>
        <p:spPr>
          <a:xfrm>
            <a:off x="5852160" y="3145536"/>
            <a:ext cx="475488" cy="475488"/>
          </a:xfrm>
          <a:prstGeom prst="rect">
            <a:avLst/>
          </a:prstGeom>
        </p:spPr>
      </p:pic>
      <p:sp>
        <p:nvSpPr>
          <p:cNvPr id="17" name="TextBox 16"/>
          <p:cNvSpPr txBox="1"/>
          <p:nvPr/>
        </p:nvSpPr>
        <p:spPr>
          <a:xfrm>
            <a:off x="5084064" y="4069080"/>
            <a:ext cx="2011680" cy="457200"/>
          </a:xfrm>
          <a:prstGeom prst="rect">
            <a:avLst/>
          </a:prstGeom>
          <a:noFill/>
        </p:spPr>
        <p:txBody>
          <a:bodyPr wrap="square" lIns="0" rIns="0" tIns="0" bIns="0" anchor="t">
            <a:spAutoFit/>
          </a:bodyPr>
          <a:lstStyle/>
          <a:p>
            <a:pPr algn="ctr">
              <a:spcAft>
                <a:spcPts val="400"/>
              </a:spcAft>
            </a:pPr>
            <a:r>
              <a:rPr sz="1800" b="1" i="0">
                <a:solidFill>
                  <a:srgbClr val="0B2A4A"/>
                </a:solidFill>
                <a:latin typeface="Arial"/>
              </a:rPr>
              <a:t>Correo</a:t>
            </a:r>
          </a:p>
        </p:txBody>
      </p:sp>
      <p:sp>
        <p:nvSpPr>
          <p:cNvPr id="18" name="Rounded Rectangle 17"/>
          <p:cNvSpPr/>
          <p:nvPr/>
        </p:nvSpPr>
        <p:spPr>
          <a:xfrm>
            <a:off x="7306056" y="2651760"/>
            <a:ext cx="201168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854696" y="2926080"/>
            <a:ext cx="914400" cy="9144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sh_w.png"/>
          <p:cNvPicPr>
            <a:picLocks noChangeAspect="1"/>
          </p:cNvPicPr>
          <p:nvPr/>
        </p:nvPicPr>
        <p:blipFill>
          <a:blip r:embed="rId5"/>
          <a:stretch>
            <a:fillRect/>
          </a:stretch>
        </p:blipFill>
        <p:spPr>
          <a:xfrm>
            <a:off x="8074152" y="3145536"/>
            <a:ext cx="475488" cy="475488"/>
          </a:xfrm>
          <a:prstGeom prst="rect">
            <a:avLst/>
          </a:prstGeom>
        </p:spPr>
      </p:pic>
      <p:sp>
        <p:nvSpPr>
          <p:cNvPr id="21" name="TextBox 20"/>
          <p:cNvSpPr txBox="1"/>
          <p:nvPr/>
        </p:nvSpPr>
        <p:spPr>
          <a:xfrm>
            <a:off x="7306056" y="4069080"/>
            <a:ext cx="2011680" cy="457200"/>
          </a:xfrm>
          <a:prstGeom prst="rect">
            <a:avLst/>
          </a:prstGeom>
          <a:noFill/>
        </p:spPr>
        <p:txBody>
          <a:bodyPr wrap="square" lIns="0" rIns="0" tIns="0" bIns="0" anchor="t">
            <a:spAutoFit/>
          </a:bodyPr>
          <a:lstStyle/>
          <a:p>
            <a:pPr algn="ctr">
              <a:spcAft>
                <a:spcPts val="400"/>
              </a:spcAft>
            </a:pPr>
            <a:r>
              <a:rPr sz="1800" b="1" i="0">
                <a:solidFill>
                  <a:srgbClr val="0B2A4A"/>
                </a:solidFill>
                <a:latin typeface="Arial"/>
              </a:rPr>
              <a:t>Edad</a:t>
            </a:r>
          </a:p>
        </p:txBody>
      </p:sp>
      <p:sp>
        <p:nvSpPr>
          <p:cNvPr id="22" name="Rounded Rectangle 21"/>
          <p:cNvSpPr/>
          <p:nvPr/>
        </p:nvSpPr>
        <p:spPr>
          <a:xfrm>
            <a:off x="9528048" y="2651760"/>
            <a:ext cx="2011680" cy="21031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076688" y="292608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map_w.png"/>
          <p:cNvPicPr>
            <a:picLocks noChangeAspect="1"/>
          </p:cNvPicPr>
          <p:nvPr/>
        </p:nvPicPr>
        <p:blipFill>
          <a:blip r:embed="rId6"/>
          <a:stretch>
            <a:fillRect/>
          </a:stretch>
        </p:blipFill>
        <p:spPr>
          <a:xfrm>
            <a:off x="10296144" y="3145536"/>
            <a:ext cx="475488" cy="475488"/>
          </a:xfrm>
          <a:prstGeom prst="rect">
            <a:avLst/>
          </a:prstGeom>
        </p:spPr>
      </p:pic>
      <p:sp>
        <p:nvSpPr>
          <p:cNvPr id="25" name="TextBox 24"/>
          <p:cNvSpPr txBox="1"/>
          <p:nvPr/>
        </p:nvSpPr>
        <p:spPr>
          <a:xfrm>
            <a:off x="9528048" y="4069080"/>
            <a:ext cx="2011680" cy="457200"/>
          </a:xfrm>
          <a:prstGeom prst="rect">
            <a:avLst/>
          </a:prstGeom>
          <a:noFill/>
        </p:spPr>
        <p:txBody>
          <a:bodyPr wrap="square" lIns="0" rIns="0" tIns="0" bIns="0" anchor="t">
            <a:spAutoFit/>
          </a:bodyPr>
          <a:lstStyle/>
          <a:p>
            <a:pPr algn="ctr">
              <a:spcAft>
                <a:spcPts val="400"/>
              </a:spcAft>
            </a:pPr>
            <a:r>
              <a:rPr sz="1800" b="1" i="0">
                <a:solidFill>
                  <a:srgbClr val="0B2A4A"/>
                </a:solidFill>
                <a:latin typeface="Arial"/>
              </a:rPr>
              <a:t>Ciudad</a:t>
            </a:r>
          </a:p>
        </p:txBody>
      </p:sp>
      <p:sp>
        <p:nvSpPr>
          <p:cNvPr id="26" name="Rounded Rectangle 25"/>
          <p:cNvSpPr/>
          <p:nvPr/>
        </p:nvSpPr>
        <p:spPr>
          <a:xfrm>
            <a:off x="1463040" y="5257800"/>
            <a:ext cx="9235440" cy="59436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ightbulb_n.png"/>
          <p:cNvPicPr>
            <a:picLocks noChangeAspect="1"/>
          </p:cNvPicPr>
          <p:nvPr/>
        </p:nvPicPr>
        <p:blipFill>
          <a:blip r:embed="rId7"/>
          <a:stretch>
            <a:fillRect/>
          </a:stretch>
        </p:blipFill>
        <p:spPr>
          <a:xfrm>
            <a:off x="1600200" y="5349240"/>
            <a:ext cx="411480" cy="411480"/>
          </a:xfrm>
          <a:prstGeom prst="rect">
            <a:avLst/>
          </a:prstGeom>
        </p:spPr>
      </p:pic>
      <p:sp>
        <p:nvSpPr>
          <p:cNvPr id="28" name="TextBox 27"/>
          <p:cNvSpPr txBox="1"/>
          <p:nvPr/>
        </p:nvSpPr>
        <p:spPr>
          <a:xfrm>
            <a:off x="2148840" y="5257800"/>
            <a:ext cx="836676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Pista: usa Scanner para leer y System.out.println para mostrar (mira el Ejemplo 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Ejercicio 2 · Grupal</a:t>
            </a:r>
          </a:p>
        </p:txBody>
      </p:sp>
      <p:sp>
        <p:nvSpPr>
          <p:cNvPr id="3" name="Oval 2"/>
          <p:cNvSpPr/>
          <p:nvPr/>
        </p:nvSpPr>
        <p:spPr>
          <a:xfrm>
            <a:off x="640080" y="1371600"/>
            <a:ext cx="914400" cy="9144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users_w.png"/>
          <p:cNvPicPr>
            <a:picLocks noChangeAspect="1"/>
          </p:cNvPicPr>
          <p:nvPr/>
        </p:nvPicPr>
        <p:blipFill>
          <a:blip r:embed="rId2"/>
          <a:stretch>
            <a:fillRect/>
          </a:stretch>
        </p:blipFill>
        <p:spPr>
          <a:xfrm>
            <a:off x="859536" y="1591056"/>
            <a:ext cx="475488" cy="475488"/>
          </a:xfrm>
          <a:prstGeom prst="rect">
            <a:avLst/>
          </a:prstGeom>
        </p:spPr>
      </p:pic>
      <p:sp>
        <p:nvSpPr>
          <p:cNvPr id="5" name="TextBox 4"/>
          <p:cNvSpPr txBox="1"/>
          <p:nvPr/>
        </p:nvSpPr>
        <p:spPr>
          <a:xfrm>
            <a:off x="1783080" y="1371600"/>
            <a:ext cx="9601200" cy="914400"/>
          </a:xfrm>
          <a:prstGeom prst="rect">
            <a:avLst/>
          </a:prstGeom>
          <a:noFill/>
        </p:spPr>
        <p:txBody>
          <a:bodyPr wrap="square" lIns="0" rIns="0" tIns="0" bIns="0" anchor="ctr">
            <a:spAutoFit/>
          </a:bodyPr>
          <a:lstStyle/>
          <a:p>
            <a:pPr algn="l">
              <a:spcAft>
                <a:spcPts val="400"/>
              </a:spcAft>
            </a:pPr>
            <a:r>
              <a:rPr sz="2000" b="0" i="0">
                <a:solidFill>
                  <a:srgbClr val="0B2A4A"/>
                </a:solidFill>
                <a:latin typeface="Arial"/>
              </a:rPr>
              <a:t>Programa una mini calculadora: lee 2 números y muestra el resultado de…</a:t>
            </a:r>
          </a:p>
        </p:txBody>
      </p:sp>
      <p:sp>
        <p:nvSpPr>
          <p:cNvPr id="6" name="Rounded Rectangle 5"/>
          <p:cNvSpPr/>
          <p:nvPr/>
        </p:nvSpPr>
        <p:spPr>
          <a:xfrm>
            <a:off x="640080" y="2651760"/>
            <a:ext cx="2560320" cy="2240280"/>
          </a:xfrm>
          <a:prstGeom prst="roundRect">
            <a:avLst>
              <a:gd name="adj" fmla="val 10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788920"/>
            <a:ext cx="2560320" cy="1188720"/>
          </a:xfrm>
          <a:prstGeom prst="rect">
            <a:avLst/>
          </a:prstGeom>
          <a:noFill/>
        </p:spPr>
        <p:txBody>
          <a:bodyPr wrap="square" lIns="0" rIns="0" tIns="0" bIns="0" anchor="ctr">
            <a:spAutoFit/>
          </a:bodyPr>
          <a:lstStyle/>
          <a:p>
            <a:pPr algn="ctr">
              <a:spcAft>
                <a:spcPts val="400"/>
              </a:spcAft>
            </a:pPr>
            <a:r>
              <a:rPr sz="6600" b="1" i="0">
                <a:solidFill>
                  <a:srgbClr val="FFFFFF"/>
                </a:solidFill>
                <a:latin typeface="Arial"/>
              </a:rPr>
              <a:t>+</a:t>
            </a:r>
          </a:p>
        </p:txBody>
      </p:sp>
      <p:sp>
        <p:nvSpPr>
          <p:cNvPr id="8" name="TextBox 7"/>
          <p:cNvSpPr txBox="1"/>
          <p:nvPr/>
        </p:nvSpPr>
        <p:spPr>
          <a:xfrm>
            <a:off x="640080" y="4114800"/>
            <a:ext cx="2560320" cy="548640"/>
          </a:xfrm>
          <a:prstGeom prst="rect">
            <a:avLst/>
          </a:prstGeom>
          <a:noFill/>
        </p:spPr>
        <p:txBody>
          <a:bodyPr wrap="square" lIns="0" rIns="0" tIns="0" bIns="0" anchor="t">
            <a:spAutoFit/>
          </a:bodyPr>
          <a:lstStyle/>
          <a:p>
            <a:pPr algn="ctr">
              <a:spcAft>
                <a:spcPts val="400"/>
              </a:spcAft>
            </a:pPr>
            <a:r>
              <a:rPr sz="1800" b="1" i="0">
                <a:solidFill>
                  <a:srgbClr val="FFFFFF"/>
                </a:solidFill>
                <a:latin typeface="Arial"/>
              </a:rPr>
              <a:t>Suma</a:t>
            </a:r>
          </a:p>
        </p:txBody>
      </p:sp>
      <p:sp>
        <p:nvSpPr>
          <p:cNvPr id="9" name="Rounded Rectangle 8"/>
          <p:cNvSpPr/>
          <p:nvPr/>
        </p:nvSpPr>
        <p:spPr>
          <a:xfrm>
            <a:off x="3429000" y="2651760"/>
            <a:ext cx="2560320" cy="2240280"/>
          </a:xfrm>
          <a:prstGeom prst="roundRect">
            <a:avLst>
              <a:gd name="adj" fmla="val 10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29000" y="2788920"/>
            <a:ext cx="2560320" cy="1188720"/>
          </a:xfrm>
          <a:prstGeom prst="rect">
            <a:avLst/>
          </a:prstGeom>
          <a:noFill/>
        </p:spPr>
        <p:txBody>
          <a:bodyPr wrap="square" lIns="0" rIns="0" tIns="0" bIns="0" anchor="ctr">
            <a:spAutoFit/>
          </a:bodyPr>
          <a:lstStyle/>
          <a:p>
            <a:pPr algn="ctr">
              <a:spcAft>
                <a:spcPts val="400"/>
              </a:spcAft>
            </a:pPr>
            <a:r>
              <a:rPr sz="6600" b="1" i="0">
                <a:solidFill>
                  <a:srgbClr val="FFFFFF"/>
                </a:solidFill>
                <a:latin typeface="Arial"/>
              </a:rPr>
              <a:t>−</a:t>
            </a:r>
          </a:p>
        </p:txBody>
      </p:sp>
      <p:sp>
        <p:nvSpPr>
          <p:cNvPr id="11" name="TextBox 10"/>
          <p:cNvSpPr txBox="1"/>
          <p:nvPr/>
        </p:nvSpPr>
        <p:spPr>
          <a:xfrm>
            <a:off x="3429000" y="4114800"/>
            <a:ext cx="2560320" cy="548640"/>
          </a:xfrm>
          <a:prstGeom prst="rect">
            <a:avLst/>
          </a:prstGeom>
          <a:noFill/>
        </p:spPr>
        <p:txBody>
          <a:bodyPr wrap="square" lIns="0" rIns="0" tIns="0" bIns="0" anchor="t">
            <a:spAutoFit/>
          </a:bodyPr>
          <a:lstStyle/>
          <a:p>
            <a:pPr algn="ctr">
              <a:spcAft>
                <a:spcPts val="400"/>
              </a:spcAft>
            </a:pPr>
            <a:r>
              <a:rPr sz="1800" b="1" i="0">
                <a:solidFill>
                  <a:srgbClr val="FFFFFF"/>
                </a:solidFill>
                <a:latin typeface="Arial"/>
              </a:rPr>
              <a:t>Resta</a:t>
            </a:r>
          </a:p>
        </p:txBody>
      </p:sp>
      <p:sp>
        <p:nvSpPr>
          <p:cNvPr id="12" name="Rounded Rectangle 11"/>
          <p:cNvSpPr/>
          <p:nvPr/>
        </p:nvSpPr>
        <p:spPr>
          <a:xfrm>
            <a:off x="6217920" y="2651760"/>
            <a:ext cx="2560320" cy="2240280"/>
          </a:xfrm>
          <a:prstGeom prst="roundRect">
            <a:avLst>
              <a:gd name="adj" fmla="val 10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0" y="2788920"/>
            <a:ext cx="2560320" cy="1188720"/>
          </a:xfrm>
          <a:prstGeom prst="rect">
            <a:avLst/>
          </a:prstGeom>
          <a:noFill/>
        </p:spPr>
        <p:txBody>
          <a:bodyPr wrap="square" lIns="0" rIns="0" tIns="0" bIns="0" anchor="ctr">
            <a:spAutoFit/>
          </a:bodyPr>
          <a:lstStyle/>
          <a:p>
            <a:pPr algn="ctr">
              <a:spcAft>
                <a:spcPts val="400"/>
              </a:spcAft>
            </a:pPr>
            <a:r>
              <a:rPr sz="6600" b="1" i="0">
                <a:solidFill>
                  <a:srgbClr val="FFFFFF"/>
                </a:solidFill>
                <a:latin typeface="Arial"/>
              </a:rPr>
              <a:t>×</a:t>
            </a:r>
          </a:p>
        </p:txBody>
      </p:sp>
      <p:sp>
        <p:nvSpPr>
          <p:cNvPr id="14" name="TextBox 13"/>
          <p:cNvSpPr txBox="1"/>
          <p:nvPr/>
        </p:nvSpPr>
        <p:spPr>
          <a:xfrm>
            <a:off x="6217920" y="4114800"/>
            <a:ext cx="2560320" cy="548640"/>
          </a:xfrm>
          <a:prstGeom prst="rect">
            <a:avLst/>
          </a:prstGeom>
          <a:noFill/>
        </p:spPr>
        <p:txBody>
          <a:bodyPr wrap="square" lIns="0" rIns="0" tIns="0" bIns="0" anchor="t">
            <a:spAutoFit/>
          </a:bodyPr>
          <a:lstStyle/>
          <a:p>
            <a:pPr algn="ctr">
              <a:spcAft>
                <a:spcPts val="400"/>
              </a:spcAft>
            </a:pPr>
            <a:r>
              <a:rPr sz="1800" b="1" i="0">
                <a:solidFill>
                  <a:srgbClr val="FFFFFF"/>
                </a:solidFill>
                <a:latin typeface="Arial"/>
              </a:rPr>
              <a:t>Multiplicación</a:t>
            </a:r>
          </a:p>
        </p:txBody>
      </p:sp>
      <p:sp>
        <p:nvSpPr>
          <p:cNvPr id="15" name="Rounded Rectangle 14"/>
          <p:cNvSpPr/>
          <p:nvPr/>
        </p:nvSpPr>
        <p:spPr>
          <a:xfrm>
            <a:off x="9006839" y="2651760"/>
            <a:ext cx="2560320" cy="2240280"/>
          </a:xfrm>
          <a:prstGeom prst="roundRect">
            <a:avLst>
              <a:gd name="adj" fmla="val 10000"/>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06839" y="2788920"/>
            <a:ext cx="2560320" cy="1188720"/>
          </a:xfrm>
          <a:prstGeom prst="rect">
            <a:avLst/>
          </a:prstGeom>
          <a:noFill/>
        </p:spPr>
        <p:txBody>
          <a:bodyPr wrap="square" lIns="0" rIns="0" tIns="0" bIns="0" anchor="ctr">
            <a:spAutoFit/>
          </a:bodyPr>
          <a:lstStyle/>
          <a:p>
            <a:pPr algn="ctr">
              <a:spcAft>
                <a:spcPts val="400"/>
              </a:spcAft>
            </a:pPr>
            <a:r>
              <a:rPr sz="6600" b="1" i="0">
                <a:solidFill>
                  <a:srgbClr val="FFFFFF"/>
                </a:solidFill>
                <a:latin typeface="Arial"/>
              </a:rPr>
              <a:t>÷</a:t>
            </a:r>
          </a:p>
        </p:txBody>
      </p:sp>
      <p:sp>
        <p:nvSpPr>
          <p:cNvPr id="17" name="TextBox 16"/>
          <p:cNvSpPr txBox="1"/>
          <p:nvPr/>
        </p:nvSpPr>
        <p:spPr>
          <a:xfrm>
            <a:off x="9006839" y="4114800"/>
            <a:ext cx="2560320" cy="548640"/>
          </a:xfrm>
          <a:prstGeom prst="rect">
            <a:avLst/>
          </a:prstGeom>
          <a:noFill/>
        </p:spPr>
        <p:txBody>
          <a:bodyPr wrap="square" lIns="0" rIns="0" tIns="0" bIns="0" anchor="t">
            <a:spAutoFit/>
          </a:bodyPr>
          <a:lstStyle/>
          <a:p>
            <a:pPr algn="ctr">
              <a:spcAft>
                <a:spcPts val="400"/>
              </a:spcAft>
            </a:pPr>
            <a:r>
              <a:rPr sz="1800" b="1" i="0">
                <a:solidFill>
                  <a:srgbClr val="FFFFFF"/>
                </a:solidFill>
                <a:latin typeface="Arial"/>
              </a:rPr>
              <a:t>División</a:t>
            </a:r>
          </a:p>
        </p:txBody>
      </p:sp>
      <p:sp>
        <p:nvSpPr>
          <p:cNvPr id="18" name="Rounded Rectangle 17"/>
          <p:cNvSpPr/>
          <p:nvPr/>
        </p:nvSpPr>
        <p:spPr>
          <a:xfrm>
            <a:off x="1463040" y="5257800"/>
            <a:ext cx="9235440" cy="59436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rophy_n.png"/>
          <p:cNvPicPr>
            <a:picLocks noChangeAspect="1"/>
          </p:cNvPicPr>
          <p:nvPr/>
        </p:nvPicPr>
        <p:blipFill>
          <a:blip r:embed="rId3"/>
          <a:stretch>
            <a:fillRect/>
          </a:stretch>
        </p:blipFill>
        <p:spPr>
          <a:xfrm>
            <a:off x="1600200" y="5349240"/>
            <a:ext cx="411480" cy="411480"/>
          </a:xfrm>
          <a:prstGeom prst="rect">
            <a:avLst/>
          </a:prstGeom>
        </p:spPr>
      </p:pic>
      <p:sp>
        <p:nvSpPr>
          <p:cNvPr id="20" name="TextBox 19"/>
          <p:cNvSpPr txBox="1"/>
          <p:nvPr/>
        </p:nvSpPr>
        <p:spPr>
          <a:xfrm>
            <a:off x="2148840" y="5257800"/>
            <a:ext cx="836676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Bonus: ¿qué pasa si divides por 0? Muestra un mensaje de advertencia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Ejercicio 3 · POO en parejas: tu Mascota Virtual</a:t>
            </a:r>
          </a:p>
        </p:txBody>
      </p:sp>
      <p:sp>
        <p:nvSpPr>
          <p:cNvPr id="3" name="Oval 2"/>
          <p:cNvSpPr/>
          <p:nvPr/>
        </p:nvSpPr>
        <p:spPr>
          <a:xfrm>
            <a:off x="640080" y="1325880"/>
            <a:ext cx="914400" cy="9144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paw_w.png"/>
          <p:cNvPicPr>
            <a:picLocks noChangeAspect="1"/>
          </p:cNvPicPr>
          <p:nvPr/>
        </p:nvPicPr>
        <p:blipFill>
          <a:blip r:embed="rId2"/>
          <a:stretch>
            <a:fillRect/>
          </a:stretch>
        </p:blipFill>
        <p:spPr>
          <a:xfrm>
            <a:off x="859536" y="1545336"/>
            <a:ext cx="475488" cy="475488"/>
          </a:xfrm>
          <a:prstGeom prst="rect">
            <a:avLst/>
          </a:prstGeom>
        </p:spPr>
      </p:pic>
      <p:sp>
        <p:nvSpPr>
          <p:cNvPr id="5" name="TextBox 4"/>
          <p:cNvSpPr txBox="1"/>
          <p:nvPr/>
        </p:nvSpPr>
        <p:spPr>
          <a:xfrm>
            <a:off x="1783080" y="1325880"/>
            <a:ext cx="9784080" cy="914400"/>
          </a:xfrm>
          <a:prstGeom prst="rect">
            <a:avLst/>
          </a:prstGeom>
          <a:noFill/>
        </p:spPr>
        <p:txBody>
          <a:bodyPr wrap="square" lIns="0" rIns="0" tIns="0" bIns="0" anchor="ctr">
            <a:spAutoFit/>
          </a:bodyPr>
          <a:lstStyle/>
          <a:p>
            <a:pPr algn="l">
              <a:spcAft>
                <a:spcPts val="400"/>
              </a:spcAft>
            </a:pPr>
            <a:r>
              <a:rPr sz="2000" b="0" i="0">
                <a:solidFill>
                  <a:srgbClr val="0B2A4A"/>
                </a:solidFill>
                <a:latin typeface="Arial"/>
              </a:rPr>
              <a:t>¿Te acuerdas de las mascotas virtuales de bolsillo? ¡Ahora tú programas una!</a:t>
            </a:r>
          </a:p>
        </p:txBody>
      </p:sp>
      <p:sp>
        <p:nvSpPr>
          <p:cNvPr id="6" name="Rounded Rectangle 5"/>
          <p:cNvSpPr/>
          <p:nvPr/>
        </p:nvSpPr>
        <p:spPr>
          <a:xfrm>
            <a:off x="640080" y="2514600"/>
            <a:ext cx="3474720" cy="2331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269748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2697480"/>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1</a:t>
            </a:r>
          </a:p>
        </p:txBody>
      </p:sp>
      <p:sp>
        <p:nvSpPr>
          <p:cNvPr id="9" name="TextBox 8"/>
          <p:cNvSpPr txBox="1"/>
          <p:nvPr/>
        </p:nvSpPr>
        <p:spPr>
          <a:xfrm>
            <a:off x="1645920" y="2697480"/>
            <a:ext cx="2331720" cy="64008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Crea la clase</a:t>
            </a:r>
          </a:p>
        </p:txBody>
      </p:sp>
      <p:sp>
        <p:nvSpPr>
          <p:cNvPr id="10" name="TextBox 9"/>
          <p:cNvSpPr txBox="1"/>
          <p:nvPr/>
        </p:nvSpPr>
        <p:spPr>
          <a:xfrm>
            <a:off x="868680" y="3474720"/>
            <a:ext cx="3063240" cy="1280160"/>
          </a:xfrm>
          <a:prstGeom prst="rect">
            <a:avLst/>
          </a:prstGeom>
          <a:noFill/>
        </p:spPr>
        <p:txBody>
          <a:bodyPr wrap="square" lIns="0" rIns="0" tIns="0" bIns="0" anchor="t">
            <a:spAutoFit/>
          </a:bodyPr>
          <a:lstStyle/>
          <a:p>
            <a:pPr algn="l">
              <a:spcAft>
                <a:spcPts val="400"/>
              </a:spcAft>
            </a:pPr>
            <a:r>
              <a:rPr sz="1600" b="0" i="0">
                <a:solidFill>
                  <a:srgbClr val="4A5A6A"/>
                </a:solidFill>
                <a:latin typeface="Arial"/>
              </a:rPr>
              <a:t>Mascota con los atributos nombre, energia y felicidad.</a:t>
            </a:r>
          </a:p>
        </p:txBody>
      </p:sp>
      <p:sp>
        <p:nvSpPr>
          <p:cNvPr id="11" name="Rounded Rectangle 10"/>
          <p:cNvSpPr/>
          <p:nvPr/>
        </p:nvSpPr>
        <p:spPr>
          <a:xfrm>
            <a:off x="4343400" y="2514600"/>
            <a:ext cx="3474720" cy="2331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72000" y="269748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0" y="2697480"/>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2</a:t>
            </a:r>
          </a:p>
        </p:txBody>
      </p:sp>
      <p:sp>
        <p:nvSpPr>
          <p:cNvPr id="14" name="TextBox 13"/>
          <p:cNvSpPr txBox="1"/>
          <p:nvPr/>
        </p:nvSpPr>
        <p:spPr>
          <a:xfrm>
            <a:off x="5349240" y="2697480"/>
            <a:ext cx="2331720" cy="64008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Agrega métodos</a:t>
            </a:r>
          </a:p>
        </p:txBody>
      </p:sp>
      <p:sp>
        <p:nvSpPr>
          <p:cNvPr id="15" name="TextBox 14"/>
          <p:cNvSpPr txBox="1"/>
          <p:nvPr/>
        </p:nvSpPr>
        <p:spPr>
          <a:xfrm>
            <a:off x="4572000" y="3474720"/>
            <a:ext cx="3063240" cy="1280160"/>
          </a:xfrm>
          <a:prstGeom prst="rect">
            <a:avLst/>
          </a:prstGeom>
          <a:noFill/>
        </p:spPr>
        <p:txBody>
          <a:bodyPr wrap="square" lIns="0" rIns="0" tIns="0" bIns="0" anchor="t">
            <a:spAutoFit/>
          </a:bodyPr>
          <a:lstStyle/>
          <a:p>
            <a:pPr algn="l">
              <a:spcAft>
                <a:spcPts val="400"/>
              </a:spcAft>
            </a:pPr>
            <a:r>
              <a:rPr sz="1600" b="0" i="0">
                <a:solidFill>
                  <a:srgbClr val="4A5A6A"/>
                </a:solidFill>
                <a:latin typeface="Arial"/>
              </a:rPr>
              <a:t>comer() sube la energía, jugar() sube la felicidad pero baja la energía, mostrarEstado().</a:t>
            </a:r>
          </a:p>
        </p:txBody>
      </p:sp>
      <p:sp>
        <p:nvSpPr>
          <p:cNvPr id="16" name="Rounded Rectangle 15"/>
          <p:cNvSpPr/>
          <p:nvPr/>
        </p:nvSpPr>
        <p:spPr>
          <a:xfrm>
            <a:off x="8046719" y="2514600"/>
            <a:ext cx="3474720" cy="2331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75319" y="2697480"/>
            <a:ext cx="640080" cy="64008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75319" y="2697480"/>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3</a:t>
            </a:r>
          </a:p>
        </p:txBody>
      </p:sp>
      <p:sp>
        <p:nvSpPr>
          <p:cNvPr id="19" name="TextBox 18"/>
          <p:cNvSpPr txBox="1"/>
          <p:nvPr/>
        </p:nvSpPr>
        <p:spPr>
          <a:xfrm>
            <a:off x="9052559" y="2697480"/>
            <a:ext cx="2331720" cy="64008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En el main</a:t>
            </a:r>
          </a:p>
        </p:txBody>
      </p:sp>
      <p:sp>
        <p:nvSpPr>
          <p:cNvPr id="20" name="TextBox 19"/>
          <p:cNvSpPr txBox="1"/>
          <p:nvPr/>
        </p:nvSpPr>
        <p:spPr>
          <a:xfrm>
            <a:off x="8275319" y="3474720"/>
            <a:ext cx="3063240" cy="1280160"/>
          </a:xfrm>
          <a:prstGeom prst="rect">
            <a:avLst/>
          </a:prstGeom>
          <a:noFill/>
        </p:spPr>
        <p:txBody>
          <a:bodyPr wrap="square" lIns="0" rIns="0" tIns="0" bIns="0" anchor="t">
            <a:spAutoFit/>
          </a:bodyPr>
          <a:lstStyle/>
          <a:p>
            <a:pPr algn="l">
              <a:spcAft>
                <a:spcPts val="400"/>
              </a:spcAft>
            </a:pPr>
            <a:r>
              <a:rPr sz="1600" b="0" i="0">
                <a:solidFill>
                  <a:srgbClr val="4A5A6A"/>
                </a:solidFill>
                <a:latin typeface="Arial"/>
              </a:rPr>
              <a:t>crea 2 mascotas con new y haz que coman y jueguen. Muestra su estado.</a:t>
            </a:r>
          </a:p>
        </p:txBody>
      </p:sp>
      <p:sp>
        <p:nvSpPr>
          <p:cNvPr id="21" name="Rounded Rectangle 20"/>
          <p:cNvSpPr/>
          <p:nvPr/>
        </p:nvSpPr>
        <p:spPr>
          <a:xfrm>
            <a:off x="1463040" y="5166360"/>
            <a:ext cx="9235440" cy="59436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rophy_n.png"/>
          <p:cNvPicPr>
            <a:picLocks noChangeAspect="1"/>
          </p:cNvPicPr>
          <p:nvPr/>
        </p:nvPicPr>
        <p:blipFill>
          <a:blip r:embed="rId3"/>
          <a:stretch>
            <a:fillRect/>
          </a:stretch>
        </p:blipFill>
        <p:spPr>
          <a:xfrm>
            <a:off x="1600200" y="5257800"/>
            <a:ext cx="411480" cy="411480"/>
          </a:xfrm>
          <a:prstGeom prst="rect">
            <a:avLst/>
          </a:prstGeom>
        </p:spPr>
      </p:pic>
      <p:sp>
        <p:nvSpPr>
          <p:cNvPr id="23" name="TextBox 22"/>
          <p:cNvSpPr txBox="1"/>
          <p:nvPr/>
        </p:nvSpPr>
        <p:spPr>
          <a:xfrm>
            <a:off x="2148840" y="5166360"/>
            <a:ext cx="8366760" cy="59436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Bonus: si la energía llega a 0, muestra "¡Tu mascota se quedó dormida!"</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aed54d-a4a1-422d-a2e9-d6c3ab2721f1}" enabled="1" method="Standard" siteId="{9298dcf5-8f4f-4ba9-a331-6f84f599a983}" contentBits="0" removed="0"/>
</clbl:labelList>
</file>

<file path=docProps/app.xml><?xml version="1.0" encoding="utf-8"?>
<Properties xmlns="http://schemas.openxmlformats.org/officeDocument/2006/extended-properties" xmlns:vt="http://schemas.openxmlformats.org/officeDocument/2006/docPropsVTypes">
  <TotalTime>39</TotalTime>
  <Words>1409</Words>
  <Application>Microsoft Office PowerPoint</Application>
  <PresentationFormat>Panorámica</PresentationFormat>
  <Paragraphs>235</Paragraphs>
  <Slides>36</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Aptos</vt:lpstr>
      <vt:lpstr>Aptos Display</vt:lpstr>
      <vt:lpstr>Arial</vt:lpstr>
      <vt:lpstr>Arial Black</vt:lpstr>
      <vt:lpstr>Calibri</vt:lpstr>
      <vt:lpstr>Tema de Office</vt:lpstr>
      <vt:lpstr>TÍTULO</vt:lpstr>
      <vt:lpstr>                Objetivo del Curso</vt:lpstr>
      <vt:lpstr> Temas día 1:</vt:lpstr>
      <vt:lpstr>TÍTULO</vt:lpstr>
      <vt:lpstr>Entorno de Desarrollo</vt:lpstr>
      <vt:lpstr>Entorno de Desarrollo</vt:lpstr>
      <vt:lpstr>Entorno de Desarrollo</vt:lpstr>
      <vt:lpstr>NETBEANS</vt:lpstr>
      <vt:lpstr>NetBeans</vt:lpstr>
      <vt:lpstr>NetBeans</vt:lpstr>
      <vt:lpstr>NetBeans</vt:lpstr>
      <vt:lpstr>NetBeans</vt:lpstr>
      <vt:lpstr>NetBeans</vt:lpstr>
      <vt:lpstr>NetBeans</vt:lpstr>
      <vt:lpstr>NetBeans</vt:lpstr>
      <vt:lpstr>NetBeans</vt:lpstr>
      <vt:lpstr>NetBeans</vt:lpstr>
      <vt:lpstr>Estructura básica de un programa en Java</vt:lpstr>
      <vt:lpstr>LENGUAJE DE PROGRAMACIÓN JAVA</vt:lpstr>
      <vt:lpstr>Lenguaje de Programación Java</vt:lpstr>
      <vt:lpstr>Lenguaje de Programación Java</vt:lpstr>
      <vt:lpstr>Lenguaje de Programación Java</vt:lpstr>
      <vt:lpstr>Lenguaje de Programación Java</vt:lpstr>
      <vt:lpstr>Lenguaje de Programación Java</vt:lpstr>
      <vt:lpstr>PRIMER PROGRAMA EN JAVA</vt:lpstr>
      <vt:lpstr>Primer Programa en Java</vt:lpstr>
      <vt:lpstr>Primer Programa en Java</vt:lpstr>
      <vt:lpstr>Primer Programa en Java</vt:lpstr>
      <vt:lpstr>Primer Programa en Java</vt:lpstr>
      <vt:lpstr>Primer Programa en Java</vt:lpstr>
      <vt:lpstr>Tipos de datos y variables</vt:lpstr>
      <vt:lpstr>Tipos de datos</vt:lpstr>
      <vt:lpstr>Entrada/Salida por consola</vt:lpstr>
      <vt:lpstr>Ejemplo 1: Entrada/Salida por consola</vt:lpstr>
      <vt:lpstr>Ejercicio 1 (Individual)</vt:lpstr>
      <vt:lpstr>Ejercicio 2 (Grupal)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Oteiza Soto Josue</dc:creator>
  <cp:lastModifiedBy>Oteiza Soto Josue</cp:lastModifiedBy>
  <cp:revision>3</cp:revision>
  <dcterms:created xsi:type="dcterms:W3CDTF">2025-09-01T01:07:17Z</dcterms:created>
  <dcterms:modified xsi:type="dcterms:W3CDTF">2025-09-01T01:46:57Z</dcterms:modified>
</cp:coreProperties>
</file>