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20.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90" r:id="rId2"/>
    <p:sldId id="441" r:id="rId35"/>
    <p:sldId id="442" r:id="rId36"/>
    <p:sldId id="270" r:id="rId5"/>
    <p:sldId id="348" r:id="rId6"/>
    <p:sldId id="421" r:id="rId7"/>
    <p:sldId id="443" r:id="rId37"/>
    <p:sldId id="422" r:id="rId8"/>
    <p:sldId id="423" r:id="rId9"/>
    <p:sldId id="424" r:id="rId10"/>
    <p:sldId id="425" r:id="rId11"/>
    <p:sldId id="444" r:id="rId38"/>
    <p:sldId id="445" r:id="rId39"/>
    <p:sldId id="446" r:id="rId40"/>
    <p:sldId id="427" r:id="rId13"/>
    <p:sldId id="429" r:id="rId15"/>
    <p:sldId id="430" r:id="rId16"/>
    <p:sldId id="447" r:id="rId41"/>
    <p:sldId id="370" r:id="rId17"/>
    <p:sldId id="448" r:id="rId42"/>
    <p:sldId id="431" r:id="rId18"/>
    <p:sldId id="432" r:id="rId19"/>
    <p:sldId id="433" r:id="rId20"/>
    <p:sldId id="434" r:id="rId21"/>
    <p:sldId id="435" r:id="rId22"/>
    <p:sldId id="436" r:id="rId23"/>
    <p:sldId id="437" r:id="rId24"/>
    <p:sldId id="438" r:id="rId25"/>
    <p:sldId id="449" r:id="rId43"/>
    <p:sldId id="450" r:id="rId44"/>
    <p:sldId id="451" r:id="rId45"/>
    <p:sldId id="452" r:id="rId46"/>
    <p:sldId id="457" r:id="rId51"/>
    <p:sldId id="453" r:id="rId47"/>
    <p:sldId id="454" r:id="rId48"/>
    <p:sldId id="376" r:id="rId27"/>
    <p:sldId id="455" r:id="rId49"/>
    <p:sldId id="456" r:id="rId50"/>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2166" y="8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3"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9.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slide" Target="slides/slide25.xml"/><Relationship Id="rId23" Type="http://schemas.openxmlformats.org/officeDocument/2006/relationships/slide" Target="slides/slide26.xml"/><Relationship Id="rId24" Type="http://schemas.openxmlformats.org/officeDocument/2006/relationships/slide" Target="slides/slide27.xml"/><Relationship Id="rId25" Type="http://schemas.openxmlformats.org/officeDocument/2006/relationships/slide" Target="slides/slide28.xml"/><Relationship Id="rId27" Type="http://schemas.openxmlformats.org/officeDocument/2006/relationships/slide" Target="slides/slide36.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2.xml"/><Relationship Id="rId36" Type="http://schemas.openxmlformats.org/officeDocument/2006/relationships/slide" Target="slides/slide3.xml"/><Relationship Id="rId37" Type="http://schemas.openxmlformats.org/officeDocument/2006/relationships/slide" Target="slides/slide7.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8.xml"/><Relationship Id="rId42" Type="http://schemas.openxmlformats.org/officeDocument/2006/relationships/slide" Target="slides/slide20.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CFE9F6-861F-4FC2-B933-23594B9CF9B6}" type="datetimeFigureOut">
              <a:rPr lang="es-CL" smtClean="0"/>
              <a:t>02-09-2025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93A10-DD44-49F0-8561-951F0851CD74}" type="slidenum">
              <a:rPr lang="es-CL" smtClean="0"/>
              <a:t>‹Nº›</a:t>
            </a:fld>
            <a:endParaRPr lang="es-CL"/>
          </a:p>
        </p:txBody>
      </p:sp>
    </p:spTree>
    <p:extLst>
      <p:ext uri="{BB962C8B-B14F-4D97-AF65-F5344CB8AC3E}">
        <p14:creationId xmlns:p14="http://schemas.microsoft.com/office/powerpoint/2010/main" val="3929978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 juego: el profe dice una condición en voz alta (ej: 'edad &gt;= 18 &amp;&amp; tieneLicencia') y el curso responde true o false con los pulgares arriba o abajo.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programador analiza el problema y elige la sentencia más adecuada. Preguntar: ¿el menú de un cajero automático es if o switch? ¿y revisar si alguien aprobó?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Pedir que cambien vida a 30: ¿qué se imprime? (¡Sigue avanzando!, porque 30 no es menor que 30). Buen momento para hablar de &lt; versus &lt;=.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Demostrar en vivo: borrar los break y ejecutar con codigo = 2. Se imprimirá Pizza, Helado, Galletas y Código inválido. Así se entiende para qué sirve el break.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Respuestas: par/impar = if (numero % 2 == 0). Cajero = switch. Aprobar = if (nota &gt;= 4.0). Mes = switch. Paraguas = if (lluvia &gt; 50). Personaje = switch.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Pedir más ejemplos de la vida diaria: ¿escuchar canciones hasta llegar a la casa? (while). ¿Repetir la tabla del 7 del 1 al 10? (for).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Desafío: modificar el for para que cuente de 2 en 2 (i = i - 2). ¿Qué números aparecen? (10, 8, 6, 4,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si cada batalla diera 25 XP, ¿cuántas batallas se necesitan? (4: 25, 50, 75, 100 y ahí xp &lt; 100 ya es false). ¿Y si xp partiera en 100? (0 batallas: el while podría no ejecutarse nunca).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les pasa en NetBeans, que no se asusten: se detiene con el botón Stop o cerrando la ventana de salida. Preguntar: ¿qué línea falta para que termine?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Repasar con los ejemplos de la clase: archivo de clientes (while), menú del restaurante (do-while), fiesta de año nuevo con preventa (for).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Respuestas: A = Impar (7 % 2 es 1). B = Hip hip, Hip hip, Hip hip, ¡Hurra! C = 32 (c pasa por 1, 2, 4, 8, 16, 32; cuando llega a 32 la condición c &lt; 20 es false).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Ejecutar en vivo y jugar contra el computador con el curso. Pregunta: ¿qué pasa si el usuario escribe 5? Mejora opcional: validar que yo esté entre 1 y 3 y llevar un marcador de victorias con contadores.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nombres y precios de los juegos son inventados: los estudiantes pueden crear su propio catálogo.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Número aleatorio: int secreto = (int) (Math.random() * 10) + 1; Se usó en el ejemplo de Piedra, Papel o Tijera.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619245-5200-0F84-B594-298ECB1C9D2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727D30BC-10AD-ABBD-BCA1-BEF4B2A5B0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55C846E3-0385-2936-A2C7-69F1D63626F0}"/>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5" name="Marcador de pie de página 4">
            <a:extLst>
              <a:ext uri="{FF2B5EF4-FFF2-40B4-BE49-F238E27FC236}">
                <a16:creationId xmlns:a16="http://schemas.microsoft.com/office/drawing/2014/main" id="{46C1049C-53CB-19DC-4CEF-AC612DEC570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54AD47D-B054-9C5F-DD00-06E92EE79495}"/>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3012164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92B68B-F587-E966-1BC9-C4416CB31A1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7CC1B44-92AD-E4F9-BAB6-2A5555EB2F1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4E18C4B-07BD-1A38-D43A-F4A7714F52FC}"/>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5" name="Marcador de pie de página 4">
            <a:extLst>
              <a:ext uri="{FF2B5EF4-FFF2-40B4-BE49-F238E27FC236}">
                <a16:creationId xmlns:a16="http://schemas.microsoft.com/office/drawing/2014/main" id="{C3BDDD7F-F299-F965-5403-7344E151792A}"/>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B0F26F-6FBC-62B7-3F13-366585A4BC71}"/>
              </a:ext>
            </a:extLst>
          </p:cNvPr>
          <p:cNvSpPr>
            <a:spLocks noGrp="1"/>
          </p:cNvSpPr>
          <p:nvPr>
            <p:ph type="sldNum" sz="quarter" idx="12"/>
          </p:nvPr>
        </p:nvSpPr>
        <p:spPr/>
        <p:txBody>
          <a:bodyPr/>
          <a:lstStyle/>
          <a:p>
            <a:fld id="{51438CEF-6BB3-4815-B68E-007761976F9F}" type="slidenum">
              <a:rPr lang="es-CL" smtClean="0"/>
              <a:t>‹Nº›</a:t>
            </a:fld>
            <a:endParaRPr lang="es-CL"/>
          </a:p>
        </p:txBody>
      </p:sp>
      <p:sp>
        <p:nvSpPr>
          <p:cNvPr id="7" name="object 3">
            <a:extLst>
              <a:ext uri="{FF2B5EF4-FFF2-40B4-BE49-F238E27FC236}">
                <a16:creationId xmlns:a16="http://schemas.microsoft.com/office/drawing/2014/main" id="{A3DB0969-266A-A56E-EB41-FAE424FFBEBF}"/>
              </a:ext>
            </a:extLst>
          </p:cNvPr>
          <p:cNvSpPr/>
          <p:nvPr userDrawn="1"/>
        </p:nvSpPr>
        <p:spPr>
          <a:xfrm>
            <a:off x="10272195" y="6186690"/>
            <a:ext cx="955797" cy="309977"/>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sz="1092"/>
          </a:p>
        </p:txBody>
      </p:sp>
      <p:sp>
        <p:nvSpPr>
          <p:cNvPr id="8" name="object 4">
            <a:extLst>
              <a:ext uri="{FF2B5EF4-FFF2-40B4-BE49-F238E27FC236}">
                <a16:creationId xmlns:a16="http://schemas.microsoft.com/office/drawing/2014/main" id="{6E90078F-DEC9-EF47-6D44-CBF4BADB26B2}"/>
              </a:ext>
            </a:extLst>
          </p:cNvPr>
          <p:cNvSpPr/>
          <p:nvPr userDrawn="1"/>
        </p:nvSpPr>
        <p:spPr>
          <a:xfrm>
            <a:off x="11294124" y="6212763"/>
            <a:ext cx="229515" cy="284948"/>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sz="1092"/>
          </a:p>
        </p:txBody>
      </p:sp>
      <p:grpSp>
        <p:nvGrpSpPr>
          <p:cNvPr id="9" name="object 5">
            <a:extLst>
              <a:ext uri="{FF2B5EF4-FFF2-40B4-BE49-F238E27FC236}">
                <a16:creationId xmlns:a16="http://schemas.microsoft.com/office/drawing/2014/main" id="{E8419BAA-03F0-63F6-A245-33AB3CF4CF90}"/>
              </a:ext>
            </a:extLst>
          </p:cNvPr>
          <p:cNvGrpSpPr/>
          <p:nvPr userDrawn="1"/>
        </p:nvGrpSpPr>
        <p:grpSpPr>
          <a:xfrm>
            <a:off x="11555125" y="6135384"/>
            <a:ext cx="259167" cy="362346"/>
            <a:chOff x="19053919" y="10117702"/>
            <a:chExt cx="427355" cy="597535"/>
          </a:xfrm>
        </p:grpSpPr>
        <p:sp>
          <p:nvSpPr>
            <p:cNvPr id="10" name="object 6">
              <a:extLst>
                <a:ext uri="{FF2B5EF4-FFF2-40B4-BE49-F238E27FC236}">
                  <a16:creationId xmlns:a16="http://schemas.microsoft.com/office/drawing/2014/main" id="{9B50919C-3AE2-0C0D-EBAA-1CB180460659}"/>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sz="1092"/>
            </a:p>
          </p:txBody>
        </p:sp>
        <p:pic>
          <p:nvPicPr>
            <p:cNvPr id="11" name="object 7">
              <a:extLst>
                <a:ext uri="{FF2B5EF4-FFF2-40B4-BE49-F238E27FC236}">
                  <a16:creationId xmlns:a16="http://schemas.microsoft.com/office/drawing/2014/main" id="{E05A50E1-7B05-C0C1-443F-AF49C9A6DC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349647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C1214F-6D95-8443-C9E5-BB6367D6C3B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FE34EB-6DC0-2189-4E68-0A8B2F8CF6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D12363B-9BEF-AC9E-35E1-063E179CFD28}"/>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5" name="Marcador de pie de página 4">
            <a:extLst>
              <a:ext uri="{FF2B5EF4-FFF2-40B4-BE49-F238E27FC236}">
                <a16:creationId xmlns:a16="http://schemas.microsoft.com/office/drawing/2014/main" id="{CB53C768-9FAD-A3FB-ACAB-5EE747CC7CD1}"/>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054BAB5-0BBC-25E4-6875-99E127E6BD98}"/>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2472206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3C4520-2811-A379-239C-F6A22EFE33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479B7879-45F3-DB1E-AD82-FB097659E0E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C23B72BE-8027-0565-3989-D088D98DEA6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3960710D-2EC9-6E44-C815-CD008875BEA2}"/>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6" name="Marcador de pie de página 5">
            <a:extLst>
              <a:ext uri="{FF2B5EF4-FFF2-40B4-BE49-F238E27FC236}">
                <a16:creationId xmlns:a16="http://schemas.microsoft.com/office/drawing/2014/main" id="{8E518E10-14FE-4A87-F6CA-88B677D82EA6}"/>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DC85C094-009B-63B0-445C-DD6C4F401F59}"/>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36318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43BF1E-4990-6296-5EBD-D50C3357F47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92628024-7C4B-6617-F897-F3AF48608B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2047FFC-289C-A493-2538-BA0DE9A0E9E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E35F429A-326C-C674-B4DF-277FCA78EC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C0A17C-F15C-168D-C3C2-55F2B769B32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BBBB7E82-0F6E-156A-6158-4FE9290A4267}"/>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8" name="Marcador de pie de página 7">
            <a:extLst>
              <a:ext uri="{FF2B5EF4-FFF2-40B4-BE49-F238E27FC236}">
                <a16:creationId xmlns:a16="http://schemas.microsoft.com/office/drawing/2014/main" id="{9BA20003-22CE-4A6B-025D-A6F9B934411F}"/>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C52741B2-F41F-2271-E5E3-F09291E2EC0C}"/>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896262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3074EE-2149-C30B-2500-3CB3070AE82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D30C0AFD-E73D-0C89-9CB0-8680FF8D93F6}"/>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4" name="Marcador de pie de página 3">
            <a:extLst>
              <a:ext uri="{FF2B5EF4-FFF2-40B4-BE49-F238E27FC236}">
                <a16:creationId xmlns:a16="http://schemas.microsoft.com/office/drawing/2014/main" id="{292E69E1-58BB-5BE7-C352-912DD00E78E0}"/>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DA42902E-4A47-87FB-3C4F-2B7C497994E6}"/>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886926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C60048B-6EED-9B21-1083-9B3E1C8D40C4}"/>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3" name="Marcador de pie de página 2">
            <a:extLst>
              <a:ext uri="{FF2B5EF4-FFF2-40B4-BE49-F238E27FC236}">
                <a16:creationId xmlns:a16="http://schemas.microsoft.com/office/drawing/2014/main" id="{5AF4EC23-0D42-E7DE-A692-11B536DDC4BC}"/>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F0C05B5B-28A1-213A-743F-4AFBEC08C28F}"/>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2965870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BB0F5D-41FD-BCA1-06A2-A07C8D2C1E9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21C57E9-1E6B-E0B0-5DA4-3A46E6F48D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06870ECE-6EF0-E44D-F7E2-AD65F2198C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597560-007F-2E61-48E5-F7BDCD0FBB1F}"/>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6" name="Marcador de pie de página 5">
            <a:extLst>
              <a:ext uri="{FF2B5EF4-FFF2-40B4-BE49-F238E27FC236}">
                <a16:creationId xmlns:a16="http://schemas.microsoft.com/office/drawing/2014/main" id="{BB3D21BC-BADC-F659-3118-D4B202EAB56F}"/>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378DB99-11AE-D511-2F01-C9A01F739CE1}"/>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1105886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8DF84B-748C-3957-0E9F-DB492CEC6D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C7FCC81-EF2F-8771-41A6-0A1375FBCB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FA11AE73-8AF0-9827-6FE3-5384F67C1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9004257-EF09-F265-7A45-B479C4A91B09}"/>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6" name="Marcador de pie de página 5">
            <a:extLst>
              <a:ext uri="{FF2B5EF4-FFF2-40B4-BE49-F238E27FC236}">
                <a16:creationId xmlns:a16="http://schemas.microsoft.com/office/drawing/2014/main" id="{A1D2E04C-01EE-1F74-CC92-B3600A93C0A0}"/>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09D9DC6-B1E9-6BCB-244A-EF8DC2D4FF20}"/>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3199465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94A83C-6FA5-2CA3-B778-581AE7E9D4D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A31AA43B-5380-F470-722B-FFF1D21C275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902BEAC-308B-6315-458C-A20C69C99CC9}"/>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5" name="Marcador de pie de página 4">
            <a:extLst>
              <a:ext uri="{FF2B5EF4-FFF2-40B4-BE49-F238E27FC236}">
                <a16:creationId xmlns:a16="http://schemas.microsoft.com/office/drawing/2014/main" id="{6DE893F7-DE9C-4EAF-9069-2A3E0D4FEFA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32EC5A8-92BF-F588-CB68-CAAF7116A255}"/>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1696984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1BC8EB8-6D01-3ED9-7DCB-21E9E0AD3DA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2DF85CBE-88D2-DCFD-D822-DC3891CF496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ED52A970-740D-1C6E-7A1D-73833E79B639}"/>
              </a:ext>
            </a:extLst>
          </p:cNvPr>
          <p:cNvSpPr>
            <a:spLocks noGrp="1"/>
          </p:cNvSpPr>
          <p:nvPr>
            <p:ph type="dt" sz="half" idx="10"/>
          </p:nvPr>
        </p:nvSpPr>
        <p:spPr/>
        <p:txBody>
          <a:bodyPr/>
          <a:lstStyle/>
          <a:p>
            <a:fld id="{5210A1EB-F764-4C4E-B6AB-DC567886DCD6}" type="datetimeFigureOut">
              <a:rPr lang="es-CL" smtClean="0"/>
              <a:t>02-09-2025</a:t>
            </a:fld>
            <a:endParaRPr lang="es-CL"/>
          </a:p>
        </p:txBody>
      </p:sp>
      <p:sp>
        <p:nvSpPr>
          <p:cNvPr id="5" name="Marcador de pie de página 4">
            <a:extLst>
              <a:ext uri="{FF2B5EF4-FFF2-40B4-BE49-F238E27FC236}">
                <a16:creationId xmlns:a16="http://schemas.microsoft.com/office/drawing/2014/main" id="{6A192F3A-4730-5009-6ADC-3DA4783AFB9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B01C1B8-E8D3-5BB7-CB12-7C3DC2C03D75}"/>
              </a:ext>
            </a:extLst>
          </p:cNvPr>
          <p:cNvSpPr>
            <a:spLocks noGrp="1"/>
          </p:cNvSpPr>
          <p:nvPr>
            <p:ph type="sldNum" sz="quarter" idx="12"/>
          </p:nvPr>
        </p:nvSpPr>
        <p:spPr/>
        <p:txBody>
          <a:bodyPr/>
          <a:lstStyle/>
          <a:p>
            <a:fld id="{51438CEF-6BB3-4815-B68E-007761976F9F}" type="slidenum">
              <a:rPr lang="es-CL" smtClean="0"/>
              <a:t>‹Nº›</a:t>
            </a:fld>
            <a:endParaRPr lang="es-CL"/>
          </a:p>
        </p:txBody>
      </p:sp>
    </p:spTree>
    <p:extLst>
      <p:ext uri="{BB962C8B-B14F-4D97-AF65-F5344CB8AC3E}">
        <p14:creationId xmlns:p14="http://schemas.microsoft.com/office/powerpoint/2010/main" val="2795004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41"/>
            <a:ext cx="12192431" cy="6857759"/>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2026"/>
            <a:ext cx="12195179" cy="685573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458259" y="3798662"/>
            <a:ext cx="5999202" cy="1386232"/>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718289" y="3997032"/>
            <a:ext cx="5470133" cy="933180"/>
          </a:xfrm>
        </p:spPr>
        <p:txBody>
          <a:bodyPr/>
          <a:lstStyle>
            <a:lvl1pPr algn="l">
              <a:defRPr sz="3032">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2371389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1474901" y="433330"/>
            <a:ext cx="10302421" cy="447927"/>
          </a:xfrm>
        </p:spPr>
        <p:txBody>
          <a:bodyPr/>
          <a:lstStyle>
            <a:lvl1pPr>
              <a:defRPr sz="2911"/>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3851" y="397869"/>
            <a:ext cx="1360529" cy="643058"/>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sz="1092"/>
          </a:p>
        </p:txBody>
      </p:sp>
      <p:sp>
        <p:nvSpPr>
          <p:cNvPr id="7" name="object 3">
            <a:extLst>
              <a:ext uri="{FF2B5EF4-FFF2-40B4-BE49-F238E27FC236}">
                <a16:creationId xmlns:a16="http://schemas.microsoft.com/office/drawing/2014/main" id="{7932DF43-D838-5B47-A92B-B88C568B4A19}"/>
              </a:ext>
            </a:extLst>
          </p:cNvPr>
          <p:cNvSpPr/>
          <p:nvPr userDrawn="1"/>
        </p:nvSpPr>
        <p:spPr>
          <a:xfrm>
            <a:off x="10272195" y="6186690"/>
            <a:ext cx="955797" cy="309977"/>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sz="1092"/>
          </a:p>
        </p:txBody>
      </p:sp>
      <p:sp>
        <p:nvSpPr>
          <p:cNvPr id="8" name="object 4">
            <a:extLst>
              <a:ext uri="{FF2B5EF4-FFF2-40B4-BE49-F238E27FC236}">
                <a16:creationId xmlns:a16="http://schemas.microsoft.com/office/drawing/2014/main" id="{9DEB8F4A-6C01-284B-B123-A27D152597CD}"/>
              </a:ext>
            </a:extLst>
          </p:cNvPr>
          <p:cNvSpPr/>
          <p:nvPr userDrawn="1"/>
        </p:nvSpPr>
        <p:spPr>
          <a:xfrm>
            <a:off x="11294124" y="6212763"/>
            <a:ext cx="229515" cy="284948"/>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sz="1092"/>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1555125" y="6135384"/>
            <a:ext cx="259167" cy="362346"/>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sz="1092"/>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239640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025"/>
            <a:ext cx="12195607" cy="6855975"/>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504470" y="4353155"/>
            <a:ext cx="5932243" cy="933180"/>
          </a:xfrm>
        </p:spPr>
        <p:txBody>
          <a:bodyPr/>
          <a:lstStyle>
            <a:lvl1pPr algn="r">
              <a:defRPr sz="3032"/>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906124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41"/>
            <a:ext cx="12192431" cy="6857759"/>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39" y="0"/>
            <a:ext cx="12187922" cy="685800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4386193" y="4778652"/>
            <a:ext cx="5999202" cy="1386232"/>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092"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4646223" y="4977021"/>
            <a:ext cx="5470133" cy="933180"/>
          </a:xfrm>
        </p:spPr>
        <p:txBody>
          <a:bodyPr/>
          <a:lstStyle>
            <a:lvl1pPr algn="l">
              <a:defRPr sz="3032">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057029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0CB82F3-E627-4A41-F854-F5BB6AEB26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D16312B1-57F2-2962-C9AB-6A6F090388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111A8B46-26F9-ED33-4B34-426BF373DB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10A1EB-F764-4C4E-B6AB-DC567886DCD6}" type="datetimeFigureOut">
              <a:rPr lang="es-CL" smtClean="0"/>
              <a:t>02-09-2025</a:t>
            </a:fld>
            <a:endParaRPr lang="es-CL"/>
          </a:p>
        </p:txBody>
      </p:sp>
      <p:sp>
        <p:nvSpPr>
          <p:cNvPr id="5" name="Marcador de pie de página 4">
            <a:extLst>
              <a:ext uri="{FF2B5EF4-FFF2-40B4-BE49-F238E27FC236}">
                <a16:creationId xmlns:a16="http://schemas.microsoft.com/office/drawing/2014/main" id="{4C4C4362-D1FF-66AB-652A-7B97D5CA50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19400665-1A2E-244A-22E8-1F1B75D43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438CEF-6BB3-4815-B68E-007761976F9F}" type="slidenum">
              <a:rPr lang="es-CL" smtClean="0"/>
              <a:t>‹Nº›</a:t>
            </a:fld>
            <a:endParaRPr lang="es-CL"/>
          </a:p>
        </p:txBody>
      </p:sp>
    </p:spTree>
    <p:extLst>
      <p:ext uri="{BB962C8B-B14F-4D97-AF65-F5344CB8AC3E}">
        <p14:creationId xmlns:p14="http://schemas.microsoft.com/office/powerpoint/2010/main" val="2505304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4.png"/><Relationship Id="rId3" Type="http://schemas.openxmlformats.org/officeDocument/2006/relationships/image" Target="../media/image30.png"/><Relationship Id="rId4"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 Id="rId3" Type="http://schemas.openxmlformats.org/officeDocument/2006/relationships/image" Target="../media/image13.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png"/><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40.png"/><Relationship Id="rId9"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notesSlide" Target="../notesSlides/notes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7.png"/><Relationship Id="rId5"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7.png"/><Relationship Id="rId3" Type="http://schemas.openxmlformats.org/officeDocument/2006/relationships/notesSlide" Target="../notesSlides/notesSlid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8.png"/><Relationship Id="rId3" Type="http://schemas.openxmlformats.org/officeDocument/2006/relationships/image" Target="../media/image50.png"/><Relationship Id="rId4" Type="http://schemas.openxmlformats.org/officeDocument/2006/relationships/notesSlide" Target="../notesSlides/notesSlide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0.png"/><Relationship Id="rId3" Type="http://schemas.openxmlformats.org/officeDocument/2006/relationships/notesSlide" Target="../notesSlides/notesSlide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notesSlide" Target="../notesSlides/notes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3.png"/><Relationship Id="rId3" Type="http://schemas.openxmlformats.org/officeDocument/2006/relationships/image" Target="../media/image38.png"/><Relationship Id="rId4" Type="http://schemas.openxmlformats.org/officeDocument/2006/relationships/image" Target="../media/image34.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notesSlide" Target="../notesSlides/notes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66.png"/><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7C151-B85B-04D5-A763-1ADF90ED7FF0}"/>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E7C7949C-363D-89CD-2F8B-128C86A62651}"/>
              </a:ext>
            </a:extLst>
          </p:cNvPr>
          <p:cNvSpPr txBox="1"/>
          <p:nvPr/>
        </p:nvSpPr>
        <p:spPr>
          <a:xfrm>
            <a:off x="818388" y="4153389"/>
            <a:ext cx="6099048" cy="954107"/>
          </a:xfrm>
          <a:prstGeom prst="rect">
            <a:avLst/>
          </a:prstGeom>
          <a:noFill/>
        </p:spPr>
        <p:txBody>
          <a:bodyPr wrap="square">
            <a:spAutoFit/>
          </a:bodyPr>
          <a:lstStyle/>
          <a:p>
            <a:pPr marL="0" indent="0">
              <a:buNone/>
              <a:defRPr sz="1800"/>
            </a:pPr>
            <a:r>
              <a:rPr lang="es-CL" sz="2800" dirty="0">
                <a:solidFill>
                  <a:schemeClr val="bg1"/>
                </a:solidFill>
                <a:latin typeface="+mj-lt"/>
                <a:ea typeface="+mj-ea"/>
                <a:cs typeface="+mj-cs"/>
              </a:rPr>
              <a:t>Fundamentos de Java</a:t>
            </a:r>
          </a:p>
          <a:p>
            <a:pPr marL="0" indent="0">
              <a:buNone/>
              <a:defRPr sz="1800"/>
            </a:pPr>
            <a:r>
              <a:rPr lang="es-CL" sz="2800" dirty="0">
                <a:solidFill>
                  <a:schemeClr val="bg1"/>
                </a:solidFill>
                <a:latin typeface="+mj-lt"/>
                <a:ea typeface="+mj-ea"/>
                <a:cs typeface="+mj-cs"/>
              </a:rPr>
              <a:t>Día 2: 25-09-2026</a:t>
            </a:r>
          </a:p>
        </p:txBody>
      </p:sp>
    </p:spTree>
    <p:extLst>
      <p:ext uri="{BB962C8B-B14F-4D97-AF65-F5344CB8AC3E}">
        <p14:creationId xmlns:p14="http://schemas.microsoft.com/office/powerpoint/2010/main" val="3523515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Objetivo del Curso</a:t>
            </a:r>
          </a:p>
        </p:txBody>
      </p:sp>
      <p:sp>
        <p:nvSpPr>
          <p:cNvPr id="3" name="TextBox 2"/>
          <p:cNvSpPr txBox="1"/>
          <p:nvPr/>
        </p:nvSpPr>
        <p:spPr>
          <a:xfrm>
            <a:off x="640080" y="1325880"/>
            <a:ext cx="10972800" cy="457200"/>
          </a:xfrm>
          <a:prstGeom prst="rect">
            <a:avLst/>
          </a:prstGeom>
          <a:noFill/>
        </p:spPr>
        <p:txBody>
          <a:bodyPr wrap="square" lIns="0" rIns="0" tIns="0" bIns="0" anchor="t">
            <a:spAutoFit/>
          </a:bodyPr>
          <a:lstStyle/>
          <a:p>
            <a:pPr algn="l">
              <a:spcAft>
                <a:spcPts val="400"/>
              </a:spcAft>
            </a:pPr>
            <a:r>
              <a:rPr sz="2000" b="0" i="0">
                <a:solidFill>
                  <a:srgbClr val="4A5A6A"/>
                </a:solidFill>
                <a:latin typeface="Arial"/>
              </a:rPr>
              <a:t>Al terminar este curso vas a ser capaz de…</a:t>
            </a:r>
          </a:p>
        </p:txBody>
      </p:sp>
      <p:sp>
        <p:nvSpPr>
          <p:cNvPr id="4" name="Rounded Rectangle 3"/>
          <p:cNvSpPr/>
          <p:nvPr/>
        </p:nvSpPr>
        <p:spPr>
          <a:xfrm>
            <a:off x="640080" y="2011680"/>
            <a:ext cx="5303520" cy="25146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05840" y="2331720"/>
            <a:ext cx="914400" cy="9144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de_w.png"/>
          <p:cNvPicPr>
            <a:picLocks noChangeAspect="1"/>
          </p:cNvPicPr>
          <p:nvPr/>
        </p:nvPicPr>
        <p:blipFill>
          <a:blip r:embed="rId2"/>
          <a:stretch>
            <a:fillRect/>
          </a:stretch>
        </p:blipFill>
        <p:spPr>
          <a:xfrm>
            <a:off x="1225296" y="2551176"/>
            <a:ext cx="475488" cy="475488"/>
          </a:xfrm>
          <a:prstGeom prst="rect">
            <a:avLst/>
          </a:prstGeom>
        </p:spPr>
      </p:pic>
      <p:sp>
        <p:nvSpPr>
          <p:cNvPr id="7" name="TextBox 6"/>
          <p:cNvSpPr txBox="1"/>
          <p:nvPr/>
        </p:nvSpPr>
        <p:spPr>
          <a:xfrm>
            <a:off x="2148839" y="2331720"/>
            <a:ext cx="3566160" cy="914400"/>
          </a:xfrm>
          <a:prstGeom prst="rect">
            <a:avLst/>
          </a:prstGeom>
          <a:noFill/>
        </p:spPr>
        <p:txBody>
          <a:bodyPr wrap="square" lIns="0" rIns="0" tIns="0" bIns="0" anchor="ctr">
            <a:spAutoFit/>
          </a:bodyPr>
          <a:lstStyle/>
          <a:p>
            <a:pPr algn="l">
              <a:spcAft>
                <a:spcPts val="400"/>
              </a:spcAft>
            </a:pPr>
            <a:r>
              <a:rPr sz="2200" b="1" i="0">
                <a:solidFill>
                  <a:srgbClr val="0B2A4A"/>
                </a:solidFill>
                <a:latin typeface="Arial"/>
              </a:rPr>
              <a:t>Crear aplicaciones en Java</a:t>
            </a:r>
          </a:p>
        </p:txBody>
      </p:sp>
      <p:sp>
        <p:nvSpPr>
          <p:cNvPr id="8" name="TextBox 7"/>
          <p:cNvSpPr txBox="1"/>
          <p:nvPr/>
        </p:nvSpPr>
        <p:spPr>
          <a:xfrm>
            <a:off x="1005840" y="3474720"/>
            <a:ext cx="4572000" cy="914400"/>
          </a:xfrm>
          <a:prstGeom prst="rect">
            <a:avLst/>
          </a:prstGeom>
          <a:noFill/>
        </p:spPr>
        <p:txBody>
          <a:bodyPr wrap="square" lIns="0" rIns="0" tIns="0" bIns="0" anchor="t">
            <a:spAutoFit/>
          </a:bodyPr>
          <a:lstStyle/>
          <a:p>
            <a:pPr algn="l">
              <a:spcAft>
                <a:spcPts val="400"/>
              </a:spcAft>
            </a:pPr>
            <a:r>
              <a:rPr sz="1800" b="0" i="0">
                <a:solidFill>
                  <a:srgbClr val="4A5A6A"/>
                </a:solidFill>
                <a:latin typeface="Arial"/>
              </a:rPr>
              <a:t>Programas simples que piden datos, calculan y muestran resultados por consola.</a:t>
            </a:r>
          </a:p>
        </p:txBody>
      </p:sp>
      <p:sp>
        <p:nvSpPr>
          <p:cNvPr id="9" name="Rounded Rectangle 8"/>
          <p:cNvSpPr/>
          <p:nvPr/>
        </p:nvSpPr>
        <p:spPr>
          <a:xfrm>
            <a:off x="6217920" y="2011680"/>
            <a:ext cx="5303520" cy="25146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83680" y="2331720"/>
            <a:ext cx="914400" cy="91440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ubes_w.png"/>
          <p:cNvPicPr>
            <a:picLocks noChangeAspect="1"/>
          </p:cNvPicPr>
          <p:nvPr/>
        </p:nvPicPr>
        <p:blipFill>
          <a:blip r:embed="rId3"/>
          <a:stretch>
            <a:fillRect/>
          </a:stretch>
        </p:blipFill>
        <p:spPr>
          <a:xfrm>
            <a:off x="6803136" y="2551176"/>
            <a:ext cx="475488" cy="475488"/>
          </a:xfrm>
          <a:prstGeom prst="rect">
            <a:avLst/>
          </a:prstGeom>
        </p:spPr>
      </p:pic>
      <p:sp>
        <p:nvSpPr>
          <p:cNvPr id="12" name="TextBox 11"/>
          <p:cNvSpPr txBox="1"/>
          <p:nvPr/>
        </p:nvSpPr>
        <p:spPr>
          <a:xfrm>
            <a:off x="7726679" y="2331720"/>
            <a:ext cx="3566160" cy="914400"/>
          </a:xfrm>
          <a:prstGeom prst="rect">
            <a:avLst/>
          </a:prstGeom>
          <a:noFill/>
        </p:spPr>
        <p:txBody>
          <a:bodyPr wrap="square" lIns="0" rIns="0" tIns="0" bIns="0" anchor="ctr">
            <a:spAutoFit/>
          </a:bodyPr>
          <a:lstStyle/>
          <a:p>
            <a:pPr algn="l">
              <a:spcAft>
                <a:spcPts val="400"/>
              </a:spcAft>
            </a:pPr>
            <a:r>
              <a:rPr sz="2200" b="1" i="0">
                <a:solidFill>
                  <a:srgbClr val="0B2A4A"/>
                </a:solidFill>
                <a:latin typeface="Arial"/>
              </a:rPr>
              <a:t>Pensar como programador</a:t>
            </a:r>
          </a:p>
        </p:txBody>
      </p:sp>
      <p:sp>
        <p:nvSpPr>
          <p:cNvPr id="13" name="TextBox 12"/>
          <p:cNvSpPr txBox="1"/>
          <p:nvPr/>
        </p:nvSpPr>
        <p:spPr>
          <a:xfrm>
            <a:off x="6583680" y="3474720"/>
            <a:ext cx="4572000" cy="914400"/>
          </a:xfrm>
          <a:prstGeom prst="rect">
            <a:avLst/>
          </a:prstGeom>
          <a:noFill/>
        </p:spPr>
        <p:txBody>
          <a:bodyPr wrap="square" lIns="0" rIns="0" tIns="0" bIns="0" anchor="t">
            <a:spAutoFit/>
          </a:bodyPr>
          <a:lstStyle/>
          <a:p>
            <a:pPr algn="l">
              <a:spcAft>
                <a:spcPts val="400"/>
              </a:spcAft>
            </a:pPr>
            <a:r>
              <a:rPr sz="1800" b="0" i="0">
                <a:solidFill>
                  <a:srgbClr val="4A5A6A"/>
                </a:solidFill>
                <a:latin typeface="Arial"/>
              </a:rPr>
              <a:t>Entender la programación estructurada y la Programación Orientada a Objetos (POO).</a:t>
            </a:r>
          </a:p>
        </p:txBody>
      </p:sp>
      <p:sp>
        <p:nvSpPr>
          <p:cNvPr id="14" name="Rounded Rectangle 13"/>
          <p:cNvSpPr/>
          <p:nvPr/>
        </p:nvSpPr>
        <p:spPr>
          <a:xfrm>
            <a:off x="1737360" y="5029200"/>
            <a:ext cx="8686800" cy="64008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rain_n.png"/>
          <p:cNvPicPr>
            <a:picLocks noChangeAspect="1"/>
          </p:cNvPicPr>
          <p:nvPr/>
        </p:nvPicPr>
        <p:blipFill>
          <a:blip r:embed="rId4"/>
          <a:stretch>
            <a:fillRect/>
          </a:stretch>
        </p:blipFill>
        <p:spPr>
          <a:xfrm>
            <a:off x="1874519" y="5143500"/>
            <a:ext cx="411480" cy="411480"/>
          </a:xfrm>
          <a:prstGeom prst="rect">
            <a:avLst/>
          </a:prstGeom>
        </p:spPr>
      </p:pic>
      <p:sp>
        <p:nvSpPr>
          <p:cNvPr id="16" name="TextBox 15"/>
          <p:cNvSpPr txBox="1"/>
          <p:nvPr/>
        </p:nvSpPr>
        <p:spPr>
          <a:xfrm>
            <a:off x="2423160" y="5029200"/>
            <a:ext cx="7818120" cy="64008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Hoy: tus programas aprenden a TOMAR DECISIONES y a REPETIR tareas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Temas del Día 2</a:t>
            </a:r>
          </a:p>
        </p:txBody>
      </p:sp>
      <p:sp>
        <p:nvSpPr>
          <p:cNvPr id="3" name="Rounded Rectangle 2"/>
          <p:cNvSpPr/>
          <p:nvPr/>
        </p:nvSpPr>
        <p:spPr>
          <a:xfrm>
            <a:off x="640080" y="1417320"/>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645920"/>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01</a:t>
            </a:r>
          </a:p>
        </p:txBody>
      </p:sp>
      <p:sp>
        <p:nvSpPr>
          <p:cNvPr id="5" name="Oval 4"/>
          <p:cNvSpPr/>
          <p:nvPr/>
        </p:nvSpPr>
        <p:spPr>
          <a:xfrm>
            <a:off x="3154680" y="164592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anch_w.png"/>
          <p:cNvPicPr>
            <a:picLocks noChangeAspect="1"/>
          </p:cNvPicPr>
          <p:nvPr/>
        </p:nvPicPr>
        <p:blipFill>
          <a:blip r:embed="rId2"/>
          <a:stretch>
            <a:fillRect/>
          </a:stretch>
        </p:blipFill>
        <p:spPr>
          <a:xfrm>
            <a:off x="3308299" y="1799539"/>
            <a:ext cx="332841" cy="332841"/>
          </a:xfrm>
          <a:prstGeom prst="rect">
            <a:avLst/>
          </a:prstGeom>
        </p:spPr>
      </p:pic>
      <p:sp>
        <p:nvSpPr>
          <p:cNvPr id="7" name="TextBox 6"/>
          <p:cNvSpPr txBox="1"/>
          <p:nvPr/>
        </p:nvSpPr>
        <p:spPr>
          <a:xfrm>
            <a:off x="914400" y="233172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Condicionales if-else</a:t>
            </a:r>
          </a:p>
        </p:txBody>
      </p:sp>
      <p:sp>
        <p:nvSpPr>
          <p:cNvPr id="8" name="TextBox 7"/>
          <p:cNvSpPr txBox="1"/>
          <p:nvPr/>
        </p:nvSpPr>
        <p:spPr>
          <a:xfrm>
            <a:off x="914400" y="2990088"/>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El programa decide</a:t>
            </a:r>
          </a:p>
        </p:txBody>
      </p:sp>
      <p:sp>
        <p:nvSpPr>
          <p:cNvPr id="9" name="Rounded Rectangle 8"/>
          <p:cNvSpPr/>
          <p:nvPr/>
        </p:nvSpPr>
        <p:spPr>
          <a:xfrm>
            <a:off x="4343400" y="1417320"/>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7720" y="1645920"/>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02</a:t>
            </a:r>
          </a:p>
        </p:txBody>
      </p:sp>
      <p:sp>
        <p:nvSpPr>
          <p:cNvPr id="11" name="Oval 10"/>
          <p:cNvSpPr/>
          <p:nvPr/>
        </p:nvSpPr>
        <p:spPr>
          <a:xfrm>
            <a:off x="6858000" y="164592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st2_w.png"/>
          <p:cNvPicPr>
            <a:picLocks noChangeAspect="1"/>
          </p:cNvPicPr>
          <p:nvPr/>
        </p:nvPicPr>
        <p:blipFill>
          <a:blip r:embed="rId3"/>
          <a:stretch>
            <a:fillRect/>
          </a:stretch>
        </p:blipFill>
        <p:spPr>
          <a:xfrm>
            <a:off x="7011619" y="1799539"/>
            <a:ext cx="332841" cy="332841"/>
          </a:xfrm>
          <a:prstGeom prst="rect">
            <a:avLst/>
          </a:prstGeom>
        </p:spPr>
      </p:pic>
      <p:sp>
        <p:nvSpPr>
          <p:cNvPr id="13" name="TextBox 12"/>
          <p:cNvSpPr txBox="1"/>
          <p:nvPr/>
        </p:nvSpPr>
        <p:spPr>
          <a:xfrm>
            <a:off x="4617720" y="233172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switch</a:t>
            </a:r>
          </a:p>
        </p:txBody>
      </p:sp>
      <p:sp>
        <p:nvSpPr>
          <p:cNvPr id="14" name="TextBox 13"/>
          <p:cNvSpPr txBox="1"/>
          <p:nvPr/>
        </p:nvSpPr>
        <p:spPr>
          <a:xfrm>
            <a:off x="4617720" y="2990088"/>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Elegir entre opciones</a:t>
            </a:r>
          </a:p>
        </p:txBody>
      </p:sp>
      <p:sp>
        <p:nvSpPr>
          <p:cNvPr id="15" name="Rounded Rectangle 14"/>
          <p:cNvSpPr/>
          <p:nvPr/>
        </p:nvSpPr>
        <p:spPr>
          <a:xfrm>
            <a:off x="8046719" y="1417320"/>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321040" y="1645920"/>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03</a:t>
            </a:r>
          </a:p>
        </p:txBody>
      </p:sp>
      <p:sp>
        <p:nvSpPr>
          <p:cNvPr id="17" name="Oval 16"/>
          <p:cNvSpPr/>
          <p:nvPr/>
        </p:nvSpPr>
        <p:spPr>
          <a:xfrm>
            <a:off x="10561319" y="164592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ync_w.png"/>
          <p:cNvPicPr>
            <a:picLocks noChangeAspect="1"/>
          </p:cNvPicPr>
          <p:nvPr/>
        </p:nvPicPr>
        <p:blipFill>
          <a:blip r:embed="rId4"/>
          <a:stretch>
            <a:fillRect/>
          </a:stretch>
        </p:blipFill>
        <p:spPr>
          <a:xfrm>
            <a:off x="10714939" y="1799539"/>
            <a:ext cx="332841" cy="332841"/>
          </a:xfrm>
          <a:prstGeom prst="rect">
            <a:avLst/>
          </a:prstGeom>
        </p:spPr>
      </p:pic>
      <p:sp>
        <p:nvSpPr>
          <p:cNvPr id="19" name="TextBox 18"/>
          <p:cNvSpPr txBox="1"/>
          <p:nvPr/>
        </p:nvSpPr>
        <p:spPr>
          <a:xfrm>
            <a:off x="8321040" y="233172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Ciclos repetitivos</a:t>
            </a:r>
          </a:p>
        </p:txBody>
      </p:sp>
      <p:sp>
        <p:nvSpPr>
          <p:cNvPr id="20" name="TextBox 19"/>
          <p:cNvSpPr txBox="1"/>
          <p:nvPr/>
        </p:nvSpPr>
        <p:spPr>
          <a:xfrm>
            <a:off x="8321040" y="2990088"/>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while, do-while y for</a:t>
            </a:r>
          </a:p>
        </p:txBody>
      </p:sp>
      <p:sp>
        <p:nvSpPr>
          <p:cNvPr id="21" name="Rounded Rectangle 20"/>
          <p:cNvSpPr/>
          <p:nvPr/>
        </p:nvSpPr>
        <p:spPr>
          <a:xfrm>
            <a:off x="640080" y="3749039"/>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3977639"/>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04</a:t>
            </a:r>
          </a:p>
        </p:txBody>
      </p:sp>
      <p:sp>
        <p:nvSpPr>
          <p:cNvPr id="23" name="Oval 22"/>
          <p:cNvSpPr/>
          <p:nvPr/>
        </p:nvSpPr>
        <p:spPr>
          <a:xfrm>
            <a:off x="3154680" y="3977639"/>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ist_w.png"/>
          <p:cNvPicPr>
            <a:picLocks noChangeAspect="1"/>
          </p:cNvPicPr>
          <p:nvPr/>
        </p:nvPicPr>
        <p:blipFill>
          <a:blip r:embed="rId5"/>
          <a:stretch>
            <a:fillRect/>
          </a:stretch>
        </p:blipFill>
        <p:spPr>
          <a:xfrm>
            <a:off x="3308299" y="4131259"/>
            <a:ext cx="332841" cy="332841"/>
          </a:xfrm>
          <a:prstGeom prst="rect">
            <a:avLst/>
          </a:prstGeom>
        </p:spPr>
      </p:pic>
      <p:sp>
        <p:nvSpPr>
          <p:cNvPr id="25" name="TextBox 24"/>
          <p:cNvSpPr txBox="1"/>
          <p:nvPr/>
        </p:nvSpPr>
        <p:spPr>
          <a:xfrm>
            <a:off x="914400" y="466344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Menús en Java</a:t>
            </a:r>
          </a:p>
        </p:txBody>
      </p:sp>
      <p:sp>
        <p:nvSpPr>
          <p:cNvPr id="26" name="TextBox 25"/>
          <p:cNvSpPr txBox="1"/>
          <p:nvPr/>
        </p:nvSpPr>
        <p:spPr>
          <a:xfrm>
            <a:off x="914400" y="5321807"/>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Como en un cajero o un juego</a:t>
            </a:r>
          </a:p>
        </p:txBody>
      </p:sp>
      <p:sp>
        <p:nvSpPr>
          <p:cNvPr id="27" name="Rounded Rectangle 26"/>
          <p:cNvSpPr/>
          <p:nvPr/>
        </p:nvSpPr>
        <p:spPr>
          <a:xfrm>
            <a:off x="4343400" y="3749039"/>
            <a:ext cx="3429000" cy="2057400"/>
          </a:xfrm>
          <a:prstGeom prst="roundRect">
            <a:avLst>
              <a:gd name="adj" fmla="val 7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617720" y="3977639"/>
            <a:ext cx="1097280" cy="548640"/>
          </a:xfrm>
          <a:prstGeom prst="rect">
            <a:avLst/>
          </a:prstGeom>
          <a:noFill/>
        </p:spPr>
        <p:txBody>
          <a:bodyPr wrap="square" lIns="0" rIns="0" tIns="0" bIns="0" anchor="t">
            <a:spAutoFit/>
          </a:bodyPr>
          <a:lstStyle/>
          <a:p>
            <a:pPr algn="l">
              <a:spcAft>
                <a:spcPts val="400"/>
              </a:spcAft>
            </a:pPr>
            <a:r>
              <a:rPr sz="3000" b="1" i="0">
                <a:solidFill>
                  <a:srgbClr val="FFC629"/>
                </a:solidFill>
                <a:latin typeface="Arial"/>
              </a:rPr>
              <a:t>05</a:t>
            </a:r>
          </a:p>
        </p:txBody>
      </p:sp>
      <p:sp>
        <p:nvSpPr>
          <p:cNvPr id="29" name="Oval 28"/>
          <p:cNvSpPr/>
          <p:nvPr/>
        </p:nvSpPr>
        <p:spPr>
          <a:xfrm>
            <a:off x="6858000" y="3977639"/>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gamepad_b.png"/>
          <p:cNvPicPr>
            <a:picLocks noChangeAspect="1"/>
          </p:cNvPicPr>
          <p:nvPr/>
        </p:nvPicPr>
        <p:blipFill>
          <a:blip r:embed="rId6"/>
          <a:stretch>
            <a:fillRect/>
          </a:stretch>
        </p:blipFill>
        <p:spPr>
          <a:xfrm>
            <a:off x="7011619" y="4131259"/>
            <a:ext cx="332841" cy="332841"/>
          </a:xfrm>
          <a:prstGeom prst="rect">
            <a:avLst/>
          </a:prstGeom>
        </p:spPr>
      </p:pic>
      <p:sp>
        <p:nvSpPr>
          <p:cNvPr id="31" name="TextBox 30"/>
          <p:cNvSpPr txBox="1"/>
          <p:nvPr/>
        </p:nvSpPr>
        <p:spPr>
          <a:xfrm>
            <a:off x="4617720" y="4663440"/>
            <a:ext cx="2926080" cy="685800"/>
          </a:xfrm>
          <a:prstGeom prst="rect">
            <a:avLst/>
          </a:prstGeom>
          <a:noFill/>
        </p:spPr>
        <p:txBody>
          <a:bodyPr wrap="square" lIns="0" rIns="0" tIns="0" bIns="0" anchor="ctr">
            <a:spAutoFit/>
          </a:bodyPr>
          <a:lstStyle/>
          <a:p>
            <a:pPr algn="l">
              <a:spcAft>
                <a:spcPts val="400"/>
              </a:spcAft>
            </a:pPr>
            <a:r>
              <a:rPr sz="1800" b="1" i="0">
                <a:solidFill>
                  <a:srgbClr val="FFFFFF"/>
                </a:solidFill>
                <a:latin typeface="Arial"/>
              </a:rPr>
              <a:t>¡A jugar!</a:t>
            </a:r>
          </a:p>
        </p:txBody>
      </p:sp>
      <p:sp>
        <p:nvSpPr>
          <p:cNvPr id="32" name="TextBox 31"/>
          <p:cNvSpPr txBox="1"/>
          <p:nvPr/>
        </p:nvSpPr>
        <p:spPr>
          <a:xfrm>
            <a:off x="4617720" y="5321807"/>
            <a:ext cx="2926080" cy="365760"/>
          </a:xfrm>
          <a:prstGeom prst="rect">
            <a:avLst/>
          </a:prstGeom>
          <a:noFill/>
        </p:spPr>
        <p:txBody>
          <a:bodyPr wrap="square" lIns="0" rIns="0" tIns="0" bIns="0" anchor="t">
            <a:spAutoFit/>
          </a:bodyPr>
          <a:lstStyle/>
          <a:p>
            <a:pPr algn="l">
              <a:spcAft>
                <a:spcPts val="400"/>
              </a:spcAft>
            </a:pPr>
            <a:r>
              <a:rPr sz="1400" b="1" i="0">
                <a:solidFill>
                  <a:srgbClr val="FFC629"/>
                </a:solidFill>
                <a:latin typeface="Arial"/>
              </a:rPr>
              <a:t>Desafíos y piedra, papel o tijera</a:t>
            </a:r>
          </a:p>
        </p:txBody>
      </p:sp>
      <p:sp>
        <p:nvSpPr>
          <p:cNvPr id="33" name="Rounded Rectangle 32"/>
          <p:cNvSpPr/>
          <p:nvPr/>
        </p:nvSpPr>
        <p:spPr>
          <a:xfrm>
            <a:off x="8046719" y="3749039"/>
            <a:ext cx="3429000" cy="205740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21040" y="3977639"/>
            <a:ext cx="1097280" cy="548640"/>
          </a:xfrm>
          <a:prstGeom prst="rect">
            <a:avLst/>
          </a:prstGeom>
          <a:noFill/>
        </p:spPr>
        <p:txBody>
          <a:bodyPr wrap="square" lIns="0" rIns="0" tIns="0" bIns="0" anchor="t">
            <a:spAutoFit/>
          </a:bodyPr>
          <a:lstStyle/>
          <a:p>
            <a:pPr algn="l">
              <a:spcAft>
                <a:spcPts val="400"/>
              </a:spcAft>
            </a:pPr>
            <a:r>
              <a:rPr sz="3000" b="1" i="0">
                <a:solidFill>
                  <a:srgbClr val="257CE1"/>
                </a:solidFill>
                <a:latin typeface="Arial"/>
              </a:rPr>
              <a:t>06</a:t>
            </a:r>
          </a:p>
        </p:txBody>
      </p:sp>
      <p:sp>
        <p:nvSpPr>
          <p:cNvPr id="35" name="Oval 34"/>
          <p:cNvSpPr/>
          <p:nvPr/>
        </p:nvSpPr>
        <p:spPr>
          <a:xfrm>
            <a:off x="10561319" y="3977639"/>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trophy_w.png"/>
          <p:cNvPicPr>
            <a:picLocks noChangeAspect="1"/>
          </p:cNvPicPr>
          <p:nvPr/>
        </p:nvPicPr>
        <p:blipFill>
          <a:blip r:embed="rId7"/>
          <a:stretch>
            <a:fillRect/>
          </a:stretch>
        </p:blipFill>
        <p:spPr>
          <a:xfrm>
            <a:off x="10714939" y="4131259"/>
            <a:ext cx="332841" cy="332841"/>
          </a:xfrm>
          <a:prstGeom prst="rect">
            <a:avLst/>
          </a:prstGeom>
        </p:spPr>
      </p:pic>
      <p:sp>
        <p:nvSpPr>
          <p:cNvPr id="37" name="TextBox 36"/>
          <p:cNvSpPr txBox="1"/>
          <p:nvPr/>
        </p:nvSpPr>
        <p:spPr>
          <a:xfrm>
            <a:off x="8321040" y="4663440"/>
            <a:ext cx="2926080" cy="68580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Ejercicios</a:t>
            </a:r>
          </a:p>
        </p:txBody>
      </p:sp>
      <p:sp>
        <p:nvSpPr>
          <p:cNvPr id="38" name="TextBox 37"/>
          <p:cNvSpPr txBox="1"/>
          <p:nvPr/>
        </p:nvSpPr>
        <p:spPr>
          <a:xfrm>
            <a:off x="8321040" y="5321807"/>
            <a:ext cx="292608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Individual y grupal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4FE4634-98DF-A44A-92BF-86BBAE37A404}"/>
              </a:ext>
            </a:extLst>
          </p:cNvPr>
          <p:cNvSpPr txBox="1">
            <a:spLocks/>
          </p:cNvSpPr>
          <p:nvPr/>
        </p:nvSpPr>
        <p:spPr>
          <a:xfrm>
            <a:off x="4948507" y="3790383"/>
            <a:ext cx="1155194" cy="89575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5821" dirty="0">
                <a:solidFill>
                  <a:srgbClr val="257CE1"/>
                </a:solidFill>
                <a:latin typeface="Arial Black" panose="020B0604020202020204" pitchFamily="34" charset="0"/>
                <a:cs typeface="Arial Black" panose="020B0604020202020204" pitchFamily="34" charset="0"/>
              </a:rPr>
              <a:t>01</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643486" y="4676610"/>
            <a:ext cx="5313891" cy="895886"/>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2911" dirty="0"/>
              <a:t>ESTRUCTURAS CONDICIONALES EN JAVA</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ES_tradnl" sz="2183" dirty="0">
                <a:latin typeface="Arial" panose="020B0604020202020204" pitchFamily="34" charset="0"/>
                <a:cs typeface="Arial" panose="020B0604020202020204" pitchFamily="34" charset="0"/>
              </a:rPr>
              <a:t>En java las instrucciones se ejecutan en orden,  de la primera línea hasta el final. Existen sentencias que cambian la ejecución del flujo para tomar decisiones o repetir sentencias. </a:t>
            </a: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7" name="CuadroTexto 6">
            <a:extLst>
              <a:ext uri="{FF2B5EF4-FFF2-40B4-BE49-F238E27FC236}">
                <a16:creationId xmlns:a16="http://schemas.microsoft.com/office/drawing/2014/main" id="{8325789B-563A-046A-346E-7A6F1E3BE5B6}"/>
              </a:ext>
            </a:extLst>
          </p:cNvPr>
          <p:cNvSpPr txBox="1"/>
          <p:nvPr/>
        </p:nvSpPr>
        <p:spPr>
          <a:xfrm>
            <a:off x="1752471" y="2561143"/>
            <a:ext cx="6092492" cy="2443811"/>
          </a:xfrm>
          <a:prstGeom prst="rect">
            <a:avLst/>
          </a:prstGeom>
          <a:noFill/>
        </p:spPr>
        <p:txBody>
          <a:bodyPr wrap="square">
            <a:spAutoFit/>
          </a:bodyPr>
          <a:lstStyle/>
          <a:p>
            <a:pPr marL="914527" lvl="8" indent="-207935">
              <a:buClr>
                <a:srgbClr val="00B050"/>
              </a:buClr>
              <a:buFont typeface="Zapf Dingbats"/>
              <a:buChar char="✦"/>
            </a:pPr>
            <a:r>
              <a:rPr lang="es-CL" sz="2183" dirty="0">
                <a:solidFill>
                  <a:schemeClr val="dk1"/>
                </a:solidFill>
                <a:latin typeface="Arial" panose="020B0604020202020204" pitchFamily="34" charset="0"/>
                <a:cs typeface="Arial" panose="020B0604020202020204" pitchFamily="34" charset="0"/>
                <a:sym typeface="Franklin Gothic"/>
              </a:rPr>
              <a:t> Sente</a:t>
            </a:r>
            <a:r>
              <a:rPr lang="es-CL" sz="2183" dirty="0">
                <a:solidFill>
                  <a:srgbClr val="222222"/>
                </a:solidFill>
                <a:latin typeface="Arial" panose="020B0604020202020204" pitchFamily="34" charset="0"/>
                <a:cs typeface="Arial" panose="020B0604020202020204" pitchFamily="34" charset="0"/>
              </a:rPr>
              <a:t>ncias de decisión</a:t>
            </a:r>
          </a:p>
          <a:p>
            <a:pPr marL="1398745" lvl="1" indent="-207935" algn="just">
              <a:buClr>
                <a:srgbClr val="0070C0"/>
              </a:buClr>
              <a:buFont typeface="Arial" panose="020B0604020202020204" pitchFamily="34" charset="0"/>
              <a:buChar char="•"/>
            </a:pPr>
            <a:endParaRPr lang="es-CL" sz="2183" dirty="0">
              <a:solidFill>
                <a:srgbClr val="222222"/>
              </a:solidFill>
              <a:latin typeface="Arial" panose="020B0604020202020204" pitchFamily="34" charset="0"/>
              <a:cs typeface="Arial" panose="020B0604020202020204" pitchFamily="34" charset="0"/>
            </a:endParaRPr>
          </a:p>
          <a:p>
            <a:pPr marL="1398745" lvl="1" indent="-207935" algn="just">
              <a:buClr>
                <a:srgbClr val="0070C0"/>
              </a:buClr>
              <a:buFont typeface="Arial" panose="020B0604020202020204" pitchFamily="34" charset="0"/>
              <a:buChar char="•"/>
            </a:pPr>
            <a:r>
              <a:rPr lang="es-CL" sz="2183" dirty="0" err="1">
                <a:solidFill>
                  <a:srgbClr val="222222"/>
                </a:solidFill>
                <a:latin typeface="Arial" panose="020B0604020202020204" pitchFamily="34" charset="0"/>
                <a:cs typeface="Arial" panose="020B0604020202020204" pitchFamily="34" charset="0"/>
              </a:rPr>
              <a:t>if-else</a:t>
            </a:r>
            <a:endParaRPr lang="es-CL" sz="2183" dirty="0">
              <a:solidFill>
                <a:srgbClr val="222222"/>
              </a:solidFill>
              <a:latin typeface="Arial" panose="020B0604020202020204" pitchFamily="34" charset="0"/>
              <a:cs typeface="Arial" panose="020B0604020202020204" pitchFamily="34" charset="0"/>
            </a:endParaRPr>
          </a:p>
          <a:p>
            <a:pPr marL="1398745" lvl="1" indent="-207935" algn="just">
              <a:buClr>
                <a:srgbClr val="0070C0"/>
              </a:buClr>
              <a:buFont typeface="Arial" panose="020B0604020202020204" pitchFamily="34" charset="0"/>
              <a:buChar char="•"/>
            </a:pPr>
            <a:r>
              <a:rPr lang="es-CL" sz="2183" dirty="0">
                <a:solidFill>
                  <a:srgbClr val="222222"/>
                </a:solidFill>
                <a:latin typeface="Arial" panose="020B0604020202020204" pitchFamily="34" charset="0"/>
                <a:cs typeface="Arial" panose="020B0604020202020204" pitchFamily="34" charset="0"/>
              </a:rPr>
              <a:t>switch</a:t>
            </a:r>
          </a:p>
          <a:p>
            <a:pPr marL="914527" lvl="8" indent="-207935">
              <a:buClr>
                <a:srgbClr val="00B050"/>
              </a:buClr>
              <a:buFont typeface="Zapf Dingbats"/>
              <a:buChar char="✦"/>
            </a:pPr>
            <a:endParaRPr lang="es-CL" sz="2183" dirty="0">
              <a:solidFill>
                <a:srgbClr val="222222"/>
              </a:solidFill>
              <a:latin typeface="Arial" panose="020B0604020202020204" pitchFamily="34" charset="0"/>
              <a:cs typeface="Arial" panose="020B0604020202020204" pitchFamily="34" charset="0"/>
            </a:endParaRPr>
          </a:p>
          <a:p>
            <a:pPr marL="914527" lvl="8" indent="-207935">
              <a:buClr>
                <a:srgbClr val="00B050"/>
              </a:buClr>
              <a:buFont typeface="Zapf Dingbats"/>
              <a:buChar char="✦"/>
            </a:pPr>
            <a:endParaRPr lang="es-CL" sz="2183" dirty="0">
              <a:solidFill>
                <a:srgbClr val="222222"/>
              </a:solidFill>
              <a:latin typeface="Arial" panose="020B0604020202020204" pitchFamily="34" charset="0"/>
              <a:cs typeface="Arial" panose="020B0604020202020204" pitchFamily="34" charset="0"/>
            </a:endParaRPr>
          </a:p>
          <a:p>
            <a:pPr marL="914527" lvl="8" indent="-207935">
              <a:buClr>
                <a:srgbClr val="00B050"/>
              </a:buClr>
              <a:buFont typeface="Zapf Dingbats"/>
              <a:buChar char="✦"/>
            </a:pPr>
            <a:r>
              <a:rPr lang="es-CL" sz="2183" dirty="0">
                <a:solidFill>
                  <a:srgbClr val="222222"/>
                </a:solidFill>
                <a:latin typeface="Arial" panose="020B0604020202020204" pitchFamily="34" charset="0"/>
                <a:cs typeface="Arial" panose="020B0604020202020204" pitchFamily="34" charset="0"/>
              </a:rPr>
              <a:t>Sentencias de repetición</a:t>
            </a:r>
          </a:p>
        </p:txBody>
      </p:sp>
      <p:pic>
        <p:nvPicPr>
          <p:cNvPr id="8" name="Imagen 7">
            <a:extLst>
              <a:ext uri="{FF2B5EF4-FFF2-40B4-BE49-F238E27FC236}">
                <a16:creationId xmlns:a16="http://schemas.microsoft.com/office/drawing/2014/main" id="{30E92B62-4895-9A99-0E5F-0ABF1A1016BE}"/>
              </a:ext>
            </a:extLst>
          </p:cNvPr>
          <p:cNvPicPr>
            <a:picLocks noChangeAspect="1"/>
          </p:cNvPicPr>
          <p:nvPr/>
        </p:nvPicPr>
        <p:blipFill>
          <a:blip r:embed="rId2"/>
          <a:stretch>
            <a:fillRect/>
          </a:stretch>
        </p:blipFill>
        <p:spPr>
          <a:xfrm>
            <a:off x="7020155" y="2567774"/>
            <a:ext cx="2294483" cy="1687119"/>
          </a:xfrm>
          <a:prstGeom prst="rect">
            <a:avLst/>
          </a:prstGeom>
          <a:effectLst>
            <a:softEdge rad="63500"/>
          </a:effectLst>
        </p:spPr>
      </p:pic>
      <p:sp>
        <p:nvSpPr>
          <p:cNvPr id="10" name="CuadroTexto 9">
            <a:extLst>
              <a:ext uri="{FF2B5EF4-FFF2-40B4-BE49-F238E27FC236}">
                <a16:creationId xmlns:a16="http://schemas.microsoft.com/office/drawing/2014/main" id="{141B7A43-6F91-6187-E436-320E475BF896}"/>
              </a:ext>
            </a:extLst>
          </p:cNvPr>
          <p:cNvSpPr txBox="1"/>
          <p:nvPr/>
        </p:nvSpPr>
        <p:spPr>
          <a:xfrm>
            <a:off x="1752471" y="5125934"/>
            <a:ext cx="6092492" cy="1100109"/>
          </a:xfrm>
          <a:prstGeom prst="rect">
            <a:avLst/>
          </a:prstGeom>
          <a:noFill/>
        </p:spPr>
        <p:txBody>
          <a:bodyPr wrap="square">
            <a:spAutoFit/>
          </a:bodyPr>
          <a:lstStyle/>
          <a:p>
            <a:pPr marL="1398745" lvl="1" indent="-207935" algn="just">
              <a:buClr>
                <a:srgbClr val="0070C0"/>
              </a:buClr>
              <a:buFont typeface="Arial" panose="020B0604020202020204" pitchFamily="34" charset="0"/>
              <a:buChar char="•"/>
            </a:pPr>
            <a:r>
              <a:rPr lang="es-CL" sz="2183" dirty="0">
                <a:solidFill>
                  <a:srgbClr val="222222"/>
                </a:solidFill>
                <a:latin typeface="Arial" panose="020B0604020202020204" pitchFamily="34" charset="0"/>
                <a:cs typeface="Arial" panose="020B0604020202020204" pitchFamily="34" charset="0"/>
              </a:rPr>
              <a:t>while</a:t>
            </a:r>
          </a:p>
          <a:p>
            <a:pPr marL="1398745" lvl="1" indent="-207935" algn="just">
              <a:buClr>
                <a:srgbClr val="0070C0"/>
              </a:buClr>
              <a:buFont typeface="Arial" panose="020B0604020202020204" pitchFamily="34" charset="0"/>
              <a:buChar char="•"/>
            </a:pPr>
            <a:r>
              <a:rPr lang="es-CL" sz="2183" dirty="0">
                <a:solidFill>
                  <a:srgbClr val="222222"/>
                </a:solidFill>
                <a:latin typeface="Arial" panose="020B0604020202020204" pitchFamily="34" charset="0"/>
                <a:cs typeface="Arial" panose="020B0604020202020204" pitchFamily="34" charset="0"/>
              </a:rPr>
              <a:t>do-</a:t>
            </a:r>
            <a:r>
              <a:rPr lang="es-CL" sz="2183" dirty="0" err="1">
                <a:solidFill>
                  <a:srgbClr val="222222"/>
                </a:solidFill>
                <a:latin typeface="Arial" panose="020B0604020202020204" pitchFamily="34" charset="0"/>
                <a:cs typeface="Arial" panose="020B0604020202020204" pitchFamily="34" charset="0"/>
              </a:rPr>
              <a:t>while</a:t>
            </a:r>
            <a:endParaRPr lang="es-CL" sz="2183" dirty="0">
              <a:solidFill>
                <a:srgbClr val="222222"/>
              </a:solidFill>
              <a:latin typeface="Arial" panose="020B0604020202020204" pitchFamily="34" charset="0"/>
              <a:cs typeface="Arial" panose="020B0604020202020204" pitchFamily="34" charset="0"/>
            </a:endParaRPr>
          </a:p>
          <a:p>
            <a:pPr marL="1398745" lvl="1" indent="-207935" algn="just">
              <a:buClr>
                <a:srgbClr val="0070C0"/>
              </a:buClr>
              <a:buFont typeface="Arial" panose="020B0604020202020204" pitchFamily="34" charset="0"/>
              <a:buChar char="•"/>
            </a:pPr>
            <a:r>
              <a:rPr lang="es-CL" sz="2183" dirty="0">
                <a:solidFill>
                  <a:srgbClr val="222222"/>
                </a:solidFill>
                <a:latin typeface="Arial" panose="020B0604020202020204" pitchFamily="34" charset="0"/>
                <a:cs typeface="Arial" panose="020B0604020202020204" pitchFamily="34" charset="0"/>
              </a:rPr>
              <a:t>for</a:t>
            </a:r>
          </a:p>
        </p:txBody>
      </p:sp>
      <p:pic>
        <p:nvPicPr>
          <p:cNvPr id="11" name="Imagen 10">
            <a:extLst>
              <a:ext uri="{FF2B5EF4-FFF2-40B4-BE49-F238E27FC236}">
                <a16:creationId xmlns:a16="http://schemas.microsoft.com/office/drawing/2014/main" id="{09E84BBE-E4CF-65DD-A347-B57478086CE1}"/>
              </a:ext>
            </a:extLst>
          </p:cNvPr>
          <p:cNvPicPr>
            <a:picLocks noChangeAspect="1"/>
          </p:cNvPicPr>
          <p:nvPr/>
        </p:nvPicPr>
        <p:blipFill>
          <a:blip r:embed="rId3"/>
          <a:stretch>
            <a:fillRect/>
          </a:stretch>
        </p:blipFill>
        <p:spPr>
          <a:xfrm>
            <a:off x="7020155" y="4285868"/>
            <a:ext cx="2294483" cy="2316335"/>
          </a:xfrm>
          <a:prstGeom prst="rect">
            <a:avLst/>
          </a:prstGeom>
          <a:effectLst>
            <a:softEdge rad="63500"/>
          </a:effectLst>
        </p:spPr>
      </p:pic>
    </p:spTree>
    <p:extLst>
      <p:ext uri="{BB962C8B-B14F-4D97-AF65-F5344CB8AC3E}">
        <p14:creationId xmlns:p14="http://schemas.microsoft.com/office/powerpoint/2010/main" val="1054927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decisión </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rgbClr val="00B050"/>
              </a:buClr>
              <a:buFont typeface="Zapf Dingbats"/>
              <a:buChar char="✦"/>
            </a:pPr>
            <a:r>
              <a:rPr lang="es-CL" sz="2183" b="1" dirty="0">
                <a:solidFill>
                  <a:schemeClr val="dk1"/>
                </a:solidFill>
                <a:latin typeface="Arial" panose="020B0604020202020204" pitchFamily="34" charset="0"/>
                <a:cs typeface="Arial" panose="020B0604020202020204" pitchFamily="34" charset="0"/>
                <a:sym typeface="Franklin Gothic"/>
              </a:rPr>
              <a:t>Sente</a:t>
            </a:r>
            <a:r>
              <a:rPr lang="es-CL" sz="2183" b="1" dirty="0">
                <a:solidFill>
                  <a:srgbClr val="222222"/>
                </a:solidFill>
                <a:latin typeface="Arial" panose="020B0604020202020204" pitchFamily="34" charset="0"/>
                <a:cs typeface="Arial" panose="020B0604020202020204" pitchFamily="34" charset="0"/>
              </a:rPr>
              <a:t>ncias de decisión</a:t>
            </a:r>
          </a:p>
          <a:p>
            <a:pPr algn="just"/>
            <a:r>
              <a:rPr lang="es-CL" sz="2183" dirty="0">
                <a:solidFill>
                  <a:srgbClr val="222222"/>
                </a:solidFill>
                <a:latin typeface="Arial" panose="020B0604020202020204" pitchFamily="34" charset="0"/>
                <a:cs typeface="Arial" panose="020B0604020202020204" pitchFamily="34" charset="0"/>
              </a:rPr>
              <a:t>Son sentencias que nos permiten tomar una decisión para poder ejecutar un bloque de sentencias u otro (</a:t>
            </a:r>
            <a:r>
              <a:rPr lang="es-CL" sz="2183" b="1" dirty="0">
                <a:solidFill>
                  <a:srgbClr val="222222"/>
                </a:solidFill>
                <a:latin typeface="Arial" panose="020B0604020202020204" pitchFamily="34" charset="0"/>
                <a:cs typeface="Arial" panose="020B0604020202020204" pitchFamily="34" charset="0"/>
              </a:rPr>
              <a:t>excluyentes</a:t>
            </a:r>
            <a:r>
              <a:rPr lang="es-CL" sz="2183" dirty="0">
                <a:solidFill>
                  <a:srgbClr val="222222"/>
                </a:solidFill>
                <a:latin typeface="Arial" panose="020B0604020202020204" pitchFamily="34" charset="0"/>
                <a:cs typeface="Arial" panose="020B0604020202020204" pitchFamily="34" charset="0"/>
              </a:rPr>
              <a:t>).</a:t>
            </a:r>
          </a:p>
          <a:p>
            <a:pPr algn="just"/>
            <a:r>
              <a:rPr lang="es-CL" sz="2183" dirty="0">
                <a:solidFill>
                  <a:srgbClr val="222222"/>
                </a:solidFill>
                <a:latin typeface="Arial" panose="020B0604020202020204" pitchFamily="34" charset="0"/>
                <a:cs typeface="Arial" panose="020B0604020202020204" pitchFamily="34" charset="0"/>
              </a:rPr>
              <a:t>Las sentencias de decisión son:</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r>
              <a:rPr lang="es-CL" sz="2183" dirty="0">
                <a:solidFill>
                  <a:srgbClr val="222222"/>
                </a:solidFill>
                <a:latin typeface="Arial" panose="020B0604020202020204" pitchFamily="34" charset="0"/>
                <a:cs typeface="Arial" panose="020B0604020202020204" pitchFamily="34" charset="0"/>
              </a:rPr>
              <a:t>Revisemos algunos ejemplos…</a:t>
            </a:r>
          </a:p>
          <a:p>
            <a:pPr marL="7701" lvl="1" algn="just">
              <a:buClr>
                <a:srgbClr val="0070C0"/>
              </a:buClr>
            </a:pPr>
            <a:r>
              <a:rPr lang="es-CL" sz="2183" b="1" dirty="0">
                <a:solidFill>
                  <a:srgbClr val="0070C0"/>
                </a:solidFill>
                <a:latin typeface="Arial" panose="020B0604020202020204" pitchFamily="34" charset="0"/>
                <a:cs typeface="Arial" panose="020B0604020202020204" pitchFamily="34" charset="0"/>
              </a:rPr>
              <a:t>1</a:t>
            </a:r>
            <a:r>
              <a:rPr lang="es-CL" sz="2183" dirty="0">
                <a:solidFill>
                  <a:srgbClr val="222222"/>
                </a:solidFill>
                <a:latin typeface="Arial" panose="020B0604020202020204" pitchFamily="34" charset="0"/>
                <a:cs typeface="Arial" panose="020B0604020202020204" pitchFamily="34" charset="0"/>
              </a:rPr>
              <a:t> Necesitamos determinar si una luz está encendida o no  </a:t>
            </a: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4" name="CuadroTexto 3">
            <a:extLst>
              <a:ext uri="{FF2B5EF4-FFF2-40B4-BE49-F238E27FC236}">
                <a16:creationId xmlns:a16="http://schemas.microsoft.com/office/drawing/2014/main" id="{302C6878-F8A9-BEF2-9B52-DBA1322DF7CD}"/>
              </a:ext>
            </a:extLst>
          </p:cNvPr>
          <p:cNvSpPr txBox="1"/>
          <p:nvPr/>
        </p:nvSpPr>
        <p:spPr>
          <a:xfrm>
            <a:off x="3071543" y="2701119"/>
            <a:ext cx="6092492" cy="764184"/>
          </a:xfrm>
          <a:prstGeom prst="rect">
            <a:avLst/>
          </a:prstGeom>
          <a:noFill/>
        </p:spPr>
        <p:txBody>
          <a:bodyPr wrap="square">
            <a:spAutoFit/>
          </a:bodyPr>
          <a:lstStyle/>
          <a:p>
            <a:pPr marL="1398745" lvl="1" indent="-207935" algn="just">
              <a:buClr>
                <a:srgbClr val="0070C0"/>
              </a:buClr>
              <a:buFont typeface="Arial" panose="020B0604020202020204" pitchFamily="34" charset="0"/>
              <a:buChar char="•"/>
            </a:pPr>
            <a:r>
              <a:rPr lang="es-CL" sz="2183" dirty="0">
                <a:solidFill>
                  <a:srgbClr val="222222"/>
                </a:solidFill>
                <a:latin typeface="Arial" panose="020B0604020202020204" pitchFamily="34" charset="0"/>
                <a:cs typeface="Arial" panose="020B0604020202020204" pitchFamily="34" charset="0"/>
              </a:rPr>
              <a:t>	</a:t>
            </a:r>
            <a:r>
              <a:rPr lang="es-CL" sz="2183" b="1" dirty="0" err="1">
                <a:solidFill>
                  <a:srgbClr val="222222"/>
                </a:solidFill>
                <a:latin typeface="Arial" panose="020B0604020202020204" pitchFamily="34" charset="0"/>
                <a:cs typeface="Arial" panose="020B0604020202020204" pitchFamily="34" charset="0"/>
              </a:rPr>
              <a:t>if-else</a:t>
            </a:r>
            <a:endParaRPr lang="es-CL" sz="2183" b="1" dirty="0">
              <a:solidFill>
                <a:srgbClr val="222222"/>
              </a:solidFill>
              <a:latin typeface="Arial" panose="020B0604020202020204" pitchFamily="34" charset="0"/>
              <a:cs typeface="Arial" panose="020B0604020202020204" pitchFamily="34" charset="0"/>
            </a:endParaRPr>
          </a:p>
          <a:p>
            <a:pPr marL="1398745" lvl="1" indent="-207935" algn="just">
              <a:buClr>
                <a:srgbClr val="0070C0"/>
              </a:buClr>
              <a:buFont typeface="Arial" panose="020B0604020202020204" pitchFamily="34" charset="0"/>
              <a:buChar char="•"/>
            </a:pPr>
            <a:r>
              <a:rPr lang="es-CL" sz="2183" dirty="0">
                <a:solidFill>
                  <a:srgbClr val="222222"/>
                </a:solidFill>
                <a:latin typeface="Arial" panose="020B0604020202020204" pitchFamily="34" charset="0"/>
                <a:cs typeface="Arial" panose="020B0604020202020204" pitchFamily="34" charset="0"/>
              </a:rPr>
              <a:t>	</a:t>
            </a:r>
            <a:r>
              <a:rPr lang="es-CL" sz="2183" b="1" dirty="0">
                <a:solidFill>
                  <a:srgbClr val="222222"/>
                </a:solidFill>
                <a:latin typeface="Arial" panose="020B0604020202020204" pitchFamily="34" charset="0"/>
                <a:cs typeface="Arial" panose="020B0604020202020204" pitchFamily="34" charset="0"/>
              </a:rPr>
              <a:t>switch</a:t>
            </a:r>
          </a:p>
        </p:txBody>
      </p:sp>
      <p:pic>
        <p:nvPicPr>
          <p:cNvPr id="6" name="Imagen 5">
            <a:extLst>
              <a:ext uri="{FF2B5EF4-FFF2-40B4-BE49-F238E27FC236}">
                <a16:creationId xmlns:a16="http://schemas.microsoft.com/office/drawing/2014/main" id="{7CD509FF-9FEE-5EA4-3205-5EFA25D5FEC3}"/>
              </a:ext>
            </a:extLst>
          </p:cNvPr>
          <p:cNvPicPr>
            <a:picLocks noChangeAspect="1"/>
          </p:cNvPicPr>
          <p:nvPr/>
        </p:nvPicPr>
        <p:blipFill>
          <a:blip r:embed="rId2"/>
          <a:stretch>
            <a:fillRect/>
          </a:stretch>
        </p:blipFill>
        <p:spPr>
          <a:xfrm>
            <a:off x="2891105" y="4599597"/>
            <a:ext cx="6409791" cy="2187167"/>
          </a:xfrm>
          <a:prstGeom prst="rect">
            <a:avLst/>
          </a:prstGeom>
        </p:spPr>
      </p:pic>
    </p:spTree>
    <p:extLst>
      <p:ext uri="{BB962C8B-B14F-4D97-AF65-F5344CB8AC3E}">
        <p14:creationId xmlns:p14="http://schemas.microsoft.com/office/powerpoint/2010/main" val="2249535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Operadores: las preguntas que se hace Java</a:t>
            </a:r>
          </a:p>
        </p:txBody>
      </p:sp>
      <p:sp>
        <p:nvSpPr>
          <p:cNvPr id="3" name="TextBox 2"/>
          <p:cNvSpPr txBox="1"/>
          <p:nvPr/>
        </p:nvSpPr>
        <p:spPr>
          <a:xfrm>
            <a:off x="640080" y="1280160"/>
            <a:ext cx="10972800" cy="457200"/>
          </a:xfrm>
          <a:prstGeom prst="rect">
            <a:avLst/>
          </a:prstGeom>
          <a:noFill/>
        </p:spPr>
        <p:txBody>
          <a:bodyPr wrap="square" lIns="0" rIns="0" tIns="0" bIns="0" anchor="t">
            <a:spAutoFit/>
          </a:bodyPr>
          <a:lstStyle/>
          <a:p>
            <a:pPr algn="l">
              <a:spcAft>
                <a:spcPts val="400"/>
              </a:spcAft>
            </a:pPr>
            <a:r>
              <a:rPr sz="1800" b="0" i="0">
                <a:solidFill>
                  <a:srgbClr val="4A5A6A"/>
                </a:solidFill>
                <a:latin typeface="Arial"/>
              </a:rPr>
              <a:t>Toda condición responde </a:t>
            </a:r>
            <a:r>
              <a:rPr sz="1800" b="1" i="0">
                <a:solidFill>
                  <a:srgbClr val="1FB58F"/>
                </a:solidFill>
                <a:latin typeface="Courier New"/>
              </a:rPr>
              <a:t>true</a:t>
            </a:r>
            <a:r>
              <a:rPr sz="1800" b="0" i="0">
                <a:solidFill>
                  <a:srgbClr val="4A5A6A"/>
                </a:solidFill>
                <a:latin typeface="Arial"/>
              </a:rPr>
              <a:t> o </a:t>
            </a:r>
            <a:r>
              <a:rPr sz="1800" b="1" i="0">
                <a:solidFill>
                  <a:srgbClr val="FF5A5F"/>
                </a:solidFill>
                <a:latin typeface="Courier New"/>
              </a:rPr>
              <a:t>false</a:t>
            </a:r>
            <a:r>
              <a:rPr sz="1800" b="0" i="0">
                <a:solidFill>
                  <a:srgbClr val="4A5A6A"/>
                </a:solidFill>
                <a:latin typeface="Arial"/>
              </a:rPr>
              <a:t>. Como un sí o no.</a:t>
            </a:r>
          </a:p>
        </p:txBody>
      </p:sp>
      <p:sp>
        <p:nvSpPr>
          <p:cNvPr id="4" name="TextBox 3"/>
          <p:cNvSpPr txBox="1"/>
          <p:nvPr/>
        </p:nvSpPr>
        <p:spPr>
          <a:xfrm>
            <a:off x="640080" y="1828800"/>
            <a:ext cx="5303520" cy="411480"/>
          </a:xfrm>
          <a:prstGeom prst="rect">
            <a:avLst/>
          </a:prstGeom>
          <a:noFill/>
        </p:spPr>
        <p:txBody>
          <a:bodyPr wrap="square" lIns="0" rIns="0" tIns="0" bIns="0" anchor="t">
            <a:spAutoFit/>
          </a:bodyPr>
          <a:lstStyle/>
          <a:p>
            <a:pPr algn="l">
              <a:spcAft>
                <a:spcPts val="400"/>
              </a:spcAft>
            </a:pPr>
            <a:r>
              <a:rPr sz="1900" b="1" i="0">
                <a:solidFill>
                  <a:srgbClr val="257CE1"/>
                </a:solidFill>
                <a:latin typeface="Arial"/>
              </a:rPr>
              <a:t>Para COMPARAR</a:t>
            </a:r>
          </a:p>
        </p:txBody>
      </p:sp>
      <p:sp>
        <p:nvSpPr>
          <p:cNvPr id="5" name="Rounded Rectangle 4"/>
          <p:cNvSpPr/>
          <p:nvPr/>
        </p:nvSpPr>
        <p:spPr>
          <a:xfrm>
            <a:off x="640080" y="2331720"/>
            <a:ext cx="1097280" cy="731520"/>
          </a:xfrm>
          <a:prstGeom prst="roundRect">
            <a:avLst>
              <a:gd name="adj" fmla="val 15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331720"/>
            <a:ext cx="1097280" cy="731520"/>
          </a:xfrm>
          <a:prstGeom prst="rect">
            <a:avLst/>
          </a:prstGeom>
          <a:noFill/>
        </p:spPr>
        <p:txBody>
          <a:bodyPr wrap="square" lIns="0" rIns="0" tIns="0" bIns="0" anchor="ctr">
            <a:spAutoFit/>
          </a:bodyPr>
          <a:lstStyle/>
          <a:p>
            <a:pPr algn="ctr">
              <a:spcAft>
                <a:spcPts val="400"/>
              </a:spcAft>
            </a:pPr>
            <a:r>
              <a:rPr sz="1800" b="1" i="0">
                <a:solidFill>
                  <a:srgbClr val="FFFFFF"/>
                </a:solidFill>
                <a:latin typeface="Courier New"/>
              </a:rPr>
              <a:t>==</a:t>
            </a:r>
          </a:p>
        </p:txBody>
      </p:sp>
      <p:sp>
        <p:nvSpPr>
          <p:cNvPr id="7" name="TextBox 6"/>
          <p:cNvSpPr txBox="1"/>
          <p:nvPr/>
        </p:nvSpPr>
        <p:spPr>
          <a:xfrm>
            <a:off x="1874519" y="2331720"/>
            <a:ext cx="2194560" cy="731520"/>
          </a:xfrm>
          <a:prstGeom prst="rect">
            <a:avLst/>
          </a:prstGeom>
          <a:noFill/>
        </p:spPr>
        <p:txBody>
          <a:bodyPr wrap="square" lIns="0" rIns="0" tIns="0" bIns="0" anchor="ctr">
            <a:spAutoFit/>
          </a:bodyPr>
          <a:lstStyle/>
          <a:p>
            <a:pPr algn="l">
              <a:spcAft>
                <a:spcPts val="0"/>
              </a:spcAft>
            </a:pPr>
            <a:r>
              <a:rPr sz="1300" b="1" i="0">
                <a:solidFill>
                  <a:srgbClr val="0B2A4A"/>
                </a:solidFill>
                <a:latin typeface="Courier New"/>
              </a:rPr>
              <a:t>clave == 1234</a:t>
            </a:r>
          </a:p>
          <a:p>
            <a:pPr algn="l">
              <a:spcAft>
                <a:spcPts val="0"/>
              </a:spcAft>
            </a:pPr>
            <a:r>
              <a:rPr sz="1200" b="0" i="0">
                <a:solidFill>
                  <a:srgbClr val="4A5A6A"/>
                </a:solidFill>
                <a:latin typeface="Arial"/>
              </a:rPr>
              <a:t>igual a</a:t>
            </a:r>
          </a:p>
        </p:txBody>
      </p:sp>
      <p:sp>
        <p:nvSpPr>
          <p:cNvPr id="8" name="TextBox 7"/>
          <p:cNvSpPr txBox="1"/>
          <p:nvPr/>
        </p:nvSpPr>
        <p:spPr>
          <a:xfrm>
            <a:off x="4114800" y="2331720"/>
            <a:ext cx="1828800" cy="731520"/>
          </a:xfrm>
          <a:prstGeom prst="rect">
            <a:avLst/>
          </a:prstGeom>
          <a:noFill/>
        </p:spPr>
        <p:txBody>
          <a:bodyPr wrap="square" lIns="0" rIns="0" tIns="0" bIns="0" anchor="ctr">
            <a:spAutoFit/>
          </a:bodyPr>
          <a:lstStyle/>
          <a:p>
            <a:pPr algn="l">
              <a:spcAft>
                <a:spcPts val="400"/>
              </a:spcAft>
            </a:pPr>
            <a:r>
              <a:rPr sz="1400" b="1" i="0">
                <a:solidFill>
                  <a:srgbClr val="257CE1"/>
                </a:solidFill>
                <a:latin typeface="Arial"/>
              </a:rPr>
              <a:t>¿Clave correcta?</a:t>
            </a:r>
          </a:p>
        </p:txBody>
      </p:sp>
      <p:sp>
        <p:nvSpPr>
          <p:cNvPr id="9" name="Rounded Rectangle 8"/>
          <p:cNvSpPr/>
          <p:nvPr/>
        </p:nvSpPr>
        <p:spPr>
          <a:xfrm>
            <a:off x="640080" y="3200400"/>
            <a:ext cx="1097280" cy="731520"/>
          </a:xfrm>
          <a:prstGeom prst="roundRect">
            <a:avLst>
              <a:gd name="adj" fmla="val 15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3200400"/>
            <a:ext cx="1097280" cy="731520"/>
          </a:xfrm>
          <a:prstGeom prst="rect">
            <a:avLst/>
          </a:prstGeom>
          <a:noFill/>
        </p:spPr>
        <p:txBody>
          <a:bodyPr wrap="square" lIns="0" rIns="0" tIns="0" bIns="0" anchor="ctr">
            <a:spAutoFit/>
          </a:bodyPr>
          <a:lstStyle/>
          <a:p>
            <a:pPr algn="ctr">
              <a:spcAft>
                <a:spcPts val="400"/>
              </a:spcAft>
            </a:pPr>
            <a:r>
              <a:rPr sz="1800" b="1" i="0">
                <a:solidFill>
                  <a:srgbClr val="FFFFFF"/>
                </a:solidFill>
                <a:latin typeface="Courier New"/>
              </a:rPr>
              <a:t>!=</a:t>
            </a:r>
          </a:p>
        </p:txBody>
      </p:sp>
      <p:sp>
        <p:nvSpPr>
          <p:cNvPr id="11" name="TextBox 10"/>
          <p:cNvSpPr txBox="1"/>
          <p:nvPr/>
        </p:nvSpPr>
        <p:spPr>
          <a:xfrm>
            <a:off x="1874519" y="3200400"/>
            <a:ext cx="2194560" cy="731520"/>
          </a:xfrm>
          <a:prstGeom prst="rect">
            <a:avLst/>
          </a:prstGeom>
          <a:noFill/>
        </p:spPr>
        <p:txBody>
          <a:bodyPr wrap="square" lIns="0" rIns="0" tIns="0" bIns="0" anchor="ctr">
            <a:spAutoFit/>
          </a:bodyPr>
          <a:lstStyle/>
          <a:p>
            <a:pPr algn="l">
              <a:spcAft>
                <a:spcPts val="0"/>
              </a:spcAft>
            </a:pPr>
            <a:r>
              <a:rPr sz="1300" b="1" i="0">
                <a:solidFill>
                  <a:srgbClr val="0B2A4A"/>
                </a:solidFill>
                <a:latin typeface="Courier New"/>
              </a:rPr>
              <a:t>color != "rojo"</a:t>
            </a:r>
          </a:p>
          <a:p>
            <a:pPr algn="l">
              <a:spcAft>
                <a:spcPts val="0"/>
              </a:spcAft>
            </a:pPr>
            <a:r>
              <a:rPr sz="1200" b="0" i="0">
                <a:solidFill>
                  <a:srgbClr val="4A5A6A"/>
                </a:solidFill>
                <a:latin typeface="Arial"/>
              </a:rPr>
              <a:t>distinto de</a:t>
            </a:r>
          </a:p>
        </p:txBody>
      </p:sp>
      <p:sp>
        <p:nvSpPr>
          <p:cNvPr id="12" name="TextBox 11"/>
          <p:cNvSpPr txBox="1"/>
          <p:nvPr/>
        </p:nvSpPr>
        <p:spPr>
          <a:xfrm>
            <a:off x="4114800" y="3200400"/>
            <a:ext cx="1828800" cy="731520"/>
          </a:xfrm>
          <a:prstGeom prst="rect">
            <a:avLst/>
          </a:prstGeom>
          <a:noFill/>
        </p:spPr>
        <p:txBody>
          <a:bodyPr wrap="square" lIns="0" rIns="0" tIns="0" bIns="0" anchor="ctr">
            <a:spAutoFit/>
          </a:bodyPr>
          <a:lstStyle/>
          <a:p>
            <a:pPr algn="l">
              <a:spcAft>
                <a:spcPts val="400"/>
              </a:spcAft>
            </a:pPr>
            <a:r>
              <a:rPr sz="1400" b="1" i="0">
                <a:solidFill>
                  <a:srgbClr val="257CE1"/>
                </a:solidFill>
                <a:latin typeface="Arial"/>
              </a:rPr>
              <a:t>¿No es rojo?</a:t>
            </a:r>
          </a:p>
        </p:txBody>
      </p:sp>
      <p:sp>
        <p:nvSpPr>
          <p:cNvPr id="13" name="Rounded Rectangle 12"/>
          <p:cNvSpPr/>
          <p:nvPr/>
        </p:nvSpPr>
        <p:spPr>
          <a:xfrm>
            <a:off x="640080" y="4069079"/>
            <a:ext cx="1097280" cy="731520"/>
          </a:xfrm>
          <a:prstGeom prst="roundRect">
            <a:avLst>
              <a:gd name="adj" fmla="val 15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4069079"/>
            <a:ext cx="1097280" cy="731520"/>
          </a:xfrm>
          <a:prstGeom prst="rect">
            <a:avLst/>
          </a:prstGeom>
          <a:noFill/>
        </p:spPr>
        <p:txBody>
          <a:bodyPr wrap="square" lIns="0" rIns="0" tIns="0" bIns="0" anchor="ctr">
            <a:spAutoFit/>
          </a:bodyPr>
          <a:lstStyle/>
          <a:p>
            <a:pPr algn="ctr">
              <a:spcAft>
                <a:spcPts val="400"/>
              </a:spcAft>
            </a:pPr>
            <a:r>
              <a:rPr sz="1800" b="1" i="0">
                <a:solidFill>
                  <a:srgbClr val="FFFFFF"/>
                </a:solidFill>
                <a:latin typeface="Courier New"/>
              </a:rPr>
              <a:t>&gt; &lt;</a:t>
            </a:r>
          </a:p>
        </p:txBody>
      </p:sp>
      <p:sp>
        <p:nvSpPr>
          <p:cNvPr id="15" name="TextBox 14"/>
          <p:cNvSpPr txBox="1"/>
          <p:nvPr/>
        </p:nvSpPr>
        <p:spPr>
          <a:xfrm>
            <a:off x="1874519" y="4069079"/>
            <a:ext cx="2194560" cy="731520"/>
          </a:xfrm>
          <a:prstGeom prst="rect">
            <a:avLst/>
          </a:prstGeom>
          <a:noFill/>
        </p:spPr>
        <p:txBody>
          <a:bodyPr wrap="square" lIns="0" rIns="0" tIns="0" bIns="0" anchor="ctr">
            <a:spAutoFit/>
          </a:bodyPr>
          <a:lstStyle/>
          <a:p>
            <a:pPr algn="l">
              <a:spcAft>
                <a:spcPts val="0"/>
              </a:spcAft>
            </a:pPr>
            <a:r>
              <a:rPr sz="1300" b="1" i="0">
                <a:solidFill>
                  <a:srgbClr val="0B2A4A"/>
                </a:solidFill>
                <a:latin typeface="Courier New"/>
              </a:rPr>
              <a:t>puntos &gt; record</a:t>
            </a:r>
          </a:p>
          <a:p>
            <a:pPr algn="l">
              <a:spcAft>
                <a:spcPts val="0"/>
              </a:spcAft>
            </a:pPr>
            <a:r>
              <a:rPr sz="1200" b="0" i="0">
                <a:solidFill>
                  <a:srgbClr val="4A5A6A"/>
                </a:solidFill>
                <a:latin typeface="Arial"/>
              </a:rPr>
              <a:t>mayor / menor</a:t>
            </a:r>
          </a:p>
        </p:txBody>
      </p:sp>
      <p:sp>
        <p:nvSpPr>
          <p:cNvPr id="16" name="TextBox 15"/>
          <p:cNvSpPr txBox="1"/>
          <p:nvPr/>
        </p:nvSpPr>
        <p:spPr>
          <a:xfrm>
            <a:off x="4114800" y="4069079"/>
            <a:ext cx="1828800" cy="731520"/>
          </a:xfrm>
          <a:prstGeom prst="rect">
            <a:avLst/>
          </a:prstGeom>
          <a:noFill/>
        </p:spPr>
        <p:txBody>
          <a:bodyPr wrap="square" lIns="0" rIns="0" tIns="0" bIns="0" anchor="ctr">
            <a:spAutoFit/>
          </a:bodyPr>
          <a:lstStyle/>
          <a:p>
            <a:pPr algn="l">
              <a:spcAft>
                <a:spcPts val="400"/>
              </a:spcAft>
            </a:pPr>
            <a:r>
              <a:rPr sz="1400" b="1" i="0">
                <a:solidFill>
                  <a:srgbClr val="257CE1"/>
                </a:solidFill>
                <a:latin typeface="Arial"/>
              </a:rPr>
              <a:t>¿Nuevo récord?</a:t>
            </a:r>
          </a:p>
        </p:txBody>
      </p:sp>
      <p:sp>
        <p:nvSpPr>
          <p:cNvPr id="17" name="Rounded Rectangle 16"/>
          <p:cNvSpPr/>
          <p:nvPr/>
        </p:nvSpPr>
        <p:spPr>
          <a:xfrm>
            <a:off x="640080" y="4937759"/>
            <a:ext cx="1097280" cy="731520"/>
          </a:xfrm>
          <a:prstGeom prst="roundRect">
            <a:avLst>
              <a:gd name="adj" fmla="val 15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4937759"/>
            <a:ext cx="1097280" cy="731520"/>
          </a:xfrm>
          <a:prstGeom prst="rect">
            <a:avLst/>
          </a:prstGeom>
          <a:noFill/>
        </p:spPr>
        <p:txBody>
          <a:bodyPr wrap="square" lIns="0" rIns="0" tIns="0" bIns="0" anchor="ctr">
            <a:spAutoFit/>
          </a:bodyPr>
          <a:lstStyle/>
          <a:p>
            <a:pPr algn="ctr">
              <a:spcAft>
                <a:spcPts val="400"/>
              </a:spcAft>
            </a:pPr>
            <a:r>
              <a:rPr sz="1800" b="1" i="0">
                <a:solidFill>
                  <a:srgbClr val="FFFFFF"/>
                </a:solidFill>
                <a:latin typeface="Courier New"/>
              </a:rPr>
              <a:t>&gt;= &lt;=</a:t>
            </a:r>
          </a:p>
        </p:txBody>
      </p:sp>
      <p:sp>
        <p:nvSpPr>
          <p:cNvPr id="19" name="TextBox 18"/>
          <p:cNvSpPr txBox="1"/>
          <p:nvPr/>
        </p:nvSpPr>
        <p:spPr>
          <a:xfrm>
            <a:off x="1874519" y="4937759"/>
            <a:ext cx="2194560" cy="731520"/>
          </a:xfrm>
          <a:prstGeom prst="rect">
            <a:avLst/>
          </a:prstGeom>
          <a:noFill/>
        </p:spPr>
        <p:txBody>
          <a:bodyPr wrap="square" lIns="0" rIns="0" tIns="0" bIns="0" anchor="ctr">
            <a:spAutoFit/>
          </a:bodyPr>
          <a:lstStyle/>
          <a:p>
            <a:pPr algn="l">
              <a:spcAft>
                <a:spcPts val="0"/>
              </a:spcAft>
            </a:pPr>
            <a:r>
              <a:rPr sz="1300" b="1" i="0">
                <a:solidFill>
                  <a:srgbClr val="0B2A4A"/>
                </a:solidFill>
                <a:latin typeface="Courier New"/>
              </a:rPr>
              <a:t>nota &gt;= 4.0</a:t>
            </a:r>
          </a:p>
          <a:p>
            <a:pPr algn="l">
              <a:spcAft>
                <a:spcPts val="0"/>
              </a:spcAft>
            </a:pPr>
            <a:r>
              <a:rPr sz="1200" b="0" i="0">
                <a:solidFill>
                  <a:srgbClr val="4A5A6A"/>
                </a:solidFill>
                <a:latin typeface="Arial"/>
              </a:rPr>
              <a:t>mayor o igual / menor o igual</a:t>
            </a:r>
          </a:p>
        </p:txBody>
      </p:sp>
      <p:sp>
        <p:nvSpPr>
          <p:cNvPr id="20" name="TextBox 19"/>
          <p:cNvSpPr txBox="1"/>
          <p:nvPr/>
        </p:nvSpPr>
        <p:spPr>
          <a:xfrm>
            <a:off x="4114800" y="4937759"/>
            <a:ext cx="1828800" cy="731520"/>
          </a:xfrm>
          <a:prstGeom prst="rect">
            <a:avLst/>
          </a:prstGeom>
          <a:noFill/>
        </p:spPr>
        <p:txBody>
          <a:bodyPr wrap="square" lIns="0" rIns="0" tIns="0" bIns="0" anchor="ctr">
            <a:spAutoFit/>
          </a:bodyPr>
          <a:lstStyle/>
          <a:p>
            <a:pPr algn="l">
              <a:spcAft>
                <a:spcPts val="400"/>
              </a:spcAft>
            </a:pPr>
            <a:r>
              <a:rPr sz="1400" b="1" i="0">
                <a:solidFill>
                  <a:srgbClr val="257CE1"/>
                </a:solidFill>
                <a:latin typeface="Arial"/>
              </a:rPr>
              <a:t>¿Aprobé?</a:t>
            </a:r>
          </a:p>
        </p:txBody>
      </p:sp>
      <p:sp>
        <p:nvSpPr>
          <p:cNvPr id="21" name="Rounded Rectangle 20"/>
          <p:cNvSpPr/>
          <p:nvPr/>
        </p:nvSpPr>
        <p:spPr>
          <a:xfrm>
            <a:off x="6355080" y="1828800"/>
            <a:ext cx="5212080" cy="4206240"/>
          </a:xfrm>
          <a:prstGeom prst="roundRect">
            <a:avLst>
              <a:gd name="adj" fmla="val 5000"/>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629400" y="1965960"/>
            <a:ext cx="4754880" cy="411480"/>
          </a:xfrm>
          <a:prstGeom prst="rect">
            <a:avLst/>
          </a:prstGeom>
          <a:noFill/>
        </p:spPr>
        <p:txBody>
          <a:bodyPr wrap="square" lIns="0" rIns="0" tIns="0" bIns="0" anchor="t">
            <a:spAutoFit/>
          </a:bodyPr>
          <a:lstStyle/>
          <a:p>
            <a:pPr algn="l">
              <a:spcAft>
                <a:spcPts val="400"/>
              </a:spcAft>
            </a:pPr>
            <a:r>
              <a:rPr sz="1900" b="1" i="0">
                <a:solidFill>
                  <a:srgbClr val="FFC629"/>
                </a:solidFill>
                <a:latin typeface="Arial"/>
              </a:rPr>
              <a:t>Para COMBINAR condiciones</a:t>
            </a:r>
          </a:p>
        </p:txBody>
      </p:sp>
      <p:sp>
        <p:nvSpPr>
          <p:cNvPr id="23" name="Rounded Rectangle 22"/>
          <p:cNvSpPr/>
          <p:nvPr/>
        </p:nvSpPr>
        <p:spPr>
          <a:xfrm>
            <a:off x="6629400" y="2560320"/>
            <a:ext cx="1005840" cy="914400"/>
          </a:xfrm>
          <a:prstGeom prst="roundRect">
            <a:avLst>
              <a:gd name="adj" fmla="val 15000"/>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629400" y="2606039"/>
            <a:ext cx="1005840" cy="502920"/>
          </a:xfrm>
          <a:prstGeom prst="rect">
            <a:avLst/>
          </a:prstGeom>
          <a:noFill/>
        </p:spPr>
        <p:txBody>
          <a:bodyPr wrap="square" lIns="0" rIns="0" tIns="0" bIns="0" anchor="ctr">
            <a:spAutoFit/>
          </a:bodyPr>
          <a:lstStyle/>
          <a:p>
            <a:pPr algn="ctr">
              <a:spcAft>
                <a:spcPts val="400"/>
              </a:spcAft>
            </a:pPr>
            <a:r>
              <a:rPr sz="2200" b="1" i="0">
                <a:solidFill>
                  <a:srgbClr val="FFFFFF"/>
                </a:solidFill>
                <a:latin typeface="Courier New"/>
              </a:rPr>
              <a:t>&amp;&amp;</a:t>
            </a:r>
          </a:p>
        </p:txBody>
      </p:sp>
      <p:sp>
        <p:nvSpPr>
          <p:cNvPr id="25" name="TextBox 24"/>
          <p:cNvSpPr txBox="1"/>
          <p:nvPr/>
        </p:nvSpPr>
        <p:spPr>
          <a:xfrm>
            <a:off x="6629400" y="3090672"/>
            <a:ext cx="1005840" cy="320040"/>
          </a:xfrm>
          <a:prstGeom prst="rect">
            <a:avLst/>
          </a:prstGeom>
          <a:noFill/>
        </p:spPr>
        <p:txBody>
          <a:bodyPr wrap="square" lIns="0" rIns="0" tIns="0" bIns="0" anchor="t">
            <a:spAutoFit/>
          </a:bodyPr>
          <a:lstStyle/>
          <a:p>
            <a:pPr algn="ctr">
              <a:spcAft>
                <a:spcPts val="400"/>
              </a:spcAft>
            </a:pPr>
            <a:r>
              <a:rPr sz="1200" b="1" i="0">
                <a:solidFill>
                  <a:srgbClr val="FFFFFF"/>
                </a:solidFill>
                <a:latin typeface="Arial"/>
              </a:rPr>
              <a:t>Y</a:t>
            </a:r>
          </a:p>
        </p:txBody>
      </p:sp>
      <p:sp>
        <p:nvSpPr>
          <p:cNvPr id="26" name="TextBox 25"/>
          <p:cNvSpPr txBox="1"/>
          <p:nvPr/>
        </p:nvSpPr>
        <p:spPr>
          <a:xfrm>
            <a:off x="7818120" y="2578608"/>
            <a:ext cx="3657600" cy="411480"/>
          </a:xfrm>
          <a:prstGeom prst="rect">
            <a:avLst/>
          </a:prstGeom>
          <a:noFill/>
        </p:spPr>
        <p:txBody>
          <a:bodyPr wrap="square" lIns="0" rIns="0" tIns="0" bIns="0" anchor="t">
            <a:spAutoFit/>
          </a:bodyPr>
          <a:lstStyle/>
          <a:p>
            <a:pPr algn="l">
              <a:spcAft>
                <a:spcPts val="400"/>
              </a:spcAft>
            </a:pPr>
            <a:r>
              <a:rPr sz="1300" b="1" i="0">
                <a:solidFill>
                  <a:srgbClr val="FFFFFF"/>
                </a:solidFill>
                <a:latin typeface="Courier New"/>
              </a:rPr>
              <a:t>tengoEntrada &amp;&amp; tengoCarnet</a:t>
            </a:r>
          </a:p>
        </p:txBody>
      </p:sp>
      <p:sp>
        <p:nvSpPr>
          <p:cNvPr id="27" name="TextBox 26"/>
          <p:cNvSpPr txBox="1"/>
          <p:nvPr/>
        </p:nvSpPr>
        <p:spPr>
          <a:xfrm>
            <a:off x="7818120" y="2990087"/>
            <a:ext cx="3657600" cy="457200"/>
          </a:xfrm>
          <a:prstGeom prst="rect">
            <a:avLst/>
          </a:prstGeom>
          <a:noFill/>
        </p:spPr>
        <p:txBody>
          <a:bodyPr wrap="square" lIns="0" rIns="0" tIns="0" bIns="0" anchor="t">
            <a:spAutoFit/>
          </a:bodyPr>
          <a:lstStyle/>
          <a:p>
            <a:pPr algn="l">
              <a:spcAft>
                <a:spcPts val="400"/>
              </a:spcAft>
            </a:pPr>
            <a:r>
              <a:rPr sz="1300" b="0" i="0">
                <a:solidFill>
                  <a:srgbClr val="C8D6E5"/>
                </a:solidFill>
                <a:latin typeface="Arial"/>
              </a:rPr>
              <a:t>Entro al concierto solo si tengo AMBAS</a:t>
            </a:r>
          </a:p>
        </p:txBody>
      </p:sp>
      <p:sp>
        <p:nvSpPr>
          <p:cNvPr id="28" name="Rounded Rectangle 27"/>
          <p:cNvSpPr/>
          <p:nvPr/>
        </p:nvSpPr>
        <p:spPr>
          <a:xfrm>
            <a:off x="6629400" y="3657600"/>
            <a:ext cx="1005840" cy="914400"/>
          </a:xfrm>
          <a:prstGeom prst="roundRect">
            <a:avLst>
              <a:gd name="adj" fmla="val 15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629400" y="3703320"/>
            <a:ext cx="1005840" cy="502920"/>
          </a:xfrm>
          <a:prstGeom prst="rect">
            <a:avLst/>
          </a:prstGeom>
          <a:noFill/>
        </p:spPr>
        <p:txBody>
          <a:bodyPr wrap="square" lIns="0" rIns="0" tIns="0" bIns="0" anchor="ctr">
            <a:spAutoFit/>
          </a:bodyPr>
          <a:lstStyle/>
          <a:p>
            <a:pPr algn="ctr">
              <a:spcAft>
                <a:spcPts val="400"/>
              </a:spcAft>
            </a:pPr>
            <a:r>
              <a:rPr sz="2200" b="1" i="0">
                <a:solidFill>
                  <a:srgbClr val="FFFFFF"/>
                </a:solidFill>
                <a:latin typeface="Courier New"/>
              </a:rPr>
              <a:t>||</a:t>
            </a:r>
          </a:p>
        </p:txBody>
      </p:sp>
      <p:sp>
        <p:nvSpPr>
          <p:cNvPr id="30" name="TextBox 29"/>
          <p:cNvSpPr txBox="1"/>
          <p:nvPr/>
        </p:nvSpPr>
        <p:spPr>
          <a:xfrm>
            <a:off x="6629400" y="4187952"/>
            <a:ext cx="1005840" cy="320040"/>
          </a:xfrm>
          <a:prstGeom prst="rect">
            <a:avLst/>
          </a:prstGeom>
          <a:noFill/>
        </p:spPr>
        <p:txBody>
          <a:bodyPr wrap="square" lIns="0" rIns="0" tIns="0" bIns="0" anchor="t">
            <a:spAutoFit/>
          </a:bodyPr>
          <a:lstStyle/>
          <a:p>
            <a:pPr algn="ctr">
              <a:spcAft>
                <a:spcPts val="400"/>
              </a:spcAft>
            </a:pPr>
            <a:r>
              <a:rPr sz="1200" b="1" i="0">
                <a:solidFill>
                  <a:srgbClr val="FFFFFF"/>
                </a:solidFill>
                <a:latin typeface="Arial"/>
              </a:rPr>
              <a:t>O</a:t>
            </a:r>
          </a:p>
        </p:txBody>
      </p:sp>
      <p:sp>
        <p:nvSpPr>
          <p:cNvPr id="31" name="TextBox 30"/>
          <p:cNvSpPr txBox="1"/>
          <p:nvPr/>
        </p:nvSpPr>
        <p:spPr>
          <a:xfrm>
            <a:off x="7818120" y="3675887"/>
            <a:ext cx="3657600" cy="411480"/>
          </a:xfrm>
          <a:prstGeom prst="rect">
            <a:avLst/>
          </a:prstGeom>
          <a:noFill/>
        </p:spPr>
        <p:txBody>
          <a:bodyPr wrap="square" lIns="0" rIns="0" tIns="0" bIns="0" anchor="t">
            <a:spAutoFit/>
          </a:bodyPr>
          <a:lstStyle/>
          <a:p>
            <a:pPr algn="l">
              <a:spcAft>
                <a:spcPts val="400"/>
              </a:spcAft>
            </a:pPr>
            <a:r>
              <a:rPr sz="1300" b="1" i="0">
                <a:solidFill>
                  <a:srgbClr val="FFFFFF"/>
                </a:solidFill>
                <a:latin typeface="Courier New"/>
              </a:rPr>
              <a:t>esSabado || esDomingo</a:t>
            </a:r>
          </a:p>
        </p:txBody>
      </p:sp>
      <p:sp>
        <p:nvSpPr>
          <p:cNvPr id="32" name="TextBox 31"/>
          <p:cNvSpPr txBox="1"/>
          <p:nvPr/>
        </p:nvSpPr>
        <p:spPr>
          <a:xfrm>
            <a:off x="7818120" y="4087368"/>
            <a:ext cx="3657600" cy="457200"/>
          </a:xfrm>
          <a:prstGeom prst="rect">
            <a:avLst/>
          </a:prstGeom>
          <a:noFill/>
        </p:spPr>
        <p:txBody>
          <a:bodyPr wrap="square" lIns="0" rIns="0" tIns="0" bIns="0" anchor="t">
            <a:spAutoFit/>
          </a:bodyPr>
          <a:lstStyle/>
          <a:p>
            <a:pPr algn="l">
              <a:spcAft>
                <a:spcPts val="400"/>
              </a:spcAft>
            </a:pPr>
            <a:r>
              <a:rPr sz="1300" b="0" i="0">
                <a:solidFill>
                  <a:srgbClr val="C8D6E5"/>
                </a:solidFill>
                <a:latin typeface="Arial"/>
              </a:rPr>
              <a:t>No hay clases si se cumple ALGUNA</a:t>
            </a:r>
          </a:p>
        </p:txBody>
      </p:sp>
      <p:sp>
        <p:nvSpPr>
          <p:cNvPr id="33" name="Rounded Rectangle 32"/>
          <p:cNvSpPr/>
          <p:nvPr/>
        </p:nvSpPr>
        <p:spPr>
          <a:xfrm>
            <a:off x="6629400" y="4754879"/>
            <a:ext cx="1005840" cy="914400"/>
          </a:xfrm>
          <a:prstGeom prst="roundRect">
            <a:avLst>
              <a:gd name="adj" fmla="val 15000"/>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629400" y="4800599"/>
            <a:ext cx="1005840" cy="502920"/>
          </a:xfrm>
          <a:prstGeom prst="rect">
            <a:avLst/>
          </a:prstGeom>
          <a:noFill/>
        </p:spPr>
        <p:txBody>
          <a:bodyPr wrap="square" lIns="0" rIns="0" tIns="0" bIns="0" anchor="ctr">
            <a:spAutoFit/>
          </a:bodyPr>
          <a:lstStyle/>
          <a:p>
            <a:pPr algn="ctr">
              <a:spcAft>
                <a:spcPts val="400"/>
              </a:spcAft>
            </a:pPr>
            <a:r>
              <a:rPr sz="2200" b="1" i="0">
                <a:solidFill>
                  <a:srgbClr val="FFFFFF"/>
                </a:solidFill>
                <a:latin typeface="Courier New"/>
              </a:rPr>
              <a:t>!</a:t>
            </a:r>
          </a:p>
        </p:txBody>
      </p:sp>
      <p:sp>
        <p:nvSpPr>
          <p:cNvPr id="35" name="TextBox 34"/>
          <p:cNvSpPr txBox="1"/>
          <p:nvPr/>
        </p:nvSpPr>
        <p:spPr>
          <a:xfrm>
            <a:off x="6629400" y="5285231"/>
            <a:ext cx="1005840" cy="320040"/>
          </a:xfrm>
          <a:prstGeom prst="rect">
            <a:avLst/>
          </a:prstGeom>
          <a:noFill/>
        </p:spPr>
        <p:txBody>
          <a:bodyPr wrap="square" lIns="0" rIns="0" tIns="0" bIns="0" anchor="t">
            <a:spAutoFit/>
          </a:bodyPr>
          <a:lstStyle/>
          <a:p>
            <a:pPr algn="ctr">
              <a:spcAft>
                <a:spcPts val="400"/>
              </a:spcAft>
            </a:pPr>
            <a:r>
              <a:rPr sz="1200" b="1" i="0">
                <a:solidFill>
                  <a:srgbClr val="FFFFFF"/>
                </a:solidFill>
                <a:latin typeface="Arial"/>
              </a:rPr>
              <a:t>NO</a:t>
            </a:r>
          </a:p>
        </p:txBody>
      </p:sp>
      <p:sp>
        <p:nvSpPr>
          <p:cNvPr id="36" name="TextBox 35"/>
          <p:cNvSpPr txBox="1"/>
          <p:nvPr/>
        </p:nvSpPr>
        <p:spPr>
          <a:xfrm>
            <a:off x="7818120" y="4773167"/>
            <a:ext cx="3657600" cy="411480"/>
          </a:xfrm>
          <a:prstGeom prst="rect">
            <a:avLst/>
          </a:prstGeom>
          <a:noFill/>
        </p:spPr>
        <p:txBody>
          <a:bodyPr wrap="square" lIns="0" rIns="0" tIns="0" bIns="0" anchor="t">
            <a:spAutoFit/>
          </a:bodyPr>
          <a:lstStyle/>
          <a:p>
            <a:pPr algn="l">
              <a:spcAft>
                <a:spcPts val="400"/>
              </a:spcAft>
            </a:pPr>
            <a:r>
              <a:rPr sz="1300" b="1" i="0">
                <a:solidFill>
                  <a:srgbClr val="FFFFFF"/>
                </a:solidFill>
                <a:latin typeface="Courier New"/>
              </a:rPr>
              <a:t>!llueve</a:t>
            </a:r>
          </a:p>
        </p:txBody>
      </p:sp>
      <p:sp>
        <p:nvSpPr>
          <p:cNvPr id="37" name="TextBox 36"/>
          <p:cNvSpPr txBox="1"/>
          <p:nvPr/>
        </p:nvSpPr>
        <p:spPr>
          <a:xfrm>
            <a:off x="7818120" y="5184647"/>
            <a:ext cx="3657600" cy="457200"/>
          </a:xfrm>
          <a:prstGeom prst="rect">
            <a:avLst/>
          </a:prstGeom>
          <a:noFill/>
        </p:spPr>
        <p:txBody>
          <a:bodyPr wrap="square" lIns="0" rIns="0" tIns="0" bIns="0" anchor="t">
            <a:spAutoFit/>
          </a:bodyPr>
          <a:lstStyle/>
          <a:p>
            <a:pPr algn="l">
              <a:spcAft>
                <a:spcPts val="400"/>
              </a:spcAft>
            </a:pPr>
            <a:r>
              <a:rPr sz="1300" b="0" i="0">
                <a:solidFill>
                  <a:srgbClr val="C8D6E5"/>
                </a:solidFill>
                <a:latin typeface="Arial"/>
              </a:rPr>
              <a:t>Salgo en bici si NO llueve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decisión </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701" lvl="1" algn="just">
              <a:buClr>
                <a:srgbClr val="0070C0"/>
              </a:buClr>
            </a:pPr>
            <a:r>
              <a:rPr lang="es-CL" sz="2183" b="1" dirty="0">
                <a:solidFill>
                  <a:srgbClr val="0070C0"/>
                </a:solidFill>
                <a:latin typeface="Arial" panose="020B0604020202020204" pitchFamily="34" charset="0"/>
                <a:cs typeface="Arial" panose="020B0604020202020204" pitchFamily="34" charset="0"/>
              </a:rPr>
              <a:t>2</a:t>
            </a:r>
            <a:r>
              <a:rPr lang="es-CL" sz="2183" dirty="0">
                <a:solidFill>
                  <a:srgbClr val="222222"/>
                </a:solidFill>
                <a:latin typeface="Arial" panose="020B0604020202020204" pitchFamily="34" charset="0"/>
                <a:cs typeface="Arial" panose="020B0604020202020204" pitchFamily="34" charset="0"/>
              </a:rPr>
              <a:t> Necesitamos saber la clasificación por edad en el cine chileno.</a:t>
            </a: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A506FF27-2C1C-87C2-5240-88D9C31253AA}"/>
              </a:ext>
            </a:extLst>
          </p:cNvPr>
          <p:cNvPicPr>
            <a:picLocks noChangeAspect="1"/>
          </p:cNvPicPr>
          <p:nvPr/>
        </p:nvPicPr>
        <p:blipFill>
          <a:blip r:embed="rId2"/>
          <a:stretch>
            <a:fillRect/>
          </a:stretch>
        </p:blipFill>
        <p:spPr>
          <a:xfrm>
            <a:off x="1290394" y="1571956"/>
            <a:ext cx="8714012" cy="4852713"/>
          </a:xfrm>
          <a:prstGeom prst="rect">
            <a:avLst/>
          </a:prstGeom>
        </p:spPr>
      </p:pic>
    </p:spTree>
    <p:extLst>
      <p:ext uri="{BB962C8B-B14F-4D97-AF65-F5344CB8AC3E}">
        <p14:creationId xmlns:p14="http://schemas.microsoft.com/office/powerpoint/2010/main" val="187113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decisión </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701" lvl="1" algn="just">
              <a:buClr>
                <a:srgbClr val="0070C0"/>
              </a:buClr>
            </a:pPr>
            <a:r>
              <a:rPr lang="es-CL" sz="2183" b="1" dirty="0">
                <a:solidFill>
                  <a:srgbClr val="0070C0"/>
                </a:solidFill>
                <a:latin typeface="Arial" panose="020B0604020202020204" pitchFamily="34" charset="0"/>
                <a:cs typeface="Arial" panose="020B0604020202020204" pitchFamily="34" charset="0"/>
              </a:rPr>
              <a:t>3</a:t>
            </a:r>
            <a:r>
              <a:rPr lang="es-CL" sz="2183" dirty="0">
                <a:solidFill>
                  <a:srgbClr val="222222"/>
                </a:solidFill>
                <a:latin typeface="Arial" panose="020B0604020202020204" pitchFamily="34" charset="0"/>
                <a:cs typeface="Arial" panose="020B0604020202020204" pitchFamily="34" charset="0"/>
              </a:rPr>
              <a:t> Necesitamos validar el género de una persona en una consulta médica.</a:t>
            </a: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4" name="Imagen 3">
            <a:extLst>
              <a:ext uri="{FF2B5EF4-FFF2-40B4-BE49-F238E27FC236}">
                <a16:creationId xmlns:a16="http://schemas.microsoft.com/office/drawing/2014/main" id="{56333724-F9F7-A21C-6550-58A0D51071BD}"/>
              </a:ext>
            </a:extLst>
          </p:cNvPr>
          <p:cNvPicPr>
            <a:picLocks noChangeAspect="1"/>
          </p:cNvPicPr>
          <p:nvPr/>
        </p:nvPicPr>
        <p:blipFill>
          <a:blip r:embed="rId2"/>
          <a:stretch>
            <a:fillRect/>
          </a:stretch>
        </p:blipFill>
        <p:spPr>
          <a:xfrm>
            <a:off x="1290394" y="1857607"/>
            <a:ext cx="8940877" cy="4066611"/>
          </a:xfrm>
          <a:prstGeom prst="rect">
            <a:avLst/>
          </a:prstGeom>
        </p:spPr>
      </p:pic>
    </p:spTree>
    <p:extLst>
      <p:ext uri="{BB962C8B-B14F-4D97-AF65-F5344CB8AC3E}">
        <p14:creationId xmlns:p14="http://schemas.microsoft.com/office/powerpoint/2010/main" val="955804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decisión </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EBAE4092-A0A2-F4DB-A378-B6C33CB79A55}"/>
              </a:ext>
            </a:extLst>
          </p:cNvPr>
          <p:cNvPicPr>
            <a:picLocks noChangeAspect="1"/>
          </p:cNvPicPr>
          <p:nvPr/>
        </p:nvPicPr>
        <p:blipFill>
          <a:blip r:embed="rId2"/>
          <a:stretch>
            <a:fillRect/>
          </a:stretch>
        </p:blipFill>
        <p:spPr>
          <a:xfrm>
            <a:off x="1336602" y="954058"/>
            <a:ext cx="8826594" cy="5452514"/>
          </a:xfrm>
          <a:prstGeom prst="rect">
            <a:avLst/>
          </a:prstGeom>
        </p:spPr>
      </p:pic>
    </p:spTree>
    <p:extLst>
      <p:ext uri="{BB962C8B-B14F-4D97-AF65-F5344CB8AC3E}">
        <p14:creationId xmlns:p14="http://schemas.microsoft.com/office/powerpoint/2010/main" val="2101983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decisión </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701" lvl="1" algn="just">
              <a:buClr>
                <a:srgbClr val="0070C0"/>
              </a:buClr>
            </a:pPr>
            <a:r>
              <a:rPr lang="es-CL" sz="2183" b="1" dirty="0">
                <a:solidFill>
                  <a:srgbClr val="0070C0"/>
                </a:solidFill>
                <a:latin typeface="Arial" panose="020B0604020202020204" pitchFamily="34" charset="0"/>
                <a:cs typeface="Arial" panose="020B0604020202020204" pitchFamily="34" charset="0"/>
              </a:rPr>
              <a:t>4</a:t>
            </a:r>
            <a:r>
              <a:rPr lang="es-CL" sz="2183" dirty="0">
                <a:solidFill>
                  <a:srgbClr val="222222"/>
                </a:solidFill>
                <a:latin typeface="Arial" panose="020B0604020202020204" pitchFamily="34" charset="0"/>
                <a:cs typeface="Arial" panose="020B0604020202020204" pitchFamily="34" charset="0"/>
              </a:rPr>
              <a:t> Necesitamos determinar el nombre del curso en un colegio de enseñanza básica por su número. </a:t>
            </a:r>
          </a:p>
          <a:p>
            <a:pPr marL="7701" lvl="1" algn="just">
              <a:buClr>
                <a:srgbClr val="0070C0"/>
              </a:buClr>
            </a:pPr>
            <a:r>
              <a:rPr lang="es-CL" sz="2183" b="1" dirty="0">
                <a:solidFill>
                  <a:schemeClr val="accent5">
                    <a:lumMod val="75000"/>
                  </a:schemeClr>
                </a:solidFill>
                <a:latin typeface="Arial" panose="020B0604020202020204" pitchFamily="34" charset="0"/>
                <a:cs typeface="Arial" panose="020B0604020202020204" pitchFamily="34" charset="0"/>
              </a:rPr>
              <a:t>Ejemplo</a:t>
            </a:r>
            <a:r>
              <a:rPr lang="es-CL" sz="2183" dirty="0">
                <a:solidFill>
                  <a:srgbClr val="222222"/>
                </a:solidFill>
                <a:latin typeface="Arial" panose="020B0604020202020204" pitchFamily="34" charset="0"/>
                <a:cs typeface="Arial" panose="020B0604020202020204" pitchFamily="34" charset="0"/>
              </a:rPr>
              <a:t>: 1 Primero Básico.</a:t>
            </a: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7D00C5FD-83B9-12D7-53E8-A9FA725B69FC}"/>
              </a:ext>
            </a:extLst>
          </p:cNvPr>
          <p:cNvPicPr>
            <a:picLocks noChangeAspect="1"/>
          </p:cNvPicPr>
          <p:nvPr/>
        </p:nvPicPr>
        <p:blipFill>
          <a:blip r:embed="rId2"/>
          <a:stretch>
            <a:fillRect/>
          </a:stretch>
        </p:blipFill>
        <p:spPr>
          <a:xfrm>
            <a:off x="4345734" y="1817769"/>
            <a:ext cx="2622584" cy="4799566"/>
          </a:xfrm>
          <a:prstGeom prst="rect">
            <a:avLst/>
          </a:prstGeom>
          <a:ln>
            <a:solidFill>
              <a:srgbClr val="0070C0"/>
            </a:solidFill>
          </a:ln>
        </p:spPr>
      </p:pic>
      <p:sp>
        <p:nvSpPr>
          <p:cNvPr id="6" name="CuadroTexto 5">
            <a:extLst>
              <a:ext uri="{FF2B5EF4-FFF2-40B4-BE49-F238E27FC236}">
                <a16:creationId xmlns:a16="http://schemas.microsoft.com/office/drawing/2014/main" id="{1F24FC66-09E7-EE07-0ACF-15310C648313}"/>
              </a:ext>
            </a:extLst>
          </p:cNvPr>
          <p:cNvSpPr txBox="1"/>
          <p:nvPr/>
        </p:nvSpPr>
        <p:spPr>
          <a:xfrm>
            <a:off x="404314" y="3220141"/>
            <a:ext cx="3557997" cy="1524856"/>
          </a:xfrm>
          <a:custGeom>
            <a:avLst/>
            <a:gdLst>
              <a:gd name="connsiteX0" fmla="*/ 0 w 3557997"/>
              <a:gd name="connsiteY0" fmla="*/ 0 h 1524856"/>
              <a:gd name="connsiteX1" fmla="*/ 557420 w 3557997"/>
              <a:gd name="connsiteY1" fmla="*/ 0 h 1524856"/>
              <a:gd name="connsiteX2" fmla="*/ 1043679 w 3557997"/>
              <a:gd name="connsiteY2" fmla="*/ 0 h 1524856"/>
              <a:gd name="connsiteX3" fmla="*/ 1707839 w 3557997"/>
              <a:gd name="connsiteY3" fmla="*/ 0 h 1524856"/>
              <a:gd name="connsiteX4" fmla="*/ 2265258 w 3557997"/>
              <a:gd name="connsiteY4" fmla="*/ 0 h 1524856"/>
              <a:gd name="connsiteX5" fmla="*/ 2822678 w 3557997"/>
              <a:gd name="connsiteY5" fmla="*/ 0 h 1524856"/>
              <a:gd name="connsiteX6" fmla="*/ 3557997 w 3557997"/>
              <a:gd name="connsiteY6" fmla="*/ 0 h 1524856"/>
              <a:gd name="connsiteX7" fmla="*/ 3557997 w 3557997"/>
              <a:gd name="connsiteY7" fmla="*/ 477788 h 1524856"/>
              <a:gd name="connsiteX8" fmla="*/ 3557997 w 3557997"/>
              <a:gd name="connsiteY8" fmla="*/ 986074 h 1524856"/>
              <a:gd name="connsiteX9" fmla="*/ 3557997 w 3557997"/>
              <a:gd name="connsiteY9" fmla="*/ 1524856 h 1524856"/>
              <a:gd name="connsiteX10" fmla="*/ 3036157 w 3557997"/>
              <a:gd name="connsiteY10" fmla="*/ 1524856 h 1524856"/>
              <a:gd name="connsiteX11" fmla="*/ 2443158 w 3557997"/>
              <a:gd name="connsiteY11" fmla="*/ 1524856 h 1524856"/>
              <a:gd name="connsiteX12" fmla="*/ 1885738 w 3557997"/>
              <a:gd name="connsiteY12" fmla="*/ 1524856 h 1524856"/>
              <a:gd name="connsiteX13" fmla="*/ 1221579 w 3557997"/>
              <a:gd name="connsiteY13" fmla="*/ 1524856 h 1524856"/>
              <a:gd name="connsiteX14" fmla="*/ 557420 w 3557997"/>
              <a:gd name="connsiteY14" fmla="*/ 1524856 h 1524856"/>
              <a:gd name="connsiteX15" fmla="*/ 0 w 3557997"/>
              <a:gd name="connsiteY15" fmla="*/ 1524856 h 1524856"/>
              <a:gd name="connsiteX16" fmla="*/ 0 w 3557997"/>
              <a:gd name="connsiteY16" fmla="*/ 1016571 h 1524856"/>
              <a:gd name="connsiteX17" fmla="*/ 0 w 3557997"/>
              <a:gd name="connsiteY17" fmla="*/ 523534 h 1524856"/>
              <a:gd name="connsiteX18" fmla="*/ 0 w 3557997"/>
              <a:gd name="connsiteY18" fmla="*/ 0 h 152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57997" h="1524856" extrusionOk="0">
                <a:moveTo>
                  <a:pt x="0" y="0"/>
                </a:moveTo>
                <a:cubicBezTo>
                  <a:pt x="179482" y="-10667"/>
                  <a:pt x="369043" y="20149"/>
                  <a:pt x="557420" y="0"/>
                </a:cubicBezTo>
                <a:cubicBezTo>
                  <a:pt x="745797" y="-20149"/>
                  <a:pt x="939536" y="6212"/>
                  <a:pt x="1043679" y="0"/>
                </a:cubicBezTo>
                <a:cubicBezTo>
                  <a:pt x="1147822" y="-6212"/>
                  <a:pt x="1460341" y="13599"/>
                  <a:pt x="1707839" y="0"/>
                </a:cubicBezTo>
                <a:cubicBezTo>
                  <a:pt x="1955337" y="-13599"/>
                  <a:pt x="2028330" y="54258"/>
                  <a:pt x="2265258" y="0"/>
                </a:cubicBezTo>
                <a:cubicBezTo>
                  <a:pt x="2502186" y="-54258"/>
                  <a:pt x="2666199" y="19345"/>
                  <a:pt x="2822678" y="0"/>
                </a:cubicBezTo>
                <a:cubicBezTo>
                  <a:pt x="2979157" y="-19345"/>
                  <a:pt x="3315152" y="73775"/>
                  <a:pt x="3557997" y="0"/>
                </a:cubicBezTo>
                <a:cubicBezTo>
                  <a:pt x="3612621" y="156165"/>
                  <a:pt x="3516402" y="307771"/>
                  <a:pt x="3557997" y="477788"/>
                </a:cubicBezTo>
                <a:cubicBezTo>
                  <a:pt x="3599592" y="647805"/>
                  <a:pt x="3537946" y="870968"/>
                  <a:pt x="3557997" y="986074"/>
                </a:cubicBezTo>
                <a:cubicBezTo>
                  <a:pt x="3578048" y="1101180"/>
                  <a:pt x="3519074" y="1402074"/>
                  <a:pt x="3557997" y="1524856"/>
                </a:cubicBezTo>
                <a:cubicBezTo>
                  <a:pt x="3431785" y="1549165"/>
                  <a:pt x="3210281" y="1490301"/>
                  <a:pt x="3036157" y="1524856"/>
                </a:cubicBezTo>
                <a:cubicBezTo>
                  <a:pt x="2862033" y="1559411"/>
                  <a:pt x="2648121" y="1489294"/>
                  <a:pt x="2443158" y="1524856"/>
                </a:cubicBezTo>
                <a:cubicBezTo>
                  <a:pt x="2238195" y="1560418"/>
                  <a:pt x="2025186" y="1484336"/>
                  <a:pt x="1885738" y="1524856"/>
                </a:cubicBezTo>
                <a:cubicBezTo>
                  <a:pt x="1746290" y="1565376"/>
                  <a:pt x="1448623" y="1516627"/>
                  <a:pt x="1221579" y="1524856"/>
                </a:cubicBezTo>
                <a:cubicBezTo>
                  <a:pt x="994535" y="1533085"/>
                  <a:pt x="767613" y="1471843"/>
                  <a:pt x="557420" y="1524856"/>
                </a:cubicBezTo>
                <a:cubicBezTo>
                  <a:pt x="347227" y="1577869"/>
                  <a:pt x="140537" y="1505206"/>
                  <a:pt x="0" y="1524856"/>
                </a:cubicBezTo>
                <a:cubicBezTo>
                  <a:pt x="-34809" y="1387530"/>
                  <a:pt x="29972" y="1242855"/>
                  <a:pt x="0" y="1016571"/>
                </a:cubicBezTo>
                <a:cubicBezTo>
                  <a:pt x="-29972" y="790287"/>
                  <a:pt x="56474" y="663480"/>
                  <a:pt x="0" y="523534"/>
                </a:cubicBezTo>
                <a:cubicBezTo>
                  <a:pt x="-56474" y="383588"/>
                  <a:pt x="16169" y="106425"/>
                  <a:pt x="0" y="0"/>
                </a:cubicBezTo>
                <a:close/>
              </a:path>
            </a:pathLst>
          </a:custGeom>
          <a:noFill/>
          <a:ln>
            <a:solidFill>
              <a:schemeClr val="bg1">
                <a:lumMod val="50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spcFirstLastPara="1" wrap="square" lIns="55440" tIns="27713" rIns="55440" bIns="27713" rtlCol="0" anchor="t" anchorCtr="0">
            <a:noAutofit/>
          </a:bodyPr>
          <a:lstStyle/>
          <a:p>
            <a:pPr algn="just"/>
            <a:r>
              <a:rPr lang="es-ES_tradnl" sz="2183" dirty="0">
                <a:latin typeface="Arial" panose="020B0604020202020204" pitchFamily="34" charset="0"/>
                <a:cs typeface="Arial" panose="020B0604020202020204" pitchFamily="34" charset="0"/>
              </a:rPr>
              <a:t>Se evalúa la variable numero, la cual es del tipo entero (no hay condición) </a:t>
            </a:r>
          </a:p>
        </p:txBody>
      </p:sp>
      <p:sp>
        <p:nvSpPr>
          <p:cNvPr id="7" name="CuadroTexto 6">
            <a:extLst>
              <a:ext uri="{FF2B5EF4-FFF2-40B4-BE49-F238E27FC236}">
                <a16:creationId xmlns:a16="http://schemas.microsoft.com/office/drawing/2014/main" id="{AAFFF985-3EBF-05B4-1E95-376ECC2FFAC3}"/>
              </a:ext>
            </a:extLst>
          </p:cNvPr>
          <p:cNvSpPr txBox="1"/>
          <p:nvPr/>
        </p:nvSpPr>
        <p:spPr>
          <a:xfrm>
            <a:off x="7351741" y="2320014"/>
            <a:ext cx="3965734" cy="3373166"/>
          </a:xfrm>
          <a:custGeom>
            <a:avLst/>
            <a:gdLst>
              <a:gd name="connsiteX0" fmla="*/ 0 w 3965734"/>
              <a:gd name="connsiteY0" fmla="*/ 0 h 3373166"/>
              <a:gd name="connsiteX1" fmla="*/ 526876 w 3965734"/>
              <a:gd name="connsiteY1" fmla="*/ 0 h 3373166"/>
              <a:gd name="connsiteX2" fmla="*/ 974437 w 3965734"/>
              <a:gd name="connsiteY2" fmla="*/ 0 h 3373166"/>
              <a:gd name="connsiteX3" fmla="*/ 1620286 w 3965734"/>
              <a:gd name="connsiteY3" fmla="*/ 0 h 3373166"/>
              <a:gd name="connsiteX4" fmla="*/ 2147162 w 3965734"/>
              <a:gd name="connsiteY4" fmla="*/ 0 h 3373166"/>
              <a:gd name="connsiteX5" fmla="*/ 2674038 w 3965734"/>
              <a:gd name="connsiteY5" fmla="*/ 0 h 3373166"/>
              <a:gd name="connsiteX6" fmla="*/ 3319886 w 3965734"/>
              <a:gd name="connsiteY6" fmla="*/ 0 h 3373166"/>
              <a:gd name="connsiteX7" fmla="*/ 3965734 w 3965734"/>
              <a:gd name="connsiteY7" fmla="*/ 0 h 3373166"/>
              <a:gd name="connsiteX8" fmla="*/ 3965734 w 3965734"/>
              <a:gd name="connsiteY8" fmla="*/ 629658 h 3373166"/>
              <a:gd name="connsiteX9" fmla="*/ 3965734 w 3965734"/>
              <a:gd name="connsiteY9" fmla="*/ 1124389 h 3373166"/>
              <a:gd name="connsiteX10" fmla="*/ 3965734 w 3965734"/>
              <a:gd name="connsiteY10" fmla="*/ 1619120 h 3373166"/>
              <a:gd name="connsiteX11" fmla="*/ 3965734 w 3965734"/>
              <a:gd name="connsiteY11" fmla="*/ 2181314 h 3373166"/>
              <a:gd name="connsiteX12" fmla="*/ 3965734 w 3965734"/>
              <a:gd name="connsiteY12" fmla="*/ 2777240 h 3373166"/>
              <a:gd name="connsiteX13" fmla="*/ 3965734 w 3965734"/>
              <a:gd name="connsiteY13" fmla="*/ 3373166 h 3373166"/>
              <a:gd name="connsiteX14" fmla="*/ 3399201 w 3965734"/>
              <a:gd name="connsiteY14" fmla="*/ 3373166 h 3373166"/>
              <a:gd name="connsiteX15" fmla="*/ 2911982 w 3965734"/>
              <a:gd name="connsiteY15" fmla="*/ 3373166 h 3373166"/>
              <a:gd name="connsiteX16" fmla="*/ 2345448 w 3965734"/>
              <a:gd name="connsiteY16" fmla="*/ 3373166 h 3373166"/>
              <a:gd name="connsiteX17" fmla="*/ 1699600 w 3965734"/>
              <a:gd name="connsiteY17" fmla="*/ 3373166 h 3373166"/>
              <a:gd name="connsiteX18" fmla="*/ 1133067 w 3965734"/>
              <a:gd name="connsiteY18" fmla="*/ 3373166 h 3373166"/>
              <a:gd name="connsiteX19" fmla="*/ 685505 w 3965734"/>
              <a:gd name="connsiteY19" fmla="*/ 3373166 h 3373166"/>
              <a:gd name="connsiteX20" fmla="*/ 0 w 3965734"/>
              <a:gd name="connsiteY20" fmla="*/ 3373166 h 3373166"/>
              <a:gd name="connsiteX21" fmla="*/ 0 w 3965734"/>
              <a:gd name="connsiteY21" fmla="*/ 2743508 h 3373166"/>
              <a:gd name="connsiteX22" fmla="*/ 0 w 3965734"/>
              <a:gd name="connsiteY22" fmla="*/ 2113851 h 3373166"/>
              <a:gd name="connsiteX23" fmla="*/ 0 w 3965734"/>
              <a:gd name="connsiteY23" fmla="*/ 1551656 h 3373166"/>
              <a:gd name="connsiteX24" fmla="*/ 0 w 3965734"/>
              <a:gd name="connsiteY24" fmla="*/ 1023194 h 3373166"/>
              <a:gd name="connsiteX25" fmla="*/ 0 w 3965734"/>
              <a:gd name="connsiteY25" fmla="*/ 562194 h 3373166"/>
              <a:gd name="connsiteX26" fmla="*/ 0 w 3965734"/>
              <a:gd name="connsiteY26" fmla="*/ 0 h 3373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65734" h="3373166" extrusionOk="0">
                <a:moveTo>
                  <a:pt x="0" y="0"/>
                </a:moveTo>
                <a:cubicBezTo>
                  <a:pt x="256447" y="-29595"/>
                  <a:pt x="352266" y="37945"/>
                  <a:pt x="526876" y="0"/>
                </a:cubicBezTo>
                <a:cubicBezTo>
                  <a:pt x="701486" y="-37945"/>
                  <a:pt x="768357" y="15671"/>
                  <a:pt x="974437" y="0"/>
                </a:cubicBezTo>
                <a:cubicBezTo>
                  <a:pt x="1180517" y="-15671"/>
                  <a:pt x="1342731" y="68069"/>
                  <a:pt x="1620286" y="0"/>
                </a:cubicBezTo>
                <a:cubicBezTo>
                  <a:pt x="1897841" y="-68069"/>
                  <a:pt x="2031293" y="4768"/>
                  <a:pt x="2147162" y="0"/>
                </a:cubicBezTo>
                <a:cubicBezTo>
                  <a:pt x="2263031" y="-4768"/>
                  <a:pt x="2537908" y="9638"/>
                  <a:pt x="2674038" y="0"/>
                </a:cubicBezTo>
                <a:cubicBezTo>
                  <a:pt x="2810168" y="-9638"/>
                  <a:pt x="3138530" y="3709"/>
                  <a:pt x="3319886" y="0"/>
                </a:cubicBezTo>
                <a:cubicBezTo>
                  <a:pt x="3501242" y="-3709"/>
                  <a:pt x="3703380" y="25815"/>
                  <a:pt x="3965734" y="0"/>
                </a:cubicBezTo>
                <a:cubicBezTo>
                  <a:pt x="4013629" y="269907"/>
                  <a:pt x="3901683" y="384290"/>
                  <a:pt x="3965734" y="629658"/>
                </a:cubicBezTo>
                <a:cubicBezTo>
                  <a:pt x="4029785" y="875026"/>
                  <a:pt x="3921308" y="920524"/>
                  <a:pt x="3965734" y="1124389"/>
                </a:cubicBezTo>
                <a:cubicBezTo>
                  <a:pt x="4010160" y="1328254"/>
                  <a:pt x="3964234" y="1485597"/>
                  <a:pt x="3965734" y="1619120"/>
                </a:cubicBezTo>
                <a:cubicBezTo>
                  <a:pt x="3967234" y="1752643"/>
                  <a:pt x="3951264" y="2061050"/>
                  <a:pt x="3965734" y="2181314"/>
                </a:cubicBezTo>
                <a:cubicBezTo>
                  <a:pt x="3980204" y="2301578"/>
                  <a:pt x="3960026" y="2567107"/>
                  <a:pt x="3965734" y="2777240"/>
                </a:cubicBezTo>
                <a:cubicBezTo>
                  <a:pt x="3971442" y="2987373"/>
                  <a:pt x="3912381" y="3212406"/>
                  <a:pt x="3965734" y="3373166"/>
                </a:cubicBezTo>
                <a:cubicBezTo>
                  <a:pt x="3684395" y="3418962"/>
                  <a:pt x="3678668" y="3356256"/>
                  <a:pt x="3399201" y="3373166"/>
                </a:cubicBezTo>
                <a:cubicBezTo>
                  <a:pt x="3119734" y="3390076"/>
                  <a:pt x="3018295" y="3342018"/>
                  <a:pt x="2911982" y="3373166"/>
                </a:cubicBezTo>
                <a:cubicBezTo>
                  <a:pt x="2805669" y="3404314"/>
                  <a:pt x="2612754" y="3330258"/>
                  <a:pt x="2345448" y="3373166"/>
                </a:cubicBezTo>
                <a:cubicBezTo>
                  <a:pt x="2078142" y="3416074"/>
                  <a:pt x="1900865" y="3361218"/>
                  <a:pt x="1699600" y="3373166"/>
                </a:cubicBezTo>
                <a:cubicBezTo>
                  <a:pt x="1498335" y="3385114"/>
                  <a:pt x="1362482" y="3344026"/>
                  <a:pt x="1133067" y="3373166"/>
                </a:cubicBezTo>
                <a:cubicBezTo>
                  <a:pt x="903652" y="3402306"/>
                  <a:pt x="837465" y="3369065"/>
                  <a:pt x="685505" y="3373166"/>
                </a:cubicBezTo>
                <a:cubicBezTo>
                  <a:pt x="533545" y="3377267"/>
                  <a:pt x="328981" y="3317697"/>
                  <a:pt x="0" y="3373166"/>
                </a:cubicBezTo>
                <a:cubicBezTo>
                  <a:pt x="-29081" y="3244804"/>
                  <a:pt x="61594" y="2886994"/>
                  <a:pt x="0" y="2743508"/>
                </a:cubicBezTo>
                <a:cubicBezTo>
                  <a:pt x="-61594" y="2600022"/>
                  <a:pt x="10693" y="2293242"/>
                  <a:pt x="0" y="2113851"/>
                </a:cubicBezTo>
                <a:cubicBezTo>
                  <a:pt x="-10693" y="1934460"/>
                  <a:pt x="56761" y="1726864"/>
                  <a:pt x="0" y="1551656"/>
                </a:cubicBezTo>
                <a:cubicBezTo>
                  <a:pt x="-56761" y="1376448"/>
                  <a:pt x="26562" y="1140573"/>
                  <a:pt x="0" y="1023194"/>
                </a:cubicBezTo>
                <a:cubicBezTo>
                  <a:pt x="-26562" y="905815"/>
                  <a:pt x="28329" y="671228"/>
                  <a:pt x="0" y="562194"/>
                </a:cubicBezTo>
                <a:cubicBezTo>
                  <a:pt x="-28329" y="453160"/>
                  <a:pt x="58442" y="274021"/>
                  <a:pt x="0" y="0"/>
                </a:cubicBezTo>
                <a:close/>
              </a:path>
            </a:pathLst>
          </a:custGeom>
          <a:noFill/>
          <a:ln>
            <a:solidFill>
              <a:schemeClr val="bg1">
                <a:lumMod val="50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spcFirstLastPara="1" wrap="square" lIns="55440" tIns="27713" rIns="55440" bIns="27713" rtlCol="0" anchor="t" anchorCtr="0">
            <a:noAutofit/>
          </a:bodyPr>
          <a:lstStyle/>
          <a:p>
            <a:pPr algn="just"/>
            <a:r>
              <a:rPr lang="es-ES_tradnl" sz="2183" dirty="0">
                <a:latin typeface="Arial" panose="020B0604020202020204" pitchFamily="34" charset="0"/>
                <a:cs typeface="Arial" panose="020B0604020202020204" pitchFamily="34" charset="0"/>
              </a:rPr>
              <a:t>La instrucción break finaliza el switch</a:t>
            </a:r>
          </a:p>
        </p:txBody>
      </p:sp>
      <p:pic>
        <p:nvPicPr>
          <p:cNvPr id="8" name="Imagen 7">
            <a:extLst>
              <a:ext uri="{FF2B5EF4-FFF2-40B4-BE49-F238E27FC236}">
                <a16:creationId xmlns:a16="http://schemas.microsoft.com/office/drawing/2014/main" id="{BED66CBF-C852-6FB1-26BC-B6F3139672CC}"/>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harpenSoften amount="50000"/>
                    </a14:imgEffect>
                    <a14:imgEffect>
                      <a14:saturation sat="66000"/>
                    </a14:imgEffect>
                    <a14:imgEffect>
                      <a14:brightnessContrast contrast="-40000"/>
                    </a14:imgEffect>
                  </a14:imgLayer>
                </a14:imgProps>
              </a:ext>
            </a:extLst>
          </a:blip>
          <a:stretch>
            <a:fillRect/>
          </a:stretch>
        </p:blipFill>
        <p:spPr>
          <a:xfrm>
            <a:off x="7451848" y="3429000"/>
            <a:ext cx="3765519" cy="1985083"/>
          </a:xfrm>
          <a:prstGeom prst="rect">
            <a:avLst/>
          </a:prstGeom>
          <a:ln>
            <a:solidFill>
              <a:srgbClr val="0070C0"/>
            </a:solidFill>
          </a:ln>
          <a:effectLst>
            <a:softEdge rad="25400"/>
          </a:effectLst>
        </p:spPr>
      </p:pic>
    </p:spTree>
    <p:extLst>
      <p:ext uri="{BB962C8B-B14F-4D97-AF65-F5344CB8AC3E}">
        <p14:creationId xmlns:p14="http://schemas.microsoft.com/office/powerpoint/2010/main" val="3773061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if versus switch: ¿cuál uso?</a:t>
            </a:r>
          </a:p>
        </p:txBody>
      </p:sp>
      <p:sp>
        <p:nvSpPr>
          <p:cNvPr id="3" name="Rounded Rectangle 2"/>
          <p:cNvSpPr/>
          <p:nvPr/>
        </p:nvSpPr>
        <p:spPr>
          <a:xfrm>
            <a:off x="640080" y="1325880"/>
            <a:ext cx="5349240" cy="3977639"/>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14400" y="1554480"/>
            <a:ext cx="914400" cy="9144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guard_w.png"/>
          <p:cNvPicPr>
            <a:picLocks noChangeAspect="1"/>
          </p:cNvPicPr>
          <p:nvPr/>
        </p:nvPicPr>
        <p:blipFill>
          <a:blip r:embed="rId2"/>
          <a:stretch>
            <a:fillRect/>
          </a:stretch>
        </p:blipFill>
        <p:spPr>
          <a:xfrm>
            <a:off x="1133856" y="1773936"/>
            <a:ext cx="475488" cy="475488"/>
          </a:xfrm>
          <a:prstGeom prst="rect">
            <a:avLst/>
          </a:prstGeom>
        </p:spPr>
      </p:pic>
      <p:sp>
        <p:nvSpPr>
          <p:cNvPr id="6" name="TextBox 5"/>
          <p:cNvSpPr txBox="1"/>
          <p:nvPr/>
        </p:nvSpPr>
        <p:spPr>
          <a:xfrm>
            <a:off x="2011680" y="1554480"/>
            <a:ext cx="3657600" cy="914400"/>
          </a:xfrm>
          <a:prstGeom prst="rect">
            <a:avLst/>
          </a:prstGeom>
          <a:noFill/>
        </p:spPr>
        <p:txBody>
          <a:bodyPr wrap="square" lIns="0" rIns="0" tIns="0" bIns="0" anchor="ctr">
            <a:spAutoFit/>
          </a:bodyPr>
          <a:lstStyle/>
          <a:p>
            <a:pPr algn="l">
              <a:spcAft>
                <a:spcPts val="400"/>
              </a:spcAft>
            </a:pPr>
            <a:r>
              <a:rPr sz="3400" b="1" i="0">
                <a:solidFill>
                  <a:srgbClr val="257CE1"/>
                </a:solidFill>
                <a:latin typeface="Courier New"/>
              </a:rPr>
              <a:t>if</a:t>
            </a:r>
          </a:p>
        </p:txBody>
      </p:sp>
      <p:sp>
        <p:nvSpPr>
          <p:cNvPr id="7" name="TextBox 6"/>
          <p:cNvSpPr txBox="1"/>
          <p:nvPr/>
        </p:nvSpPr>
        <p:spPr>
          <a:xfrm>
            <a:off x="914400" y="2651760"/>
            <a:ext cx="4846320" cy="731520"/>
          </a:xfrm>
          <a:prstGeom prst="rect">
            <a:avLst/>
          </a:prstGeom>
          <a:noFill/>
        </p:spPr>
        <p:txBody>
          <a:bodyPr wrap="square" lIns="0" rIns="0" tIns="0" bIns="0" anchor="t">
            <a:spAutoFit/>
          </a:bodyPr>
          <a:lstStyle/>
          <a:p>
            <a:pPr algn="l">
              <a:spcAft>
                <a:spcPts val="400"/>
              </a:spcAft>
            </a:pPr>
            <a:r>
              <a:rPr sz="1600" b="1" i="0">
                <a:solidFill>
                  <a:srgbClr val="0B2A4A"/>
                </a:solidFill>
                <a:latin typeface="Arial"/>
              </a:rPr>
              <a:t>Es como un guardia: revisa CONDICIONES antes de dejarte pasar.</a:t>
            </a:r>
          </a:p>
        </p:txBody>
      </p:sp>
      <p:sp>
        <p:nvSpPr>
          <p:cNvPr id="8" name="TextBox 7"/>
          <p:cNvSpPr txBox="1"/>
          <p:nvPr/>
        </p:nvSpPr>
        <p:spPr>
          <a:xfrm>
            <a:off x="914400" y="3429000"/>
            <a:ext cx="4846320" cy="109728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 Evalúa condiciones (&gt;, &lt;, &amp;&amp;, ||)</a:t>
            </a:r>
          </a:p>
          <a:p>
            <a:pPr algn="l">
              <a:spcAft>
                <a:spcPts val="400"/>
              </a:spcAft>
            </a:pPr>
            <a:r>
              <a:rPr sz="1500" b="0" i="0">
                <a:solidFill>
                  <a:srgbClr val="4A5A6A"/>
                </a:solidFill>
                <a:latin typeface="Arial"/>
              </a:rPr>
              <a:t>• Ideal para decisiones SÍ / NO y rangos</a:t>
            </a:r>
          </a:p>
        </p:txBody>
      </p:sp>
      <p:sp>
        <p:nvSpPr>
          <p:cNvPr id="9" name="Rounded Rectangle 8"/>
          <p:cNvSpPr/>
          <p:nvPr/>
        </p:nvSpPr>
        <p:spPr>
          <a:xfrm>
            <a:off x="914400" y="4572000"/>
            <a:ext cx="4800600" cy="548640"/>
          </a:xfrm>
          <a:prstGeom prst="roundRect">
            <a:avLst>
              <a:gd name="adj" fmla="val 15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51560" y="4572000"/>
            <a:ext cx="4572000" cy="548640"/>
          </a:xfrm>
          <a:prstGeom prst="rect">
            <a:avLst/>
          </a:prstGeom>
          <a:noFill/>
        </p:spPr>
        <p:txBody>
          <a:bodyPr wrap="square" lIns="0" rIns="0" tIns="0" bIns="0" anchor="ctr">
            <a:spAutoFit/>
          </a:bodyPr>
          <a:lstStyle/>
          <a:p>
            <a:pPr algn="l">
              <a:spcAft>
                <a:spcPts val="400"/>
              </a:spcAft>
            </a:pPr>
            <a:r>
              <a:rPr sz="1300" b="0" i="0">
                <a:solidFill>
                  <a:srgbClr val="E6EDF3"/>
                </a:solidFill>
                <a:latin typeface="Courier New"/>
              </a:rPr>
              <a:t>if (edad &gt;= 18 &amp;&amp; tieneEntrada)</a:t>
            </a:r>
          </a:p>
        </p:txBody>
      </p:sp>
      <p:sp>
        <p:nvSpPr>
          <p:cNvPr id="11" name="Rounded Rectangle 10"/>
          <p:cNvSpPr/>
          <p:nvPr/>
        </p:nvSpPr>
        <p:spPr>
          <a:xfrm>
            <a:off x="6217920" y="1325880"/>
            <a:ext cx="5349240" cy="3977639"/>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92240" y="1554480"/>
            <a:ext cx="914400" cy="91440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elevator_w.png"/>
          <p:cNvPicPr>
            <a:picLocks noChangeAspect="1"/>
          </p:cNvPicPr>
          <p:nvPr/>
        </p:nvPicPr>
        <p:blipFill>
          <a:blip r:embed="rId3"/>
          <a:stretch>
            <a:fillRect/>
          </a:stretch>
        </p:blipFill>
        <p:spPr>
          <a:xfrm>
            <a:off x="6711696" y="1773936"/>
            <a:ext cx="475488" cy="475488"/>
          </a:xfrm>
          <a:prstGeom prst="rect">
            <a:avLst/>
          </a:prstGeom>
        </p:spPr>
      </p:pic>
      <p:sp>
        <p:nvSpPr>
          <p:cNvPr id="14" name="TextBox 13"/>
          <p:cNvSpPr txBox="1"/>
          <p:nvPr/>
        </p:nvSpPr>
        <p:spPr>
          <a:xfrm>
            <a:off x="7589520" y="1554480"/>
            <a:ext cx="3657600" cy="914400"/>
          </a:xfrm>
          <a:prstGeom prst="rect">
            <a:avLst/>
          </a:prstGeom>
          <a:noFill/>
        </p:spPr>
        <p:txBody>
          <a:bodyPr wrap="square" lIns="0" rIns="0" tIns="0" bIns="0" anchor="ctr">
            <a:spAutoFit/>
          </a:bodyPr>
          <a:lstStyle/>
          <a:p>
            <a:pPr algn="l">
              <a:spcAft>
                <a:spcPts val="400"/>
              </a:spcAft>
            </a:pPr>
            <a:r>
              <a:rPr sz="3400" b="1" i="0">
                <a:solidFill>
                  <a:srgbClr val="FF5A5F"/>
                </a:solidFill>
                <a:latin typeface="Courier New"/>
              </a:rPr>
              <a:t>switch</a:t>
            </a:r>
          </a:p>
        </p:txBody>
      </p:sp>
      <p:sp>
        <p:nvSpPr>
          <p:cNvPr id="15" name="TextBox 14"/>
          <p:cNvSpPr txBox="1"/>
          <p:nvPr/>
        </p:nvSpPr>
        <p:spPr>
          <a:xfrm>
            <a:off x="6492240" y="2651760"/>
            <a:ext cx="4846320" cy="731520"/>
          </a:xfrm>
          <a:prstGeom prst="rect">
            <a:avLst/>
          </a:prstGeom>
          <a:noFill/>
        </p:spPr>
        <p:txBody>
          <a:bodyPr wrap="square" lIns="0" rIns="0" tIns="0" bIns="0" anchor="t">
            <a:spAutoFit/>
          </a:bodyPr>
          <a:lstStyle/>
          <a:p>
            <a:pPr algn="l">
              <a:spcAft>
                <a:spcPts val="400"/>
              </a:spcAft>
            </a:pPr>
            <a:r>
              <a:rPr sz="1600" b="1" i="0">
                <a:solidFill>
                  <a:srgbClr val="0B2A4A"/>
                </a:solidFill>
                <a:latin typeface="Arial"/>
              </a:rPr>
              <a:t>Es como un ascensor: marcas un VALOR exacto y vas directo ahí.</a:t>
            </a:r>
          </a:p>
        </p:txBody>
      </p:sp>
      <p:sp>
        <p:nvSpPr>
          <p:cNvPr id="16" name="TextBox 15"/>
          <p:cNvSpPr txBox="1"/>
          <p:nvPr/>
        </p:nvSpPr>
        <p:spPr>
          <a:xfrm>
            <a:off x="6492240" y="3429000"/>
            <a:ext cx="4846320" cy="1097280"/>
          </a:xfrm>
          <a:prstGeom prst="rect">
            <a:avLst/>
          </a:prstGeom>
          <a:noFill/>
        </p:spPr>
        <p:txBody>
          <a:bodyPr wrap="square" lIns="0" rIns="0" tIns="0" bIns="0" anchor="t">
            <a:spAutoFit/>
          </a:bodyPr>
          <a:lstStyle/>
          <a:p>
            <a:pPr algn="l">
              <a:spcAft>
                <a:spcPts val="400"/>
              </a:spcAft>
            </a:pPr>
            <a:r>
              <a:rPr sz="1500" b="0" i="0">
                <a:solidFill>
                  <a:srgbClr val="4A5A6A"/>
                </a:solidFill>
                <a:latin typeface="Arial"/>
              </a:rPr>
              <a:t>• Evalúa un valor exacto (1, 2, 3…)</a:t>
            </a:r>
          </a:p>
          <a:p>
            <a:pPr algn="l">
              <a:spcAft>
                <a:spcPts val="400"/>
              </a:spcAft>
            </a:pPr>
            <a:r>
              <a:rPr sz="1500" b="0" i="0">
                <a:solidFill>
                  <a:srgbClr val="4A5A6A"/>
                </a:solidFill>
                <a:latin typeface="Arial"/>
              </a:rPr>
              <a:t>• Ideal para menús con muchas opciones</a:t>
            </a:r>
          </a:p>
          <a:p>
            <a:pPr algn="l">
              <a:spcAft>
                <a:spcPts val="400"/>
              </a:spcAft>
            </a:pPr>
            <a:r>
              <a:rPr sz="1500" b="0" i="0">
                <a:solidFill>
                  <a:srgbClr val="4A5A6A"/>
                </a:solidFill>
                <a:latin typeface="Arial"/>
              </a:rPr>
              <a:t>• Cada case termina con break</a:t>
            </a:r>
          </a:p>
        </p:txBody>
      </p:sp>
      <p:sp>
        <p:nvSpPr>
          <p:cNvPr id="17" name="Rounded Rectangle 16"/>
          <p:cNvSpPr/>
          <p:nvPr/>
        </p:nvSpPr>
        <p:spPr>
          <a:xfrm>
            <a:off x="6492240" y="4572000"/>
            <a:ext cx="4800600" cy="548640"/>
          </a:xfrm>
          <a:prstGeom prst="roundRect">
            <a:avLst>
              <a:gd name="adj" fmla="val 15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29400" y="4572000"/>
            <a:ext cx="4572000" cy="548640"/>
          </a:xfrm>
          <a:prstGeom prst="rect">
            <a:avLst/>
          </a:prstGeom>
          <a:noFill/>
        </p:spPr>
        <p:txBody>
          <a:bodyPr wrap="square" lIns="0" rIns="0" tIns="0" bIns="0" anchor="ctr">
            <a:spAutoFit/>
          </a:bodyPr>
          <a:lstStyle/>
          <a:p>
            <a:pPr algn="l">
              <a:spcAft>
                <a:spcPts val="400"/>
              </a:spcAft>
            </a:pPr>
            <a:r>
              <a:rPr sz="1300" b="0" i="0">
                <a:solidFill>
                  <a:srgbClr val="E6EDF3"/>
                </a:solidFill>
                <a:latin typeface="Courier New"/>
              </a:rPr>
              <a:t>switch (opcion)</a:t>
            </a:r>
          </a:p>
        </p:txBody>
      </p:sp>
      <p:sp>
        <p:nvSpPr>
          <p:cNvPr id="19" name="Rounded Rectangle 18"/>
          <p:cNvSpPr/>
          <p:nvPr/>
        </p:nvSpPr>
        <p:spPr>
          <a:xfrm>
            <a:off x="1188720" y="5532120"/>
            <a:ext cx="9784080" cy="54864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_n.png"/>
          <p:cNvPicPr>
            <a:picLocks noChangeAspect="1"/>
          </p:cNvPicPr>
          <p:nvPr/>
        </p:nvPicPr>
        <p:blipFill>
          <a:blip r:embed="rId4"/>
          <a:stretch>
            <a:fillRect/>
          </a:stretch>
        </p:blipFill>
        <p:spPr>
          <a:xfrm>
            <a:off x="1325880" y="5600700"/>
            <a:ext cx="411480" cy="411480"/>
          </a:xfrm>
          <a:prstGeom prst="rect">
            <a:avLst/>
          </a:prstGeom>
        </p:spPr>
      </p:pic>
      <p:sp>
        <p:nvSpPr>
          <p:cNvPr id="21" name="TextBox 20"/>
          <p:cNvSpPr txBox="1"/>
          <p:nvPr/>
        </p:nvSpPr>
        <p:spPr>
          <a:xfrm>
            <a:off x="1874519" y="5532120"/>
            <a:ext cx="8915400" cy="54864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Todo switch se puede escribir con if… pero el switch muchas veces se lee más claro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Los videojuegos están llenos de if</a:t>
            </a:r>
          </a:p>
        </p:txBody>
      </p:sp>
      <p:sp>
        <p:nvSpPr>
          <p:cNvPr id="3" name="Rounded Rectangle 2"/>
          <p:cNvSpPr/>
          <p:nvPr/>
        </p:nvSpPr>
        <p:spPr>
          <a:xfrm>
            <a:off x="640080" y="1325880"/>
            <a:ext cx="6035040" cy="356616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59" y="1481328"/>
            <a:ext cx="137160" cy="1371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51560" y="1481328"/>
            <a:ext cx="137160" cy="1371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80160" y="1481328"/>
            <a:ext cx="137160" cy="1371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54480" y="1417320"/>
            <a:ext cx="4937759" cy="27432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BarraDeVida.java</a:t>
            </a:r>
          </a:p>
        </p:txBody>
      </p:sp>
      <p:sp>
        <p:nvSpPr>
          <p:cNvPr id="8" name="TextBox 7"/>
          <p:cNvSpPr txBox="1"/>
          <p:nvPr/>
        </p:nvSpPr>
        <p:spPr>
          <a:xfrm>
            <a:off x="914400" y="1783080"/>
            <a:ext cx="5577840" cy="2971800"/>
          </a:xfrm>
          <a:prstGeom prst="rect">
            <a:avLst/>
          </a:prstGeom>
          <a:noFill/>
        </p:spPr>
        <p:txBody>
          <a:bodyPr wrap="square" lIns="0" rIns="0" tIns="0" bIns="0" anchor="t">
            <a:spAutoFit/>
          </a:bodyPr>
          <a:lstStyle/>
          <a:p>
            <a:pPr algn="l">
              <a:spcAft>
                <a:spcPts val="0"/>
              </a:spcAft>
            </a:pPr>
            <a:r>
              <a:rPr sz="1300" b="0" i="0">
                <a:solidFill>
                  <a:srgbClr val="5EC8FF"/>
                </a:solidFill>
                <a:latin typeface="Courier New"/>
              </a:rPr>
              <a:t>int</a:t>
            </a:r>
            <a:r>
              <a:rPr sz="1300" b="0" i="0">
                <a:solidFill>
                  <a:srgbClr val="E6EDF3"/>
                </a:solidFill>
                <a:latin typeface="Courier New"/>
              </a:rPr>
              <a:t> </a:t>
            </a:r>
            <a:r>
              <a:rPr sz="1300" b="0" i="0">
                <a:solidFill>
                  <a:srgbClr val="E6EDF3"/>
                </a:solidFill>
                <a:latin typeface="Courier New"/>
              </a:rPr>
              <a:t>vida</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25</a:t>
            </a:r>
            <a:r>
              <a:rPr sz="1300" b="0" i="0">
                <a:solidFill>
                  <a:srgbClr val="E6EDF3"/>
                </a:solidFill>
                <a:latin typeface="Courier New"/>
              </a:rPr>
              <a:t>;</a:t>
            </a:r>
          </a:p>
          <a:p>
            <a:pPr algn="l">
              <a:spcAft>
                <a:spcPts val="0"/>
              </a:spcAft>
            </a:pPr>
            <a:r>
              <a:rPr sz="1300" b="0" i="0">
                <a:solidFill>
                  <a:srgbClr val="E6EDF3"/>
                </a:solidFill>
                <a:latin typeface="Courier New"/>
              </a:rPr>
              <a:t> </a:t>
            </a:r>
          </a:p>
          <a:p>
            <a:pPr algn="l">
              <a:spcAft>
                <a:spcPts val="0"/>
              </a:spcAft>
            </a:pPr>
            <a:r>
              <a:rPr sz="1300" b="0" i="0">
                <a:solidFill>
                  <a:srgbClr val="C792EA"/>
                </a:solidFill>
                <a:latin typeface="Courier New"/>
              </a:rPr>
              <a:t>if</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vida</a:t>
            </a:r>
            <a:r>
              <a:rPr sz="1300" b="0" i="0">
                <a:solidFill>
                  <a:srgbClr val="E6EDF3"/>
                </a:solidFill>
                <a:latin typeface="Courier New"/>
              </a:rPr>
              <a:t> </a:t>
            </a:r>
            <a:r>
              <a:rPr sz="1300" b="0" i="0">
                <a:solidFill>
                  <a:srgbClr val="E6EDF3"/>
                </a:solidFill>
                <a:latin typeface="Courier New"/>
              </a:rPr>
              <a:t>&lt;</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0</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out</a:t>
            </a:r>
            <a:r>
              <a:rPr sz="1300" b="0" i="0">
                <a:solidFill>
                  <a:srgbClr val="E6EDF3"/>
                </a:solidFill>
                <a:latin typeface="Courier New"/>
              </a:rPr>
              <a:t>.</a:t>
            </a:r>
            <a:r>
              <a:rPr sz="1300" b="0" i="0">
                <a:solidFill>
                  <a:srgbClr val="E6EDF3"/>
                </a:solidFill>
                <a:latin typeface="Courier New"/>
              </a:rPr>
              <a:t>println</a:t>
            </a:r>
            <a:r>
              <a:rPr sz="1300" b="0" i="0">
                <a:solidFill>
                  <a:srgbClr val="E6EDF3"/>
                </a:solidFill>
                <a:latin typeface="Courier New"/>
              </a:rPr>
              <a:t>(</a:t>
            </a:r>
            <a:r>
              <a:rPr sz="1300" b="0" i="0">
                <a:solidFill>
                  <a:srgbClr val="FFB86B"/>
                </a:solidFill>
                <a:latin typeface="Courier New"/>
              </a:rPr>
              <a:t>"GAME OVER"</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a:t>
            </a:r>
            <a:r>
              <a:rPr sz="1300" b="0" i="0">
                <a:solidFill>
                  <a:srgbClr val="E6EDF3"/>
                </a:solidFill>
                <a:latin typeface="Courier New"/>
              </a:rPr>
              <a:t> </a:t>
            </a:r>
            <a:r>
              <a:rPr sz="1300" b="0" i="0">
                <a:solidFill>
                  <a:srgbClr val="C792EA"/>
                </a:solidFill>
                <a:latin typeface="Courier New"/>
              </a:rPr>
              <a:t>else</a:t>
            </a:r>
            <a:r>
              <a:rPr sz="1300" b="0" i="0">
                <a:solidFill>
                  <a:srgbClr val="E6EDF3"/>
                </a:solidFill>
                <a:latin typeface="Courier New"/>
              </a:rPr>
              <a:t> </a:t>
            </a:r>
            <a:r>
              <a:rPr sz="1300" b="0" i="0">
                <a:solidFill>
                  <a:srgbClr val="C792EA"/>
                </a:solidFill>
                <a:latin typeface="Courier New"/>
              </a:rPr>
              <a:t>if</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vida</a:t>
            </a:r>
            <a:r>
              <a:rPr sz="1300" b="0" i="0">
                <a:solidFill>
                  <a:srgbClr val="E6EDF3"/>
                </a:solidFill>
                <a:latin typeface="Courier New"/>
              </a:rPr>
              <a:t> </a:t>
            </a:r>
            <a:r>
              <a:rPr sz="1300" b="0" i="0">
                <a:solidFill>
                  <a:srgbClr val="E6EDF3"/>
                </a:solidFill>
                <a:latin typeface="Courier New"/>
              </a:rPr>
              <a:t>&lt;</a:t>
            </a:r>
            <a:r>
              <a:rPr sz="1300" b="0" i="0">
                <a:solidFill>
                  <a:srgbClr val="E6EDF3"/>
                </a:solidFill>
                <a:latin typeface="Courier New"/>
              </a:rPr>
              <a:t> </a:t>
            </a:r>
            <a:r>
              <a:rPr sz="1300" b="0" i="0">
                <a:solidFill>
                  <a:srgbClr val="F78C6C"/>
                </a:solidFill>
                <a:latin typeface="Courier New"/>
              </a:rPr>
              <a:t>30</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out</a:t>
            </a:r>
            <a:r>
              <a:rPr sz="1300" b="0" i="0">
                <a:solidFill>
                  <a:srgbClr val="E6EDF3"/>
                </a:solidFill>
                <a:latin typeface="Courier New"/>
              </a:rPr>
              <a:t>.</a:t>
            </a:r>
            <a:r>
              <a:rPr sz="1300" b="0" i="0">
                <a:solidFill>
                  <a:srgbClr val="E6EDF3"/>
                </a:solidFill>
                <a:latin typeface="Courier New"/>
              </a:rPr>
              <a:t>println</a:t>
            </a:r>
            <a:r>
              <a:rPr sz="1300" b="0" i="0">
                <a:solidFill>
                  <a:srgbClr val="E6EDF3"/>
                </a:solidFill>
                <a:latin typeface="Courier New"/>
              </a:rPr>
              <a:t>(</a:t>
            </a:r>
            <a:r>
              <a:rPr sz="1300" b="0" i="0">
                <a:solidFill>
                  <a:srgbClr val="FFB86B"/>
                </a:solidFill>
                <a:latin typeface="Courier New"/>
              </a:rPr>
              <a:t>"¡Peligro! Busca una poción"</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a:t>
            </a:r>
            <a:r>
              <a:rPr sz="1300" b="0" i="0">
                <a:solidFill>
                  <a:srgbClr val="E6EDF3"/>
                </a:solidFill>
                <a:latin typeface="Courier New"/>
              </a:rPr>
              <a:t> </a:t>
            </a:r>
            <a:r>
              <a:rPr sz="1300" b="0" i="0">
                <a:solidFill>
                  <a:srgbClr val="C792EA"/>
                </a:solidFill>
                <a:latin typeface="Courier New"/>
              </a:rPr>
              <a:t>else</a:t>
            </a: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out</a:t>
            </a:r>
            <a:r>
              <a:rPr sz="1300" b="0" i="0">
                <a:solidFill>
                  <a:srgbClr val="E6EDF3"/>
                </a:solidFill>
                <a:latin typeface="Courier New"/>
              </a:rPr>
              <a:t>.</a:t>
            </a:r>
            <a:r>
              <a:rPr sz="1300" b="0" i="0">
                <a:solidFill>
                  <a:srgbClr val="E6EDF3"/>
                </a:solidFill>
                <a:latin typeface="Courier New"/>
              </a:rPr>
              <a:t>println</a:t>
            </a:r>
            <a:r>
              <a:rPr sz="1300" b="0" i="0">
                <a:solidFill>
                  <a:srgbClr val="E6EDF3"/>
                </a:solidFill>
                <a:latin typeface="Courier New"/>
              </a:rPr>
              <a:t>(</a:t>
            </a:r>
            <a:r>
              <a:rPr sz="1300" b="0" i="0">
                <a:solidFill>
                  <a:srgbClr val="FFB86B"/>
                </a:solidFill>
                <a:latin typeface="Courier New"/>
              </a:rPr>
              <a:t>"¡Sigue avanzando!"</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a:t>
            </a:r>
          </a:p>
        </p:txBody>
      </p:sp>
      <p:sp>
        <p:nvSpPr>
          <p:cNvPr id="9" name="Rounded Rectangle 8"/>
          <p:cNvSpPr/>
          <p:nvPr/>
        </p:nvSpPr>
        <p:spPr>
          <a:xfrm>
            <a:off x="640080" y="5120640"/>
            <a:ext cx="6035040" cy="777240"/>
          </a:xfrm>
          <a:prstGeom prst="roundRect">
            <a:avLst>
              <a:gd name="adj" fmla="val 10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5120640"/>
            <a:ext cx="5669280" cy="777240"/>
          </a:xfrm>
          <a:prstGeom prst="rect">
            <a:avLst/>
          </a:prstGeom>
          <a:noFill/>
        </p:spPr>
        <p:txBody>
          <a:bodyPr wrap="square" lIns="0" rIns="0" tIns="0" bIns="0" anchor="ctr">
            <a:spAutoFit/>
          </a:bodyPr>
          <a:lstStyle/>
          <a:p>
            <a:pPr algn="l">
              <a:spcAft>
                <a:spcPts val="400"/>
              </a:spcAft>
            </a:pPr>
            <a:r>
              <a:rPr sz="1500" b="0" i="0">
                <a:solidFill>
                  <a:srgbClr val="1FB58F"/>
                </a:solidFill>
                <a:latin typeface="Courier New"/>
              </a:rPr>
              <a:t>&gt; </a:t>
            </a:r>
            <a:r>
              <a:rPr sz="1500" b="1" i="0">
                <a:solidFill>
                  <a:srgbClr val="FFC629"/>
                </a:solidFill>
                <a:latin typeface="Courier New"/>
              </a:rPr>
              <a:t>¡Peligro! Busca una poción</a:t>
            </a:r>
          </a:p>
        </p:txBody>
      </p:sp>
      <p:sp>
        <p:nvSpPr>
          <p:cNvPr id="11" name="TextBox 10"/>
          <p:cNvSpPr txBox="1"/>
          <p:nvPr/>
        </p:nvSpPr>
        <p:spPr>
          <a:xfrm>
            <a:off x="7040880" y="1325880"/>
            <a:ext cx="4572000" cy="411480"/>
          </a:xfrm>
          <a:prstGeom prst="rect">
            <a:avLst/>
          </a:prstGeom>
          <a:noFill/>
        </p:spPr>
        <p:txBody>
          <a:bodyPr wrap="square" lIns="0" rIns="0" tIns="0" bIns="0" anchor="t">
            <a:spAutoFit/>
          </a:bodyPr>
          <a:lstStyle/>
          <a:p>
            <a:pPr algn="l">
              <a:spcAft>
                <a:spcPts val="400"/>
              </a:spcAft>
            </a:pPr>
            <a:r>
              <a:rPr sz="1900" b="1" i="0">
                <a:solidFill>
                  <a:srgbClr val="0B2A4A"/>
                </a:solidFill>
                <a:latin typeface="Arial"/>
              </a:rPr>
              <a:t>¿Qué muestra según la vida?</a:t>
            </a:r>
          </a:p>
        </p:txBody>
      </p:sp>
      <p:sp>
        <p:nvSpPr>
          <p:cNvPr id="12" name="Oval 11"/>
          <p:cNvSpPr/>
          <p:nvPr/>
        </p:nvSpPr>
        <p:spPr>
          <a:xfrm>
            <a:off x="7040880" y="1965960"/>
            <a:ext cx="640080" cy="64008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heartb_w.png"/>
          <p:cNvPicPr>
            <a:picLocks noChangeAspect="1"/>
          </p:cNvPicPr>
          <p:nvPr/>
        </p:nvPicPr>
        <p:blipFill>
          <a:blip r:embed="rId2"/>
          <a:stretch>
            <a:fillRect/>
          </a:stretch>
        </p:blipFill>
        <p:spPr>
          <a:xfrm>
            <a:off x="7194499" y="2119579"/>
            <a:ext cx="332841" cy="332841"/>
          </a:xfrm>
          <a:prstGeom prst="rect">
            <a:avLst/>
          </a:prstGeom>
        </p:spPr>
      </p:pic>
      <p:sp>
        <p:nvSpPr>
          <p:cNvPr id="14" name="TextBox 13"/>
          <p:cNvSpPr txBox="1"/>
          <p:nvPr/>
        </p:nvSpPr>
        <p:spPr>
          <a:xfrm>
            <a:off x="7818120" y="1920240"/>
            <a:ext cx="1645920" cy="365760"/>
          </a:xfrm>
          <a:prstGeom prst="rect">
            <a:avLst/>
          </a:prstGeom>
          <a:noFill/>
        </p:spPr>
        <p:txBody>
          <a:bodyPr wrap="square" lIns="0" rIns="0" tIns="0" bIns="0" anchor="t">
            <a:spAutoFit/>
          </a:bodyPr>
          <a:lstStyle/>
          <a:p>
            <a:pPr algn="l">
              <a:spcAft>
                <a:spcPts val="400"/>
              </a:spcAft>
            </a:pPr>
            <a:r>
              <a:rPr sz="1500" b="1" i="0">
                <a:solidFill>
                  <a:srgbClr val="0B2A4A"/>
                </a:solidFill>
                <a:latin typeface="Courier New"/>
              </a:rPr>
              <a:t>vida = 80</a:t>
            </a:r>
          </a:p>
        </p:txBody>
      </p:sp>
      <p:sp>
        <p:nvSpPr>
          <p:cNvPr id="15" name="Rounded Rectangle 14"/>
          <p:cNvSpPr/>
          <p:nvPr/>
        </p:nvSpPr>
        <p:spPr>
          <a:xfrm>
            <a:off x="7818120" y="2331720"/>
            <a:ext cx="3749039" cy="256032"/>
          </a:xfrm>
          <a:prstGeom prst="roundRect">
            <a:avLst>
              <a:gd name="adj" fmla="val 50000"/>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818120" y="2331720"/>
            <a:ext cx="2999232" cy="256032"/>
          </a:xfrm>
          <a:prstGeom prst="roundRect">
            <a:avLst>
              <a:gd name="adj" fmla="val 50000"/>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18120" y="2624328"/>
            <a:ext cx="3749039" cy="365760"/>
          </a:xfrm>
          <a:prstGeom prst="rect">
            <a:avLst/>
          </a:prstGeom>
          <a:noFill/>
        </p:spPr>
        <p:txBody>
          <a:bodyPr wrap="square" lIns="0" rIns="0" tIns="0" bIns="0" anchor="t">
            <a:spAutoFit/>
          </a:bodyPr>
          <a:lstStyle/>
          <a:p>
            <a:pPr algn="l">
              <a:spcAft>
                <a:spcPts val="400"/>
              </a:spcAft>
            </a:pPr>
            <a:r>
              <a:rPr sz="1400" b="1" i="0">
                <a:solidFill>
                  <a:srgbClr val="4A5A6A"/>
                </a:solidFill>
                <a:latin typeface="Arial"/>
              </a:rPr>
              <a:t>→ ¡Sigue avanzando!</a:t>
            </a:r>
          </a:p>
        </p:txBody>
      </p:sp>
      <p:sp>
        <p:nvSpPr>
          <p:cNvPr id="18" name="Oval 17"/>
          <p:cNvSpPr/>
          <p:nvPr/>
        </p:nvSpPr>
        <p:spPr>
          <a:xfrm>
            <a:off x="7040880" y="3246120"/>
            <a:ext cx="640080" cy="64008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eartb_n.png"/>
          <p:cNvPicPr>
            <a:picLocks noChangeAspect="1"/>
          </p:cNvPicPr>
          <p:nvPr/>
        </p:nvPicPr>
        <p:blipFill>
          <a:blip r:embed="rId3"/>
          <a:stretch>
            <a:fillRect/>
          </a:stretch>
        </p:blipFill>
        <p:spPr>
          <a:xfrm>
            <a:off x="7194499" y="3399739"/>
            <a:ext cx="332841" cy="332841"/>
          </a:xfrm>
          <a:prstGeom prst="rect">
            <a:avLst/>
          </a:prstGeom>
        </p:spPr>
      </p:pic>
      <p:sp>
        <p:nvSpPr>
          <p:cNvPr id="20" name="TextBox 19"/>
          <p:cNvSpPr txBox="1"/>
          <p:nvPr/>
        </p:nvSpPr>
        <p:spPr>
          <a:xfrm>
            <a:off x="7818120" y="3200400"/>
            <a:ext cx="1645920" cy="365760"/>
          </a:xfrm>
          <a:prstGeom prst="rect">
            <a:avLst/>
          </a:prstGeom>
          <a:noFill/>
        </p:spPr>
        <p:txBody>
          <a:bodyPr wrap="square" lIns="0" rIns="0" tIns="0" bIns="0" anchor="t">
            <a:spAutoFit/>
          </a:bodyPr>
          <a:lstStyle/>
          <a:p>
            <a:pPr algn="l">
              <a:spcAft>
                <a:spcPts val="400"/>
              </a:spcAft>
            </a:pPr>
            <a:r>
              <a:rPr sz="1500" b="1" i="0">
                <a:solidFill>
                  <a:srgbClr val="0B2A4A"/>
                </a:solidFill>
                <a:latin typeface="Courier New"/>
              </a:rPr>
              <a:t>vida = 25</a:t>
            </a:r>
          </a:p>
        </p:txBody>
      </p:sp>
      <p:sp>
        <p:nvSpPr>
          <p:cNvPr id="21" name="Rounded Rectangle 20"/>
          <p:cNvSpPr/>
          <p:nvPr/>
        </p:nvSpPr>
        <p:spPr>
          <a:xfrm>
            <a:off x="7818120" y="3611879"/>
            <a:ext cx="3749039" cy="256032"/>
          </a:xfrm>
          <a:prstGeom prst="roundRect">
            <a:avLst>
              <a:gd name="adj" fmla="val 50000"/>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818120" y="3611879"/>
            <a:ext cx="937259" cy="256032"/>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18120" y="3904487"/>
            <a:ext cx="3749039" cy="365760"/>
          </a:xfrm>
          <a:prstGeom prst="rect">
            <a:avLst/>
          </a:prstGeom>
          <a:noFill/>
        </p:spPr>
        <p:txBody>
          <a:bodyPr wrap="square" lIns="0" rIns="0" tIns="0" bIns="0" anchor="t">
            <a:spAutoFit/>
          </a:bodyPr>
          <a:lstStyle/>
          <a:p>
            <a:pPr algn="l">
              <a:spcAft>
                <a:spcPts val="400"/>
              </a:spcAft>
            </a:pPr>
            <a:r>
              <a:rPr sz="1400" b="1" i="0">
                <a:solidFill>
                  <a:srgbClr val="4A5A6A"/>
                </a:solidFill>
                <a:latin typeface="Arial"/>
              </a:rPr>
              <a:t>→ ¡Peligro! Busca una poción</a:t>
            </a:r>
          </a:p>
        </p:txBody>
      </p:sp>
      <p:sp>
        <p:nvSpPr>
          <p:cNvPr id="24" name="Oval 23"/>
          <p:cNvSpPr/>
          <p:nvPr/>
        </p:nvSpPr>
        <p:spPr>
          <a:xfrm>
            <a:off x="7040880" y="4526279"/>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heartb_w.png"/>
          <p:cNvPicPr>
            <a:picLocks noChangeAspect="1"/>
          </p:cNvPicPr>
          <p:nvPr/>
        </p:nvPicPr>
        <p:blipFill>
          <a:blip r:embed="rId2"/>
          <a:stretch>
            <a:fillRect/>
          </a:stretch>
        </p:blipFill>
        <p:spPr>
          <a:xfrm>
            <a:off x="7194499" y="4679899"/>
            <a:ext cx="332841" cy="332841"/>
          </a:xfrm>
          <a:prstGeom prst="rect">
            <a:avLst/>
          </a:prstGeom>
        </p:spPr>
      </p:pic>
      <p:sp>
        <p:nvSpPr>
          <p:cNvPr id="26" name="TextBox 25"/>
          <p:cNvSpPr txBox="1"/>
          <p:nvPr/>
        </p:nvSpPr>
        <p:spPr>
          <a:xfrm>
            <a:off x="7818120" y="4480559"/>
            <a:ext cx="1645920" cy="365760"/>
          </a:xfrm>
          <a:prstGeom prst="rect">
            <a:avLst/>
          </a:prstGeom>
          <a:noFill/>
        </p:spPr>
        <p:txBody>
          <a:bodyPr wrap="square" lIns="0" rIns="0" tIns="0" bIns="0" anchor="t">
            <a:spAutoFit/>
          </a:bodyPr>
          <a:lstStyle/>
          <a:p>
            <a:pPr algn="l">
              <a:spcAft>
                <a:spcPts val="400"/>
              </a:spcAft>
            </a:pPr>
            <a:r>
              <a:rPr sz="1500" b="1" i="0">
                <a:solidFill>
                  <a:srgbClr val="0B2A4A"/>
                </a:solidFill>
                <a:latin typeface="Courier New"/>
              </a:rPr>
              <a:t>vida = 0</a:t>
            </a:r>
          </a:p>
        </p:txBody>
      </p:sp>
      <p:sp>
        <p:nvSpPr>
          <p:cNvPr id="27" name="Rounded Rectangle 26"/>
          <p:cNvSpPr/>
          <p:nvPr/>
        </p:nvSpPr>
        <p:spPr>
          <a:xfrm>
            <a:off x="7818120" y="4892040"/>
            <a:ext cx="3749039" cy="256032"/>
          </a:xfrm>
          <a:prstGeom prst="roundRect">
            <a:avLst>
              <a:gd name="adj" fmla="val 50000"/>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818120" y="5184647"/>
            <a:ext cx="3749039" cy="365760"/>
          </a:xfrm>
          <a:prstGeom prst="rect">
            <a:avLst/>
          </a:prstGeom>
          <a:noFill/>
        </p:spPr>
        <p:txBody>
          <a:bodyPr wrap="square" lIns="0" rIns="0" tIns="0" bIns="0" anchor="t">
            <a:spAutoFit/>
          </a:bodyPr>
          <a:lstStyle/>
          <a:p>
            <a:pPr algn="l">
              <a:spcAft>
                <a:spcPts val="400"/>
              </a:spcAft>
            </a:pPr>
            <a:r>
              <a:rPr sz="1400" b="1" i="0">
                <a:solidFill>
                  <a:srgbClr val="4A5A6A"/>
                </a:solidFill>
                <a:latin typeface="Arial"/>
              </a:rPr>
              <a:t>→ GAME OVER</a:t>
            </a:r>
          </a:p>
        </p:txBody>
      </p:sp>
      <p:sp>
        <p:nvSpPr>
          <p:cNvPr id="29" name="TextBox 28"/>
          <p:cNvSpPr txBox="1"/>
          <p:nvPr/>
        </p:nvSpPr>
        <p:spPr>
          <a:xfrm>
            <a:off x="7040880" y="5486400"/>
            <a:ext cx="4572000" cy="457200"/>
          </a:xfrm>
          <a:prstGeom prst="rect">
            <a:avLst/>
          </a:prstGeom>
          <a:noFill/>
        </p:spPr>
        <p:txBody>
          <a:bodyPr wrap="square" lIns="0" rIns="0" tIns="0" bIns="0" anchor="t">
            <a:spAutoFit/>
          </a:bodyPr>
          <a:lstStyle/>
          <a:p>
            <a:pPr algn="l">
              <a:spcAft>
                <a:spcPts val="400"/>
              </a:spcAft>
            </a:pPr>
            <a:r>
              <a:rPr sz="1500" b="1" i="0">
                <a:solidFill>
                  <a:srgbClr val="257CE1"/>
                </a:solidFill>
                <a:latin typeface="Arial"/>
              </a:rPr>
              <a:t>Cambia el valor y predice la salida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switch: la máquina de snacks</a:t>
            </a:r>
          </a:p>
        </p:txBody>
      </p:sp>
      <p:sp>
        <p:nvSpPr>
          <p:cNvPr id="3" name="Rounded Rectangle 2"/>
          <p:cNvSpPr/>
          <p:nvPr/>
        </p:nvSpPr>
        <p:spPr>
          <a:xfrm>
            <a:off x="640080" y="1325880"/>
            <a:ext cx="4206240" cy="4572000"/>
          </a:xfrm>
          <a:prstGeom prst="roundRect">
            <a:avLst>
              <a:gd name="adj" fmla="val 5000"/>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1463040"/>
            <a:ext cx="3749039" cy="411480"/>
          </a:xfrm>
          <a:prstGeom prst="rect">
            <a:avLst/>
          </a:prstGeom>
          <a:noFill/>
        </p:spPr>
        <p:txBody>
          <a:bodyPr wrap="square" lIns="0" rIns="0" tIns="0" bIns="0" anchor="t">
            <a:spAutoFit/>
          </a:bodyPr>
          <a:lstStyle/>
          <a:p>
            <a:pPr algn="l">
              <a:spcAft>
                <a:spcPts val="400"/>
              </a:spcAft>
            </a:pPr>
            <a:r>
              <a:rPr sz="1700" b="1" i="0">
                <a:solidFill>
                  <a:srgbClr val="FFFFFF"/>
                </a:solidFill>
                <a:latin typeface="Arial"/>
              </a:rPr>
              <a:t>Marca el código:</a:t>
            </a:r>
          </a:p>
        </p:txBody>
      </p:sp>
      <p:sp>
        <p:nvSpPr>
          <p:cNvPr id="5" name="Rounded Rectangle 4"/>
          <p:cNvSpPr/>
          <p:nvPr/>
        </p:nvSpPr>
        <p:spPr>
          <a:xfrm>
            <a:off x="868680" y="2011680"/>
            <a:ext cx="1783080" cy="1417320"/>
          </a:xfrm>
          <a:prstGeom prst="roundRect">
            <a:avLst>
              <a:gd name="adj" fmla="val 10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417319" y="2148840"/>
            <a:ext cx="685800" cy="68580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hotdog_w.png"/>
          <p:cNvPicPr>
            <a:picLocks noChangeAspect="1"/>
          </p:cNvPicPr>
          <p:nvPr/>
        </p:nvPicPr>
        <p:blipFill>
          <a:blip r:embed="rId2"/>
          <a:stretch>
            <a:fillRect/>
          </a:stretch>
        </p:blipFill>
        <p:spPr>
          <a:xfrm>
            <a:off x="1581911" y="2313432"/>
            <a:ext cx="356616" cy="356616"/>
          </a:xfrm>
          <a:prstGeom prst="rect">
            <a:avLst/>
          </a:prstGeom>
        </p:spPr>
      </p:pic>
      <p:sp>
        <p:nvSpPr>
          <p:cNvPr id="8" name="TextBox 7"/>
          <p:cNvSpPr txBox="1"/>
          <p:nvPr/>
        </p:nvSpPr>
        <p:spPr>
          <a:xfrm>
            <a:off x="868680" y="2880360"/>
            <a:ext cx="1783080" cy="457200"/>
          </a:xfrm>
          <a:prstGeom prst="rect">
            <a:avLst/>
          </a:prstGeom>
          <a:noFill/>
        </p:spPr>
        <p:txBody>
          <a:bodyPr wrap="square" lIns="0" rIns="0" tIns="0" bIns="0" anchor="t">
            <a:spAutoFit/>
          </a:bodyPr>
          <a:lstStyle/>
          <a:p>
            <a:pPr algn="ctr">
              <a:spcAft>
                <a:spcPts val="400"/>
              </a:spcAft>
            </a:pPr>
            <a:r>
              <a:rPr sz="1400" b="1" i="0">
                <a:solidFill>
                  <a:srgbClr val="FFC629"/>
                </a:solidFill>
                <a:latin typeface="Courier New"/>
              </a:rPr>
              <a:t>1  </a:t>
            </a:r>
            <a:r>
              <a:rPr sz="1400" b="1" i="0">
                <a:solidFill>
                  <a:srgbClr val="FFFFFF"/>
                </a:solidFill>
                <a:latin typeface="Arial"/>
              </a:rPr>
              <a:t>Completo</a:t>
            </a:r>
          </a:p>
        </p:txBody>
      </p:sp>
      <p:sp>
        <p:nvSpPr>
          <p:cNvPr id="9" name="Rounded Rectangle 8"/>
          <p:cNvSpPr/>
          <p:nvPr/>
        </p:nvSpPr>
        <p:spPr>
          <a:xfrm>
            <a:off x="2788920" y="2011680"/>
            <a:ext cx="1783080" cy="1417320"/>
          </a:xfrm>
          <a:prstGeom prst="roundRect">
            <a:avLst>
              <a:gd name="adj" fmla="val 10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337560" y="2148840"/>
            <a:ext cx="685800" cy="68580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pizza_n.png"/>
          <p:cNvPicPr>
            <a:picLocks noChangeAspect="1"/>
          </p:cNvPicPr>
          <p:nvPr/>
        </p:nvPicPr>
        <p:blipFill>
          <a:blip r:embed="rId3"/>
          <a:stretch>
            <a:fillRect/>
          </a:stretch>
        </p:blipFill>
        <p:spPr>
          <a:xfrm>
            <a:off x="3502152" y="2313432"/>
            <a:ext cx="356616" cy="356616"/>
          </a:xfrm>
          <a:prstGeom prst="rect">
            <a:avLst/>
          </a:prstGeom>
        </p:spPr>
      </p:pic>
      <p:sp>
        <p:nvSpPr>
          <p:cNvPr id="12" name="TextBox 11"/>
          <p:cNvSpPr txBox="1"/>
          <p:nvPr/>
        </p:nvSpPr>
        <p:spPr>
          <a:xfrm>
            <a:off x="2788920" y="2880360"/>
            <a:ext cx="1783080" cy="457200"/>
          </a:xfrm>
          <a:prstGeom prst="rect">
            <a:avLst/>
          </a:prstGeom>
          <a:noFill/>
        </p:spPr>
        <p:txBody>
          <a:bodyPr wrap="square" lIns="0" rIns="0" tIns="0" bIns="0" anchor="t">
            <a:spAutoFit/>
          </a:bodyPr>
          <a:lstStyle/>
          <a:p>
            <a:pPr algn="ctr">
              <a:spcAft>
                <a:spcPts val="400"/>
              </a:spcAft>
            </a:pPr>
            <a:r>
              <a:rPr sz="1400" b="1" i="0">
                <a:solidFill>
                  <a:srgbClr val="FFC629"/>
                </a:solidFill>
                <a:latin typeface="Courier New"/>
              </a:rPr>
              <a:t>2  </a:t>
            </a:r>
            <a:r>
              <a:rPr sz="1400" b="1" i="0">
                <a:solidFill>
                  <a:srgbClr val="FFFFFF"/>
                </a:solidFill>
                <a:latin typeface="Arial"/>
              </a:rPr>
              <a:t>Pizza</a:t>
            </a:r>
          </a:p>
        </p:txBody>
      </p:sp>
      <p:sp>
        <p:nvSpPr>
          <p:cNvPr id="13" name="Rounded Rectangle 12"/>
          <p:cNvSpPr/>
          <p:nvPr/>
        </p:nvSpPr>
        <p:spPr>
          <a:xfrm>
            <a:off x="868680" y="3611880"/>
            <a:ext cx="1783080" cy="1417320"/>
          </a:xfrm>
          <a:prstGeom prst="roundRect">
            <a:avLst>
              <a:gd name="adj" fmla="val 10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417319" y="3749040"/>
            <a:ext cx="685800" cy="68580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ecream_w.png"/>
          <p:cNvPicPr>
            <a:picLocks noChangeAspect="1"/>
          </p:cNvPicPr>
          <p:nvPr/>
        </p:nvPicPr>
        <p:blipFill>
          <a:blip r:embed="rId4"/>
          <a:stretch>
            <a:fillRect/>
          </a:stretch>
        </p:blipFill>
        <p:spPr>
          <a:xfrm>
            <a:off x="1581911" y="3913632"/>
            <a:ext cx="356616" cy="356616"/>
          </a:xfrm>
          <a:prstGeom prst="rect">
            <a:avLst/>
          </a:prstGeom>
        </p:spPr>
      </p:pic>
      <p:sp>
        <p:nvSpPr>
          <p:cNvPr id="16" name="TextBox 15"/>
          <p:cNvSpPr txBox="1"/>
          <p:nvPr/>
        </p:nvSpPr>
        <p:spPr>
          <a:xfrm>
            <a:off x="868680" y="4480560"/>
            <a:ext cx="1783080" cy="457200"/>
          </a:xfrm>
          <a:prstGeom prst="rect">
            <a:avLst/>
          </a:prstGeom>
          <a:noFill/>
        </p:spPr>
        <p:txBody>
          <a:bodyPr wrap="square" lIns="0" rIns="0" tIns="0" bIns="0" anchor="t">
            <a:spAutoFit/>
          </a:bodyPr>
          <a:lstStyle/>
          <a:p>
            <a:pPr algn="ctr">
              <a:spcAft>
                <a:spcPts val="400"/>
              </a:spcAft>
            </a:pPr>
            <a:r>
              <a:rPr sz="1400" b="1" i="0">
                <a:solidFill>
                  <a:srgbClr val="FFC629"/>
                </a:solidFill>
                <a:latin typeface="Courier New"/>
              </a:rPr>
              <a:t>3  </a:t>
            </a:r>
            <a:r>
              <a:rPr sz="1400" b="1" i="0">
                <a:solidFill>
                  <a:srgbClr val="FFFFFF"/>
                </a:solidFill>
                <a:latin typeface="Arial"/>
              </a:rPr>
              <a:t>Helado</a:t>
            </a:r>
          </a:p>
        </p:txBody>
      </p:sp>
      <p:sp>
        <p:nvSpPr>
          <p:cNvPr id="17" name="Rounded Rectangle 16"/>
          <p:cNvSpPr/>
          <p:nvPr/>
        </p:nvSpPr>
        <p:spPr>
          <a:xfrm>
            <a:off x="2788920" y="3611880"/>
            <a:ext cx="1783080" cy="1417320"/>
          </a:xfrm>
          <a:prstGeom prst="roundRect">
            <a:avLst>
              <a:gd name="adj" fmla="val 10000"/>
            </a:avLst>
          </a:prstGeom>
          <a:solidFill>
            <a:srgbClr val="1A3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337560" y="3749040"/>
            <a:ext cx="685800" cy="68580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ookie_w.png"/>
          <p:cNvPicPr>
            <a:picLocks noChangeAspect="1"/>
          </p:cNvPicPr>
          <p:nvPr/>
        </p:nvPicPr>
        <p:blipFill>
          <a:blip r:embed="rId5"/>
          <a:stretch>
            <a:fillRect/>
          </a:stretch>
        </p:blipFill>
        <p:spPr>
          <a:xfrm>
            <a:off x="3502152" y="3913632"/>
            <a:ext cx="356616" cy="356616"/>
          </a:xfrm>
          <a:prstGeom prst="rect">
            <a:avLst/>
          </a:prstGeom>
        </p:spPr>
      </p:pic>
      <p:sp>
        <p:nvSpPr>
          <p:cNvPr id="20" name="TextBox 19"/>
          <p:cNvSpPr txBox="1"/>
          <p:nvPr/>
        </p:nvSpPr>
        <p:spPr>
          <a:xfrm>
            <a:off x="2788920" y="4480560"/>
            <a:ext cx="1783080" cy="457200"/>
          </a:xfrm>
          <a:prstGeom prst="rect">
            <a:avLst/>
          </a:prstGeom>
          <a:noFill/>
        </p:spPr>
        <p:txBody>
          <a:bodyPr wrap="square" lIns="0" rIns="0" tIns="0" bIns="0" anchor="t">
            <a:spAutoFit/>
          </a:bodyPr>
          <a:lstStyle/>
          <a:p>
            <a:pPr algn="ctr">
              <a:spcAft>
                <a:spcPts val="400"/>
              </a:spcAft>
            </a:pPr>
            <a:r>
              <a:rPr sz="1400" b="1" i="0">
                <a:solidFill>
                  <a:srgbClr val="FFC629"/>
                </a:solidFill>
                <a:latin typeface="Courier New"/>
              </a:rPr>
              <a:t>4  </a:t>
            </a:r>
            <a:r>
              <a:rPr sz="1400" b="1" i="0">
                <a:solidFill>
                  <a:srgbClr val="FFFFFF"/>
                </a:solidFill>
                <a:latin typeface="Arial"/>
              </a:rPr>
              <a:t>Galletas</a:t>
            </a:r>
          </a:p>
        </p:txBody>
      </p:sp>
      <p:sp>
        <p:nvSpPr>
          <p:cNvPr id="21" name="TextBox 20"/>
          <p:cNvSpPr txBox="1"/>
          <p:nvPr/>
        </p:nvSpPr>
        <p:spPr>
          <a:xfrm>
            <a:off x="868680" y="5257800"/>
            <a:ext cx="3749039" cy="457200"/>
          </a:xfrm>
          <a:prstGeom prst="rect">
            <a:avLst/>
          </a:prstGeom>
          <a:noFill/>
        </p:spPr>
        <p:txBody>
          <a:bodyPr wrap="square" lIns="0" rIns="0" tIns="0" bIns="0" anchor="t">
            <a:spAutoFit/>
          </a:bodyPr>
          <a:lstStyle/>
          <a:p>
            <a:pPr algn="ctr">
              <a:spcAft>
                <a:spcPts val="400"/>
              </a:spcAft>
            </a:pPr>
            <a:r>
              <a:rPr sz="1400" b="0" i="0">
                <a:solidFill>
                  <a:srgbClr val="C8D6E5"/>
                </a:solidFill>
                <a:latin typeface="Arial"/>
              </a:rPr>
              <a:t>Otro número → </a:t>
            </a:r>
            <a:r>
              <a:rPr sz="1400" b="0" i="0">
                <a:solidFill>
                  <a:srgbClr val="FFC629"/>
                </a:solidFill>
                <a:latin typeface="Courier New"/>
              </a:rPr>
              <a:t>default</a:t>
            </a:r>
          </a:p>
        </p:txBody>
      </p:sp>
      <p:sp>
        <p:nvSpPr>
          <p:cNvPr id="22" name="Rounded Rectangle 21"/>
          <p:cNvSpPr/>
          <p:nvPr/>
        </p:nvSpPr>
        <p:spPr>
          <a:xfrm>
            <a:off x="5120640" y="1325880"/>
            <a:ext cx="6446520" cy="342900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5303520" y="1481328"/>
            <a:ext cx="137160" cy="1371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532120" y="1481328"/>
            <a:ext cx="137160" cy="1371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760720" y="1481328"/>
            <a:ext cx="137160" cy="1371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035040" y="1417320"/>
            <a:ext cx="5349240" cy="27432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MaquinaSnacks.java</a:t>
            </a:r>
          </a:p>
        </p:txBody>
      </p:sp>
      <p:sp>
        <p:nvSpPr>
          <p:cNvPr id="27" name="TextBox 26"/>
          <p:cNvSpPr txBox="1"/>
          <p:nvPr/>
        </p:nvSpPr>
        <p:spPr>
          <a:xfrm>
            <a:off x="5394959" y="1783080"/>
            <a:ext cx="5989320" cy="2834640"/>
          </a:xfrm>
          <a:prstGeom prst="rect">
            <a:avLst/>
          </a:prstGeom>
          <a:noFill/>
        </p:spPr>
        <p:txBody>
          <a:bodyPr wrap="square" lIns="0" rIns="0" tIns="0" bIns="0" anchor="t">
            <a:spAutoFit/>
          </a:bodyPr>
          <a:lstStyle/>
          <a:p>
            <a:pPr algn="l">
              <a:spcAft>
                <a:spcPts val="0"/>
              </a:spcAft>
            </a:pPr>
            <a:r>
              <a:rPr sz="1400" b="0" i="0">
                <a:solidFill>
                  <a:srgbClr val="5EC8FF"/>
                </a:solidFill>
                <a:latin typeface="Courier New"/>
              </a:rPr>
              <a:t>int</a:t>
            </a:r>
            <a:r>
              <a:rPr sz="1400" b="0" i="0">
                <a:solidFill>
                  <a:srgbClr val="E6EDF3"/>
                </a:solidFill>
                <a:latin typeface="Courier New"/>
              </a:rPr>
              <a:t> </a:t>
            </a:r>
            <a:r>
              <a:rPr sz="1400" b="0" i="0">
                <a:solidFill>
                  <a:srgbClr val="E6EDF3"/>
                </a:solidFill>
                <a:latin typeface="Courier New"/>
              </a:rPr>
              <a:t>codigo</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F78C6C"/>
                </a:solidFill>
                <a:latin typeface="Courier New"/>
              </a:rPr>
              <a:t>2</a:t>
            </a:r>
            <a:r>
              <a:rPr sz="1400" b="0" i="0">
                <a:solidFill>
                  <a:srgbClr val="E6EDF3"/>
                </a:solidFill>
                <a:latin typeface="Courier New"/>
              </a:rPr>
              <a:t>;</a:t>
            </a:r>
          </a:p>
          <a:p>
            <a:pPr algn="l">
              <a:spcAft>
                <a:spcPts val="0"/>
              </a:spcAft>
            </a:pPr>
            <a:r>
              <a:rPr sz="1400" b="0" i="0">
                <a:solidFill>
                  <a:srgbClr val="E6EDF3"/>
                </a:solidFill>
                <a:latin typeface="Courier New"/>
              </a:rPr>
              <a:t> </a:t>
            </a:r>
          </a:p>
          <a:p>
            <a:pPr algn="l">
              <a:spcAft>
                <a:spcPts val="0"/>
              </a:spcAft>
            </a:pPr>
            <a:r>
              <a:rPr sz="1400" b="0" i="0">
                <a:solidFill>
                  <a:srgbClr val="C792EA"/>
                </a:solidFill>
                <a:latin typeface="Courier New"/>
              </a:rPr>
              <a:t>switch</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codigo</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p>
          <a:p>
            <a:pPr algn="l">
              <a:spcAft>
                <a:spcPts val="0"/>
              </a:spcAft>
            </a:pPr>
            <a:r>
              <a:rPr sz="1400" b="0" i="0">
                <a:solidFill>
                  <a:srgbClr val="E6EDF3"/>
                </a:solidFill>
                <a:latin typeface="Courier New"/>
              </a:rPr>
              <a:t>    </a:t>
            </a:r>
            <a:r>
              <a:rPr sz="1400" b="0" i="0">
                <a:solidFill>
                  <a:srgbClr val="C792EA"/>
                </a:solidFill>
                <a:latin typeface="Courier New"/>
              </a:rPr>
              <a:t>case</a:t>
            </a:r>
            <a:r>
              <a:rPr sz="1400" b="0" i="0">
                <a:solidFill>
                  <a:srgbClr val="E6EDF3"/>
                </a:solidFill>
                <a:latin typeface="Courier New"/>
              </a:rPr>
              <a:t> </a:t>
            </a:r>
            <a:r>
              <a:rPr sz="1400" b="0" i="0">
                <a:solidFill>
                  <a:srgbClr val="F78C6C"/>
                </a:solidFill>
                <a:latin typeface="Courier New"/>
              </a:rPr>
              <a:t>1</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System</a:t>
            </a:r>
            <a:r>
              <a:rPr sz="1400" b="0" i="0">
                <a:solidFill>
                  <a:srgbClr val="E6EDF3"/>
                </a:solidFill>
                <a:latin typeface="Courier New"/>
              </a:rPr>
              <a:t>.</a:t>
            </a:r>
            <a:r>
              <a:rPr sz="1400" b="0" i="0">
                <a:solidFill>
                  <a:srgbClr val="E6EDF3"/>
                </a:solidFill>
                <a:latin typeface="Courier New"/>
              </a:rPr>
              <a:t>out</a:t>
            </a:r>
            <a:r>
              <a:rPr sz="1400" b="0" i="0">
                <a:solidFill>
                  <a:srgbClr val="E6EDF3"/>
                </a:solidFill>
                <a:latin typeface="Courier New"/>
              </a:rPr>
              <a:t>.</a:t>
            </a:r>
            <a:r>
              <a:rPr sz="1400" b="0" i="0">
                <a:solidFill>
                  <a:srgbClr val="E6EDF3"/>
                </a:solidFill>
                <a:latin typeface="Courier New"/>
              </a:rPr>
              <a:t>println</a:t>
            </a:r>
            <a:r>
              <a:rPr sz="1400" b="0" i="0">
                <a:solidFill>
                  <a:srgbClr val="E6EDF3"/>
                </a:solidFill>
                <a:latin typeface="Courier New"/>
              </a:rPr>
              <a:t>(</a:t>
            </a:r>
            <a:r>
              <a:rPr sz="1400" b="0" i="0">
                <a:solidFill>
                  <a:srgbClr val="FFB86B"/>
                </a:solidFill>
                <a:latin typeface="Courier New"/>
              </a:rPr>
              <a:t>"Completo"</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C792EA"/>
                </a:solidFill>
                <a:latin typeface="Courier New"/>
              </a:rPr>
              <a:t>break</a:t>
            </a:r>
            <a:r>
              <a:rPr sz="1400" b="0" i="0">
                <a:solidFill>
                  <a:srgbClr val="E6EDF3"/>
                </a:solidFill>
                <a:latin typeface="Courier New"/>
              </a:rPr>
              <a:t>;</a:t>
            </a:r>
          </a:p>
          <a:p>
            <a:pPr algn="l">
              <a:spcAft>
                <a:spcPts val="0"/>
              </a:spcAft>
            </a:pPr>
            <a:r>
              <a:rPr sz="1400" b="0" i="0">
                <a:solidFill>
                  <a:srgbClr val="E6EDF3"/>
                </a:solidFill>
                <a:latin typeface="Courier New"/>
              </a:rPr>
              <a:t>    </a:t>
            </a:r>
            <a:r>
              <a:rPr sz="1400" b="0" i="0">
                <a:solidFill>
                  <a:srgbClr val="C792EA"/>
                </a:solidFill>
                <a:latin typeface="Courier New"/>
              </a:rPr>
              <a:t>case</a:t>
            </a:r>
            <a:r>
              <a:rPr sz="1400" b="0" i="0">
                <a:solidFill>
                  <a:srgbClr val="E6EDF3"/>
                </a:solidFill>
                <a:latin typeface="Courier New"/>
              </a:rPr>
              <a:t> </a:t>
            </a:r>
            <a:r>
              <a:rPr sz="1400" b="0" i="0">
                <a:solidFill>
                  <a:srgbClr val="F78C6C"/>
                </a:solidFill>
                <a:latin typeface="Courier New"/>
              </a:rPr>
              <a:t>2</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System</a:t>
            </a:r>
            <a:r>
              <a:rPr sz="1400" b="0" i="0">
                <a:solidFill>
                  <a:srgbClr val="E6EDF3"/>
                </a:solidFill>
                <a:latin typeface="Courier New"/>
              </a:rPr>
              <a:t>.</a:t>
            </a:r>
            <a:r>
              <a:rPr sz="1400" b="0" i="0">
                <a:solidFill>
                  <a:srgbClr val="E6EDF3"/>
                </a:solidFill>
                <a:latin typeface="Courier New"/>
              </a:rPr>
              <a:t>out</a:t>
            </a:r>
            <a:r>
              <a:rPr sz="1400" b="0" i="0">
                <a:solidFill>
                  <a:srgbClr val="E6EDF3"/>
                </a:solidFill>
                <a:latin typeface="Courier New"/>
              </a:rPr>
              <a:t>.</a:t>
            </a:r>
            <a:r>
              <a:rPr sz="1400" b="0" i="0">
                <a:solidFill>
                  <a:srgbClr val="E6EDF3"/>
                </a:solidFill>
                <a:latin typeface="Courier New"/>
              </a:rPr>
              <a:t>println</a:t>
            </a:r>
            <a:r>
              <a:rPr sz="1400" b="0" i="0">
                <a:solidFill>
                  <a:srgbClr val="E6EDF3"/>
                </a:solidFill>
                <a:latin typeface="Courier New"/>
              </a:rPr>
              <a:t>(</a:t>
            </a:r>
            <a:r>
              <a:rPr sz="1400" b="0" i="0">
                <a:solidFill>
                  <a:srgbClr val="FFB86B"/>
                </a:solidFill>
                <a:latin typeface="Courier New"/>
              </a:rPr>
              <a:t>"Pizza"</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C792EA"/>
                </a:solidFill>
                <a:latin typeface="Courier New"/>
              </a:rPr>
              <a:t>break</a:t>
            </a:r>
            <a:r>
              <a:rPr sz="1400" b="0" i="0">
                <a:solidFill>
                  <a:srgbClr val="E6EDF3"/>
                </a:solidFill>
                <a:latin typeface="Courier New"/>
              </a:rPr>
              <a:t>;</a:t>
            </a:r>
          </a:p>
          <a:p>
            <a:pPr algn="l">
              <a:spcAft>
                <a:spcPts val="0"/>
              </a:spcAft>
            </a:pPr>
            <a:r>
              <a:rPr sz="1400" b="0" i="0">
                <a:solidFill>
                  <a:srgbClr val="E6EDF3"/>
                </a:solidFill>
                <a:latin typeface="Courier New"/>
              </a:rPr>
              <a:t>    </a:t>
            </a:r>
            <a:r>
              <a:rPr sz="1400" b="0" i="0">
                <a:solidFill>
                  <a:srgbClr val="C792EA"/>
                </a:solidFill>
                <a:latin typeface="Courier New"/>
              </a:rPr>
              <a:t>case</a:t>
            </a:r>
            <a:r>
              <a:rPr sz="1400" b="0" i="0">
                <a:solidFill>
                  <a:srgbClr val="E6EDF3"/>
                </a:solidFill>
                <a:latin typeface="Courier New"/>
              </a:rPr>
              <a:t> </a:t>
            </a:r>
            <a:r>
              <a:rPr sz="1400" b="0" i="0">
                <a:solidFill>
                  <a:srgbClr val="F78C6C"/>
                </a:solidFill>
                <a:latin typeface="Courier New"/>
              </a:rPr>
              <a:t>3</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System</a:t>
            </a:r>
            <a:r>
              <a:rPr sz="1400" b="0" i="0">
                <a:solidFill>
                  <a:srgbClr val="E6EDF3"/>
                </a:solidFill>
                <a:latin typeface="Courier New"/>
              </a:rPr>
              <a:t>.</a:t>
            </a:r>
            <a:r>
              <a:rPr sz="1400" b="0" i="0">
                <a:solidFill>
                  <a:srgbClr val="E6EDF3"/>
                </a:solidFill>
                <a:latin typeface="Courier New"/>
              </a:rPr>
              <a:t>out</a:t>
            </a:r>
            <a:r>
              <a:rPr sz="1400" b="0" i="0">
                <a:solidFill>
                  <a:srgbClr val="E6EDF3"/>
                </a:solidFill>
                <a:latin typeface="Courier New"/>
              </a:rPr>
              <a:t>.</a:t>
            </a:r>
            <a:r>
              <a:rPr sz="1400" b="0" i="0">
                <a:solidFill>
                  <a:srgbClr val="E6EDF3"/>
                </a:solidFill>
                <a:latin typeface="Courier New"/>
              </a:rPr>
              <a:t>println</a:t>
            </a:r>
            <a:r>
              <a:rPr sz="1400" b="0" i="0">
                <a:solidFill>
                  <a:srgbClr val="E6EDF3"/>
                </a:solidFill>
                <a:latin typeface="Courier New"/>
              </a:rPr>
              <a:t>(</a:t>
            </a:r>
            <a:r>
              <a:rPr sz="1400" b="0" i="0">
                <a:solidFill>
                  <a:srgbClr val="FFB86B"/>
                </a:solidFill>
                <a:latin typeface="Courier New"/>
              </a:rPr>
              <a:t>"Helado"</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C792EA"/>
                </a:solidFill>
                <a:latin typeface="Courier New"/>
              </a:rPr>
              <a:t>break</a:t>
            </a:r>
            <a:r>
              <a:rPr sz="1400" b="0" i="0">
                <a:solidFill>
                  <a:srgbClr val="E6EDF3"/>
                </a:solidFill>
                <a:latin typeface="Courier New"/>
              </a:rPr>
              <a:t>;</a:t>
            </a:r>
          </a:p>
          <a:p>
            <a:pPr algn="l">
              <a:spcAft>
                <a:spcPts val="0"/>
              </a:spcAft>
            </a:pPr>
            <a:r>
              <a:rPr sz="1400" b="0" i="0">
                <a:solidFill>
                  <a:srgbClr val="E6EDF3"/>
                </a:solidFill>
                <a:latin typeface="Courier New"/>
              </a:rPr>
              <a:t>    </a:t>
            </a:r>
            <a:r>
              <a:rPr sz="1400" b="0" i="0">
                <a:solidFill>
                  <a:srgbClr val="C792EA"/>
                </a:solidFill>
                <a:latin typeface="Courier New"/>
              </a:rPr>
              <a:t>case</a:t>
            </a:r>
            <a:r>
              <a:rPr sz="1400" b="0" i="0">
                <a:solidFill>
                  <a:srgbClr val="E6EDF3"/>
                </a:solidFill>
                <a:latin typeface="Courier New"/>
              </a:rPr>
              <a:t> </a:t>
            </a:r>
            <a:r>
              <a:rPr sz="1400" b="0" i="0">
                <a:solidFill>
                  <a:srgbClr val="F78C6C"/>
                </a:solidFill>
                <a:latin typeface="Courier New"/>
              </a:rPr>
              <a:t>4</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System</a:t>
            </a:r>
            <a:r>
              <a:rPr sz="1400" b="0" i="0">
                <a:solidFill>
                  <a:srgbClr val="E6EDF3"/>
                </a:solidFill>
                <a:latin typeface="Courier New"/>
              </a:rPr>
              <a:t>.</a:t>
            </a:r>
            <a:r>
              <a:rPr sz="1400" b="0" i="0">
                <a:solidFill>
                  <a:srgbClr val="E6EDF3"/>
                </a:solidFill>
                <a:latin typeface="Courier New"/>
              </a:rPr>
              <a:t>out</a:t>
            </a:r>
            <a:r>
              <a:rPr sz="1400" b="0" i="0">
                <a:solidFill>
                  <a:srgbClr val="E6EDF3"/>
                </a:solidFill>
                <a:latin typeface="Courier New"/>
              </a:rPr>
              <a:t>.</a:t>
            </a:r>
            <a:r>
              <a:rPr sz="1400" b="0" i="0">
                <a:solidFill>
                  <a:srgbClr val="E6EDF3"/>
                </a:solidFill>
                <a:latin typeface="Courier New"/>
              </a:rPr>
              <a:t>println</a:t>
            </a:r>
            <a:r>
              <a:rPr sz="1400" b="0" i="0">
                <a:solidFill>
                  <a:srgbClr val="E6EDF3"/>
                </a:solidFill>
                <a:latin typeface="Courier New"/>
              </a:rPr>
              <a:t>(</a:t>
            </a:r>
            <a:r>
              <a:rPr sz="1400" b="0" i="0">
                <a:solidFill>
                  <a:srgbClr val="FFB86B"/>
                </a:solidFill>
                <a:latin typeface="Courier New"/>
              </a:rPr>
              <a:t>"Galletas"</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C792EA"/>
                </a:solidFill>
                <a:latin typeface="Courier New"/>
              </a:rPr>
              <a:t>break</a:t>
            </a:r>
            <a:r>
              <a:rPr sz="1400" b="0" i="0">
                <a:solidFill>
                  <a:srgbClr val="E6EDF3"/>
                </a:solidFill>
                <a:latin typeface="Courier New"/>
              </a:rPr>
              <a:t>;</a:t>
            </a:r>
          </a:p>
          <a:p>
            <a:pPr algn="l">
              <a:spcAft>
                <a:spcPts val="0"/>
              </a:spcAft>
            </a:pPr>
            <a:r>
              <a:rPr sz="1400" b="0" i="0">
                <a:solidFill>
                  <a:srgbClr val="E6EDF3"/>
                </a:solidFill>
                <a:latin typeface="Courier New"/>
              </a:rPr>
              <a:t>    </a:t>
            </a:r>
            <a:r>
              <a:rPr sz="1400" b="0" i="0">
                <a:solidFill>
                  <a:srgbClr val="C792EA"/>
                </a:solidFill>
                <a:latin typeface="Courier New"/>
              </a:rPr>
              <a:t>default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System</a:t>
            </a:r>
            <a:r>
              <a:rPr sz="1400" b="0" i="0">
                <a:solidFill>
                  <a:srgbClr val="E6EDF3"/>
                </a:solidFill>
                <a:latin typeface="Courier New"/>
              </a:rPr>
              <a:t>.</a:t>
            </a:r>
            <a:r>
              <a:rPr sz="1400" b="0" i="0">
                <a:solidFill>
                  <a:srgbClr val="E6EDF3"/>
                </a:solidFill>
                <a:latin typeface="Courier New"/>
              </a:rPr>
              <a:t>out</a:t>
            </a:r>
            <a:r>
              <a:rPr sz="1400" b="0" i="0">
                <a:solidFill>
                  <a:srgbClr val="E6EDF3"/>
                </a:solidFill>
                <a:latin typeface="Courier New"/>
              </a:rPr>
              <a:t>.</a:t>
            </a:r>
            <a:r>
              <a:rPr sz="1400" b="0" i="0">
                <a:solidFill>
                  <a:srgbClr val="E6EDF3"/>
                </a:solidFill>
                <a:latin typeface="Courier New"/>
              </a:rPr>
              <a:t>println</a:t>
            </a:r>
            <a:r>
              <a:rPr sz="1400" b="0" i="0">
                <a:solidFill>
                  <a:srgbClr val="E6EDF3"/>
                </a:solidFill>
                <a:latin typeface="Courier New"/>
              </a:rPr>
              <a:t>(</a:t>
            </a:r>
            <a:r>
              <a:rPr sz="1400" b="0" i="0">
                <a:solidFill>
                  <a:srgbClr val="FFB86B"/>
                </a:solidFill>
                <a:latin typeface="Courier New"/>
              </a:rPr>
              <a:t>"Código inválido"</a:t>
            </a:r>
            <a:r>
              <a:rPr sz="1400" b="0" i="0">
                <a:solidFill>
                  <a:srgbClr val="E6EDF3"/>
                </a:solidFill>
                <a:latin typeface="Courier New"/>
              </a:rPr>
              <a:t>)</a:t>
            </a:r>
            <a:r>
              <a:rPr sz="1400" b="0" i="0">
                <a:solidFill>
                  <a:srgbClr val="E6EDF3"/>
                </a:solidFill>
                <a:latin typeface="Courier New"/>
              </a:rPr>
              <a:t>;</a:t>
            </a:r>
          </a:p>
          <a:p>
            <a:pPr algn="l">
              <a:spcAft>
                <a:spcPts val="0"/>
              </a:spcAft>
            </a:pPr>
            <a:r>
              <a:rPr sz="1400" b="0" i="0">
                <a:solidFill>
                  <a:srgbClr val="E6EDF3"/>
                </a:solidFill>
                <a:latin typeface="Courier New"/>
              </a:rPr>
              <a:t>}</a:t>
            </a:r>
          </a:p>
        </p:txBody>
      </p:sp>
      <p:sp>
        <p:nvSpPr>
          <p:cNvPr id="28" name="Rounded Rectangle 27"/>
          <p:cNvSpPr/>
          <p:nvPr/>
        </p:nvSpPr>
        <p:spPr>
          <a:xfrm>
            <a:off x="5120640" y="4983480"/>
            <a:ext cx="6446520" cy="914400"/>
          </a:xfrm>
          <a:prstGeom prst="roundRect">
            <a:avLst>
              <a:gd name="adj" fmla="val 10000"/>
            </a:avLst>
          </a:prstGeom>
          <a:solidFill>
            <a:srgbClr val="FF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5303520" y="5120640"/>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exclam_w.png"/>
          <p:cNvPicPr>
            <a:picLocks noChangeAspect="1"/>
          </p:cNvPicPr>
          <p:nvPr/>
        </p:nvPicPr>
        <p:blipFill>
          <a:blip r:embed="rId6"/>
          <a:stretch>
            <a:fillRect/>
          </a:stretch>
        </p:blipFill>
        <p:spPr>
          <a:xfrm>
            <a:off x="5457139" y="5274259"/>
            <a:ext cx="332841" cy="332841"/>
          </a:xfrm>
          <a:prstGeom prst="rect">
            <a:avLst/>
          </a:prstGeom>
        </p:spPr>
      </p:pic>
      <p:sp>
        <p:nvSpPr>
          <p:cNvPr id="31" name="TextBox 30"/>
          <p:cNvSpPr txBox="1"/>
          <p:nvPr/>
        </p:nvSpPr>
        <p:spPr>
          <a:xfrm>
            <a:off x="6126480" y="4983480"/>
            <a:ext cx="5303520" cy="914400"/>
          </a:xfrm>
          <a:prstGeom prst="rect">
            <a:avLst/>
          </a:prstGeom>
          <a:noFill/>
        </p:spPr>
        <p:txBody>
          <a:bodyPr wrap="square" lIns="0" rIns="0" tIns="0" bIns="0" anchor="ctr">
            <a:spAutoFit/>
          </a:bodyPr>
          <a:lstStyle/>
          <a:p>
            <a:pPr algn="l">
              <a:spcAft>
                <a:spcPts val="400"/>
              </a:spcAft>
            </a:pPr>
            <a:r>
              <a:rPr sz="1500" b="1" i="0">
                <a:solidFill>
                  <a:srgbClr val="FF5A5F"/>
                </a:solidFill>
                <a:latin typeface="Arial"/>
              </a:rPr>
              <a:t>¿Y si olvidas el break? </a:t>
            </a:r>
            <a:r>
              <a:rPr sz="1500" b="0" i="0">
                <a:solidFill>
                  <a:srgbClr val="0B2A4A"/>
                </a:solidFill>
                <a:latin typeface="Arial"/>
              </a:rPr>
              <a:t>¡La máquina te entrega TODO lo que viene después!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031F6-EA07-EBBD-4272-B6623F5518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E854BD-E640-478D-52F7-2BCAA0E21644}"/>
              </a:ext>
            </a:extLst>
          </p:cNvPr>
          <p:cNvSpPr>
            <a:spLocks noGrp="1"/>
          </p:cNvSpPr>
          <p:nvPr>
            <p:ph type="title"/>
          </p:nvPr>
        </p:nvSpPr>
        <p:spPr/>
        <p:txBody>
          <a:bodyPr>
            <a:normAutofit fontScale="90000"/>
          </a:bodyPr>
          <a:lstStyle/>
          <a:p>
            <a:r>
              <a:rPr lang="es-CL" dirty="0"/>
              <a:t>Ejemplos(</a:t>
            </a:r>
            <a:r>
              <a:rPr lang="es-CL" dirty="0" err="1"/>
              <a:t>if</a:t>
            </a:r>
            <a:r>
              <a:rPr lang="es-CL" dirty="0"/>
              <a:t>)</a:t>
            </a:r>
          </a:p>
        </p:txBody>
      </p:sp>
      <p:pic>
        <p:nvPicPr>
          <p:cNvPr id="6" name="Imagen 5">
            <a:extLst>
              <a:ext uri="{FF2B5EF4-FFF2-40B4-BE49-F238E27FC236}">
                <a16:creationId xmlns:a16="http://schemas.microsoft.com/office/drawing/2014/main" id="{33A1E0CA-1699-9DCD-6B3E-FA0F6305384B}"/>
              </a:ext>
            </a:extLst>
          </p:cNvPr>
          <p:cNvPicPr>
            <a:picLocks noChangeAspect="1"/>
          </p:cNvPicPr>
          <p:nvPr/>
        </p:nvPicPr>
        <p:blipFill>
          <a:blip r:embed="rId2"/>
          <a:stretch>
            <a:fillRect/>
          </a:stretch>
        </p:blipFill>
        <p:spPr>
          <a:xfrm>
            <a:off x="144872" y="1871085"/>
            <a:ext cx="5534797" cy="4553585"/>
          </a:xfrm>
          <a:prstGeom prst="rect">
            <a:avLst/>
          </a:prstGeom>
        </p:spPr>
      </p:pic>
      <p:sp>
        <p:nvSpPr>
          <p:cNvPr id="8" name="CuadroTexto 7">
            <a:extLst>
              <a:ext uri="{FF2B5EF4-FFF2-40B4-BE49-F238E27FC236}">
                <a16:creationId xmlns:a16="http://schemas.microsoft.com/office/drawing/2014/main" id="{6C61895C-2FFA-0F6E-16B5-6F0B112E8EF9}"/>
              </a:ext>
            </a:extLst>
          </p:cNvPr>
          <p:cNvSpPr txBox="1"/>
          <p:nvPr/>
        </p:nvSpPr>
        <p:spPr>
          <a:xfrm>
            <a:off x="5800344" y="1074527"/>
            <a:ext cx="6096000" cy="923330"/>
          </a:xfrm>
          <a:prstGeom prst="rect">
            <a:avLst/>
          </a:prstGeom>
          <a:noFill/>
        </p:spPr>
        <p:txBody>
          <a:bodyPr wrap="square">
            <a:spAutoFit/>
          </a:bodyPr>
          <a:lstStyle/>
          <a:p>
            <a:r>
              <a:rPr lang="es-CL" dirty="0"/>
              <a:t>2.Escribe un programa en Java que pida la edad de una persona e indique si es </a:t>
            </a:r>
            <a:r>
              <a:rPr lang="es-CL" b="1" dirty="0"/>
              <a:t>mayor de edad</a:t>
            </a:r>
            <a:r>
              <a:rPr lang="es-CL" dirty="0"/>
              <a:t> (18 años o más) o </a:t>
            </a:r>
            <a:r>
              <a:rPr lang="es-CL" b="1" dirty="0"/>
              <a:t>menor de edad</a:t>
            </a:r>
            <a:r>
              <a:rPr lang="es-CL" dirty="0"/>
              <a:t> (menos de 18 años).( </a:t>
            </a:r>
            <a:r>
              <a:rPr lang="es-CL" dirty="0" err="1"/>
              <a:t>if-else</a:t>
            </a:r>
            <a:r>
              <a:rPr lang="es-CL" dirty="0"/>
              <a:t>)</a:t>
            </a:r>
          </a:p>
        </p:txBody>
      </p:sp>
      <p:sp>
        <p:nvSpPr>
          <p:cNvPr id="14" name="CuadroTexto 13">
            <a:extLst>
              <a:ext uri="{FF2B5EF4-FFF2-40B4-BE49-F238E27FC236}">
                <a16:creationId xmlns:a16="http://schemas.microsoft.com/office/drawing/2014/main" id="{451EF5A2-F8A7-B5B7-FABB-96C3689DE2FF}"/>
              </a:ext>
            </a:extLst>
          </p:cNvPr>
          <p:cNvSpPr txBox="1"/>
          <p:nvPr/>
        </p:nvSpPr>
        <p:spPr>
          <a:xfrm>
            <a:off x="-30666" y="1074527"/>
            <a:ext cx="5885874" cy="646331"/>
          </a:xfrm>
          <a:prstGeom prst="rect">
            <a:avLst/>
          </a:prstGeom>
          <a:noFill/>
        </p:spPr>
        <p:txBody>
          <a:bodyPr wrap="square">
            <a:spAutoFit/>
          </a:bodyPr>
          <a:lstStyle/>
          <a:p>
            <a:r>
              <a:rPr lang="es-CL" dirty="0"/>
              <a:t>1.Escribe un programa en Java que valide que un numero es mayor que 5 ( </a:t>
            </a:r>
            <a:r>
              <a:rPr lang="es-CL" dirty="0" err="1"/>
              <a:t>if</a:t>
            </a:r>
            <a:r>
              <a:rPr lang="es-CL" dirty="0"/>
              <a:t>)</a:t>
            </a:r>
          </a:p>
        </p:txBody>
      </p:sp>
      <p:pic>
        <p:nvPicPr>
          <p:cNvPr id="16" name="Imagen 15">
            <a:extLst>
              <a:ext uri="{FF2B5EF4-FFF2-40B4-BE49-F238E27FC236}">
                <a16:creationId xmlns:a16="http://schemas.microsoft.com/office/drawing/2014/main" id="{350F33AC-415E-8C99-D032-D6DD2B4D4E74}"/>
              </a:ext>
            </a:extLst>
          </p:cNvPr>
          <p:cNvPicPr>
            <a:picLocks noChangeAspect="1"/>
          </p:cNvPicPr>
          <p:nvPr/>
        </p:nvPicPr>
        <p:blipFill>
          <a:blip r:embed="rId3"/>
          <a:stretch>
            <a:fillRect/>
          </a:stretch>
        </p:blipFill>
        <p:spPr>
          <a:xfrm>
            <a:off x="5855208" y="1985695"/>
            <a:ext cx="4325017" cy="4223081"/>
          </a:xfrm>
          <a:prstGeom prst="rect">
            <a:avLst/>
          </a:prstGeom>
        </p:spPr>
      </p:pic>
    </p:spTree>
    <p:extLst>
      <p:ext uri="{BB962C8B-B14F-4D97-AF65-F5344CB8AC3E}">
        <p14:creationId xmlns:p14="http://schemas.microsoft.com/office/powerpoint/2010/main" val="3761282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A6EBC-A2CC-2C90-65C9-1B07175AAD6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B3013A-7EE5-2D24-0C59-8C9584F176E8}"/>
              </a:ext>
            </a:extLst>
          </p:cNvPr>
          <p:cNvSpPr>
            <a:spLocks noGrp="1"/>
          </p:cNvSpPr>
          <p:nvPr>
            <p:ph type="title"/>
          </p:nvPr>
        </p:nvSpPr>
        <p:spPr/>
        <p:txBody>
          <a:bodyPr>
            <a:normAutofit fontScale="90000"/>
          </a:bodyPr>
          <a:lstStyle/>
          <a:p>
            <a:r>
              <a:rPr lang="es-CL" dirty="0"/>
              <a:t>Ejemplos(</a:t>
            </a:r>
            <a:r>
              <a:rPr lang="es-CL" dirty="0" err="1"/>
              <a:t>if</a:t>
            </a:r>
            <a:r>
              <a:rPr lang="es-CL" dirty="0"/>
              <a:t> anidado)</a:t>
            </a:r>
          </a:p>
        </p:txBody>
      </p:sp>
      <p:sp>
        <p:nvSpPr>
          <p:cNvPr id="4" name="CuadroTexto 3">
            <a:extLst>
              <a:ext uri="{FF2B5EF4-FFF2-40B4-BE49-F238E27FC236}">
                <a16:creationId xmlns:a16="http://schemas.microsoft.com/office/drawing/2014/main" id="{FADCF97E-5EFC-43B4-1E7C-AB1D7FC57F13}"/>
              </a:ext>
            </a:extLst>
          </p:cNvPr>
          <p:cNvSpPr txBox="1"/>
          <p:nvPr/>
        </p:nvSpPr>
        <p:spPr>
          <a:xfrm>
            <a:off x="1474901" y="952976"/>
            <a:ext cx="10073971" cy="923330"/>
          </a:xfrm>
          <a:prstGeom prst="rect">
            <a:avLst/>
          </a:prstGeom>
          <a:noFill/>
        </p:spPr>
        <p:txBody>
          <a:bodyPr wrap="square">
            <a:spAutoFit/>
          </a:bodyPr>
          <a:lstStyle/>
          <a:p>
            <a:pPr>
              <a:buNone/>
            </a:pPr>
            <a:r>
              <a:rPr lang="es-CL" dirty="0"/>
              <a:t>3. Escribe un programa en Java que pida un número entero y determine:</a:t>
            </a:r>
          </a:p>
          <a:p>
            <a:pPr>
              <a:buFont typeface="Arial" panose="020B0604020202020204" pitchFamily="34" charset="0"/>
              <a:buChar char="•"/>
            </a:pPr>
            <a:r>
              <a:rPr lang="es-CL" dirty="0"/>
              <a:t>Si es positivo, negativo o cero.</a:t>
            </a:r>
          </a:p>
          <a:p>
            <a:pPr>
              <a:buFont typeface="Arial" panose="020B0604020202020204" pitchFamily="34" charset="0"/>
              <a:buChar char="•"/>
            </a:pPr>
            <a:r>
              <a:rPr lang="es-CL" dirty="0"/>
              <a:t>Si es positivo, además debe verificar si es </a:t>
            </a:r>
            <a:r>
              <a:rPr lang="es-CL" b="1" dirty="0"/>
              <a:t>par</a:t>
            </a:r>
            <a:r>
              <a:rPr lang="es-CL" dirty="0"/>
              <a:t> o </a:t>
            </a:r>
            <a:r>
              <a:rPr lang="es-CL" b="1" dirty="0"/>
              <a:t>impar</a:t>
            </a:r>
            <a:r>
              <a:rPr lang="es-CL" dirty="0"/>
              <a:t> (usando un </a:t>
            </a:r>
            <a:r>
              <a:rPr lang="es-CL" dirty="0" err="1">
                <a:latin typeface="Courier New" panose="02070309020205020404" pitchFamily="49" charset="0"/>
              </a:rPr>
              <a:t>if</a:t>
            </a:r>
            <a:r>
              <a:rPr lang="es-CL" dirty="0"/>
              <a:t> anidado).</a:t>
            </a:r>
          </a:p>
        </p:txBody>
      </p:sp>
      <p:pic>
        <p:nvPicPr>
          <p:cNvPr id="7" name="Imagen 6">
            <a:extLst>
              <a:ext uri="{FF2B5EF4-FFF2-40B4-BE49-F238E27FC236}">
                <a16:creationId xmlns:a16="http://schemas.microsoft.com/office/drawing/2014/main" id="{BD894530-0477-EB94-E03E-CF1DA36784AA}"/>
              </a:ext>
            </a:extLst>
          </p:cNvPr>
          <p:cNvPicPr>
            <a:picLocks noChangeAspect="1"/>
          </p:cNvPicPr>
          <p:nvPr/>
        </p:nvPicPr>
        <p:blipFill>
          <a:blip r:embed="rId2"/>
          <a:stretch>
            <a:fillRect/>
          </a:stretch>
        </p:blipFill>
        <p:spPr>
          <a:xfrm>
            <a:off x="990600" y="1948026"/>
            <a:ext cx="4839964" cy="4954836"/>
          </a:xfrm>
          <a:prstGeom prst="rect">
            <a:avLst/>
          </a:prstGeom>
        </p:spPr>
      </p:pic>
    </p:spTree>
    <p:extLst>
      <p:ext uri="{BB962C8B-B14F-4D97-AF65-F5344CB8AC3E}">
        <p14:creationId xmlns:p14="http://schemas.microsoft.com/office/powerpoint/2010/main" val="566313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2B62F-786B-6D64-D155-B3F40F3E36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11D35C-C1E3-F294-4E6B-3F2C428770D9}"/>
              </a:ext>
            </a:extLst>
          </p:cNvPr>
          <p:cNvSpPr>
            <a:spLocks noGrp="1"/>
          </p:cNvSpPr>
          <p:nvPr>
            <p:ph type="title"/>
          </p:nvPr>
        </p:nvSpPr>
        <p:spPr/>
        <p:txBody>
          <a:bodyPr>
            <a:normAutofit fontScale="90000"/>
          </a:bodyPr>
          <a:lstStyle/>
          <a:p>
            <a:r>
              <a:rPr lang="es-CL" dirty="0"/>
              <a:t>Ejemplos( switch)</a:t>
            </a:r>
          </a:p>
        </p:txBody>
      </p:sp>
      <p:pic>
        <p:nvPicPr>
          <p:cNvPr id="5" name="Imagen 4">
            <a:extLst>
              <a:ext uri="{FF2B5EF4-FFF2-40B4-BE49-F238E27FC236}">
                <a16:creationId xmlns:a16="http://schemas.microsoft.com/office/drawing/2014/main" id="{83304AD6-9DE2-A763-EF5F-C19924A13393}"/>
              </a:ext>
            </a:extLst>
          </p:cNvPr>
          <p:cNvPicPr>
            <a:picLocks noChangeAspect="1"/>
          </p:cNvPicPr>
          <p:nvPr/>
        </p:nvPicPr>
        <p:blipFill>
          <a:blip r:embed="rId2"/>
          <a:stretch>
            <a:fillRect/>
          </a:stretch>
        </p:blipFill>
        <p:spPr>
          <a:xfrm>
            <a:off x="1474901" y="1179576"/>
            <a:ext cx="5743033" cy="5678424"/>
          </a:xfrm>
          <a:prstGeom prst="rect">
            <a:avLst/>
          </a:prstGeom>
        </p:spPr>
      </p:pic>
      <p:sp>
        <p:nvSpPr>
          <p:cNvPr id="8" name="CuadroTexto 7">
            <a:extLst>
              <a:ext uri="{FF2B5EF4-FFF2-40B4-BE49-F238E27FC236}">
                <a16:creationId xmlns:a16="http://schemas.microsoft.com/office/drawing/2014/main" id="{1E913737-7B60-C07C-80DD-E8724AFB96ED}"/>
              </a:ext>
            </a:extLst>
          </p:cNvPr>
          <p:cNvSpPr txBox="1"/>
          <p:nvPr/>
        </p:nvSpPr>
        <p:spPr>
          <a:xfrm>
            <a:off x="4622623" y="881257"/>
            <a:ext cx="6094476" cy="923330"/>
          </a:xfrm>
          <a:prstGeom prst="rect">
            <a:avLst/>
          </a:prstGeom>
          <a:noFill/>
        </p:spPr>
        <p:txBody>
          <a:bodyPr wrap="square">
            <a:spAutoFit/>
          </a:bodyPr>
          <a:lstStyle/>
          <a:p>
            <a:r>
              <a:rPr lang="es-CL" dirty="0"/>
              <a:t>Escribe un programa en Java que lea un número del </a:t>
            </a:r>
            <a:r>
              <a:rPr lang="es-CL" b="1" dirty="0"/>
              <a:t>1 al 7</a:t>
            </a:r>
            <a:r>
              <a:rPr lang="es-CL" dirty="0"/>
              <a:t> e imprima el </a:t>
            </a:r>
            <a:r>
              <a:rPr lang="es-CL" b="1" dirty="0"/>
              <a:t>día de la semana</a:t>
            </a:r>
            <a:r>
              <a:rPr lang="es-CL" dirty="0"/>
              <a:t> correspondiente. Si el número no está en ese rango, debe mostrar un mensaje de error.</a:t>
            </a:r>
          </a:p>
        </p:txBody>
      </p:sp>
    </p:spTree>
    <p:extLst>
      <p:ext uri="{BB962C8B-B14F-4D97-AF65-F5344CB8AC3E}">
        <p14:creationId xmlns:p14="http://schemas.microsoft.com/office/powerpoint/2010/main" val="3763682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Juego: ¿if o switch?</a:t>
            </a:r>
          </a:p>
        </p:txBody>
      </p:sp>
      <p:sp>
        <p:nvSpPr>
          <p:cNvPr id="3" name="TextBox 2"/>
          <p:cNvSpPr txBox="1"/>
          <p:nvPr/>
        </p:nvSpPr>
        <p:spPr>
          <a:xfrm>
            <a:off x="640080" y="1234440"/>
            <a:ext cx="10972800" cy="457200"/>
          </a:xfrm>
          <a:prstGeom prst="rect">
            <a:avLst/>
          </a:prstGeom>
          <a:noFill/>
        </p:spPr>
        <p:txBody>
          <a:bodyPr wrap="square" lIns="0" rIns="0" tIns="0" bIns="0" anchor="t">
            <a:spAutoFit/>
          </a:bodyPr>
          <a:lstStyle/>
          <a:p>
            <a:pPr algn="l">
              <a:spcAft>
                <a:spcPts val="400"/>
              </a:spcAft>
            </a:pPr>
            <a:r>
              <a:rPr sz="1800" b="1" i="0">
                <a:solidFill>
                  <a:srgbClr val="FF5A5F"/>
                </a:solidFill>
                <a:latin typeface="Arial"/>
              </a:rPr>
              <a:t>En equipos: </a:t>
            </a:r>
            <a:r>
              <a:rPr sz="1800" b="0" i="0">
                <a:solidFill>
                  <a:srgbClr val="4A5A6A"/>
                </a:solidFill>
                <a:latin typeface="Arial"/>
              </a:rPr>
              <a:t>¿qué sentencia usarías en cada caso? ¡Gana el equipo más rápido!</a:t>
            </a:r>
          </a:p>
        </p:txBody>
      </p:sp>
      <p:sp>
        <p:nvSpPr>
          <p:cNvPr id="4" name="Rounded Rectangle 3"/>
          <p:cNvSpPr/>
          <p:nvPr/>
        </p:nvSpPr>
        <p:spPr>
          <a:xfrm>
            <a:off x="640080" y="1874519"/>
            <a:ext cx="3474720" cy="17830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2103120"/>
            <a:ext cx="685800" cy="6858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hash_w.png"/>
          <p:cNvPicPr>
            <a:picLocks noChangeAspect="1"/>
          </p:cNvPicPr>
          <p:nvPr/>
        </p:nvPicPr>
        <p:blipFill>
          <a:blip r:embed="rId2"/>
          <a:stretch>
            <a:fillRect/>
          </a:stretch>
        </p:blipFill>
        <p:spPr>
          <a:xfrm>
            <a:off x="1033271" y="2267712"/>
            <a:ext cx="356616" cy="356616"/>
          </a:xfrm>
          <a:prstGeom prst="rect">
            <a:avLst/>
          </a:prstGeom>
        </p:spPr>
      </p:pic>
      <p:sp>
        <p:nvSpPr>
          <p:cNvPr id="7" name="TextBox 6"/>
          <p:cNvSpPr txBox="1"/>
          <p:nvPr/>
        </p:nvSpPr>
        <p:spPr>
          <a:xfrm>
            <a:off x="3291839" y="2057400"/>
            <a:ext cx="640080" cy="640080"/>
          </a:xfrm>
          <a:prstGeom prst="rect">
            <a:avLst/>
          </a:prstGeom>
          <a:noFill/>
        </p:spPr>
        <p:txBody>
          <a:bodyPr wrap="square" lIns="0" rIns="0" tIns="0" bIns="0" anchor="t">
            <a:spAutoFit/>
          </a:bodyPr>
          <a:lstStyle/>
          <a:p>
            <a:pPr algn="r">
              <a:spcAft>
                <a:spcPts val="400"/>
              </a:spcAft>
            </a:pPr>
            <a:r>
              <a:rPr sz="3200" b="1" i="0">
                <a:solidFill>
                  <a:srgbClr val="257CE1"/>
                </a:solidFill>
                <a:latin typeface="Arial"/>
              </a:rPr>
              <a:t>?</a:t>
            </a:r>
          </a:p>
        </p:txBody>
      </p:sp>
      <p:sp>
        <p:nvSpPr>
          <p:cNvPr id="8" name="TextBox 7"/>
          <p:cNvSpPr txBox="1"/>
          <p:nvPr/>
        </p:nvSpPr>
        <p:spPr>
          <a:xfrm>
            <a:off x="868680" y="2834639"/>
            <a:ext cx="3063240" cy="73152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Saber si un número es par o impar</a:t>
            </a:r>
          </a:p>
        </p:txBody>
      </p:sp>
      <p:sp>
        <p:nvSpPr>
          <p:cNvPr id="9" name="Rounded Rectangle 8"/>
          <p:cNvSpPr/>
          <p:nvPr/>
        </p:nvSpPr>
        <p:spPr>
          <a:xfrm>
            <a:off x="4343400" y="1874519"/>
            <a:ext cx="3474720" cy="17830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72000" y="2103120"/>
            <a:ext cx="685800" cy="68580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tm_w.png"/>
          <p:cNvPicPr>
            <a:picLocks noChangeAspect="1"/>
          </p:cNvPicPr>
          <p:nvPr/>
        </p:nvPicPr>
        <p:blipFill>
          <a:blip r:embed="rId3"/>
          <a:stretch>
            <a:fillRect/>
          </a:stretch>
        </p:blipFill>
        <p:spPr>
          <a:xfrm>
            <a:off x="4736592" y="2267712"/>
            <a:ext cx="356616" cy="356616"/>
          </a:xfrm>
          <a:prstGeom prst="rect">
            <a:avLst/>
          </a:prstGeom>
        </p:spPr>
      </p:pic>
      <p:sp>
        <p:nvSpPr>
          <p:cNvPr id="12" name="TextBox 11"/>
          <p:cNvSpPr txBox="1"/>
          <p:nvPr/>
        </p:nvSpPr>
        <p:spPr>
          <a:xfrm>
            <a:off x="6995160" y="2057400"/>
            <a:ext cx="640080" cy="640080"/>
          </a:xfrm>
          <a:prstGeom prst="rect">
            <a:avLst/>
          </a:prstGeom>
          <a:noFill/>
        </p:spPr>
        <p:txBody>
          <a:bodyPr wrap="square" lIns="0" rIns="0" tIns="0" bIns="0" anchor="t">
            <a:spAutoFit/>
          </a:bodyPr>
          <a:lstStyle/>
          <a:p>
            <a:pPr algn="r">
              <a:spcAft>
                <a:spcPts val="400"/>
              </a:spcAft>
            </a:pPr>
            <a:r>
              <a:rPr sz="3200" b="1" i="0">
                <a:solidFill>
                  <a:srgbClr val="FF5A5F"/>
                </a:solidFill>
                <a:latin typeface="Arial"/>
              </a:rPr>
              <a:t>?</a:t>
            </a:r>
          </a:p>
        </p:txBody>
      </p:sp>
      <p:sp>
        <p:nvSpPr>
          <p:cNvPr id="13" name="TextBox 12"/>
          <p:cNvSpPr txBox="1"/>
          <p:nvPr/>
        </p:nvSpPr>
        <p:spPr>
          <a:xfrm>
            <a:off x="4572000" y="2834639"/>
            <a:ext cx="3063240" cy="73152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Menú de un cajero: 1 Saldo, 2 Giro, 3 Salir</a:t>
            </a:r>
          </a:p>
        </p:txBody>
      </p:sp>
      <p:sp>
        <p:nvSpPr>
          <p:cNvPr id="14" name="Rounded Rectangle 13"/>
          <p:cNvSpPr/>
          <p:nvPr/>
        </p:nvSpPr>
        <p:spPr>
          <a:xfrm>
            <a:off x="8046719" y="1874519"/>
            <a:ext cx="3474720" cy="17830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75319" y="2103120"/>
            <a:ext cx="685800" cy="68580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w.png"/>
          <p:cNvPicPr>
            <a:picLocks noChangeAspect="1"/>
          </p:cNvPicPr>
          <p:nvPr/>
        </p:nvPicPr>
        <p:blipFill>
          <a:blip r:embed="rId4"/>
          <a:stretch>
            <a:fillRect/>
          </a:stretch>
        </p:blipFill>
        <p:spPr>
          <a:xfrm>
            <a:off x="8439911" y="2267712"/>
            <a:ext cx="356616" cy="356616"/>
          </a:xfrm>
          <a:prstGeom prst="rect">
            <a:avLst/>
          </a:prstGeom>
        </p:spPr>
      </p:pic>
      <p:sp>
        <p:nvSpPr>
          <p:cNvPr id="17" name="TextBox 16"/>
          <p:cNvSpPr txBox="1"/>
          <p:nvPr/>
        </p:nvSpPr>
        <p:spPr>
          <a:xfrm>
            <a:off x="10698480" y="2057400"/>
            <a:ext cx="640080" cy="640080"/>
          </a:xfrm>
          <a:prstGeom prst="rect">
            <a:avLst/>
          </a:prstGeom>
          <a:noFill/>
        </p:spPr>
        <p:txBody>
          <a:bodyPr wrap="square" lIns="0" rIns="0" tIns="0" bIns="0" anchor="t">
            <a:spAutoFit/>
          </a:bodyPr>
          <a:lstStyle/>
          <a:p>
            <a:pPr algn="r">
              <a:spcAft>
                <a:spcPts val="400"/>
              </a:spcAft>
            </a:pPr>
            <a:r>
              <a:rPr sz="3200" b="1" i="0">
                <a:solidFill>
                  <a:srgbClr val="1FB58F"/>
                </a:solidFill>
                <a:latin typeface="Arial"/>
              </a:rPr>
              <a:t>?</a:t>
            </a:r>
          </a:p>
        </p:txBody>
      </p:sp>
      <p:sp>
        <p:nvSpPr>
          <p:cNvPr id="18" name="TextBox 17"/>
          <p:cNvSpPr txBox="1"/>
          <p:nvPr/>
        </p:nvSpPr>
        <p:spPr>
          <a:xfrm>
            <a:off x="8275319" y="2834639"/>
            <a:ext cx="3063240" cy="73152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Revisar si aprobaste el ramo (nota ≥ 4.0)</a:t>
            </a:r>
          </a:p>
        </p:txBody>
      </p:sp>
      <p:sp>
        <p:nvSpPr>
          <p:cNvPr id="19" name="Rounded Rectangle 18"/>
          <p:cNvSpPr/>
          <p:nvPr/>
        </p:nvSpPr>
        <p:spPr>
          <a:xfrm>
            <a:off x="640080" y="3886200"/>
            <a:ext cx="3474720" cy="17830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8680" y="4114800"/>
            <a:ext cx="685800" cy="68580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calendar_w.png"/>
          <p:cNvPicPr>
            <a:picLocks noChangeAspect="1"/>
          </p:cNvPicPr>
          <p:nvPr/>
        </p:nvPicPr>
        <p:blipFill>
          <a:blip r:embed="rId5"/>
          <a:stretch>
            <a:fillRect/>
          </a:stretch>
        </p:blipFill>
        <p:spPr>
          <a:xfrm>
            <a:off x="1033271" y="4279392"/>
            <a:ext cx="356616" cy="356616"/>
          </a:xfrm>
          <a:prstGeom prst="rect">
            <a:avLst/>
          </a:prstGeom>
        </p:spPr>
      </p:pic>
      <p:sp>
        <p:nvSpPr>
          <p:cNvPr id="22" name="TextBox 21"/>
          <p:cNvSpPr txBox="1"/>
          <p:nvPr/>
        </p:nvSpPr>
        <p:spPr>
          <a:xfrm>
            <a:off x="3291839" y="4069080"/>
            <a:ext cx="640080" cy="640080"/>
          </a:xfrm>
          <a:prstGeom prst="rect">
            <a:avLst/>
          </a:prstGeom>
          <a:noFill/>
        </p:spPr>
        <p:txBody>
          <a:bodyPr wrap="square" lIns="0" rIns="0" tIns="0" bIns="0" anchor="t">
            <a:spAutoFit/>
          </a:bodyPr>
          <a:lstStyle/>
          <a:p>
            <a:pPr algn="r">
              <a:spcAft>
                <a:spcPts val="400"/>
              </a:spcAft>
            </a:pPr>
            <a:r>
              <a:rPr sz="3200" b="1" i="0">
                <a:solidFill>
                  <a:srgbClr val="7B5CFA"/>
                </a:solidFill>
                <a:latin typeface="Arial"/>
              </a:rPr>
              <a:t>?</a:t>
            </a:r>
          </a:p>
        </p:txBody>
      </p:sp>
      <p:sp>
        <p:nvSpPr>
          <p:cNvPr id="23" name="TextBox 22"/>
          <p:cNvSpPr txBox="1"/>
          <p:nvPr/>
        </p:nvSpPr>
        <p:spPr>
          <a:xfrm>
            <a:off x="868680" y="4846320"/>
            <a:ext cx="3063240" cy="73152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Convertir un número del 1 al 12 en el nombre del mes</a:t>
            </a:r>
          </a:p>
        </p:txBody>
      </p:sp>
      <p:sp>
        <p:nvSpPr>
          <p:cNvPr id="24" name="Rounded Rectangle 23"/>
          <p:cNvSpPr/>
          <p:nvPr/>
        </p:nvSpPr>
        <p:spPr>
          <a:xfrm>
            <a:off x="4343400" y="3886200"/>
            <a:ext cx="3474720" cy="17830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572000" y="4114800"/>
            <a:ext cx="685800" cy="68580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umbrella_w.png"/>
          <p:cNvPicPr>
            <a:picLocks noChangeAspect="1"/>
          </p:cNvPicPr>
          <p:nvPr/>
        </p:nvPicPr>
        <p:blipFill>
          <a:blip r:embed="rId6"/>
          <a:stretch>
            <a:fillRect/>
          </a:stretch>
        </p:blipFill>
        <p:spPr>
          <a:xfrm>
            <a:off x="4736592" y="4279392"/>
            <a:ext cx="356616" cy="356616"/>
          </a:xfrm>
          <a:prstGeom prst="rect">
            <a:avLst/>
          </a:prstGeom>
        </p:spPr>
      </p:pic>
      <p:sp>
        <p:nvSpPr>
          <p:cNvPr id="27" name="TextBox 26"/>
          <p:cNvSpPr txBox="1"/>
          <p:nvPr/>
        </p:nvSpPr>
        <p:spPr>
          <a:xfrm>
            <a:off x="6995160" y="4069080"/>
            <a:ext cx="640080" cy="640080"/>
          </a:xfrm>
          <a:prstGeom prst="rect">
            <a:avLst/>
          </a:prstGeom>
          <a:noFill/>
        </p:spPr>
        <p:txBody>
          <a:bodyPr wrap="square" lIns="0" rIns="0" tIns="0" bIns="0" anchor="t">
            <a:spAutoFit/>
          </a:bodyPr>
          <a:lstStyle/>
          <a:p>
            <a:pPr algn="r">
              <a:spcAft>
                <a:spcPts val="400"/>
              </a:spcAft>
            </a:pPr>
            <a:r>
              <a:rPr sz="3200" b="1" i="0">
                <a:solidFill>
                  <a:srgbClr val="257CE1"/>
                </a:solidFill>
                <a:latin typeface="Arial"/>
              </a:rPr>
              <a:t>?</a:t>
            </a:r>
          </a:p>
        </p:txBody>
      </p:sp>
      <p:sp>
        <p:nvSpPr>
          <p:cNvPr id="28" name="TextBox 27"/>
          <p:cNvSpPr txBox="1"/>
          <p:nvPr/>
        </p:nvSpPr>
        <p:spPr>
          <a:xfrm>
            <a:off x="4572000" y="4846320"/>
            <a:ext cx="3063240" cy="73152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Decidir si llevar paraguas según el % de lluvia</a:t>
            </a:r>
          </a:p>
        </p:txBody>
      </p:sp>
      <p:sp>
        <p:nvSpPr>
          <p:cNvPr id="29" name="Rounded Rectangle 28"/>
          <p:cNvSpPr/>
          <p:nvPr/>
        </p:nvSpPr>
        <p:spPr>
          <a:xfrm>
            <a:off x="8046719" y="3886200"/>
            <a:ext cx="3474720" cy="17830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275319" y="4114800"/>
            <a:ext cx="685800" cy="68580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hat_w.png"/>
          <p:cNvPicPr>
            <a:picLocks noChangeAspect="1"/>
          </p:cNvPicPr>
          <p:nvPr/>
        </p:nvPicPr>
        <p:blipFill>
          <a:blip r:embed="rId7"/>
          <a:stretch>
            <a:fillRect/>
          </a:stretch>
        </p:blipFill>
        <p:spPr>
          <a:xfrm>
            <a:off x="8439911" y="4279392"/>
            <a:ext cx="356616" cy="356616"/>
          </a:xfrm>
          <a:prstGeom prst="rect">
            <a:avLst/>
          </a:prstGeom>
        </p:spPr>
      </p:pic>
      <p:sp>
        <p:nvSpPr>
          <p:cNvPr id="32" name="TextBox 31"/>
          <p:cNvSpPr txBox="1"/>
          <p:nvPr/>
        </p:nvSpPr>
        <p:spPr>
          <a:xfrm>
            <a:off x="10698480" y="4069080"/>
            <a:ext cx="640080" cy="640080"/>
          </a:xfrm>
          <a:prstGeom prst="rect">
            <a:avLst/>
          </a:prstGeom>
          <a:noFill/>
        </p:spPr>
        <p:txBody>
          <a:bodyPr wrap="square" lIns="0" rIns="0" tIns="0" bIns="0" anchor="t">
            <a:spAutoFit/>
          </a:bodyPr>
          <a:lstStyle/>
          <a:p>
            <a:pPr algn="r">
              <a:spcAft>
                <a:spcPts val="400"/>
              </a:spcAft>
            </a:pPr>
            <a:r>
              <a:rPr sz="3200" b="1" i="0">
                <a:solidFill>
                  <a:srgbClr val="FF5A5F"/>
                </a:solidFill>
                <a:latin typeface="Arial"/>
              </a:rPr>
              <a:t>?</a:t>
            </a:r>
          </a:p>
        </p:txBody>
      </p:sp>
      <p:sp>
        <p:nvSpPr>
          <p:cNvPr id="33" name="TextBox 32"/>
          <p:cNvSpPr txBox="1"/>
          <p:nvPr/>
        </p:nvSpPr>
        <p:spPr>
          <a:xfrm>
            <a:off x="8275319" y="4846320"/>
            <a:ext cx="3063240" cy="73152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Elegir personaje: 1 Mago, 2 Guerrero, 3 Arquero</a:t>
            </a:r>
          </a:p>
        </p:txBody>
      </p:sp>
      <p:sp>
        <p:nvSpPr>
          <p:cNvPr id="34" name="Rounded Rectangle 33"/>
          <p:cNvSpPr/>
          <p:nvPr/>
        </p:nvSpPr>
        <p:spPr>
          <a:xfrm>
            <a:off x="2194560" y="5852160"/>
            <a:ext cx="7772400" cy="45720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lightbulb_n.png"/>
          <p:cNvPicPr>
            <a:picLocks noChangeAspect="1"/>
          </p:cNvPicPr>
          <p:nvPr/>
        </p:nvPicPr>
        <p:blipFill>
          <a:blip r:embed="rId8"/>
          <a:stretch>
            <a:fillRect/>
          </a:stretch>
        </p:blipFill>
        <p:spPr>
          <a:xfrm>
            <a:off x="2331720" y="5875020"/>
            <a:ext cx="411480" cy="411480"/>
          </a:xfrm>
          <a:prstGeom prst="rect">
            <a:avLst/>
          </a:prstGeom>
        </p:spPr>
      </p:pic>
      <p:sp>
        <p:nvSpPr>
          <p:cNvPr id="36" name="TextBox 35"/>
          <p:cNvSpPr txBox="1"/>
          <p:nvPr/>
        </p:nvSpPr>
        <p:spPr>
          <a:xfrm>
            <a:off x="2880360" y="5852160"/>
            <a:ext cx="6903720" cy="45720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Pista: ¿es una condición o un valor exacto?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4435823" y="4523787"/>
            <a:ext cx="6653916" cy="1293817"/>
          </a:xfrm>
        </p:spPr>
        <p:txBody>
          <a:bodyPr/>
          <a:lstStyle/>
          <a:p>
            <a:r>
              <a:rPr lang="es-CL" sz="4002" dirty="0"/>
              <a:t>ESTRUCTURAS ITERATIVAS</a:t>
            </a:r>
          </a:p>
        </p:txBody>
      </p:sp>
      <p:sp>
        <p:nvSpPr>
          <p:cNvPr id="3" name="Título 1">
            <a:extLst>
              <a:ext uri="{FF2B5EF4-FFF2-40B4-BE49-F238E27FC236}">
                <a16:creationId xmlns:a16="http://schemas.microsoft.com/office/drawing/2014/main" id="{9224DE7A-4464-F54B-B074-7663E7D43917}"/>
              </a:ext>
            </a:extLst>
          </p:cNvPr>
          <p:cNvSpPr txBox="1">
            <a:spLocks/>
          </p:cNvSpPr>
          <p:nvPr/>
        </p:nvSpPr>
        <p:spPr>
          <a:xfrm>
            <a:off x="3415951" y="4722817"/>
            <a:ext cx="1013270" cy="89575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5821" dirty="0">
                <a:solidFill>
                  <a:srgbClr val="257CE1"/>
                </a:solidFill>
                <a:latin typeface="Arial Black" panose="020B0604020202020204" pitchFamily="34" charset="0"/>
                <a:cs typeface="Arial Black" panose="020B0604020202020204" pitchFamily="34" charset="0"/>
              </a:rPr>
              <a:t>02</a:t>
            </a:r>
          </a:p>
        </p:txBody>
      </p:sp>
    </p:spTree>
    <p:extLst>
      <p:ext uri="{BB962C8B-B14F-4D97-AF65-F5344CB8AC3E}">
        <p14:creationId xmlns:p14="http://schemas.microsoft.com/office/powerpoint/2010/main" val="635118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Ciclos en la vida real</a:t>
            </a:r>
          </a:p>
        </p:txBody>
      </p:sp>
      <p:sp>
        <p:nvSpPr>
          <p:cNvPr id="3" name="TextBox 2"/>
          <p:cNvSpPr txBox="1"/>
          <p:nvPr/>
        </p:nvSpPr>
        <p:spPr>
          <a:xfrm>
            <a:off x="640080" y="1280160"/>
            <a:ext cx="10972800" cy="457200"/>
          </a:xfrm>
          <a:prstGeom prst="rect">
            <a:avLst/>
          </a:prstGeom>
          <a:noFill/>
        </p:spPr>
        <p:txBody>
          <a:bodyPr wrap="square" lIns="0" rIns="0" tIns="0" bIns="0" anchor="t">
            <a:spAutoFit/>
          </a:bodyPr>
          <a:lstStyle/>
          <a:p>
            <a:pPr algn="l">
              <a:spcAft>
                <a:spcPts val="400"/>
              </a:spcAft>
            </a:pPr>
            <a:r>
              <a:rPr sz="1800" b="0" i="0">
                <a:solidFill>
                  <a:srgbClr val="4A5A6A"/>
                </a:solidFill>
                <a:latin typeface="Arial"/>
              </a:rPr>
              <a:t>Un ciclo repite instrucciones para que no tengas que copiar y pegar el mismo código 100 veces.</a:t>
            </a:r>
          </a:p>
        </p:txBody>
      </p:sp>
      <p:sp>
        <p:nvSpPr>
          <p:cNvPr id="4" name="Rounded Rectangle 3"/>
          <p:cNvSpPr/>
          <p:nvPr/>
        </p:nvSpPr>
        <p:spPr>
          <a:xfrm>
            <a:off x="640080" y="1874519"/>
            <a:ext cx="3474720" cy="40690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2057400"/>
            <a:ext cx="777240" cy="77724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utensils_w.png"/>
          <p:cNvPicPr>
            <a:picLocks noChangeAspect="1"/>
          </p:cNvPicPr>
          <p:nvPr/>
        </p:nvPicPr>
        <p:blipFill>
          <a:blip r:embed="rId2"/>
          <a:stretch>
            <a:fillRect/>
          </a:stretch>
        </p:blipFill>
        <p:spPr>
          <a:xfrm>
            <a:off x="1055217" y="2243937"/>
            <a:ext cx="404164" cy="404164"/>
          </a:xfrm>
          <a:prstGeom prst="rect">
            <a:avLst/>
          </a:prstGeom>
        </p:spPr>
      </p:pic>
      <p:sp>
        <p:nvSpPr>
          <p:cNvPr id="7" name="TextBox 6"/>
          <p:cNvSpPr txBox="1"/>
          <p:nvPr/>
        </p:nvSpPr>
        <p:spPr>
          <a:xfrm>
            <a:off x="1783080" y="2011680"/>
            <a:ext cx="2194560" cy="457200"/>
          </a:xfrm>
          <a:prstGeom prst="rect">
            <a:avLst/>
          </a:prstGeom>
          <a:noFill/>
        </p:spPr>
        <p:txBody>
          <a:bodyPr wrap="square" lIns="0" rIns="0" tIns="0" bIns="0" anchor="t">
            <a:spAutoFit/>
          </a:bodyPr>
          <a:lstStyle/>
          <a:p>
            <a:pPr algn="l">
              <a:spcAft>
                <a:spcPts val="400"/>
              </a:spcAft>
            </a:pPr>
            <a:r>
              <a:rPr sz="2400" b="1" i="0">
                <a:solidFill>
                  <a:srgbClr val="257CE1"/>
                </a:solidFill>
                <a:latin typeface="Courier New"/>
              </a:rPr>
              <a:t>while</a:t>
            </a:r>
          </a:p>
        </p:txBody>
      </p:sp>
      <p:sp>
        <p:nvSpPr>
          <p:cNvPr id="8" name="TextBox 7"/>
          <p:cNvSpPr txBox="1"/>
          <p:nvPr/>
        </p:nvSpPr>
        <p:spPr>
          <a:xfrm>
            <a:off x="1783080" y="2468880"/>
            <a:ext cx="2194560" cy="365760"/>
          </a:xfrm>
          <a:prstGeom prst="rect">
            <a:avLst/>
          </a:prstGeom>
          <a:noFill/>
        </p:spPr>
        <p:txBody>
          <a:bodyPr wrap="square" lIns="0" rIns="0" tIns="0" bIns="0" anchor="t">
            <a:spAutoFit/>
          </a:bodyPr>
          <a:lstStyle/>
          <a:p>
            <a:pPr algn="l">
              <a:spcAft>
                <a:spcPts val="400"/>
              </a:spcAft>
            </a:pPr>
            <a:r>
              <a:rPr sz="1300" b="1" i="0">
                <a:solidFill>
                  <a:srgbClr val="4A5A6A"/>
                </a:solidFill>
                <a:latin typeface="Arial"/>
              </a:rPr>
              <a:t>0 → n</a:t>
            </a:r>
          </a:p>
        </p:txBody>
      </p:sp>
      <p:sp>
        <p:nvSpPr>
          <p:cNvPr id="9" name="TextBox 8"/>
          <p:cNvSpPr txBox="1"/>
          <p:nvPr/>
        </p:nvSpPr>
        <p:spPr>
          <a:xfrm>
            <a:off x="868680" y="3017520"/>
            <a:ext cx="3063240" cy="1097280"/>
          </a:xfrm>
          <a:prstGeom prst="rect">
            <a:avLst/>
          </a:prstGeom>
          <a:noFill/>
        </p:spPr>
        <p:txBody>
          <a:bodyPr wrap="square" lIns="0" rIns="0" tIns="0" bIns="0" anchor="t">
            <a:spAutoFit/>
          </a:bodyPr>
          <a:lstStyle/>
          <a:p>
            <a:pPr algn="l">
              <a:spcAft>
                <a:spcPts val="400"/>
              </a:spcAft>
            </a:pPr>
            <a:r>
              <a:rPr sz="1500" b="1" i="0">
                <a:solidFill>
                  <a:srgbClr val="0B2A4A"/>
                </a:solidFill>
                <a:latin typeface="Arial"/>
              </a:rPr>
              <a:t>Mientras tenga hambre, sigo comiendo.</a:t>
            </a:r>
          </a:p>
          <a:p>
            <a:pPr algn="l">
              <a:spcAft>
                <a:spcPts val="400"/>
              </a:spcAft>
            </a:pPr>
            <a:r>
              <a:rPr sz="1500" b="0" i="0">
                <a:solidFill>
                  <a:srgbClr val="4A5A6A"/>
                </a:solidFill>
                <a:latin typeface="Arial"/>
              </a:rPr>
              <a:t>Si no tengo hambre, ¡no como nada!</a:t>
            </a:r>
          </a:p>
        </p:txBody>
      </p:sp>
      <p:sp>
        <p:nvSpPr>
          <p:cNvPr id="10" name="Rounded Rectangle 9"/>
          <p:cNvSpPr/>
          <p:nvPr/>
        </p:nvSpPr>
        <p:spPr>
          <a:xfrm>
            <a:off x="822959" y="4343400"/>
            <a:ext cx="3108960" cy="141732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4526280"/>
            <a:ext cx="2651760" cy="1097280"/>
          </a:xfrm>
          <a:prstGeom prst="rect">
            <a:avLst/>
          </a:prstGeom>
          <a:noFill/>
        </p:spPr>
        <p:txBody>
          <a:bodyPr wrap="square" lIns="0" rIns="0" tIns="0" bIns="0" anchor="t">
            <a:spAutoFit/>
          </a:bodyPr>
          <a:lstStyle/>
          <a:p>
            <a:pPr algn="l">
              <a:spcAft>
                <a:spcPts val="0"/>
              </a:spcAft>
            </a:pPr>
            <a:r>
              <a:rPr sz="1200" b="0" i="0">
                <a:solidFill>
                  <a:srgbClr val="C792EA"/>
                </a:solidFill>
                <a:latin typeface="Courier New"/>
              </a:rPr>
              <a:t>while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tengoHambre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comer</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spcAft>
                <a:spcPts val="0"/>
              </a:spcAft>
            </a:pPr>
            <a:r>
              <a:rPr sz="1200" b="0" i="0">
                <a:solidFill>
                  <a:srgbClr val="E6EDF3"/>
                </a:solidFill>
                <a:latin typeface="Courier New"/>
              </a:rPr>
              <a:t>}</a:t>
            </a:r>
          </a:p>
        </p:txBody>
      </p:sp>
      <p:sp>
        <p:nvSpPr>
          <p:cNvPr id="12" name="Rounded Rectangle 11"/>
          <p:cNvSpPr/>
          <p:nvPr/>
        </p:nvSpPr>
        <p:spPr>
          <a:xfrm>
            <a:off x="4343400" y="1874519"/>
            <a:ext cx="3474720" cy="40690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72000" y="2057400"/>
            <a:ext cx="777240" cy="77724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amepad_w.png"/>
          <p:cNvPicPr>
            <a:picLocks noChangeAspect="1"/>
          </p:cNvPicPr>
          <p:nvPr/>
        </p:nvPicPr>
        <p:blipFill>
          <a:blip r:embed="rId3"/>
          <a:stretch>
            <a:fillRect/>
          </a:stretch>
        </p:blipFill>
        <p:spPr>
          <a:xfrm>
            <a:off x="4758537" y="2243937"/>
            <a:ext cx="404164" cy="404164"/>
          </a:xfrm>
          <a:prstGeom prst="rect">
            <a:avLst/>
          </a:prstGeom>
        </p:spPr>
      </p:pic>
      <p:sp>
        <p:nvSpPr>
          <p:cNvPr id="15" name="TextBox 14"/>
          <p:cNvSpPr txBox="1"/>
          <p:nvPr/>
        </p:nvSpPr>
        <p:spPr>
          <a:xfrm>
            <a:off x="5486400" y="2011680"/>
            <a:ext cx="2194560" cy="457200"/>
          </a:xfrm>
          <a:prstGeom prst="rect">
            <a:avLst/>
          </a:prstGeom>
          <a:noFill/>
        </p:spPr>
        <p:txBody>
          <a:bodyPr wrap="square" lIns="0" rIns="0" tIns="0" bIns="0" anchor="t">
            <a:spAutoFit/>
          </a:bodyPr>
          <a:lstStyle/>
          <a:p>
            <a:pPr algn="l">
              <a:spcAft>
                <a:spcPts val="400"/>
              </a:spcAft>
            </a:pPr>
            <a:r>
              <a:rPr sz="2400" b="1" i="0">
                <a:solidFill>
                  <a:srgbClr val="7B5CFA"/>
                </a:solidFill>
                <a:latin typeface="Courier New"/>
              </a:rPr>
              <a:t>do-while</a:t>
            </a:r>
          </a:p>
        </p:txBody>
      </p:sp>
      <p:sp>
        <p:nvSpPr>
          <p:cNvPr id="16" name="TextBox 15"/>
          <p:cNvSpPr txBox="1"/>
          <p:nvPr/>
        </p:nvSpPr>
        <p:spPr>
          <a:xfrm>
            <a:off x="5486400" y="2468880"/>
            <a:ext cx="2194560" cy="365760"/>
          </a:xfrm>
          <a:prstGeom prst="rect">
            <a:avLst/>
          </a:prstGeom>
          <a:noFill/>
        </p:spPr>
        <p:txBody>
          <a:bodyPr wrap="square" lIns="0" rIns="0" tIns="0" bIns="0" anchor="t">
            <a:spAutoFit/>
          </a:bodyPr>
          <a:lstStyle/>
          <a:p>
            <a:pPr algn="l">
              <a:spcAft>
                <a:spcPts val="400"/>
              </a:spcAft>
            </a:pPr>
            <a:r>
              <a:rPr sz="1300" b="1" i="0">
                <a:solidFill>
                  <a:srgbClr val="4A5A6A"/>
                </a:solidFill>
                <a:latin typeface="Arial"/>
              </a:rPr>
              <a:t>1 → n</a:t>
            </a:r>
          </a:p>
        </p:txBody>
      </p:sp>
      <p:sp>
        <p:nvSpPr>
          <p:cNvPr id="17" name="TextBox 16"/>
          <p:cNvSpPr txBox="1"/>
          <p:nvPr/>
        </p:nvSpPr>
        <p:spPr>
          <a:xfrm>
            <a:off x="4572000" y="3017520"/>
            <a:ext cx="3063240" cy="1097280"/>
          </a:xfrm>
          <a:prstGeom prst="rect">
            <a:avLst/>
          </a:prstGeom>
          <a:noFill/>
        </p:spPr>
        <p:txBody>
          <a:bodyPr wrap="square" lIns="0" rIns="0" tIns="0" bIns="0" anchor="t">
            <a:spAutoFit/>
          </a:bodyPr>
          <a:lstStyle/>
          <a:p>
            <a:pPr algn="l">
              <a:spcAft>
                <a:spcPts val="400"/>
              </a:spcAft>
            </a:pPr>
            <a:r>
              <a:rPr sz="1500" b="1" i="0">
                <a:solidFill>
                  <a:srgbClr val="0B2A4A"/>
                </a:solidFill>
                <a:latin typeface="Arial"/>
              </a:rPr>
              <a:t>El menú del juego aparece al menos una vez.</a:t>
            </a:r>
          </a:p>
          <a:p>
            <a:pPr algn="l">
              <a:spcAft>
                <a:spcPts val="400"/>
              </a:spcAft>
            </a:pPr>
            <a:r>
              <a:rPr sz="1500" b="0" i="0">
                <a:solidFill>
                  <a:srgbClr val="4A5A6A"/>
                </a:solidFill>
                <a:latin typeface="Arial"/>
              </a:rPr>
              <a:t>Se repite mientras no elijas Salir.</a:t>
            </a:r>
          </a:p>
        </p:txBody>
      </p:sp>
      <p:sp>
        <p:nvSpPr>
          <p:cNvPr id="18" name="Rounded Rectangle 17"/>
          <p:cNvSpPr/>
          <p:nvPr/>
        </p:nvSpPr>
        <p:spPr>
          <a:xfrm>
            <a:off x="4526280" y="4343400"/>
            <a:ext cx="3108960" cy="141732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00600" y="4526280"/>
            <a:ext cx="2651760" cy="1097280"/>
          </a:xfrm>
          <a:prstGeom prst="rect">
            <a:avLst/>
          </a:prstGeom>
          <a:noFill/>
        </p:spPr>
        <p:txBody>
          <a:bodyPr wrap="square" lIns="0" rIns="0" tIns="0" bIns="0" anchor="t">
            <a:spAutoFit/>
          </a:bodyPr>
          <a:lstStyle/>
          <a:p>
            <a:pPr algn="l">
              <a:spcAft>
                <a:spcPts val="0"/>
              </a:spcAft>
            </a:pPr>
            <a:r>
              <a:rPr sz="1200" b="0" i="0">
                <a:solidFill>
                  <a:srgbClr val="C792EA"/>
                </a:solidFill>
                <a:latin typeface="Courier New"/>
              </a:rPr>
              <a:t>do</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mostrarMenu</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spcAft>
                <a:spcPts val="0"/>
              </a:spcAft>
            </a:pPr>
            <a:r>
              <a:rPr sz="1200" b="0" i="0">
                <a:solidFill>
                  <a:srgbClr val="E6EDF3"/>
                </a:solidFill>
                <a:latin typeface="Courier New"/>
              </a:rPr>
              <a:t>}</a:t>
            </a:r>
            <a:r>
              <a:rPr sz="1200" b="0" i="0">
                <a:solidFill>
                  <a:srgbClr val="E6EDF3"/>
                </a:solidFill>
                <a:latin typeface="Courier New"/>
              </a:rPr>
              <a:t> </a:t>
            </a:r>
            <a:r>
              <a:rPr sz="1200" b="0" i="0">
                <a:solidFill>
                  <a:srgbClr val="C792EA"/>
                </a:solidFill>
                <a:latin typeface="Courier New"/>
              </a:rPr>
              <a:t>while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opcion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F78C6C"/>
                </a:solidFill>
                <a:latin typeface="Courier New"/>
              </a:rPr>
              <a:t>0</a:t>
            </a:r>
            <a:r>
              <a:rPr sz="1200" b="0" i="0">
                <a:solidFill>
                  <a:srgbClr val="E6EDF3"/>
                </a:solidFill>
                <a:latin typeface="Courier New"/>
              </a:rPr>
              <a:t>)</a:t>
            </a:r>
            <a:r>
              <a:rPr sz="1200" b="0" i="0">
                <a:solidFill>
                  <a:srgbClr val="E6EDF3"/>
                </a:solidFill>
                <a:latin typeface="Courier New"/>
              </a:rPr>
              <a:t>;</a:t>
            </a:r>
          </a:p>
        </p:txBody>
      </p:sp>
      <p:sp>
        <p:nvSpPr>
          <p:cNvPr id="20" name="Rounded Rectangle 19"/>
          <p:cNvSpPr/>
          <p:nvPr/>
        </p:nvSpPr>
        <p:spPr>
          <a:xfrm>
            <a:off x="8046719" y="1874519"/>
            <a:ext cx="3474720" cy="406908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75319" y="2057400"/>
            <a:ext cx="777240" cy="77724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dumbbell_w.png"/>
          <p:cNvPicPr>
            <a:picLocks noChangeAspect="1"/>
          </p:cNvPicPr>
          <p:nvPr/>
        </p:nvPicPr>
        <p:blipFill>
          <a:blip r:embed="rId4"/>
          <a:stretch>
            <a:fillRect/>
          </a:stretch>
        </p:blipFill>
        <p:spPr>
          <a:xfrm>
            <a:off x="8461857" y="2243937"/>
            <a:ext cx="404164" cy="404164"/>
          </a:xfrm>
          <a:prstGeom prst="rect">
            <a:avLst/>
          </a:prstGeom>
        </p:spPr>
      </p:pic>
      <p:sp>
        <p:nvSpPr>
          <p:cNvPr id="23" name="TextBox 22"/>
          <p:cNvSpPr txBox="1"/>
          <p:nvPr/>
        </p:nvSpPr>
        <p:spPr>
          <a:xfrm>
            <a:off x="9189719" y="2011680"/>
            <a:ext cx="2194560" cy="457200"/>
          </a:xfrm>
          <a:prstGeom prst="rect">
            <a:avLst/>
          </a:prstGeom>
          <a:noFill/>
        </p:spPr>
        <p:txBody>
          <a:bodyPr wrap="square" lIns="0" rIns="0" tIns="0" bIns="0" anchor="t">
            <a:spAutoFit/>
          </a:bodyPr>
          <a:lstStyle/>
          <a:p>
            <a:pPr algn="l">
              <a:spcAft>
                <a:spcPts val="400"/>
              </a:spcAft>
            </a:pPr>
            <a:r>
              <a:rPr sz="2400" b="1" i="0">
                <a:solidFill>
                  <a:srgbClr val="FF5A5F"/>
                </a:solidFill>
                <a:latin typeface="Courier New"/>
              </a:rPr>
              <a:t>for</a:t>
            </a:r>
          </a:p>
        </p:txBody>
      </p:sp>
      <p:sp>
        <p:nvSpPr>
          <p:cNvPr id="24" name="TextBox 23"/>
          <p:cNvSpPr txBox="1"/>
          <p:nvPr/>
        </p:nvSpPr>
        <p:spPr>
          <a:xfrm>
            <a:off x="9189719" y="2468880"/>
            <a:ext cx="2194560" cy="365760"/>
          </a:xfrm>
          <a:prstGeom prst="rect">
            <a:avLst/>
          </a:prstGeom>
          <a:noFill/>
        </p:spPr>
        <p:txBody>
          <a:bodyPr wrap="square" lIns="0" rIns="0" tIns="0" bIns="0" anchor="t">
            <a:spAutoFit/>
          </a:bodyPr>
          <a:lstStyle/>
          <a:p>
            <a:pPr algn="l">
              <a:spcAft>
                <a:spcPts val="400"/>
              </a:spcAft>
            </a:pPr>
            <a:r>
              <a:rPr sz="1300" b="1" i="0">
                <a:solidFill>
                  <a:srgbClr val="4A5A6A"/>
                </a:solidFill>
                <a:latin typeface="Arial"/>
              </a:rPr>
              <a:t>1 → valor conocido</a:t>
            </a:r>
          </a:p>
        </p:txBody>
      </p:sp>
      <p:sp>
        <p:nvSpPr>
          <p:cNvPr id="25" name="TextBox 24"/>
          <p:cNvSpPr txBox="1"/>
          <p:nvPr/>
        </p:nvSpPr>
        <p:spPr>
          <a:xfrm>
            <a:off x="8275319" y="3017520"/>
            <a:ext cx="3063240" cy="1097280"/>
          </a:xfrm>
          <a:prstGeom prst="rect">
            <a:avLst/>
          </a:prstGeom>
          <a:noFill/>
        </p:spPr>
        <p:txBody>
          <a:bodyPr wrap="square" lIns="0" rIns="0" tIns="0" bIns="0" anchor="t">
            <a:spAutoFit/>
          </a:bodyPr>
          <a:lstStyle/>
          <a:p>
            <a:pPr algn="l">
              <a:spcAft>
                <a:spcPts val="400"/>
              </a:spcAft>
            </a:pPr>
            <a:r>
              <a:rPr sz="1500" b="1" i="0">
                <a:solidFill>
                  <a:srgbClr val="0B2A4A"/>
                </a:solidFill>
                <a:latin typeface="Arial"/>
              </a:rPr>
              <a:t>Haz 10 sentadillas.</a:t>
            </a:r>
          </a:p>
          <a:p>
            <a:pPr algn="l">
              <a:spcAft>
                <a:spcPts val="400"/>
              </a:spcAft>
            </a:pPr>
            <a:r>
              <a:rPr sz="1500" b="0" i="0">
                <a:solidFill>
                  <a:srgbClr val="4A5A6A"/>
                </a:solidFill>
                <a:latin typeface="Arial"/>
              </a:rPr>
              <a:t>Sabes exactamente cuántas veces.</a:t>
            </a:r>
          </a:p>
        </p:txBody>
      </p:sp>
      <p:sp>
        <p:nvSpPr>
          <p:cNvPr id="26" name="Rounded Rectangle 25"/>
          <p:cNvSpPr/>
          <p:nvPr/>
        </p:nvSpPr>
        <p:spPr>
          <a:xfrm>
            <a:off x="8229599" y="4343400"/>
            <a:ext cx="3108960" cy="141732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503919" y="4526280"/>
            <a:ext cx="2651760" cy="1097280"/>
          </a:xfrm>
          <a:prstGeom prst="rect">
            <a:avLst/>
          </a:prstGeom>
          <a:noFill/>
        </p:spPr>
        <p:txBody>
          <a:bodyPr wrap="square" lIns="0" rIns="0" tIns="0" bIns="0" anchor="t">
            <a:spAutoFit/>
          </a:bodyPr>
          <a:lstStyle/>
          <a:p>
            <a:pPr algn="l">
              <a:spcAft>
                <a:spcPts val="0"/>
              </a:spcAft>
            </a:pPr>
            <a:r>
              <a:rPr sz="1200" b="0" i="0">
                <a:solidFill>
                  <a:srgbClr val="C792EA"/>
                </a:solidFill>
                <a:latin typeface="Courier New"/>
              </a:rPr>
              <a:t>for</a:t>
            </a:r>
            <a:r>
              <a:rPr sz="1200" b="0" i="0">
                <a:solidFill>
                  <a:srgbClr val="E6EDF3"/>
                </a:solidFill>
                <a:latin typeface="Courier New"/>
              </a:rPr>
              <a:t> </a:t>
            </a:r>
            <a:r>
              <a:rPr sz="1200" b="0" i="0">
                <a:solidFill>
                  <a:srgbClr val="E6EDF3"/>
                </a:solidFill>
                <a:latin typeface="Courier New"/>
              </a:rPr>
              <a:t>(</a:t>
            </a:r>
            <a:r>
              <a:rPr sz="1200" b="0" i="0">
                <a:solidFill>
                  <a:srgbClr val="5EC8FF"/>
                </a:solidFill>
                <a:latin typeface="Courier New"/>
              </a:rPr>
              <a:t>int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r>
              <a:rPr sz="1200" b="0" i="0">
                <a:solidFill>
                  <a:srgbClr val="F78C6C"/>
                </a:solidFill>
                <a:latin typeface="Courier New"/>
              </a:rPr>
              <a:t>1</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&lt;</a:t>
            </a:r>
            <a:r>
              <a:rPr sz="1200" b="0" i="0">
                <a:solidFill>
                  <a:srgbClr val="E6EDF3"/>
                </a:solidFill>
                <a:latin typeface="Courier New"/>
              </a:rPr>
              <a:t>=</a:t>
            </a:r>
            <a:r>
              <a:rPr sz="1200" b="0" i="0">
                <a:solidFill>
                  <a:srgbClr val="F78C6C"/>
                </a:solidFill>
                <a:latin typeface="Courier New"/>
              </a:rPr>
              <a:t>10</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sentadilla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spcAft>
                <a:spcPts val="0"/>
              </a:spcAft>
            </a:pPr>
            <a:r>
              <a:rPr sz="1200" b="0" i="0">
                <a:solidFill>
                  <a:srgbClr val="E6EDF3"/>
                </a:solidFill>
                <a:latin typeface="Courier New"/>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iteración</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7935" indent="-207935" algn="just">
              <a:buClr>
                <a:srgbClr val="00B050"/>
              </a:buClr>
              <a:buFont typeface="Zapf Dingbats"/>
              <a:buChar char="✦"/>
            </a:pPr>
            <a:r>
              <a:rPr lang="es-CL" sz="2183" b="1" dirty="0">
                <a:solidFill>
                  <a:schemeClr val="dk1"/>
                </a:solidFill>
                <a:latin typeface="Arial" panose="020B0604020202020204" pitchFamily="34" charset="0"/>
                <a:cs typeface="Arial" panose="020B0604020202020204" pitchFamily="34" charset="0"/>
                <a:sym typeface="Franklin Gothic"/>
              </a:rPr>
              <a:t>Sente</a:t>
            </a:r>
            <a:r>
              <a:rPr lang="es-CL" sz="2183" b="1" dirty="0">
                <a:solidFill>
                  <a:srgbClr val="222222"/>
                </a:solidFill>
                <a:latin typeface="Arial" panose="020B0604020202020204" pitchFamily="34" charset="0"/>
                <a:cs typeface="Arial" panose="020B0604020202020204" pitchFamily="34" charset="0"/>
              </a:rPr>
              <a:t>ncias de iteración</a:t>
            </a:r>
          </a:p>
          <a:p>
            <a:pPr algn="just"/>
            <a:r>
              <a:rPr lang="es-CL" sz="2183" dirty="0">
                <a:solidFill>
                  <a:srgbClr val="222222"/>
                </a:solidFill>
                <a:latin typeface="Arial" panose="020B0604020202020204" pitchFamily="34" charset="0"/>
                <a:cs typeface="Arial" panose="020B0604020202020204" pitchFamily="34" charset="0"/>
              </a:rPr>
              <a:t>Son sentencias que nos permiten ejecutar un bloque de sentencias tantas veces como queramos, o tantas veces como se cumpla una condición.</a:t>
            </a:r>
          </a:p>
          <a:p>
            <a:pPr algn="just"/>
            <a:r>
              <a:rPr lang="es-CL" sz="2183" dirty="0">
                <a:solidFill>
                  <a:srgbClr val="222222"/>
                </a:solidFill>
                <a:latin typeface="Arial" panose="020B0604020202020204" pitchFamily="34" charset="0"/>
                <a:cs typeface="Arial" panose="020B0604020202020204" pitchFamily="34" charset="0"/>
              </a:rPr>
              <a:t>Las sentencias de iteración son: </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r>
              <a:rPr lang="es-CL" sz="2183" b="1" dirty="0">
                <a:solidFill>
                  <a:schemeClr val="accent5">
                    <a:lumMod val="75000"/>
                  </a:schemeClr>
                </a:solidFill>
                <a:latin typeface="Arial" panose="020B0604020202020204" pitchFamily="34" charset="0"/>
                <a:cs typeface="Arial" panose="020B0604020202020204" pitchFamily="34" charset="0"/>
              </a:rPr>
              <a:t>Revisemos algunos ejemplos…</a:t>
            </a:r>
          </a:p>
          <a:p>
            <a:pPr marL="7701" lvl="1" algn="just">
              <a:buClr>
                <a:srgbClr val="0070C0"/>
              </a:buClr>
            </a:pPr>
            <a:r>
              <a:rPr lang="es-CL" sz="2183" b="1" dirty="0">
                <a:solidFill>
                  <a:srgbClr val="0070C0"/>
                </a:solidFill>
                <a:latin typeface="Arial" panose="020B0604020202020204" pitchFamily="34" charset="0"/>
                <a:cs typeface="Arial" panose="020B0604020202020204" pitchFamily="34" charset="0"/>
              </a:rPr>
              <a:t>1</a:t>
            </a:r>
            <a:r>
              <a:rPr lang="es-CL" sz="2183" dirty="0">
                <a:solidFill>
                  <a:srgbClr val="222222"/>
                </a:solidFill>
                <a:latin typeface="Arial" panose="020B0604020202020204" pitchFamily="34" charset="0"/>
                <a:cs typeface="Arial" panose="020B0604020202020204" pitchFamily="34" charset="0"/>
              </a:rPr>
              <a:t> En un archivo vienen los run y género de los clientes de un banco. Se necesita lanzar una campaña para las mujeres que tengan hijos menores de 18 años con el fin de generar una cuenta de ahorro para sus estudios, ¿Cómo determinamos la cantidad de clientas?</a:t>
            </a:r>
            <a:endParaRPr lang="es-ES_tradn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3" name="Rectángulo 2">
            <a:extLst>
              <a:ext uri="{FF2B5EF4-FFF2-40B4-BE49-F238E27FC236}">
                <a16:creationId xmlns:a16="http://schemas.microsoft.com/office/drawing/2014/main" id="{B8FD3ED0-6CC9-C0C7-2264-B35FFAD49779}"/>
              </a:ext>
            </a:extLst>
          </p:cNvPr>
          <p:cNvSpPr/>
          <p:nvPr/>
        </p:nvSpPr>
        <p:spPr>
          <a:xfrm>
            <a:off x="2861458" y="2897088"/>
            <a:ext cx="2726257" cy="1100109"/>
          </a:xfrm>
          <a:prstGeom prst="rect">
            <a:avLst/>
          </a:prstGeom>
        </p:spPr>
        <p:txBody>
          <a:bodyPr wrap="square">
            <a:spAutoFit/>
          </a:bodyPr>
          <a:lstStyle/>
          <a:p>
            <a:pPr marL="1398745" lvl="1" indent="-207935" algn="just">
              <a:buClr>
                <a:srgbClr val="0070C0"/>
              </a:buClr>
              <a:buFont typeface="Arial" panose="020B0604020202020204" pitchFamily="34" charset="0"/>
              <a:buChar char="•"/>
            </a:pPr>
            <a:r>
              <a:rPr lang="es-CL" sz="2183" b="1" dirty="0">
                <a:solidFill>
                  <a:srgbClr val="222222"/>
                </a:solidFill>
                <a:latin typeface="Arial" panose="020B0604020202020204" pitchFamily="34" charset="0"/>
                <a:cs typeface="Arial" panose="020B0604020202020204" pitchFamily="34" charset="0"/>
              </a:rPr>
              <a:t>while</a:t>
            </a:r>
          </a:p>
          <a:p>
            <a:pPr marL="1398745" lvl="1" indent="-207935" algn="just">
              <a:buClr>
                <a:srgbClr val="0070C0"/>
              </a:buClr>
              <a:buFont typeface="Arial" panose="020B0604020202020204" pitchFamily="34" charset="0"/>
              <a:buChar char="•"/>
            </a:pPr>
            <a:r>
              <a:rPr lang="es-CL" sz="2183" b="1" dirty="0">
                <a:solidFill>
                  <a:srgbClr val="222222"/>
                </a:solidFill>
                <a:latin typeface="Arial" panose="020B0604020202020204" pitchFamily="34" charset="0"/>
                <a:cs typeface="Arial" panose="020B0604020202020204" pitchFamily="34" charset="0"/>
              </a:rPr>
              <a:t>do-</a:t>
            </a:r>
            <a:r>
              <a:rPr lang="es-CL" sz="2183" b="1" dirty="0" err="1">
                <a:solidFill>
                  <a:srgbClr val="222222"/>
                </a:solidFill>
                <a:latin typeface="Arial" panose="020B0604020202020204" pitchFamily="34" charset="0"/>
                <a:cs typeface="Arial" panose="020B0604020202020204" pitchFamily="34" charset="0"/>
              </a:rPr>
              <a:t>while</a:t>
            </a:r>
            <a:endParaRPr lang="es-CL" sz="2183" b="1" dirty="0">
              <a:solidFill>
                <a:srgbClr val="222222"/>
              </a:solidFill>
              <a:latin typeface="Arial" panose="020B0604020202020204" pitchFamily="34" charset="0"/>
              <a:cs typeface="Arial" panose="020B0604020202020204" pitchFamily="34" charset="0"/>
            </a:endParaRPr>
          </a:p>
          <a:p>
            <a:pPr marL="1398745" lvl="1" indent="-207935" algn="just">
              <a:buClr>
                <a:srgbClr val="0070C0"/>
              </a:buClr>
              <a:buFont typeface="Arial" panose="020B0604020202020204" pitchFamily="34" charset="0"/>
              <a:buChar char="•"/>
            </a:pPr>
            <a:r>
              <a:rPr lang="es-CL" sz="2183" b="1" dirty="0" err="1">
                <a:solidFill>
                  <a:srgbClr val="222222"/>
                </a:solidFill>
                <a:latin typeface="Arial" panose="020B0604020202020204" pitchFamily="34" charset="0"/>
                <a:cs typeface="Arial" panose="020B0604020202020204" pitchFamily="34" charset="0"/>
              </a:rPr>
              <a:t>for</a:t>
            </a:r>
            <a:endParaRPr lang="es-CL" sz="2183" b="1" dirty="0">
              <a:solidFill>
                <a:srgbClr val="22222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7212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iteración</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CL" sz="2183" dirty="0">
                <a:solidFill>
                  <a:srgbClr val="222222"/>
                </a:solidFill>
                <a:latin typeface="Arial" panose="020B0604020202020204" pitchFamily="34" charset="0"/>
                <a:cs typeface="Arial" panose="020B0604020202020204" pitchFamily="34" charset="0"/>
              </a:rPr>
              <a:t>Ejemplo Archivo</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r>
              <a:rPr lang="es-CL" sz="2183" dirty="0">
                <a:latin typeface="Arial" panose="020B0604020202020204" pitchFamily="34" charset="0"/>
                <a:cs typeface="Arial" panose="020B0604020202020204" pitchFamily="34" charset="0"/>
              </a:rPr>
              <a:t>Entonces… ¿Qué ciclo es el adecuado?</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6" name="Gráfico 5" descr="Cabeza con engranajes">
            <a:extLst>
              <a:ext uri="{FF2B5EF4-FFF2-40B4-BE49-F238E27FC236}">
                <a16:creationId xmlns:a16="http://schemas.microsoft.com/office/drawing/2014/main" id="{453AEC3D-1621-9A5B-4568-C364AF0F7D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45588" y="1996560"/>
            <a:ext cx="970363" cy="970363"/>
          </a:xfrm>
          <a:prstGeom prst="rect">
            <a:avLst/>
          </a:prstGeom>
        </p:spPr>
      </p:pic>
      <p:pic>
        <p:nvPicPr>
          <p:cNvPr id="7" name="Imagen 6">
            <a:extLst>
              <a:ext uri="{FF2B5EF4-FFF2-40B4-BE49-F238E27FC236}">
                <a16:creationId xmlns:a16="http://schemas.microsoft.com/office/drawing/2014/main" id="{46BA0058-8BA3-B0D9-72FE-6FA292FDFB93}"/>
              </a:ext>
            </a:extLst>
          </p:cNvPr>
          <p:cNvPicPr>
            <a:picLocks noChangeAspect="1"/>
          </p:cNvPicPr>
          <p:nvPr/>
        </p:nvPicPr>
        <p:blipFill>
          <a:blip r:embed="rId4"/>
          <a:stretch>
            <a:fillRect/>
          </a:stretch>
        </p:blipFill>
        <p:spPr>
          <a:xfrm>
            <a:off x="3852459" y="1383641"/>
            <a:ext cx="2893421" cy="1686294"/>
          </a:xfrm>
          <a:prstGeom prst="rect">
            <a:avLst/>
          </a:prstGeom>
          <a:ln>
            <a:solidFill>
              <a:srgbClr val="404448"/>
            </a:solidFill>
          </a:ln>
          <a:effectLst>
            <a:softEdge rad="25400"/>
          </a:effectLst>
        </p:spPr>
      </p:pic>
      <p:sp>
        <p:nvSpPr>
          <p:cNvPr id="8" name="Flecha a la derecha con bandas 13">
            <a:extLst>
              <a:ext uri="{FF2B5EF4-FFF2-40B4-BE49-F238E27FC236}">
                <a16:creationId xmlns:a16="http://schemas.microsoft.com/office/drawing/2014/main" id="{7674310E-BC64-4AF4-357F-34CA41CC9454}"/>
              </a:ext>
            </a:extLst>
          </p:cNvPr>
          <p:cNvSpPr/>
          <p:nvPr/>
        </p:nvSpPr>
        <p:spPr>
          <a:xfrm>
            <a:off x="6994249" y="2114295"/>
            <a:ext cx="532316" cy="302137"/>
          </a:xfrm>
          <a:prstGeom prst="strip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092" dirty="0"/>
          </a:p>
        </p:txBody>
      </p:sp>
      <p:sp>
        <p:nvSpPr>
          <p:cNvPr id="9" name="CuadroTexto 8">
            <a:extLst>
              <a:ext uri="{FF2B5EF4-FFF2-40B4-BE49-F238E27FC236}">
                <a16:creationId xmlns:a16="http://schemas.microsoft.com/office/drawing/2014/main" id="{88973679-94B5-0F1D-AF2A-88EFF0217A89}"/>
              </a:ext>
            </a:extLst>
          </p:cNvPr>
          <p:cNvSpPr txBox="1"/>
          <p:nvPr/>
        </p:nvSpPr>
        <p:spPr>
          <a:xfrm>
            <a:off x="7708605" y="2037144"/>
            <a:ext cx="2736269" cy="379289"/>
          </a:xfrm>
          <a:prstGeom prst="rect">
            <a:avLst/>
          </a:prstGeom>
          <a:noFill/>
          <a:ln>
            <a:noFill/>
          </a:ln>
        </p:spPr>
        <p:txBody>
          <a:bodyPr spcFirstLastPara="1" wrap="none" lIns="55440" tIns="27713" rIns="55440" bIns="27713" rtlCol="0" anchor="t" anchorCtr="0">
            <a:noAutofit/>
          </a:bodyPr>
          <a:lstStyle/>
          <a:p>
            <a:pPr algn="l"/>
            <a:r>
              <a:rPr lang="es-ES_tradnl" sz="2183" b="1" dirty="0">
                <a:latin typeface="Arial" panose="020B0604020202020204" pitchFamily="34" charset="0"/>
                <a:cs typeface="Arial" panose="020B0604020202020204" pitchFamily="34" charset="0"/>
              </a:rPr>
              <a:t>run/género (F o M)</a:t>
            </a:r>
          </a:p>
        </p:txBody>
      </p:sp>
      <p:sp>
        <p:nvSpPr>
          <p:cNvPr id="10" name="Rectángulo 9">
            <a:extLst>
              <a:ext uri="{FF2B5EF4-FFF2-40B4-BE49-F238E27FC236}">
                <a16:creationId xmlns:a16="http://schemas.microsoft.com/office/drawing/2014/main" id="{9CBDBC89-1371-9086-7574-5A963A65E291}"/>
              </a:ext>
            </a:extLst>
          </p:cNvPr>
          <p:cNvSpPr/>
          <p:nvPr/>
        </p:nvSpPr>
        <p:spPr>
          <a:xfrm>
            <a:off x="882645" y="3550323"/>
            <a:ext cx="10426711" cy="428259"/>
          </a:xfrm>
          <a:custGeom>
            <a:avLst/>
            <a:gdLst>
              <a:gd name="connsiteX0" fmla="*/ 0 w 10426711"/>
              <a:gd name="connsiteY0" fmla="*/ 0 h 428259"/>
              <a:gd name="connsiteX1" fmla="*/ 266460 w 10426711"/>
              <a:gd name="connsiteY1" fmla="*/ 0 h 428259"/>
              <a:gd name="connsiteX2" fmla="*/ 1054256 w 10426711"/>
              <a:gd name="connsiteY2" fmla="*/ 0 h 428259"/>
              <a:gd name="connsiteX3" fmla="*/ 1633518 w 10426711"/>
              <a:gd name="connsiteY3" fmla="*/ 0 h 428259"/>
              <a:gd name="connsiteX4" fmla="*/ 1899978 w 10426711"/>
              <a:gd name="connsiteY4" fmla="*/ 0 h 428259"/>
              <a:gd name="connsiteX5" fmla="*/ 2479240 w 10426711"/>
              <a:gd name="connsiteY5" fmla="*/ 0 h 428259"/>
              <a:gd name="connsiteX6" fmla="*/ 3267036 w 10426711"/>
              <a:gd name="connsiteY6" fmla="*/ 0 h 428259"/>
              <a:gd name="connsiteX7" fmla="*/ 3742031 w 10426711"/>
              <a:gd name="connsiteY7" fmla="*/ 0 h 428259"/>
              <a:gd name="connsiteX8" fmla="*/ 4217025 w 10426711"/>
              <a:gd name="connsiteY8" fmla="*/ 0 h 428259"/>
              <a:gd name="connsiteX9" fmla="*/ 4796287 w 10426711"/>
              <a:gd name="connsiteY9" fmla="*/ 0 h 428259"/>
              <a:gd name="connsiteX10" fmla="*/ 5479816 w 10426711"/>
              <a:gd name="connsiteY10" fmla="*/ 0 h 428259"/>
              <a:gd name="connsiteX11" fmla="*/ 6163345 w 10426711"/>
              <a:gd name="connsiteY11" fmla="*/ 0 h 428259"/>
              <a:gd name="connsiteX12" fmla="*/ 6846874 w 10426711"/>
              <a:gd name="connsiteY12" fmla="*/ 0 h 428259"/>
              <a:gd name="connsiteX13" fmla="*/ 7634669 w 10426711"/>
              <a:gd name="connsiteY13" fmla="*/ 0 h 428259"/>
              <a:gd name="connsiteX14" fmla="*/ 8213931 w 10426711"/>
              <a:gd name="connsiteY14" fmla="*/ 0 h 428259"/>
              <a:gd name="connsiteX15" fmla="*/ 8897460 w 10426711"/>
              <a:gd name="connsiteY15" fmla="*/ 0 h 428259"/>
              <a:gd name="connsiteX16" fmla="*/ 9476722 w 10426711"/>
              <a:gd name="connsiteY16" fmla="*/ 0 h 428259"/>
              <a:gd name="connsiteX17" fmla="*/ 10426711 w 10426711"/>
              <a:gd name="connsiteY17" fmla="*/ 0 h 428259"/>
              <a:gd name="connsiteX18" fmla="*/ 10426711 w 10426711"/>
              <a:gd name="connsiteY18" fmla="*/ 428259 h 428259"/>
              <a:gd name="connsiteX19" fmla="*/ 9638915 w 10426711"/>
              <a:gd name="connsiteY19" fmla="*/ 428259 h 428259"/>
              <a:gd name="connsiteX20" fmla="*/ 9163920 w 10426711"/>
              <a:gd name="connsiteY20" fmla="*/ 428259 h 428259"/>
              <a:gd name="connsiteX21" fmla="*/ 8688926 w 10426711"/>
              <a:gd name="connsiteY21" fmla="*/ 428259 h 428259"/>
              <a:gd name="connsiteX22" fmla="*/ 8213931 w 10426711"/>
              <a:gd name="connsiteY22" fmla="*/ 428259 h 428259"/>
              <a:gd name="connsiteX23" fmla="*/ 7530402 w 10426711"/>
              <a:gd name="connsiteY23" fmla="*/ 428259 h 428259"/>
              <a:gd name="connsiteX24" fmla="*/ 6951141 w 10426711"/>
              <a:gd name="connsiteY24" fmla="*/ 428259 h 428259"/>
              <a:gd name="connsiteX25" fmla="*/ 6684680 w 10426711"/>
              <a:gd name="connsiteY25" fmla="*/ 428259 h 428259"/>
              <a:gd name="connsiteX26" fmla="*/ 6209686 w 10426711"/>
              <a:gd name="connsiteY26" fmla="*/ 428259 h 428259"/>
              <a:gd name="connsiteX27" fmla="*/ 5526157 w 10426711"/>
              <a:gd name="connsiteY27" fmla="*/ 428259 h 428259"/>
              <a:gd name="connsiteX28" fmla="*/ 5155429 w 10426711"/>
              <a:gd name="connsiteY28" fmla="*/ 428259 h 428259"/>
              <a:gd name="connsiteX29" fmla="*/ 4367633 w 10426711"/>
              <a:gd name="connsiteY29" fmla="*/ 428259 h 428259"/>
              <a:gd name="connsiteX30" fmla="*/ 3579837 w 10426711"/>
              <a:gd name="connsiteY30" fmla="*/ 428259 h 428259"/>
              <a:gd name="connsiteX31" fmla="*/ 3000576 w 10426711"/>
              <a:gd name="connsiteY31" fmla="*/ 428259 h 428259"/>
              <a:gd name="connsiteX32" fmla="*/ 2212780 w 10426711"/>
              <a:gd name="connsiteY32" fmla="*/ 428259 h 428259"/>
              <a:gd name="connsiteX33" fmla="*/ 1633518 w 10426711"/>
              <a:gd name="connsiteY33" fmla="*/ 428259 h 428259"/>
              <a:gd name="connsiteX34" fmla="*/ 949989 w 10426711"/>
              <a:gd name="connsiteY34" fmla="*/ 428259 h 428259"/>
              <a:gd name="connsiteX35" fmla="*/ 683529 w 10426711"/>
              <a:gd name="connsiteY35" fmla="*/ 428259 h 428259"/>
              <a:gd name="connsiteX36" fmla="*/ 0 w 10426711"/>
              <a:gd name="connsiteY36" fmla="*/ 428259 h 428259"/>
              <a:gd name="connsiteX37" fmla="*/ 0 w 10426711"/>
              <a:gd name="connsiteY37" fmla="*/ 0 h 42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426711" h="428259" fill="none" extrusionOk="0">
                <a:moveTo>
                  <a:pt x="0" y="0"/>
                </a:moveTo>
                <a:cubicBezTo>
                  <a:pt x="85915" y="-14450"/>
                  <a:pt x="195634" y="2878"/>
                  <a:pt x="266460" y="0"/>
                </a:cubicBezTo>
                <a:cubicBezTo>
                  <a:pt x="337286" y="-2878"/>
                  <a:pt x="742654" y="42622"/>
                  <a:pt x="1054256" y="0"/>
                </a:cubicBezTo>
                <a:cubicBezTo>
                  <a:pt x="1365858" y="-42622"/>
                  <a:pt x="1372400" y="56282"/>
                  <a:pt x="1633518" y="0"/>
                </a:cubicBezTo>
                <a:cubicBezTo>
                  <a:pt x="1894636" y="-56282"/>
                  <a:pt x="1831154" y="6480"/>
                  <a:pt x="1899978" y="0"/>
                </a:cubicBezTo>
                <a:cubicBezTo>
                  <a:pt x="1968802" y="-6480"/>
                  <a:pt x="2270251" y="46122"/>
                  <a:pt x="2479240" y="0"/>
                </a:cubicBezTo>
                <a:cubicBezTo>
                  <a:pt x="2688229" y="-46122"/>
                  <a:pt x="3093718" y="85054"/>
                  <a:pt x="3267036" y="0"/>
                </a:cubicBezTo>
                <a:cubicBezTo>
                  <a:pt x="3440354" y="-85054"/>
                  <a:pt x="3563873" y="15316"/>
                  <a:pt x="3742031" y="0"/>
                </a:cubicBezTo>
                <a:cubicBezTo>
                  <a:pt x="3920190" y="-15316"/>
                  <a:pt x="4101817" y="1415"/>
                  <a:pt x="4217025" y="0"/>
                </a:cubicBezTo>
                <a:cubicBezTo>
                  <a:pt x="4332233" y="-1415"/>
                  <a:pt x="4520092" y="69150"/>
                  <a:pt x="4796287" y="0"/>
                </a:cubicBezTo>
                <a:cubicBezTo>
                  <a:pt x="5072482" y="-69150"/>
                  <a:pt x="5289508" y="8017"/>
                  <a:pt x="5479816" y="0"/>
                </a:cubicBezTo>
                <a:cubicBezTo>
                  <a:pt x="5670124" y="-8017"/>
                  <a:pt x="5897987" y="40470"/>
                  <a:pt x="6163345" y="0"/>
                </a:cubicBezTo>
                <a:cubicBezTo>
                  <a:pt x="6428703" y="-40470"/>
                  <a:pt x="6547687" y="55918"/>
                  <a:pt x="6846874" y="0"/>
                </a:cubicBezTo>
                <a:cubicBezTo>
                  <a:pt x="7146061" y="-55918"/>
                  <a:pt x="7289723" y="6905"/>
                  <a:pt x="7634669" y="0"/>
                </a:cubicBezTo>
                <a:cubicBezTo>
                  <a:pt x="7979616" y="-6905"/>
                  <a:pt x="8000029" y="23535"/>
                  <a:pt x="8213931" y="0"/>
                </a:cubicBezTo>
                <a:cubicBezTo>
                  <a:pt x="8427833" y="-23535"/>
                  <a:pt x="8714469" y="17112"/>
                  <a:pt x="8897460" y="0"/>
                </a:cubicBezTo>
                <a:cubicBezTo>
                  <a:pt x="9080451" y="-17112"/>
                  <a:pt x="9340767" y="17256"/>
                  <a:pt x="9476722" y="0"/>
                </a:cubicBezTo>
                <a:cubicBezTo>
                  <a:pt x="9612677" y="-17256"/>
                  <a:pt x="10107207" y="46095"/>
                  <a:pt x="10426711" y="0"/>
                </a:cubicBezTo>
                <a:cubicBezTo>
                  <a:pt x="10442105" y="194713"/>
                  <a:pt x="10407091" y="277315"/>
                  <a:pt x="10426711" y="428259"/>
                </a:cubicBezTo>
                <a:cubicBezTo>
                  <a:pt x="10109902" y="454421"/>
                  <a:pt x="9825868" y="391155"/>
                  <a:pt x="9638915" y="428259"/>
                </a:cubicBezTo>
                <a:cubicBezTo>
                  <a:pt x="9451962" y="465363"/>
                  <a:pt x="9323961" y="372578"/>
                  <a:pt x="9163920" y="428259"/>
                </a:cubicBezTo>
                <a:cubicBezTo>
                  <a:pt x="9003880" y="483940"/>
                  <a:pt x="8899964" y="372901"/>
                  <a:pt x="8688926" y="428259"/>
                </a:cubicBezTo>
                <a:cubicBezTo>
                  <a:pt x="8477888" y="483617"/>
                  <a:pt x="8447044" y="384588"/>
                  <a:pt x="8213931" y="428259"/>
                </a:cubicBezTo>
                <a:cubicBezTo>
                  <a:pt x="7980819" y="471930"/>
                  <a:pt x="7807419" y="353472"/>
                  <a:pt x="7530402" y="428259"/>
                </a:cubicBezTo>
                <a:cubicBezTo>
                  <a:pt x="7253385" y="503046"/>
                  <a:pt x="7143966" y="402228"/>
                  <a:pt x="6951141" y="428259"/>
                </a:cubicBezTo>
                <a:cubicBezTo>
                  <a:pt x="6758316" y="454290"/>
                  <a:pt x="6791725" y="397733"/>
                  <a:pt x="6684680" y="428259"/>
                </a:cubicBezTo>
                <a:cubicBezTo>
                  <a:pt x="6577635" y="458785"/>
                  <a:pt x="6400600" y="394937"/>
                  <a:pt x="6209686" y="428259"/>
                </a:cubicBezTo>
                <a:cubicBezTo>
                  <a:pt x="6018772" y="461581"/>
                  <a:pt x="5847304" y="365778"/>
                  <a:pt x="5526157" y="428259"/>
                </a:cubicBezTo>
                <a:cubicBezTo>
                  <a:pt x="5205010" y="490740"/>
                  <a:pt x="5274142" y="414833"/>
                  <a:pt x="5155429" y="428259"/>
                </a:cubicBezTo>
                <a:cubicBezTo>
                  <a:pt x="5036716" y="441685"/>
                  <a:pt x="4618933" y="400109"/>
                  <a:pt x="4367633" y="428259"/>
                </a:cubicBezTo>
                <a:cubicBezTo>
                  <a:pt x="4116333" y="456409"/>
                  <a:pt x="3846108" y="357073"/>
                  <a:pt x="3579837" y="428259"/>
                </a:cubicBezTo>
                <a:cubicBezTo>
                  <a:pt x="3313566" y="499445"/>
                  <a:pt x="3229137" y="427255"/>
                  <a:pt x="3000576" y="428259"/>
                </a:cubicBezTo>
                <a:cubicBezTo>
                  <a:pt x="2772015" y="429263"/>
                  <a:pt x="2531879" y="399447"/>
                  <a:pt x="2212780" y="428259"/>
                </a:cubicBezTo>
                <a:cubicBezTo>
                  <a:pt x="1893681" y="457071"/>
                  <a:pt x="1904899" y="360673"/>
                  <a:pt x="1633518" y="428259"/>
                </a:cubicBezTo>
                <a:cubicBezTo>
                  <a:pt x="1362137" y="495845"/>
                  <a:pt x="1185183" y="355870"/>
                  <a:pt x="949989" y="428259"/>
                </a:cubicBezTo>
                <a:cubicBezTo>
                  <a:pt x="714795" y="500648"/>
                  <a:pt x="752386" y="404211"/>
                  <a:pt x="683529" y="428259"/>
                </a:cubicBezTo>
                <a:cubicBezTo>
                  <a:pt x="614672" y="452307"/>
                  <a:pt x="330677" y="410261"/>
                  <a:pt x="0" y="428259"/>
                </a:cubicBezTo>
                <a:cubicBezTo>
                  <a:pt x="-18770" y="253739"/>
                  <a:pt x="36787" y="103890"/>
                  <a:pt x="0" y="0"/>
                </a:cubicBezTo>
                <a:close/>
              </a:path>
              <a:path w="10426711" h="428259" stroke="0" extrusionOk="0">
                <a:moveTo>
                  <a:pt x="0" y="0"/>
                </a:moveTo>
                <a:cubicBezTo>
                  <a:pt x="118022" y="-37245"/>
                  <a:pt x="359188" y="42579"/>
                  <a:pt x="474995" y="0"/>
                </a:cubicBezTo>
                <a:cubicBezTo>
                  <a:pt x="590803" y="-42579"/>
                  <a:pt x="634269" y="30972"/>
                  <a:pt x="741455" y="0"/>
                </a:cubicBezTo>
                <a:cubicBezTo>
                  <a:pt x="848641" y="-30972"/>
                  <a:pt x="1314208" y="827"/>
                  <a:pt x="1529251" y="0"/>
                </a:cubicBezTo>
                <a:cubicBezTo>
                  <a:pt x="1744294" y="-827"/>
                  <a:pt x="1767287" y="30925"/>
                  <a:pt x="2004246" y="0"/>
                </a:cubicBezTo>
                <a:cubicBezTo>
                  <a:pt x="2241205" y="-30925"/>
                  <a:pt x="2327497" y="35469"/>
                  <a:pt x="2479240" y="0"/>
                </a:cubicBezTo>
                <a:cubicBezTo>
                  <a:pt x="2630983" y="-35469"/>
                  <a:pt x="3065308" y="73743"/>
                  <a:pt x="3267036" y="0"/>
                </a:cubicBezTo>
                <a:cubicBezTo>
                  <a:pt x="3468764" y="-73743"/>
                  <a:pt x="3480754" y="19795"/>
                  <a:pt x="3637764" y="0"/>
                </a:cubicBezTo>
                <a:cubicBezTo>
                  <a:pt x="3794774" y="-19795"/>
                  <a:pt x="4220349" y="31236"/>
                  <a:pt x="4425560" y="0"/>
                </a:cubicBezTo>
                <a:cubicBezTo>
                  <a:pt x="4630771" y="-31236"/>
                  <a:pt x="4899346" y="9414"/>
                  <a:pt x="5213355" y="0"/>
                </a:cubicBezTo>
                <a:cubicBezTo>
                  <a:pt x="5527365" y="-9414"/>
                  <a:pt x="5574336" y="40474"/>
                  <a:pt x="5792617" y="0"/>
                </a:cubicBezTo>
                <a:cubicBezTo>
                  <a:pt x="6010898" y="-40474"/>
                  <a:pt x="6249711" y="28665"/>
                  <a:pt x="6580413" y="0"/>
                </a:cubicBezTo>
                <a:cubicBezTo>
                  <a:pt x="6911115" y="-28665"/>
                  <a:pt x="6953508" y="13887"/>
                  <a:pt x="7055408" y="0"/>
                </a:cubicBezTo>
                <a:cubicBezTo>
                  <a:pt x="7157308" y="-13887"/>
                  <a:pt x="7369525" y="38638"/>
                  <a:pt x="7530402" y="0"/>
                </a:cubicBezTo>
                <a:cubicBezTo>
                  <a:pt x="7691279" y="-38638"/>
                  <a:pt x="7959154" y="46225"/>
                  <a:pt x="8213931" y="0"/>
                </a:cubicBezTo>
                <a:cubicBezTo>
                  <a:pt x="8468708" y="-46225"/>
                  <a:pt x="8485579" y="41195"/>
                  <a:pt x="8688926" y="0"/>
                </a:cubicBezTo>
                <a:cubicBezTo>
                  <a:pt x="8892274" y="-41195"/>
                  <a:pt x="9240165" y="74185"/>
                  <a:pt x="9476722" y="0"/>
                </a:cubicBezTo>
                <a:cubicBezTo>
                  <a:pt x="9713279" y="-74185"/>
                  <a:pt x="9985611" y="43060"/>
                  <a:pt x="10426711" y="0"/>
                </a:cubicBezTo>
                <a:cubicBezTo>
                  <a:pt x="10440502" y="174148"/>
                  <a:pt x="10414398" y="300649"/>
                  <a:pt x="10426711" y="428259"/>
                </a:cubicBezTo>
                <a:cubicBezTo>
                  <a:pt x="10107218" y="482369"/>
                  <a:pt x="9907999" y="367354"/>
                  <a:pt x="9743182" y="428259"/>
                </a:cubicBezTo>
                <a:cubicBezTo>
                  <a:pt x="9578365" y="489164"/>
                  <a:pt x="9531188" y="394135"/>
                  <a:pt x="9372455" y="428259"/>
                </a:cubicBezTo>
                <a:cubicBezTo>
                  <a:pt x="9213722" y="462383"/>
                  <a:pt x="8760369" y="382747"/>
                  <a:pt x="8584659" y="428259"/>
                </a:cubicBezTo>
                <a:cubicBezTo>
                  <a:pt x="8408949" y="473771"/>
                  <a:pt x="8187514" y="416220"/>
                  <a:pt x="8005397" y="428259"/>
                </a:cubicBezTo>
                <a:cubicBezTo>
                  <a:pt x="7823280" y="440298"/>
                  <a:pt x="7805639" y="395560"/>
                  <a:pt x="7634669" y="428259"/>
                </a:cubicBezTo>
                <a:cubicBezTo>
                  <a:pt x="7463699" y="460958"/>
                  <a:pt x="7230784" y="363860"/>
                  <a:pt x="7055408" y="428259"/>
                </a:cubicBezTo>
                <a:cubicBezTo>
                  <a:pt x="6880032" y="492658"/>
                  <a:pt x="6909782" y="401523"/>
                  <a:pt x="6788947" y="428259"/>
                </a:cubicBezTo>
                <a:cubicBezTo>
                  <a:pt x="6668112" y="454995"/>
                  <a:pt x="6606424" y="422263"/>
                  <a:pt x="6522487" y="428259"/>
                </a:cubicBezTo>
                <a:cubicBezTo>
                  <a:pt x="6438550" y="434255"/>
                  <a:pt x="6168516" y="417621"/>
                  <a:pt x="5943225" y="428259"/>
                </a:cubicBezTo>
                <a:cubicBezTo>
                  <a:pt x="5717934" y="438897"/>
                  <a:pt x="5735801" y="409327"/>
                  <a:pt x="5572498" y="428259"/>
                </a:cubicBezTo>
                <a:cubicBezTo>
                  <a:pt x="5409195" y="447191"/>
                  <a:pt x="5141589" y="346473"/>
                  <a:pt x="4888969" y="428259"/>
                </a:cubicBezTo>
                <a:cubicBezTo>
                  <a:pt x="4636349" y="510045"/>
                  <a:pt x="4673578" y="393311"/>
                  <a:pt x="4518241" y="428259"/>
                </a:cubicBezTo>
                <a:cubicBezTo>
                  <a:pt x="4362904" y="463207"/>
                  <a:pt x="4142197" y="358821"/>
                  <a:pt x="3834713" y="428259"/>
                </a:cubicBezTo>
                <a:cubicBezTo>
                  <a:pt x="3527229" y="497697"/>
                  <a:pt x="3677594" y="420203"/>
                  <a:pt x="3568252" y="428259"/>
                </a:cubicBezTo>
                <a:cubicBezTo>
                  <a:pt x="3458910" y="436315"/>
                  <a:pt x="3135984" y="387708"/>
                  <a:pt x="2884723" y="428259"/>
                </a:cubicBezTo>
                <a:cubicBezTo>
                  <a:pt x="2633462" y="468810"/>
                  <a:pt x="2613419" y="411979"/>
                  <a:pt x="2513996" y="428259"/>
                </a:cubicBezTo>
                <a:cubicBezTo>
                  <a:pt x="2414573" y="444539"/>
                  <a:pt x="2347040" y="418855"/>
                  <a:pt x="2247535" y="428259"/>
                </a:cubicBezTo>
                <a:cubicBezTo>
                  <a:pt x="2148030" y="437663"/>
                  <a:pt x="2027579" y="417159"/>
                  <a:pt x="1876808" y="428259"/>
                </a:cubicBezTo>
                <a:cubicBezTo>
                  <a:pt x="1726037" y="439359"/>
                  <a:pt x="1371386" y="400509"/>
                  <a:pt x="1193279" y="428259"/>
                </a:cubicBezTo>
                <a:cubicBezTo>
                  <a:pt x="1015172" y="456009"/>
                  <a:pt x="908753" y="398365"/>
                  <a:pt x="822552" y="428259"/>
                </a:cubicBezTo>
                <a:cubicBezTo>
                  <a:pt x="736351" y="458153"/>
                  <a:pt x="609865" y="415707"/>
                  <a:pt x="556091" y="428259"/>
                </a:cubicBezTo>
                <a:cubicBezTo>
                  <a:pt x="502317" y="440811"/>
                  <a:pt x="190377" y="427483"/>
                  <a:pt x="0" y="428259"/>
                </a:cubicBezTo>
                <a:cubicBezTo>
                  <a:pt x="-13531" y="342262"/>
                  <a:pt x="51012" y="198419"/>
                  <a:pt x="0" y="0"/>
                </a:cubicBezTo>
                <a:close/>
              </a:path>
            </a:pathLst>
          </a:custGeom>
          <a:ln>
            <a:solidFill>
              <a:srgbClr val="0070C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r>
              <a:rPr lang="es-CL" sz="2183" dirty="0">
                <a:latin typeface="Arial" panose="020B0604020202020204" pitchFamily="34" charset="0"/>
                <a:cs typeface="Arial" panose="020B0604020202020204" pitchFamily="34" charset="0"/>
              </a:rPr>
              <a:t>Tenemos que recorrer de 0 a n (no sabemos el fin y el archivo puede venir vacío)</a:t>
            </a:r>
            <a:endParaRPr lang="es-ES_tradnl" sz="2183"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72C22D0A-407C-94FF-1B37-C5AC919A49E7}"/>
              </a:ext>
            </a:extLst>
          </p:cNvPr>
          <p:cNvSpPr/>
          <p:nvPr/>
        </p:nvSpPr>
        <p:spPr>
          <a:xfrm>
            <a:off x="6181273" y="4161718"/>
            <a:ext cx="5154738" cy="764184"/>
          </a:xfrm>
          <a:custGeom>
            <a:avLst/>
            <a:gdLst>
              <a:gd name="connsiteX0" fmla="*/ 0 w 5154738"/>
              <a:gd name="connsiteY0" fmla="*/ 0 h 764184"/>
              <a:gd name="connsiteX1" fmla="*/ 675843 w 5154738"/>
              <a:gd name="connsiteY1" fmla="*/ 0 h 764184"/>
              <a:gd name="connsiteX2" fmla="*/ 1300139 w 5154738"/>
              <a:gd name="connsiteY2" fmla="*/ 0 h 764184"/>
              <a:gd name="connsiteX3" fmla="*/ 1872888 w 5154738"/>
              <a:gd name="connsiteY3" fmla="*/ 0 h 764184"/>
              <a:gd name="connsiteX4" fmla="*/ 2445637 w 5154738"/>
              <a:gd name="connsiteY4" fmla="*/ 0 h 764184"/>
              <a:gd name="connsiteX5" fmla="*/ 3121480 w 5154738"/>
              <a:gd name="connsiteY5" fmla="*/ 0 h 764184"/>
              <a:gd name="connsiteX6" fmla="*/ 3745776 w 5154738"/>
              <a:gd name="connsiteY6" fmla="*/ 0 h 764184"/>
              <a:gd name="connsiteX7" fmla="*/ 4163883 w 5154738"/>
              <a:gd name="connsiteY7" fmla="*/ 0 h 764184"/>
              <a:gd name="connsiteX8" fmla="*/ 5154738 w 5154738"/>
              <a:gd name="connsiteY8" fmla="*/ 0 h 764184"/>
              <a:gd name="connsiteX9" fmla="*/ 5154738 w 5154738"/>
              <a:gd name="connsiteY9" fmla="*/ 397376 h 764184"/>
              <a:gd name="connsiteX10" fmla="*/ 5154738 w 5154738"/>
              <a:gd name="connsiteY10" fmla="*/ 764184 h 764184"/>
              <a:gd name="connsiteX11" fmla="*/ 4685084 w 5154738"/>
              <a:gd name="connsiteY11" fmla="*/ 764184 h 764184"/>
              <a:gd name="connsiteX12" fmla="*/ 4009241 w 5154738"/>
              <a:gd name="connsiteY12" fmla="*/ 764184 h 764184"/>
              <a:gd name="connsiteX13" fmla="*/ 3488039 w 5154738"/>
              <a:gd name="connsiteY13" fmla="*/ 764184 h 764184"/>
              <a:gd name="connsiteX14" fmla="*/ 2812196 w 5154738"/>
              <a:gd name="connsiteY14" fmla="*/ 764184 h 764184"/>
              <a:gd name="connsiteX15" fmla="*/ 2342542 w 5154738"/>
              <a:gd name="connsiteY15" fmla="*/ 764184 h 764184"/>
              <a:gd name="connsiteX16" fmla="*/ 1924436 w 5154738"/>
              <a:gd name="connsiteY16" fmla="*/ 764184 h 764184"/>
              <a:gd name="connsiteX17" fmla="*/ 1506329 w 5154738"/>
              <a:gd name="connsiteY17" fmla="*/ 764184 h 764184"/>
              <a:gd name="connsiteX18" fmla="*/ 882033 w 5154738"/>
              <a:gd name="connsiteY18" fmla="*/ 764184 h 764184"/>
              <a:gd name="connsiteX19" fmla="*/ 0 w 5154738"/>
              <a:gd name="connsiteY19" fmla="*/ 764184 h 764184"/>
              <a:gd name="connsiteX20" fmla="*/ 0 w 5154738"/>
              <a:gd name="connsiteY20" fmla="*/ 382092 h 764184"/>
              <a:gd name="connsiteX21" fmla="*/ 0 w 5154738"/>
              <a:gd name="connsiteY21" fmla="*/ 0 h 76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54738" h="764184" fill="none" extrusionOk="0">
                <a:moveTo>
                  <a:pt x="0" y="0"/>
                </a:moveTo>
                <a:cubicBezTo>
                  <a:pt x="196006" y="-74863"/>
                  <a:pt x="454566" y="6822"/>
                  <a:pt x="675843" y="0"/>
                </a:cubicBezTo>
                <a:cubicBezTo>
                  <a:pt x="897120" y="-6822"/>
                  <a:pt x="1093963" y="30024"/>
                  <a:pt x="1300139" y="0"/>
                </a:cubicBezTo>
                <a:cubicBezTo>
                  <a:pt x="1506315" y="-30024"/>
                  <a:pt x="1595935" y="24443"/>
                  <a:pt x="1872888" y="0"/>
                </a:cubicBezTo>
                <a:cubicBezTo>
                  <a:pt x="2149841" y="-24443"/>
                  <a:pt x="2161646" y="23705"/>
                  <a:pt x="2445637" y="0"/>
                </a:cubicBezTo>
                <a:cubicBezTo>
                  <a:pt x="2729628" y="-23705"/>
                  <a:pt x="2920227" y="47745"/>
                  <a:pt x="3121480" y="0"/>
                </a:cubicBezTo>
                <a:cubicBezTo>
                  <a:pt x="3322733" y="-47745"/>
                  <a:pt x="3442663" y="34170"/>
                  <a:pt x="3745776" y="0"/>
                </a:cubicBezTo>
                <a:cubicBezTo>
                  <a:pt x="4048889" y="-34170"/>
                  <a:pt x="4029933" y="15303"/>
                  <a:pt x="4163883" y="0"/>
                </a:cubicBezTo>
                <a:cubicBezTo>
                  <a:pt x="4297833" y="-15303"/>
                  <a:pt x="4944104" y="20975"/>
                  <a:pt x="5154738" y="0"/>
                </a:cubicBezTo>
                <a:cubicBezTo>
                  <a:pt x="5160673" y="85286"/>
                  <a:pt x="5123178" y="272696"/>
                  <a:pt x="5154738" y="397376"/>
                </a:cubicBezTo>
                <a:cubicBezTo>
                  <a:pt x="5186298" y="522056"/>
                  <a:pt x="5129701" y="670927"/>
                  <a:pt x="5154738" y="764184"/>
                </a:cubicBezTo>
                <a:cubicBezTo>
                  <a:pt x="4979260" y="776026"/>
                  <a:pt x="4868578" y="731290"/>
                  <a:pt x="4685084" y="764184"/>
                </a:cubicBezTo>
                <a:cubicBezTo>
                  <a:pt x="4501590" y="797078"/>
                  <a:pt x="4293929" y="717518"/>
                  <a:pt x="4009241" y="764184"/>
                </a:cubicBezTo>
                <a:cubicBezTo>
                  <a:pt x="3724553" y="810850"/>
                  <a:pt x="3645902" y="712314"/>
                  <a:pt x="3488039" y="764184"/>
                </a:cubicBezTo>
                <a:cubicBezTo>
                  <a:pt x="3330176" y="816054"/>
                  <a:pt x="2967021" y="729836"/>
                  <a:pt x="2812196" y="764184"/>
                </a:cubicBezTo>
                <a:cubicBezTo>
                  <a:pt x="2657371" y="798532"/>
                  <a:pt x="2478395" y="735212"/>
                  <a:pt x="2342542" y="764184"/>
                </a:cubicBezTo>
                <a:cubicBezTo>
                  <a:pt x="2206689" y="793156"/>
                  <a:pt x="2038024" y="735978"/>
                  <a:pt x="1924436" y="764184"/>
                </a:cubicBezTo>
                <a:cubicBezTo>
                  <a:pt x="1810848" y="792390"/>
                  <a:pt x="1648990" y="745537"/>
                  <a:pt x="1506329" y="764184"/>
                </a:cubicBezTo>
                <a:cubicBezTo>
                  <a:pt x="1363668" y="782831"/>
                  <a:pt x="1080825" y="702330"/>
                  <a:pt x="882033" y="764184"/>
                </a:cubicBezTo>
                <a:cubicBezTo>
                  <a:pt x="683241" y="826038"/>
                  <a:pt x="438992" y="731014"/>
                  <a:pt x="0" y="764184"/>
                </a:cubicBezTo>
                <a:cubicBezTo>
                  <a:pt x="-26657" y="679839"/>
                  <a:pt x="24505" y="487055"/>
                  <a:pt x="0" y="382092"/>
                </a:cubicBezTo>
                <a:cubicBezTo>
                  <a:pt x="-24505" y="277129"/>
                  <a:pt x="11971" y="190086"/>
                  <a:pt x="0" y="0"/>
                </a:cubicBezTo>
                <a:close/>
              </a:path>
              <a:path w="5154738" h="764184" stroke="0" extrusionOk="0">
                <a:moveTo>
                  <a:pt x="0" y="0"/>
                </a:moveTo>
                <a:cubicBezTo>
                  <a:pt x="246073" y="-49075"/>
                  <a:pt x="267158" y="54774"/>
                  <a:pt x="521201" y="0"/>
                </a:cubicBezTo>
                <a:cubicBezTo>
                  <a:pt x="775244" y="-54774"/>
                  <a:pt x="791952" y="3983"/>
                  <a:pt x="939308" y="0"/>
                </a:cubicBezTo>
                <a:cubicBezTo>
                  <a:pt x="1086664" y="-3983"/>
                  <a:pt x="1403438" y="65863"/>
                  <a:pt x="1615151" y="0"/>
                </a:cubicBezTo>
                <a:cubicBezTo>
                  <a:pt x="1826864" y="-65863"/>
                  <a:pt x="2002903" y="57292"/>
                  <a:pt x="2136353" y="0"/>
                </a:cubicBezTo>
                <a:cubicBezTo>
                  <a:pt x="2269803" y="-57292"/>
                  <a:pt x="2422462" y="34996"/>
                  <a:pt x="2657554" y="0"/>
                </a:cubicBezTo>
                <a:cubicBezTo>
                  <a:pt x="2892646" y="-34996"/>
                  <a:pt x="3067130" y="46618"/>
                  <a:pt x="3333397" y="0"/>
                </a:cubicBezTo>
                <a:cubicBezTo>
                  <a:pt x="3599664" y="-46618"/>
                  <a:pt x="3631066" y="20748"/>
                  <a:pt x="3803051" y="0"/>
                </a:cubicBezTo>
                <a:cubicBezTo>
                  <a:pt x="3975036" y="-20748"/>
                  <a:pt x="4215580" y="52743"/>
                  <a:pt x="4478895" y="0"/>
                </a:cubicBezTo>
                <a:cubicBezTo>
                  <a:pt x="4742210" y="-52743"/>
                  <a:pt x="4895058" y="60338"/>
                  <a:pt x="5154738" y="0"/>
                </a:cubicBezTo>
                <a:cubicBezTo>
                  <a:pt x="5161121" y="161122"/>
                  <a:pt x="5132941" y="277423"/>
                  <a:pt x="5154738" y="382092"/>
                </a:cubicBezTo>
                <a:cubicBezTo>
                  <a:pt x="5176535" y="486761"/>
                  <a:pt x="5144679" y="668296"/>
                  <a:pt x="5154738" y="764184"/>
                </a:cubicBezTo>
                <a:cubicBezTo>
                  <a:pt x="4964958" y="815573"/>
                  <a:pt x="4690488" y="759756"/>
                  <a:pt x="4530442" y="764184"/>
                </a:cubicBezTo>
                <a:cubicBezTo>
                  <a:pt x="4370396" y="768612"/>
                  <a:pt x="4057364" y="699147"/>
                  <a:pt x="3854599" y="764184"/>
                </a:cubicBezTo>
                <a:cubicBezTo>
                  <a:pt x="3651834" y="829221"/>
                  <a:pt x="3314290" y="692012"/>
                  <a:pt x="3178755" y="764184"/>
                </a:cubicBezTo>
                <a:cubicBezTo>
                  <a:pt x="3043220" y="836356"/>
                  <a:pt x="2937999" y="747670"/>
                  <a:pt x="2709101" y="764184"/>
                </a:cubicBezTo>
                <a:cubicBezTo>
                  <a:pt x="2480203" y="780698"/>
                  <a:pt x="2321842" y="762340"/>
                  <a:pt x="2136353" y="764184"/>
                </a:cubicBezTo>
                <a:cubicBezTo>
                  <a:pt x="1950864" y="766028"/>
                  <a:pt x="1627845" y="756490"/>
                  <a:pt x="1460509" y="764184"/>
                </a:cubicBezTo>
                <a:cubicBezTo>
                  <a:pt x="1293173" y="771878"/>
                  <a:pt x="1137452" y="754028"/>
                  <a:pt x="887760" y="764184"/>
                </a:cubicBezTo>
                <a:cubicBezTo>
                  <a:pt x="638068" y="774340"/>
                  <a:pt x="286963" y="696427"/>
                  <a:pt x="0" y="764184"/>
                </a:cubicBezTo>
                <a:cubicBezTo>
                  <a:pt x="-10043" y="672483"/>
                  <a:pt x="33815" y="476337"/>
                  <a:pt x="0" y="397376"/>
                </a:cubicBezTo>
                <a:cubicBezTo>
                  <a:pt x="-33815" y="318415"/>
                  <a:pt x="14379" y="102793"/>
                  <a:pt x="0" y="0"/>
                </a:cubicBezTo>
                <a:close/>
              </a:path>
            </a:pathLst>
          </a:custGeom>
          <a:ln>
            <a:solidFill>
              <a:srgbClr val="00B05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r>
              <a:rPr lang="es-CL" sz="2183" dirty="0">
                <a:latin typeface="Arial" panose="020B0604020202020204" pitchFamily="34" charset="0"/>
                <a:cs typeface="Arial" panose="020B0604020202020204" pitchFamily="34" charset="0"/>
              </a:rPr>
              <a:t>Se requiere saber cuántas F (femenino) existen en el archivo</a:t>
            </a:r>
            <a:endParaRPr lang="es-ES_tradnl" sz="2183" dirty="0">
              <a:latin typeface="Arial" panose="020B0604020202020204" pitchFamily="34" charset="0"/>
              <a:cs typeface="Arial" panose="020B0604020202020204" pitchFamily="34" charset="0"/>
            </a:endParaRPr>
          </a:p>
        </p:txBody>
      </p:sp>
      <p:sp>
        <p:nvSpPr>
          <p:cNvPr id="12" name="Rectángulo 11">
            <a:extLst>
              <a:ext uri="{FF2B5EF4-FFF2-40B4-BE49-F238E27FC236}">
                <a16:creationId xmlns:a16="http://schemas.microsoft.com/office/drawing/2014/main" id="{486B74AD-5F98-AD63-2138-FE8C0E7A7F67}"/>
              </a:ext>
            </a:extLst>
          </p:cNvPr>
          <p:cNvSpPr/>
          <p:nvPr/>
        </p:nvSpPr>
        <p:spPr>
          <a:xfrm>
            <a:off x="825541" y="5110419"/>
            <a:ext cx="7933101" cy="764184"/>
          </a:xfrm>
          <a:custGeom>
            <a:avLst/>
            <a:gdLst>
              <a:gd name="connsiteX0" fmla="*/ 0 w 7933101"/>
              <a:gd name="connsiteY0" fmla="*/ 0 h 764184"/>
              <a:gd name="connsiteX1" fmla="*/ 645981 w 7933101"/>
              <a:gd name="connsiteY1" fmla="*/ 0 h 764184"/>
              <a:gd name="connsiteX2" fmla="*/ 1371293 w 7933101"/>
              <a:gd name="connsiteY2" fmla="*/ 0 h 764184"/>
              <a:gd name="connsiteX3" fmla="*/ 1779281 w 7933101"/>
              <a:gd name="connsiteY3" fmla="*/ 0 h 764184"/>
              <a:gd name="connsiteX4" fmla="*/ 2425262 w 7933101"/>
              <a:gd name="connsiteY4" fmla="*/ 0 h 764184"/>
              <a:gd name="connsiteX5" fmla="*/ 2833250 w 7933101"/>
              <a:gd name="connsiteY5" fmla="*/ 0 h 764184"/>
              <a:gd name="connsiteX6" fmla="*/ 3399900 w 7933101"/>
              <a:gd name="connsiteY6" fmla="*/ 0 h 764184"/>
              <a:gd name="connsiteX7" fmla="*/ 4045882 w 7933101"/>
              <a:gd name="connsiteY7" fmla="*/ 0 h 764184"/>
              <a:gd name="connsiteX8" fmla="*/ 4374539 w 7933101"/>
              <a:gd name="connsiteY8" fmla="*/ 0 h 764184"/>
              <a:gd name="connsiteX9" fmla="*/ 4703196 w 7933101"/>
              <a:gd name="connsiteY9" fmla="*/ 0 h 764184"/>
              <a:gd name="connsiteX10" fmla="*/ 5428508 w 7933101"/>
              <a:gd name="connsiteY10" fmla="*/ 0 h 764184"/>
              <a:gd name="connsiteX11" fmla="*/ 5995158 w 7933101"/>
              <a:gd name="connsiteY11" fmla="*/ 0 h 764184"/>
              <a:gd name="connsiteX12" fmla="*/ 6323815 w 7933101"/>
              <a:gd name="connsiteY12" fmla="*/ 0 h 764184"/>
              <a:gd name="connsiteX13" fmla="*/ 6890465 w 7933101"/>
              <a:gd name="connsiteY13" fmla="*/ 0 h 764184"/>
              <a:gd name="connsiteX14" fmla="*/ 7933101 w 7933101"/>
              <a:gd name="connsiteY14" fmla="*/ 0 h 764184"/>
              <a:gd name="connsiteX15" fmla="*/ 7933101 w 7933101"/>
              <a:gd name="connsiteY15" fmla="*/ 374450 h 764184"/>
              <a:gd name="connsiteX16" fmla="*/ 7933101 w 7933101"/>
              <a:gd name="connsiteY16" fmla="*/ 764184 h 764184"/>
              <a:gd name="connsiteX17" fmla="*/ 7604444 w 7933101"/>
              <a:gd name="connsiteY17" fmla="*/ 764184 h 764184"/>
              <a:gd name="connsiteX18" fmla="*/ 6879132 w 7933101"/>
              <a:gd name="connsiteY18" fmla="*/ 764184 h 764184"/>
              <a:gd name="connsiteX19" fmla="*/ 6233151 w 7933101"/>
              <a:gd name="connsiteY19" fmla="*/ 764184 h 764184"/>
              <a:gd name="connsiteX20" fmla="*/ 5587170 w 7933101"/>
              <a:gd name="connsiteY20" fmla="*/ 764184 h 764184"/>
              <a:gd name="connsiteX21" fmla="*/ 4941189 w 7933101"/>
              <a:gd name="connsiteY21" fmla="*/ 764184 h 764184"/>
              <a:gd name="connsiteX22" fmla="*/ 4533201 w 7933101"/>
              <a:gd name="connsiteY22" fmla="*/ 764184 h 764184"/>
              <a:gd name="connsiteX23" fmla="*/ 3807888 w 7933101"/>
              <a:gd name="connsiteY23" fmla="*/ 764184 h 764184"/>
              <a:gd name="connsiteX24" fmla="*/ 3241238 w 7933101"/>
              <a:gd name="connsiteY24" fmla="*/ 764184 h 764184"/>
              <a:gd name="connsiteX25" fmla="*/ 2912581 w 7933101"/>
              <a:gd name="connsiteY25" fmla="*/ 764184 h 764184"/>
              <a:gd name="connsiteX26" fmla="*/ 2345931 w 7933101"/>
              <a:gd name="connsiteY26" fmla="*/ 764184 h 764184"/>
              <a:gd name="connsiteX27" fmla="*/ 1858612 w 7933101"/>
              <a:gd name="connsiteY27" fmla="*/ 764184 h 764184"/>
              <a:gd name="connsiteX28" fmla="*/ 1371293 w 7933101"/>
              <a:gd name="connsiteY28" fmla="*/ 764184 h 764184"/>
              <a:gd name="connsiteX29" fmla="*/ 883974 w 7933101"/>
              <a:gd name="connsiteY29" fmla="*/ 764184 h 764184"/>
              <a:gd name="connsiteX30" fmla="*/ 0 w 7933101"/>
              <a:gd name="connsiteY30" fmla="*/ 764184 h 764184"/>
              <a:gd name="connsiteX31" fmla="*/ 0 w 7933101"/>
              <a:gd name="connsiteY31" fmla="*/ 374450 h 764184"/>
              <a:gd name="connsiteX32" fmla="*/ 0 w 7933101"/>
              <a:gd name="connsiteY32" fmla="*/ 0 h 76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933101" h="764184" fill="none" extrusionOk="0">
                <a:moveTo>
                  <a:pt x="0" y="0"/>
                </a:moveTo>
                <a:cubicBezTo>
                  <a:pt x="284652" y="-7757"/>
                  <a:pt x="333315" y="5593"/>
                  <a:pt x="645981" y="0"/>
                </a:cubicBezTo>
                <a:cubicBezTo>
                  <a:pt x="958647" y="-5593"/>
                  <a:pt x="1203692" y="77877"/>
                  <a:pt x="1371293" y="0"/>
                </a:cubicBezTo>
                <a:cubicBezTo>
                  <a:pt x="1538894" y="-77877"/>
                  <a:pt x="1650514" y="12228"/>
                  <a:pt x="1779281" y="0"/>
                </a:cubicBezTo>
                <a:cubicBezTo>
                  <a:pt x="1908048" y="-12228"/>
                  <a:pt x="2288339" y="75951"/>
                  <a:pt x="2425262" y="0"/>
                </a:cubicBezTo>
                <a:cubicBezTo>
                  <a:pt x="2562185" y="-75951"/>
                  <a:pt x="2747583" y="39415"/>
                  <a:pt x="2833250" y="0"/>
                </a:cubicBezTo>
                <a:cubicBezTo>
                  <a:pt x="2918917" y="-39415"/>
                  <a:pt x="3144625" y="18788"/>
                  <a:pt x="3399900" y="0"/>
                </a:cubicBezTo>
                <a:cubicBezTo>
                  <a:pt x="3655175" y="-18788"/>
                  <a:pt x="3797570" y="20566"/>
                  <a:pt x="4045882" y="0"/>
                </a:cubicBezTo>
                <a:cubicBezTo>
                  <a:pt x="4294194" y="-20566"/>
                  <a:pt x="4307180" y="4564"/>
                  <a:pt x="4374539" y="0"/>
                </a:cubicBezTo>
                <a:cubicBezTo>
                  <a:pt x="4441898" y="-4564"/>
                  <a:pt x="4616487" y="2641"/>
                  <a:pt x="4703196" y="0"/>
                </a:cubicBezTo>
                <a:cubicBezTo>
                  <a:pt x="4789905" y="-2641"/>
                  <a:pt x="5267728" y="37791"/>
                  <a:pt x="5428508" y="0"/>
                </a:cubicBezTo>
                <a:cubicBezTo>
                  <a:pt x="5589288" y="-37791"/>
                  <a:pt x="5867090" y="19931"/>
                  <a:pt x="5995158" y="0"/>
                </a:cubicBezTo>
                <a:cubicBezTo>
                  <a:pt x="6123226" y="-19931"/>
                  <a:pt x="6192137" y="39425"/>
                  <a:pt x="6323815" y="0"/>
                </a:cubicBezTo>
                <a:cubicBezTo>
                  <a:pt x="6455493" y="-39425"/>
                  <a:pt x="6713841" y="44342"/>
                  <a:pt x="6890465" y="0"/>
                </a:cubicBezTo>
                <a:cubicBezTo>
                  <a:pt x="7067089" y="-44342"/>
                  <a:pt x="7564459" y="36622"/>
                  <a:pt x="7933101" y="0"/>
                </a:cubicBezTo>
                <a:cubicBezTo>
                  <a:pt x="7934372" y="95282"/>
                  <a:pt x="7900457" y="220309"/>
                  <a:pt x="7933101" y="374450"/>
                </a:cubicBezTo>
                <a:cubicBezTo>
                  <a:pt x="7965745" y="528591"/>
                  <a:pt x="7897231" y="595386"/>
                  <a:pt x="7933101" y="764184"/>
                </a:cubicBezTo>
                <a:cubicBezTo>
                  <a:pt x="7858915" y="803288"/>
                  <a:pt x="7763316" y="740333"/>
                  <a:pt x="7604444" y="764184"/>
                </a:cubicBezTo>
                <a:cubicBezTo>
                  <a:pt x="7445572" y="788035"/>
                  <a:pt x="7059515" y="744600"/>
                  <a:pt x="6879132" y="764184"/>
                </a:cubicBezTo>
                <a:cubicBezTo>
                  <a:pt x="6698749" y="783768"/>
                  <a:pt x="6400409" y="760418"/>
                  <a:pt x="6233151" y="764184"/>
                </a:cubicBezTo>
                <a:cubicBezTo>
                  <a:pt x="6065893" y="767950"/>
                  <a:pt x="5768200" y="708726"/>
                  <a:pt x="5587170" y="764184"/>
                </a:cubicBezTo>
                <a:cubicBezTo>
                  <a:pt x="5406140" y="819642"/>
                  <a:pt x="5174724" y="695266"/>
                  <a:pt x="4941189" y="764184"/>
                </a:cubicBezTo>
                <a:cubicBezTo>
                  <a:pt x="4707654" y="833102"/>
                  <a:pt x="4727921" y="740886"/>
                  <a:pt x="4533201" y="764184"/>
                </a:cubicBezTo>
                <a:cubicBezTo>
                  <a:pt x="4338481" y="787482"/>
                  <a:pt x="3991885" y="752540"/>
                  <a:pt x="3807888" y="764184"/>
                </a:cubicBezTo>
                <a:cubicBezTo>
                  <a:pt x="3623891" y="775828"/>
                  <a:pt x="3446292" y="718317"/>
                  <a:pt x="3241238" y="764184"/>
                </a:cubicBezTo>
                <a:cubicBezTo>
                  <a:pt x="3036184" y="810051"/>
                  <a:pt x="3008955" y="759162"/>
                  <a:pt x="2912581" y="764184"/>
                </a:cubicBezTo>
                <a:cubicBezTo>
                  <a:pt x="2816207" y="769206"/>
                  <a:pt x="2499139" y="732926"/>
                  <a:pt x="2345931" y="764184"/>
                </a:cubicBezTo>
                <a:cubicBezTo>
                  <a:pt x="2192723" y="795442"/>
                  <a:pt x="2078607" y="745900"/>
                  <a:pt x="1858612" y="764184"/>
                </a:cubicBezTo>
                <a:cubicBezTo>
                  <a:pt x="1638617" y="782468"/>
                  <a:pt x="1602802" y="762141"/>
                  <a:pt x="1371293" y="764184"/>
                </a:cubicBezTo>
                <a:cubicBezTo>
                  <a:pt x="1139784" y="766227"/>
                  <a:pt x="1052311" y="759258"/>
                  <a:pt x="883974" y="764184"/>
                </a:cubicBezTo>
                <a:cubicBezTo>
                  <a:pt x="715637" y="769110"/>
                  <a:pt x="326871" y="742520"/>
                  <a:pt x="0" y="764184"/>
                </a:cubicBezTo>
                <a:cubicBezTo>
                  <a:pt x="-34981" y="636737"/>
                  <a:pt x="31584" y="460260"/>
                  <a:pt x="0" y="374450"/>
                </a:cubicBezTo>
                <a:cubicBezTo>
                  <a:pt x="-31584" y="288640"/>
                  <a:pt x="16363" y="77413"/>
                  <a:pt x="0" y="0"/>
                </a:cubicBezTo>
                <a:close/>
              </a:path>
              <a:path w="7933101" h="764184" stroke="0" extrusionOk="0">
                <a:moveTo>
                  <a:pt x="0" y="0"/>
                </a:moveTo>
                <a:cubicBezTo>
                  <a:pt x="203471" y="-46514"/>
                  <a:pt x="338399" y="30026"/>
                  <a:pt x="487319" y="0"/>
                </a:cubicBezTo>
                <a:cubicBezTo>
                  <a:pt x="636239" y="-30026"/>
                  <a:pt x="725070" y="14124"/>
                  <a:pt x="815976" y="0"/>
                </a:cubicBezTo>
                <a:cubicBezTo>
                  <a:pt x="906882" y="-14124"/>
                  <a:pt x="1333616" y="65074"/>
                  <a:pt x="1541288" y="0"/>
                </a:cubicBezTo>
                <a:cubicBezTo>
                  <a:pt x="1748960" y="-65074"/>
                  <a:pt x="1816354" y="46766"/>
                  <a:pt x="2028607" y="0"/>
                </a:cubicBezTo>
                <a:cubicBezTo>
                  <a:pt x="2240860" y="-46766"/>
                  <a:pt x="2319640" y="39822"/>
                  <a:pt x="2515926" y="0"/>
                </a:cubicBezTo>
                <a:cubicBezTo>
                  <a:pt x="2712212" y="-39822"/>
                  <a:pt x="3016831" y="50897"/>
                  <a:pt x="3241238" y="0"/>
                </a:cubicBezTo>
                <a:cubicBezTo>
                  <a:pt x="3465645" y="-50897"/>
                  <a:pt x="3479751" y="25653"/>
                  <a:pt x="3649226" y="0"/>
                </a:cubicBezTo>
                <a:cubicBezTo>
                  <a:pt x="3818701" y="-25653"/>
                  <a:pt x="4213879" y="26155"/>
                  <a:pt x="4374539" y="0"/>
                </a:cubicBezTo>
                <a:cubicBezTo>
                  <a:pt x="4535199" y="-26155"/>
                  <a:pt x="4923383" y="31068"/>
                  <a:pt x="5099851" y="0"/>
                </a:cubicBezTo>
                <a:cubicBezTo>
                  <a:pt x="5276319" y="-31068"/>
                  <a:pt x="5460456" y="61219"/>
                  <a:pt x="5666501" y="0"/>
                </a:cubicBezTo>
                <a:cubicBezTo>
                  <a:pt x="5872546" y="-61219"/>
                  <a:pt x="6127896" y="37941"/>
                  <a:pt x="6391813" y="0"/>
                </a:cubicBezTo>
                <a:cubicBezTo>
                  <a:pt x="6655730" y="-37941"/>
                  <a:pt x="6775980" y="8813"/>
                  <a:pt x="6879132" y="0"/>
                </a:cubicBezTo>
                <a:cubicBezTo>
                  <a:pt x="6982284" y="-8813"/>
                  <a:pt x="7123326" y="28948"/>
                  <a:pt x="7366451" y="0"/>
                </a:cubicBezTo>
                <a:cubicBezTo>
                  <a:pt x="7609576" y="-28948"/>
                  <a:pt x="7794609" y="8139"/>
                  <a:pt x="7933101" y="0"/>
                </a:cubicBezTo>
                <a:cubicBezTo>
                  <a:pt x="7976064" y="109729"/>
                  <a:pt x="7912298" y="205250"/>
                  <a:pt x="7933101" y="374450"/>
                </a:cubicBezTo>
                <a:cubicBezTo>
                  <a:pt x="7953904" y="543650"/>
                  <a:pt x="7927980" y="639305"/>
                  <a:pt x="7933101" y="764184"/>
                </a:cubicBezTo>
                <a:cubicBezTo>
                  <a:pt x="7647041" y="812200"/>
                  <a:pt x="7537169" y="723030"/>
                  <a:pt x="7287120" y="764184"/>
                </a:cubicBezTo>
                <a:cubicBezTo>
                  <a:pt x="7037071" y="805338"/>
                  <a:pt x="6983619" y="756504"/>
                  <a:pt x="6720470" y="764184"/>
                </a:cubicBezTo>
                <a:cubicBezTo>
                  <a:pt x="6457321" y="771864"/>
                  <a:pt x="6530661" y="762215"/>
                  <a:pt x="6391813" y="764184"/>
                </a:cubicBezTo>
                <a:cubicBezTo>
                  <a:pt x="6252965" y="766153"/>
                  <a:pt x="6075816" y="758105"/>
                  <a:pt x="5983825" y="764184"/>
                </a:cubicBezTo>
                <a:cubicBezTo>
                  <a:pt x="5891834" y="770263"/>
                  <a:pt x="5467508" y="746839"/>
                  <a:pt x="5258513" y="764184"/>
                </a:cubicBezTo>
                <a:cubicBezTo>
                  <a:pt x="5049518" y="781529"/>
                  <a:pt x="4840776" y="701725"/>
                  <a:pt x="4691863" y="764184"/>
                </a:cubicBezTo>
                <a:cubicBezTo>
                  <a:pt x="4542950" y="826643"/>
                  <a:pt x="4433624" y="715458"/>
                  <a:pt x="4283875" y="764184"/>
                </a:cubicBezTo>
                <a:cubicBezTo>
                  <a:pt x="4134126" y="812910"/>
                  <a:pt x="3858642" y="747193"/>
                  <a:pt x="3717224" y="764184"/>
                </a:cubicBezTo>
                <a:cubicBezTo>
                  <a:pt x="3575806" y="781175"/>
                  <a:pt x="3526959" y="758686"/>
                  <a:pt x="3388567" y="764184"/>
                </a:cubicBezTo>
                <a:cubicBezTo>
                  <a:pt x="3250175" y="769682"/>
                  <a:pt x="3214806" y="738456"/>
                  <a:pt x="3059910" y="764184"/>
                </a:cubicBezTo>
                <a:cubicBezTo>
                  <a:pt x="2905014" y="789912"/>
                  <a:pt x="2669034" y="716510"/>
                  <a:pt x="2493260" y="764184"/>
                </a:cubicBezTo>
                <a:cubicBezTo>
                  <a:pt x="2317486" y="811858"/>
                  <a:pt x="2226954" y="737560"/>
                  <a:pt x="2085272" y="764184"/>
                </a:cubicBezTo>
                <a:cubicBezTo>
                  <a:pt x="1943590" y="790808"/>
                  <a:pt x="1758655" y="719744"/>
                  <a:pt x="1439291" y="764184"/>
                </a:cubicBezTo>
                <a:cubicBezTo>
                  <a:pt x="1119927" y="808624"/>
                  <a:pt x="1210538" y="737120"/>
                  <a:pt x="1031303" y="764184"/>
                </a:cubicBezTo>
                <a:cubicBezTo>
                  <a:pt x="852068" y="791248"/>
                  <a:pt x="478529" y="710484"/>
                  <a:pt x="0" y="764184"/>
                </a:cubicBezTo>
                <a:cubicBezTo>
                  <a:pt x="-23484" y="595555"/>
                  <a:pt x="831" y="514371"/>
                  <a:pt x="0" y="405018"/>
                </a:cubicBezTo>
                <a:cubicBezTo>
                  <a:pt x="-831" y="295665"/>
                  <a:pt x="34144" y="96400"/>
                  <a:pt x="0" y="0"/>
                </a:cubicBezTo>
                <a:close/>
              </a:path>
            </a:pathLst>
          </a:custGeom>
          <a:ln w="22225">
            <a:solidFill>
              <a:schemeClr val="accent6">
                <a:lumMod val="75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r>
              <a:rPr lang="es-CL" sz="2183" dirty="0">
                <a:latin typeface="Arial" panose="020B0604020202020204" pitchFamily="34" charset="0"/>
                <a:cs typeface="Arial" panose="020B0604020202020204" pitchFamily="34" charset="0"/>
              </a:rPr>
              <a:t>Para recorrer, necesitaremos el método </a:t>
            </a:r>
            <a:r>
              <a:rPr lang="es-CL" sz="2183" dirty="0" err="1">
                <a:latin typeface="Arial" panose="020B0604020202020204" pitchFamily="34" charset="0"/>
                <a:cs typeface="Arial" panose="020B0604020202020204" pitchFamily="34" charset="0"/>
              </a:rPr>
              <a:t>length</a:t>
            </a:r>
            <a:r>
              <a:rPr lang="es-CL" sz="2183" dirty="0">
                <a:latin typeface="Arial" panose="020B0604020202020204" pitchFamily="34" charset="0"/>
                <a:cs typeface="Arial" panose="020B0604020202020204" pitchFamily="34" charset="0"/>
              </a:rPr>
              <a:t>() del tipo String, que permite devolver el largo de éste</a:t>
            </a:r>
            <a:endParaRPr lang="es-ES_tradnl" sz="2183"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145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iteración</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701" lvl="1" algn="just">
              <a:buClr>
                <a:srgbClr val="0070C0"/>
              </a:buClr>
            </a:pPr>
            <a:r>
              <a:rPr lang="es-CL" sz="2183" b="1" dirty="0">
                <a:solidFill>
                  <a:srgbClr val="222222"/>
                </a:solidFill>
                <a:latin typeface="Arial" panose="020B0604020202020204" pitchFamily="34" charset="0"/>
                <a:cs typeface="Arial" panose="020B0604020202020204" pitchFamily="34" charset="0"/>
              </a:rPr>
              <a:t>	while</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13" name="Imagen 12">
            <a:extLst>
              <a:ext uri="{FF2B5EF4-FFF2-40B4-BE49-F238E27FC236}">
                <a16:creationId xmlns:a16="http://schemas.microsoft.com/office/drawing/2014/main" id="{31A41C18-3070-601E-916D-1FEF0798F875}"/>
              </a:ext>
            </a:extLst>
          </p:cNvPr>
          <p:cNvPicPr>
            <a:picLocks noChangeAspect="1"/>
          </p:cNvPicPr>
          <p:nvPr/>
        </p:nvPicPr>
        <p:blipFill>
          <a:blip r:embed="rId2"/>
          <a:stretch>
            <a:fillRect/>
          </a:stretch>
        </p:blipFill>
        <p:spPr>
          <a:xfrm>
            <a:off x="1567641" y="2155600"/>
            <a:ext cx="8409810" cy="4302694"/>
          </a:xfrm>
          <a:prstGeom prst="rect">
            <a:avLst/>
          </a:prstGeom>
        </p:spPr>
      </p:pic>
      <p:pic>
        <p:nvPicPr>
          <p:cNvPr id="14" name="Gráfico 13" descr="Manos aplaudiendo">
            <a:extLst>
              <a:ext uri="{FF2B5EF4-FFF2-40B4-BE49-F238E27FC236}">
                <a16:creationId xmlns:a16="http://schemas.microsoft.com/office/drawing/2014/main" id="{FA50A988-A0A2-EE26-7418-2A9EF19580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70081" y="1341511"/>
            <a:ext cx="967818" cy="967818"/>
          </a:xfrm>
          <a:prstGeom prst="rect">
            <a:avLst/>
          </a:prstGeom>
        </p:spPr>
      </p:pic>
      <p:sp>
        <p:nvSpPr>
          <p:cNvPr id="15" name="Rectángulo 14">
            <a:extLst>
              <a:ext uri="{FF2B5EF4-FFF2-40B4-BE49-F238E27FC236}">
                <a16:creationId xmlns:a16="http://schemas.microsoft.com/office/drawing/2014/main" id="{34AFD259-8F2C-8E00-0954-CB98549F7E05}"/>
              </a:ext>
            </a:extLst>
          </p:cNvPr>
          <p:cNvSpPr/>
          <p:nvPr/>
        </p:nvSpPr>
        <p:spPr>
          <a:xfrm>
            <a:off x="3369743" y="1523345"/>
            <a:ext cx="967818" cy="428259"/>
          </a:xfrm>
          <a:custGeom>
            <a:avLst/>
            <a:gdLst>
              <a:gd name="connsiteX0" fmla="*/ 0 w 967818"/>
              <a:gd name="connsiteY0" fmla="*/ 0 h 428259"/>
              <a:gd name="connsiteX1" fmla="*/ 503265 w 967818"/>
              <a:gd name="connsiteY1" fmla="*/ 0 h 428259"/>
              <a:gd name="connsiteX2" fmla="*/ 967818 w 967818"/>
              <a:gd name="connsiteY2" fmla="*/ 0 h 428259"/>
              <a:gd name="connsiteX3" fmla="*/ 967818 w 967818"/>
              <a:gd name="connsiteY3" fmla="*/ 428259 h 428259"/>
              <a:gd name="connsiteX4" fmla="*/ 493587 w 967818"/>
              <a:gd name="connsiteY4" fmla="*/ 428259 h 428259"/>
              <a:gd name="connsiteX5" fmla="*/ 0 w 967818"/>
              <a:gd name="connsiteY5" fmla="*/ 428259 h 428259"/>
              <a:gd name="connsiteX6" fmla="*/ 0 w 967818"/>
              <a:gd name="connsiteY6" fmla="*/ 0 h 42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7818" h="428259" fill="none" extrusionOk="0">
                <a:moveTo>
                  <a:pt x="0" y="0"/>
                </a:moveTo>
                <a:cubicBezTo>
                  <a:pt x="153102" y="1836"/>
                  <a:pt x="308906" y="-19175"/>
                  <a:pt x="503265" y="0"/>
                </a:cubicBezTo>
                <a:cubicBezTo>
                  <a:pt x="697624" y="19175"/>
                  <a:pt x="800805" y="16860"/>
                  <a:pt x="967818" y="0"/>
                </a:cubicBezTo>
                <a:cubicBezTo>
                  <a:pt x="970453" y="210550"/>
                  <a:pt x="981014" y="259027"/>
                  <a:pt x="967818" y="428259"/>
                </a:cubicBezTo>
                <a:cubicBezTo>
                  <a:pt x="866026" y="430587"/>
                  <a:pt x="619799" y="433955"/>
                  <a:pt x="493587" y="428259"/>
                </a:cubicBezTo>
                <a:cubicBezTo>
                  <a:pt x="367375" y="422563"/>
                  <a:pt x="98936" y="449629"/>
                  <a:pt x="0" y="428259"/>
                </a:cubicBezTo>
                <a:cubicBezTo>
                  <a:pt x="13065" y="227457"/>
                  <a:pt x="1359" y="87794"/>
                  <a:pt x="0" y="0"/>
                </a:cubicBezTo>
                <a:close/>
              </a:path>
              <a:path w="967818" h="428259" stroke="0" extrusionOk="0">
                <a:moveTo>
                  <a:pt x="0" y="0"/>
                </a:moveTo>
                <a:cubicBezTo>
                  <a:pt x="132960" y="3525"/>
                  <a:pt x="258465" y="11767"/>
                  <a:pt x="474231" y="0"/>
                </a:cubicBezTo>
                <a:cubicBezTo>
                  <a:pt x="689997" y="-11767"/>
                  <a:pt x="749974" y="-2452"/>
                  <a:pt x="967818" y="0"/>
                </a:cubicBezTo>
                <a:cubicBezTo>
                  <a:pt x="966381" y="105820"/>
                  <a:pt x="958876" y="216634"/>
                  <a:pt x="967818" y="428259"/>
                </a:cubicBezTo>
                <a:cubicBezTo>
                  <a:pt x="764584" y="413270"/>
                  <a:pt x="654764" y="418172"/>
                  <a:pt x="483909" y="428259"/>
                </a:cubicBezTo>
                <a:cubicBezTo>
                  <a:pt x="313054" y="438346"/>
                  <a:pt x="114424" y="434119"/>
                  <a:pt x="0" y="428259"/>
                </a:cubicBezTo>
                <a:cubicBezTo>
                  <a:pt x="13291" y="275585"/>
                  <a:pt x="-1715" y="207161"/>
                  <a:pt x="0" y="0"/>
                </a:cubicBezTo>
                <a:close/>
              </a:path>
            </a:pathLst>
          </a:custGeom>
          <a:ln w="31750" cmpd="tri">
            <a:solidFill>
              <a:srgbClr val="92D050"/>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pPr marL="7701" lvl="1" algn="ctr">
              <a:buClr>
                <a:srgbClr val="0070C0"/>
              </a:buClr>
            </a:pPr>
            <a:r>
              <a:rPr lang="es-CL" sz="2183" dirty="0">
                <a:solidFill>
                  <a:srgbClr val="222222"/>
                </a:solidFill>
                <a:latin typeface="Arial" panose="020B0604020202020204" pitchFamily="34" charset="0"/>
                <a:cs typeface="Arial" panose="020B0604020202020204" pitchFamily="34" charset="0"/>
              </a:rPr>
              <a:t>0 a n</a:t>
            </a:r>
          </a:p>
        </p:txBody>
      </p:sp>
    </p:spTree>
    <p:extLst>
      <p:ext uri="{BB962C8B-B14F-4D97-AF65-F5344CB8AC3E}">
        <p14:creationId xmlns:p14="http://schemas.microsoft.com/office/powerpoint/2010/main" val="298178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iteración</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701" lvl="1" algn="just">
              <a:buClr>
                <a:srgbClr val="0070C0"/>
              </a:buClr>
            </a:pPr>
            <a:r>
              <a:rPr lang="es-CL" sz="2183" b="1" dirty="0">
                <a:solidFill>
                  <a:srgbClr val="0070C0"/>
                </a:solidFill>
                <a:latin typeface="Arial" panose="020B0604020202020204" pitchFamily="34" charset="0"/>
                <a:cs typeface="Arial" panose="020B0604020202020204" pitchFamily="34" charset="0"/>
              </a:rPr>
              <a:t>2</a:t>
            </a:r>
            <a:r>
              <a:rPr lang="es-CL" sz="2183" dirty="0">
                <a:solidFill>
                  <a:srgbClr val="222222"/>
                </a:solidFill>
                <a:latin typeface="Arial" panose="020B0604020202020204" pitchFamily="34" charset="0"/>
                <a:cs typeface="Arial" panose="020B0604020202020204" pitchFamily="34" charset="0"/>
              </a:rPr>
              <a:t> En un restaurante se requiere desplegar las opciones del menú del día en una pantalla, para que el mesero tome el pedido de la mesa. Se debe visualizar:</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r>
              <a:rPr lang="es-CL" sz="2183" dirty="0">
                <a:latin typeface="Arial" panose="020B0604020202020204" pitchFamily="34" charset="0"/>
                <a:cs typeface="Arial" panose="020B0604020202020204" pitchFamily="34" charset="0"/>
              </a:rPr>
              <a:t>Entonces… ¿Qué ciclo es el adecuado?</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10" name="Rectángulo 9">
            <a:extLst>
              <a:ext uri="{FF2B5EF4-FFF2-40B4-BE49-F238E27FC236}">
                <a16:creationId xmlns:a16="http://schemas.microsoft.com/office/drawing/2014/main" id="{9CBDBC89-1371-9086-7574-5A963A65E291}"/>
              </a:ext>
            </a:extLst>
          </p:cNvPr>
          <p:cNvSpPr/>
          <p:nvPr/>
        </p:nvSpPr>
        <p:spPr>
          <a:xfrm>
            <a:off x="882645" y="3550323"/>
            <a:ext cx="10426711" cy="764184"/>
          </a:xfrm>
          <a:custGeom>
            <a:avLst/>
            <a:gdLst>
              <a:gd name="connsiteX0" fmla="*/ 0 w 10426711"/>
              <a:gd name="connsiteY0" fmla="*/ 0 h 764184"/>
              <a:gd name="connsiteX1" fmla="*/ 579262 w 10426711"/>
              <a:gd name="connsiteY1" fmla="*/ 0 h 764184"/>
              <a:gd name="connsiteX2" fmla="*/ 1158523 w 10426711"/>
              <a:gd name="connsiteY2" fmla="*/ 0 h 764184"/>
              <a:gd name="connsiteX3" fmla="*/ 1946319 w 10426711"/>
              <a:gd name="connsiteY3" fmla="*/ 0 h 764184"/>
              <a:gd name="connsiteX4" fmla="*/ 2421314 w 10426711"/>
              <a:gd name="connsiteY4" fmla="*/ 0 h 764184"/>
              <a:gd name="connsiteX5" fmla="*/ 2896309 w 10426711"/>
              <a:gd name="connsiteY5" fmla="*/ 0 h 764184"/>
              <a:gd name="connsiteX6" fmla="*/ 3475570 w 10426711"/>
              <a:gd name="connsiteY6" fmla="*/ 0 h 764184"/>
              <a:gd name="connsiteX7" fmla="*/ 4159099 w 10426711"/>
              <a:gd name="connsiteY7" fmla="*/ 0 h 764184"/>
              <a:gd name="connsiteX8" fmla="*/ 4842628 w 10426711"/>
              <a:gd name="connsiteY8" fmla="*/ 0 h 764184"/>
              <a:gd name="connsiteX9" fmla="*/ 5526157 w 10426711"/>
              <a:gd name="connsiteY9" fmla="*/ 0 h 764184"/>
              <a:gd name="connsiteX10" fmla="*/ 6313953 w 10426711"/>
              <a:gd name="connsiteY10" fmla="*/ 0 h 764184"/>
              <a:gd name="connsiteX11" fmla="*/ 6893214 w 10426711"/>
              <a:gd name="connsiteY11" fmla="*/ 0 h 764184"/>
              <a:gd name="connsiteX12" fmla="*/ 7576743 w 10426711"/>
              <a:gd name="connsiteY12" fmla="*/ 0 h 764184"/>
              <a:gd name="connsiteX13" fmla="*/ 8156005 w 10426711"/>
              <a:gd name="connsiteY13" fmla="*/ 0 h 764184"/>
              <a:gd name="connsiteX14" fmla="*/ 8735267 w 10426711"/>
              <a:gd name="connsiteY14" fmla="*/ 0 h 764184"/>
              <a:gd name="connsiteX15" fmla="*/ 9314528 w 10426711"/>
              <a:gd name="connsiteY15" fmla="*/ 0 h 764184"/>
              <a:gd name="connsiteX16" fmla="*/ 9580989 w 10426711"/>
              <a:gd name="connsiteY16" fmla="*/ 0 h 764184"/>
              <a:gd name="connsiteX17" fmla="*/ 10426711 w 10426711"/>
              <a:gd name="connsiteY17" fmla="*/ 0 h 764184"/>
              <a:gd name="connsiteX18" fmla="*/ 10426711 w 10426711"/>
              <a:gd name="connsiteY18" fmla="*/ 359166 h 764184"/>
              <a:gd name="connsiteX19" fmla="*/ 10426711 w 10426711"/>
              <a:gd name="connsiteY19" fmla="*/ 764184 h 764184"/>
              <a:gd name="connsiteX20" fmla="*/ 9951716 w 10426711"/>
              <a:gd name="connsiteY20" fmla="*/ 764184 h 764184"/>
              <a:gd name="connsiteX21" fmla="*/ 9372455 w 10426711"/>
              <a:gd name="connsiteY21" fmla="*/ 764184 h 764184"/>
              <a:gd name="connsiteX22" fmla="*/ 9105994 w 10426711"/>
              <a:gd name="connsiteY22" fmla="*/ 764184 h 764184"/>
              <a:gd name="connsiteX23" fmla="*/ 8631000 w 10426711"/>
              <a:gd name="connsiteY23" fmla="*/ 764184 h 764184"/>
              <a:gd name="connsiteX24" fmla="*/ 7947471 w 10426711"/>
              <a:gd name="connsiteY24" fmla="*/ 764184 h 764184"/>
              <a:gd name="connsiteX25" fmla="*/ 7576743 w 10426711"/>
              <a:gd name="connsiteY25" fmla="*/ 764184 h 764184"/>
              <a:gd name="connsiteX26" fmla="*/ 6788947 w 10426711"/>
              <a:gd name="connsiteY26" fmla="*/ 764184 h 764184"/>
              <a:gd name="connsiteX27" fmla="*/ 6001151 w 10426711"/>
              <a:gd name="connsiteY27" fmla="*/ 764184 h 764184"/>
              <a:gd name="connsiteX28" fmla="*/ 5421890 w 10426711"/>
              <a:gd name="connsiteY28" fmla="*/ 764184 h 764184"/>
              <a:gd name="connsiteX29" fmla="*/ 4634094 w 10426711"/>
              <a:gd name="connsiteY29" fmla="*/ 764184 h 764184"/>
              <a:gd name="connsiteX30" fmla="*/ 4054832 w 10426711"/>
              <a:gd name="connsiteY30" fmla="*/ 764184 h 764184"/>
              <a:gd name="connsiteX31" fmla="*/ 3371303 w 10426711"/>
              <a:gd name="connsiteY31" fmla="*/ 764184 h 764184"/>
              <a:gd name="connsiteX32" fmla="*/ 3104843 w 10426711"/>
              <a:gd name="connsiteY32" fmla="*/ 764184 h 764184"/>
              <a:gd name="connsiteX33" fmla="*/ 2317047 w 10426711"/>
              <a:gd name="connsiteY33" fmla="*/ 764184 h 764184"/>
              <a:gd name="connsiteX34" fmla="*/ 1842052 w 10426711"/>
              <a:gd name="connsiteY34" fmla="*/ 764184 h 764184"/>
              <a:gd name="connsiteX35" fmla="*/ 1158523 w 10426711"/>
              <a:gd name="connsiteY35" fmla="*/ 764184 h 764184"/>
              <a:gd name="connsiteX36" fmla="*/ 892063 w 10426711"/>
              <a:gd name="connsiteY36" fmla="*/ 764184 h 764184"/>
              <a:gd name="connsiteX37" fmla="*/ 0 w 10426711"/>
              <a:gd name="connsiteY37" fmla="*/ 764184 h 764184"/>
              <a:gd name="connsiteX38" fmla="*/ 0 w 10426711"/>
              <a:gd name="connsiteY38" fmla="*/ 389734 h 764184"/>
              <a:gd name="connsiteX39" fmla="*/ 0 w 10426711"/>
              <a:gd name="connsiteY39" fmla="*/ 0 h 76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0426711" h="764184" fill="none" extrusionOk="0">
                <a:moveTo>
                  <a:pt x="0" y="0"/>
                </a:moveTo>
                <a:cubicBezTo>
                  <a:pt x="235294" y="-2491"/>
                  <a:pt x="366637" y="42187"/>
                  <a:pt x="579262" y="0"/>
                </a:cubicBezTo>
                <a:cubicBezTo>
                  <a:pt x="791887" y="-42187"/>
                  <a:pt x="954308" y="52144"/>
                  <a:pt x="1158523" y="0"/>
                </a:cubicBezTo>
                <a:cubicBezTo>
                  <a:pt x="1362738" y="-52144"/>
                  <a:pt x="1773001" y="85054"/>
                  <a:pt x="1946319" y="0"/>
                </a:cubicBezTo>
                <a:cubicBezTo>
                  <a:pt x="2119637" y="-85054"/>
                  <a:pt x="2243156" y="15316"/>
                  <a:pt x="2421314" y="0"/>
                </a:cubicBezTo>
                <a:cubicBezTo>
                  <a:pt x="2599473" y="-15316"/>
                  <a:pt x="2780712" y="49451"/>
                  <a:pt x="2896309" y="0"/>
                </a:cubicBezTo>
                <a:cubicBezTo>
                  <a:pt x="3011907" y="-49451"/>
                  <a:pt x="3204455" y="1185"/>
                  <a:pt x="3475570" y="0"/>
                </a:cubicBezTo>
                <a:cubicBezTo>
                  <a:pt x="3746685" y="-1185"/>
                  <a:pt x="3968791" y="8017"/>
                  <a:pt x="4159099" y="0"/>
                </a:cubicBezTo>
                <a:cubicBezTo>
                  <a:pt x="4349407" y="-8017"/>
                  <a:pt x="4577270" y="40470"/>
                  <a:pt x="4842628" y="0"/>
                </a:cubicBezTo>
                <a:cubicBezTo>
                  <a:pt x="5107986" y="-40470"/>
                  <a:pt x="5226970" y="55918"/>
                  <a:pt x="5526157" y="0"/>
                </a:cubicBezTo>
                <a:cubicBezTo>
                  <a:pt x="5825344" y="-55918"/>
                  <a:pt x="5966415" y="6612"/>
                  <a:pt x="6313953" y="0"/>
                </a:cubicBezTo>
                <a:cubicBezTo>
                  <a:pt x="6661491" y="-6612"/>
                  <a:pt x="6685841" y="24829"/>
                  <a:pt x="6893214" y="0"/>
                </a:cubicBezTo>
                <a:cubicBezTo>
                  <a:pt x="7100587" y="-24829"/>
                  <a:pt x="7393752" y="17112"/>
                  <a:pt x="7576743" y="0"/>
                </a:cubicBezTo>
                <a:cubicBezTo>
                  <a:pt x="7759734" y="-17112"/>
                  <a:pt x="8020050" y="17256"/>
                  <a:pt x="8156005" y="0"/>
                </a:cubicBezTo>
                <a:cubicBezTo>
                  <a:pt x="8291960" y="-17256"/>
                  <a:pt x="8576967" y="54451"/>
                  <a:pt x="8735267" y="0"/>
                </a:cubicBezTo>
                <a:cubicBezTo>
                  <a:pt x="8893567" y="-54451"/>
                  <a:pt x="9028193" y="54205"/>
                  <a:pt x="9314528" y="0"/>
                </a:cubicBezTo>
                <a:cubicBezTo>
                  <a:pt x="9600863" y="-54205"/>
                  <a:pt x="9456715" y="21650"/>
                  <a:pt x="9580989" y="0"/>
                </a:cubicBezTo>
                <a:cubicBezTo>
                  <a:pt x="9705263" y="-21650"/>
                  <a:pt x="10219980" y="17563"/>
                  <a:pt x="10426711" y="0"/>
                </a:cubicBezTo>
                <a:cubicBezTo>
                  <a:pt x="10457885" y="146133"/>
                  <a:pt x="10386162" y="265676"/>
                  <a:pt x="10426711" y="359166"/>
                </a:cubicBezTo>
                <a:cubicBezTo>
                  <a:pt x="10467260" y="452656"/>
                  <a:pt x="10416029" y="662912"/>
                  <a:pt x="10426711" y="764184"/>
                </a:cubicBezTo>
                <a:cubicBezTo>
                  <a:pt x="10235260" y="775956"/>
                  <a:pt x="10153316" y="717477"/>
                  <a:pt x="9951716" y="764184"/>
                </a:cubicBezTo>
                <a:cubicBezTo>
                  <a:pt x="9750117" y="810891"/>
                  <a:pt x="9565280" y="738153"/>
                  <a:pt x="9372455" y="764184"/>
                </a:cubicBezTo>
                <a:cubicBezTo>
                  <a:pt x="9179630" y="790215"/>
                  <a:pt x="9213039" y="733658"/>
                  <a:pt x="9105994" y="764184"/>
                </a:cubicBezTo>
                <a:cubicBezTo>
                  <a:pt x="8998949" y="794710"/>
                  <a:pt x="8821914" y="730862"/>
                  <a:pt x="8631000" y="764184"/>
                </a:cubicBezTo>
                <a:cubicBezTo>
                  <a:pt x="8440086" y="797506"/>
                  <a:pt x="8268618" y="701703"/>
                  <a:pt x="7947471" y="764184"/>
                </a:cubicBezTo>
                <a:cubicBezTo>
                  <a:pt x="7626324" y="826665"/>
                  <a:pt x="7695456" y="750758"/>
                  <a:pt x="7576743" y="764184"/>
                </a:cubicBezTo>
                <a:cubicBezTo>
                  <a:pt x="7458030" y="777610"/>
                  <a:pt x="7040247" y="736034"/>
                  <a:pt x="6788947" y="764184"/>
                </a:cubicBezTo>
                <a:cubicBezTo>
                  <a:pt x="6537647" y="792334"/>
                  <a:pt x="6267422" y="692998"/>
                  <a:pt x="6001151" y="764184"/>
                </a:cubicBezTo>
                <a:cubicBezTo>
                  <a:pt x="5734880" y="835370"/>
                  <a:pt x="5650451" y="763180"/>
                  <a:pt x="5421890" y="764184"/>
                </a:cubicBezTo>
                <a:cubicBezTo>
                  <a:pt x="5193329" y="765188"/>
                  <a:pt x="4953193" y="735372"/>
                  <a:pt x="4634094" y="764184"/>
                </a:cubicBezTo>
                <a:cubicBezTo>
                  <a:pt x="4314995" y="792996"/>
                  <a:pt x="4326213" y="696598"/>
                  <a:pt x="4054832" y="764184"/>
                </a:cubicBezTo>
                <a:cubicBezTo>
                  <a:pt x="3783451" y="831770"/>
                  <a:pt x="3606497" y="691795"/>
                  <a:pt x="3371303" y="764184"/>
                </a:cubicBezTo>
                <a:cubicBezTo>
                  <a:pt x="3136109" y="836573"/>
                  <a:pt x="3173700" y="740136"/>
                  <a:pt x="3104843" y="764184"/>
                </a:cubicBezTo>
                <a:cubicBezTo>
                  <a:pt x="3035986" y="788232"/>
                  <a:pt x="2548976" y="692741"/>
                  <a:pt x="2317047" y="764184"/>
                </a:cubicBezTo>
                <a:cubicBezTo>
                  <a:pt x="2085118" y="835627"/>
                  <a:pt x="1975678" y="721959"/>
                  <a:pt x="1842052" y="764184"/>
                </a:cubicBezTo>
                <a:cubicBezTo>
                  <a:pt x="1708427" y="806409"/>
                  <a:pt x="1372900" y="685614"/>
                  <a:pt x="1158523" y="764184"/>
                </a:cubicBezTo>
                <a:cubicBezTo>
                  <a:pt x="944146" y="842754"/>
                  <a:pt x="953090" y="734321"/>
                  <a:pt x="892063" y="764184"/>
                </a:cubicBezTo>
                <a:cubicBezTo>
                  <a:pt x="831036" y="794047"/>
                  <a:pt x="219217" y="674676"/>
                  <a:pt x="0" y="764184"/>
                </a:cubicBezTo>
                <a:cubicBezTo>
                  <a:pt x="-3824" y="633576"/>
                  <a:pt x="10592" y="530160"/>
                  <a:pt x="0" y="389734"/>
                </a:cubicBezTo>
                <a:cubicBezTo>
                  <a:pt x="-10592" y="249308"/>
                  <a:pt x="23831" y="159768"/>
                  <a:pt x="0" y="0"/>
                </a:cubicBezTo>
                <a:close/>
              </a:path>
              <a:path w="10426711" h="764184" stroke="0" extrusionOk="0">
                <a:moveTo>
                  <a:pt x="0" y="0"/>
                </a:moveTo>
                <a:cubicBezTo>
                  <a:pt x="118022" y="-37245"/>
                  <a:pt x="359188" y="42579"/>
                  <a:pt x="474995" y="0"/>
                </a:cubicBezTo>
                <a:cubicBezTo>
                  <a:pt x="590803" y="-42579"/>
                  <a:pt x="634269" y="30972"/>
                  <a:pt x="741455" y="0"/>
                </a:cubicBezTo>
                <a:cubicBezTo>
                  <a:pt x="848641" y="-30972"/>
                  <a:pt x="1314208" y="827"/>
                  <a:pt x="1529251" y="0"/>
                </a:cubicBezTo>
                <a:cubicBezTo>
                  <a:pt x="1744294" y="-827"/>
                  <a:pt x="1767287" y="30925"/>
                  <a:pt x="2004246" y="0"/>
                </a:cubicBezTo>
                <a:cubicBezTo>
                  <a:pt x="2241205" y="-30925"/>
                  <a:pt x="2327497" y="35469"/>
                  <a:pt x="2479240" y="0"/>
                </a:cubicBezTo>
                <a:cubicBezTo>
                  <a:pt x="2630983" y="-35469"/>
                  <a:pt x="3065308" y="73743"/>
                  <a:pt x="3267036" y="0"/>
                </a:cubicBezTo>
                <a:cubicBezTo>
                  <a:pt x="3468764" y="-73743"/>
                  <a:pt x="3480754" y="19795"/>
                  <a:pt x="3637764" y="0"/>
                </a:cubicBezTo>
                <a:cubicBezTo>
                  <a:pt x="3794774" y="-19795"/>
                  <a:pt x="4220349" y="31236"/>
                  <a:pt x="4425560" y="0"/>
                </a:cubicBezTo>
                <a:cubicBezTo>
                  <a:pt x="4630771" y="-31236"/>
                  <a:pt x="4899346" y="9414"/>
                  <a:pt x="5213355" y="0"/>
                </a:cubicBezTo>
                <a:cubicBezTo>
                  <a:pt x="5527365" y="-9414"/>
                  <a:pt x="5574336" y="40474"/>
                  <a:pt x="5792617" y="0"/>
                </a:cubicBezTo>
                <a:cubicBezTo>
                  <a:pt x="6010898" y="-40474"/>
                  <a:pt x="6249711" y="28665"/>
                  <a:pt x="6580413" y="0"/>
                </a:cubicBezTo>
                <a:cubicBezTo>
                  <a:pt x="6911115" y="-28665"/>
                  <a:pt x="6953508" y="13887"/>
                  <a:pt x="7055408" y="0"/>
                </a:cubicBezTo>
                <a:cubicBezTo>
                  <a:pt x="7157308" y="-13887"/>
                  <a:pt x="7369525" y="38638"/>
                  <a:pt x="7530402" y="0"/>
                </a:cubicBezTo>
                <a:cubicBezTo>
                  <a:pt x="7691279" y="-38638"/>
                  <a:pt x="7959154" y="46225"/>
                  <a:pt x="8213931" y="0"/>
                </a:cubicBezTo>
                <a:cubicBezTo>
                  <a:pt x="8468708" y="-46225"/>
                  <a:pt x="8485579" y="41195"/>
                  <a:pt x="8688926" y="0"/>
                </a:cubicBezTo>
                <a:cubicBezTo>
                  <a:pt x="8892274" y="-41195"/>
                  <a:pt x="9240165" y="74185"/>
                  <a:pt x="9476722" y="0"/>
                </a:cubicBezTo>
                <a:cubicBezTo>
                  <a:pt x="9713279" y="-74185"/>
                  <a:pt x="9985611" y="43060"/>
                  <a:pt x="10426711" y="0"/>
                </a:cubicBezTo>
                <a:cubicBezTo>
                  <a:pt x="10435395" y="97546"/>
                  <a:pt x="10421575" y="227883"/>
                  <a:pt x="10426711" y="382092"/>
                </a:cubicBezTo>
                <a:cubicBezTo>
                  <a:pt x="10431847" y="536301"/>
                  <a:pt x="10406409" y="680550"/>
                  <a:pt x="10426711" y="764184"/>
                </a:cubicBezTo>
                <a:cubicBezTo>
                  <a:pt x="10365620" y="792138"/>
                  <a:pt x="10228044" y="755981"/>
                  <a:pt x="10160251" y="764184"/>
                </a:cubicBezTo>
                <a:cubicBezTo>
                  <a:pt x="10092458" y="772387"/>
                  <a:pt x="9548165" y="718672"/>
                  <a:pt x="9372455" y="764184"/>
                </a:cubicBezTo>
                <a:cubicBezTo>
                  <a:pt x="9196745" y="809696"/>
                  <a:pt x="8975310" y="752145"/>
                  <a:pt x="8793193" y="764184"/>
                </a:cubicBezTo>
                <a:cubicBezTo>
                  <a:pt x="8611076" y="776223"/>
                  <a:pt x="8593435" y="731485"/>
                  <a:pt x="8422465" y="764184"/>
                </a:cubicBezTo>
                <a:cubicBezTo>
                  <a:pt x="8251495" y="796883"/>
                  <a:pt x="8018580" y="699785"/>
                  <a:pt x="7843204" y="764184"/>
                </a:cubicBezTo>
                <a:cubicBezTo>
                  <a:pt x="7667828" y="828583"/>
                  <a:pt x="7697578" y="737448"/>
                  <a:pt x="7576743" y="764184"/>
                </a:cubicBezTo>
                <a:cubicBezTo>
                  <a:pt x="7455908" y="790920"/>
                  <a:pt x="7394220" y="758188"/>
                  <a:pt x="7310283" y="764184"/>
                </a:cubicBezTo>
                <a:cubicBezTo>
                  <a:pt x="7226346" y="770180"/>
                  <a:pt x="6956312" y="753546"/>
                  <a:pt x="6731021" y="764184"/>
                </a:cubicBezTo>
                <a:cubicBezTo>
                  <a:pt x="6505730" y="774822"/>
                  <a:pt x="6523597" y="745252"/>
                  <a:pt x="6360294" y="764184"/>
                </a:cubicBezTo>
                <a:cubicBezTo>
                  <a:pt x="6196991" y="783116"/>
                  <a:pt x="5929385" y="682398"/>
                  <a:pt x="5676765" y="764184"/>
                </a:cubicBezTo>
                <a:cubicBezTo>
                  <a:pt x="5424145" y="845970"/>
                  <a:pt x="5461374" y="729236"/>
                  <a:pt x="5306037" y="764184"/>
                </a:cubicBezTo>
                <a:cubicBezTo>
                  <a:pt x="5150700" y="799132"/>
                  <a:pt x="4929993" y="694746"/>
                  <a:pt x="4622509" y="764184"/>
                </a:cubicBezTo>
                <a:cubicBezTo>
                  <a:pt x="4315025" y="833622"/>
                  <a:pt x="4465390" y="756128"/>
                  <a:pt x="4356048" y="764184"/>
                </a:cubicBezTo>
                <a:cubicBezTo>
                  <a:pt x="4246706" y="772240"/>
                  <a:pt x="3923780" y="723633"/>
                  <a:pt x="3672519" y="764184"/>
                </a:cubicBezTo>
                <a:cubicBezTo>
                  <a:pt x="3421258" y="804735"/>
                  <a:pt x="3401215" y="747904"/>
                  <a:pt x="3301792" y="764184"/>
                </a:cubicBezTo>
                <a:cubicBezTo>
                  <a:pt x="3202369" y="780464"/>
                  <a:pt x="3134836" y="754780"/>
                  <a:pt x="3035331" y="764184"/>
                </a:cubicBezTo>
                <a:cubicBezTo>
                  <a:pt x="2935826" y="773588"/>
                  <a:pt x="2815375" y="753084"/>
                  <a:pt x="2664604" y="764184"/>
                </a:cubicBezTo>
                <a:cubicBezTo>
                  <a:pt x="2513833" y="775284"/>
                  <a:pt x="2159182" y="736434"/>
                  <a:pt x="1981075" y="764184"/>
                </a:cubicBezTo>
                <a:cubicBezTo>
                  <a:pt x="1802968" y="791934"/>
                  <a:pt x="1696549" y="734290"/>
                  <a:pt x="1610348" y="764184"/>
                </a:cubicBezTo>
                <a:cubicBezTo>
                  <a:pt x="1524147" y="794078"/>
                  <a:pt x="1397661" y="751632"/>
                  <a:pt x="1343887" y="764184"/>
                </a:cubicBezTo>
                <a:cubicBezTo>
                  <a:pt x="1290113" y="776736"/>
                  <a:pt x="1134530" y="760017"/>
                  <a:pt x="973160" y="764184"/>
                </a:cubicBezTo>
                <a:cubicBezTo>
                  <a:pt x="811790" y="768351"/>
                  <a:pt x="609498" y="714975"/>
                  <a:pt x="498165" y="764184"/>
                </a:cubicBezTo>
                <a:cubicBezTo>
                  <a:pt x="386832" y="813393"/>
                  <a:pt x="238296" y="758074"/>
                  <a:pt x="0" y="764184"/>
                </a:cubicBezTo>
                <a:cubicBezTo>
                  <a:pt x="-38310" y="661437"/>
                  <a:pt x="19201" y="525349"/>
                  <a:pt x="0" y="397376"/>
                </a:cubicBezTo>
                <a:cubicBezTo>
                  <a:pt x="-19201" y="269403"/>
                  <a:pt x="30847" y="174345"/>
                  <a:pt x="0" y="0"/>
                </a:cubicBezTo>
                <a:close/>
              </a:path>
            </a:pathLst>
          </a:custGeom>
          <a:ln>
            <a:solidFill>
              <a:srgbClr val="0070C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r>
              <a:rPr lang="es-CL" sz="2183" dirty="0">
                <a:latin typeface="Century Gothic" panose="020B0502020202020204" pitchFamily="34" charset="0"/>
              </a:rPr>
              <a:t>Tenemos que recorrer de 1 a n (no sabemos el fin y debemos mostrar el menú por lo menos una vez)</a:t>
            </a:r>
            <a:endParaRPr lang="es-ES_tradnl" sz="2183"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72C22D0A-407C-94FF-1B37-C5AC919A49E7}"/>
              </a:ext>
            </a:extLst>
          </p:cNvPr>
          <p:cNvSpPr/>
          <p:nvPr/>
        </p:nvSpPr>
        <p:spPr>
          <a:xfrm>
            <a:off x="6203250" y="4410534"/>
            <a:ext cx="5154738" cy="1100109"/>
          </a:xfrm>
          <a:custGeom>
            <a:avLst/>
            <a:gdLst>
              <a:gd name="connsiteX0" fmla="*/ 0 w 5154738"/>
              <a:gd name="connsiteY0" fmla="*/ 0 h 1100109"/>
              <a:gd name="connsiteX1" fmla="*/ 675843 w 5154738"/>
              <a:gd name="connsiteY1" fmla="*/ 0 h 1100109"/>
              <a:gd name="connsiteX2" fmla="*/ 1300139 w 5154738"/>
              <a:gd name="connsiteY2" fmla="*/ 0 h 1100109"/>
              <a:gd name="connsiteX3" fmla="*/ 1872888 w 5154738"/>
              <a:gd name="connsiteY3" fmla="*/ 0 h 1100109"/>
              <a:gd name="connsiteX4" fmla="*/ 2445637 w 5154738"/>
              <a:gd name="connsiteY4" fmla="*/ 0 h 1100109"/>
              <a:gd name="connsiteX5" fmla="*/ 3121480 w 5154738"/>
              <a:gd name="connsiteY5" fmla="*/ 0 h 1100109"/>
              <a:gd name="connsiteX6" fmla="*/ 3745776 w 5154738"/>
              <a:gd name="connsiteY6" fmla="*/ 0 h 1100109"/>
              <a:gd name="connsiteX7" fmla="*/ 4163883 w 5154738"/>
              <a:gd name="connsiteY7" fmla="*/ 0 h 1100109"/>
              <a:gd name="connsiteX8" fmla="*/ 5154738 w 5154738"/>
              <a:gd name="connsiteY8" fmla="*/ 0 h 1100109"/>
              <a:gd name="connsiteX9" fmla="*/ 5154738 w 5154738"/>
              <a:gd name="connsiteY9" fmla="*/ 572057 h 1100109"/>
              <a:gd name="connsiteX10" fmla="*/ 5154738 w 5154738"/>
              <a:gd name="connsiteY10" fmla="*/ 1100109 h 1100109"/>
              <a:gd name="connsiteX11" fmla="*/ 4685084 w 5154738"/>
              <a:gd name="connsiteY11" fmla="*/ 1100109 h 1100109"/>
              <a:gd name="connsiteX12" fmla="*/ 4009241 w 5154738"/>
              <a:gd name="connsiteY12" fmla="*/ 1100109 h 1100109"/>
              <a:gd name="connsiteX13" fmla="*/ 3488039 w 5154738"/>
              <a:gd name="connsiteY13" fmla="*/ 1100109 h 1100109"/>
              <a:gd name="connsiteX14" fmla="*/ 2812196 w 5154738"/>
              <a:gd name="connsiteY14" fmla="*/ 1100109 h 1100109"/>
              <a:gd name="connsiteX15" fmla="*/ 2342542 w 5154738"/>
              <a:gd name="connsiteY15" fmla="*/ 1100109 h 1100109"/>
              <a:gd name="connsiteX16" fmla="*/ 1924436 w 5154738"/>
              <a:gd name="connsiteY16" fmla="*/ 1100109 h 1100109"/>
              <a:gd name="connsiteX17" fmla="*/ 1506329 w 5154738"/>
              <a:gd name="connsiteY17" fmla="*/ 1100109 h 1100109"/>
              <a:gd name="connsiteX18" fmla="*/ 882033 w 5154738"/>
              <a:gd name="connsiteY18" fmla="*/ 1100109 h 1100109"/>
              <a:gd name="connsiteX19" fmla="*/ 0 w 5154738"/>
              <a:gd name="connsiteY19" fmla="*/ 1100109 h 1100109"/>
              <a:gd name="connsiteX20" fmla="*/ 0 w 5154738"/>
              <a:gd name="connsiteY20" fmla="*/ 550055 h 1100109"/>
              <a:gd name="connsiteX21" fmla="*/ 0 w 5154738"/>
              <a:gd name="connsiteY21" fmla="*/ 0 h 1100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54738" h="1100109" fill="none" extrusionOk="0">
                <a:moveTo>
                  <a:pt x="0" y="0"/>
                </a:moveTo>
                <a:cubicBezTo>
                  <a:pt x="196006" y="-74863"/>
                  <a:pt x="454566" y="6822"/>
                  <a:pt x="675843" y="0"/>
                </a:cubicBezTo>
                <a:cubicBezTo>
                  <a:pt x="897120" y="-6822"/>
                  <a:pt x="1093963" y="30024"/>
                  <a:pt x="1300139" y="0"/>
                </a:cubicBezTo>
                <a:cubicBezTo>
                  <a:pt x="1506315" y="-30024"/>
                  <a:pt x="1595935" y="24443"/>
                  <a:pt x="1872888" y="0"/>
                </a:cubicBezTo>
                <a:cubicBezTo>
                  <a:pt x="2149841" y="-24443"/>
                  <a:pt x="2161646" y="23705"/>
                  <a:pt x="2445637" y="0"/>
                </a:cubicBezTo>
                <a:cubicBezTo>
                  <a:pt x="2729628" y="-23705"/>
                  <a:pt x="2920227" y="47745"/>
                  <a:pt x="3121480" y="0"/>
                </a:cubicBezTo>
                <a:cubicBezTo>
                  <a:pt x="3322733" y="-47745"/>
                  <a:pt x="3442663" y="34170"/>
                  <a:pt x="3745776" y="0"/>
                </a:cubicBezTo>
                <a:cubicBezTo>
                  <a:pt x="4048889" y="-34170"/>
                  <a:pt x="4029933" y="15303"/>
                  <a:pt x="4163883" y="0"/>
                </a:cubicBezTo>
                <a:cubicBezTo>
                  <a:pt x="4297833" y="-15303"/>
                  <a:pt x="4944104" y="20975"/>
                  <a:pt x="5154738" y="0"/>
                </a:cubicBezTo>
                <a:cubicBezTo>
                  <a:pt x="5154854" y="123379"/>
                  <a:pt x="5123982" y="419474"/>
                  <a:pt x="5154738" y="572057"/>
                </a:cubicBezTo>
                <a:cubicBezTo>
                  <a:pt x="5185494" y="724640"/>
                  <a:pt x="5141511" y="908783"/>
                  <a:pt x="5154738" y="1100109"/>
                </a:cubicBezTo>
                <a:cubicBezTo>
                  <a:pt x="4979260" y="1111951"/>
                  <a:pt x="4868578" y="1067215"/>
                  <a:pt x="4685084" y="1100109"/>
                </a:cubicBezTo>
                <a:cubicBezTo>
                  <a:pt x="4501590" y="1133003"/>
                  <a:pt x="4293929" y="1053443"/>
                  <a:pt x="4009241" y="1100109"/>
                </a:cubicBezTo>
                <a:cubicBezTo>
                  <a:pt x="3724553" y="1146775"/>
                  <a:pt x="3645902" y="1048239"/>
                  <a:pt x="3488039" y="1100109"/>
                </a:cubicBezTo>
                <a:cubicBezTo>
                  <a:pt x="3330176" y="1151979"/>
                  <a:pt x="2967021" y="1065761"/>
                  <a:pt x="2812196" y="1100109"/>
                </a:cubicBezTo>
                <a:cubicBezTo>
                  <a:pt x="2657371" y="1134457"/>
                  <a:pt x="2478395" y="1071137"/>
                  <a:pt x="2342542" y="1100109"/>
                </a:cubicBezTo>
                <a:cubicBezTo>
                  <a:pt x="2206689" y="1129081"/>
                  <a:pt x="2038024" y="1071903"/>
                  <a:pt x="1924436" y="1100109"/>
                </a:cubicBezTo>
                <a:cubicBezTo>
                  <a:pt x="1810848" y="1128315"/>
                  <a:pt x="1648990" y="1081462"/>
                  <a:pt x="1506329" y="1100109"/>
                </a:cubicBezTo>
                <a:cubicBezTo>
                  <a:pt x="1363668" y="1118756"/>
                  <a:pt x="1080825" y="1038255"/>
                  <a:pt x="882033" y="1100109"/>
                </a:cubicBezTo>
                <a:cubicBezTo>
                  <a:pt x="683241" y="1161963"/>
                  <a:pt x="438992" y="1066939"/>
                  <a:pt x="0" y="1100109"/>
                </a:cubicBezTo>
                <a:cubicBezTo>
                  <a:pt x="-47302" y="927412"/>
                  <a:pt x="26078" y="804285"/>
                  <a:pt x="0" y="550055"/>
                </a:cubicBezTo>
                <a:cubicBezTo>
                  <a:pt x="-26078" y="295825"/>
                  <a:pt x="7076" y="274779"/>
                  <a:pt x="0" y="0"/>
                </a:cubicBezTo>
                <a:close/>
              </a:path>
              <a:path w="5154738" h="1100109" stroke="0" extrusionOk="0">
                <a:moveTo>
                  <a:pt x="0" y="0"/>
                </a:moveTo>
                <a:cubicBezTo>
                  <a:pt x="246073" y="-49075"/>
                  <a:pt x="267158" y="54774"/>
                  <a:pt x="521201" y="0"/>
                </a:cubicBezTo>
                <a:cubicBezTo>
                  <a:pt x="775244" y="-54774"/>
                  <a:pt x="791952" y="3983"/>
                  <a:pt x="939308" y="0"/>
                </a:cubicBezTo>
                <a:cubicBezTo>
                  <a:pt x="1086664" y="-3983"/>
                  <a:pt x="1403438" y="65863"/>
                  <a:pt x="1615151" y="0"/>
                </a:cubicBezTo>
                <a:cubicBezTo>
                  <a:pt x="1826864" y="-65863"/>
                  <a:pt x="2002903" y="57292"/>
                  <a:pt x="2136353" y="0"/>
                </a:cubicBezTo>
                <a:cubicBezTo>
                  <a:pt x="2269803" y="-57292"/>
                  <a:pt x="2422462" y="34996"/>
                  <a:pt x="2657554" y="0"/>
                </a:cubicBezTo>
                <a:cubicBezTo>
                  <a:pt x="2892646" y="-34996"/>
                  <a:pt x="3067130" y="46618"/>
                  <a:pt x="3333397" y="0"/>
                </a:cubicBezTo>
                <a:cubicBezTo>
                  <a:pt x="3599664" y="-46618"/>
                  <a:pt x="3631066" y="20748"/>
                  <a:pt x="3803051" y="0"/>
                </a:cubicBezTo>
                <a:cubicBezTo>
                  <a:pt x="3975036" y="-20748"/>
                  <a:pt x="4215580" y="52743"/>
                  <a:pt x="4478895" y="0"/>
                </a:cubicBezTo>
                <a:cubicBezTo>
                  <a:pt x="4742210" y="-52743"/>
                  <a:pt x="4895058" y="60338"/>
                  <a:pt x="5154738" y="0"/>
                </a:cubicBezTo>
                <a:cubicBezTo>
                  <a:pt x="5182947" y="162486"/>
                  <a:pt x="5103741" y="351627"/>
                  <a:pt x="5154738" y="550055"/>
                </a:cubicBezTo>
                <a:cubicBezTo>
                  <a:pt x="5205735" y="748483"/>
                  <a:pt x="5152986" y="854490"/>
                  <a:pt x="5154738" y="1100109"/>
                </a:cubicBezTo>
                <a:cubicBezTo>
                  <a:pt x="4964958" y="1151498"/>
                  <a:pt x="4690488" y="1095681"/>
                  <a:pt x="4530442" y="1100109"/>
                </a:cubicBezTo>
                <a:cubicBezTo>
                  <a:pt x="4370396" y="1104537"/>
                  <a:pt x="4057364" y="1035072"/>
                  <a:pt x="3854599" y="1100109"/>
                </a:cubicBezTo>
                <a:cubicBezTo>
                  <a:pt x="3651834" y="1165146"/>
                  <a:pt x="3314290" y="1027937"/>
                  <a:pt x="3178755" y="1100109"/>
                </a:cubicBezTo>
                <a:cubicBezTo>
                  <a:pt x="3043220" y="1172281"/>
                  <a:pt x="2937999" y="1083595"/>
                  <a:pt x="2709101" y="1100109"/>
                </a:cubicBezTo>
                <a:cubicBezTo>
                  <a:pt x="2480203" y="1116623"/>
                  <a:pt x="2321842" y="1098265"/>
                  <a:pt x="2136353" y="1100109"/>
                </a:cubicBezTo>
                <a:cubicBezTo>
                  <a:pt x="1950864" y="1101953"/>
                  <a:pt x="1627845" y="1092415"/>
                  <a:pt x="1460509" y="1100109"/>
                </a:cubicBezTo>
                <a:cubicBezTo>
                  <a:pt x="1293173" y="1107803"/>
                  <a:pt x="1137452" y="1089953"/>
                  <a:pt x="887760" y="1100109"/>
                </a:cubicBezTo>
                <a:cubicBezTo>
                  <a:pt x="638068" y="1110265"/>
                  <a:pt x="286963" y="1032352"/>
                  <a:pt x="0" y="1100109"/>
                </a:cubicBezTo>
                <a:cubicBezTo>
                  <a:pt x="-7600" y="896367"/>
                  <a:pt x="33595" y="737044"/>
                  <a:pt x="0" y="572057"/>
                </a:cubicBezTo>
                <a:cubicBezTo>
                  <a:pt x="-33595" y="407070"/>
                  <a:pt x="51564" y="264555"/>
                  <a:pt x="0" y="0"/>
                </a:cubicBezTo>
                <a:close/>
              </a:path>
            </a:pathLst>
          </a:custGeom>
          <a:ln>
            <a:solidFill>
              <a:srgbClr val="00B05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r>
              <a:rPr lang="es-CL" sz="2183" dirty="0">
                <a:latin typeface="Century Gothic" panose="020B0502020202020204" pitchFamily="34" charset="0"/>
              </a:rPr>
              <a:t>Se requiere mostrar las opciones del menú y la opción salir para finalizar la aplicación</a:t>
            </a:r>
            <a:endParaRPr lang="es-ES_tradnl" sz="2183" dirty="0">
              <a:latin typeface="Century Gothic" panose="020B0502020202020204" pitchFamily="34" charset="0"/>
            </a:endParaRPr>
          </a:p>
        </p:txBody>
      </p:sp>
      <p:sp>
        <p:nvSpPr>
          <p:cNvPr id="12" name="Rectángulo 11">
            <a:extLst>
              <a:ext uri="{FF2B5EF4-FFF2-40B4-BE49-F238E27FC236}">
                <a16:creationId xmlns:a16="http://schemas.microsoft.com/office/drawing/2014/main" id="{486B74AD-5F98-AD63-2138-FE8C0E7A7F67}"/>
              </a:ext>
            </a:extLst>
          </p:cNvPr>
          <p:cNvSpPr/>
          <p:nvPr/>
        </p:nvSpPr>
        <p:spPr>
          <a:xfrm>
            <a:off x="415078" y="5653910"/>
            <a:ext cx="7933101" cy="428259"/>
          </a:xfrm>
          <a:custGeom>
            <a:avLst/>
            <a:gdLst>
              <a:gd name="connsiteX0" fmla="*/ 0 w 7933101"/>
              <a:gd name="connsiteY0" fmla="*/ 0 h 428259"/>
              <a:gd name="connsiteX1" fmla="*/ 645981 w 7933101"/>
              <a:gd name="connsiteY1" fmla="*/ 0 h 428259"/>
              <a:gd name="connsiteX2" fmla="*/ 1133300 w 7933101"/>
              <a:gd name="connsiteY2" fmla="*/ 0 h 428259"/>
              <a:gd name="connsiteX3" fmla="*/ 1699950 w 7933101"/>
              <a:gd name="connsiteY3" fmla="*/ 0 h 428259"/>
              <a:gd name="connsiteX4" fmla="*/ 2425262 w 7933101"/>
              <a:gd name="connsiteY4" fmla="*/ 0 h 428259"/>
              <a:gd name="connsiteX5" fmla="*/ 2833250 w 7933101"/>
              <a:gd name="connsiteY5" fmla="*/ 0 h 428259"/>
              <a:gd name="connsiteX6" fmla="*/ 3479231 w 7933101"/>
              <a:gd name="connsiteY6" fmla="*/ 0 h 428259"/>
              <a:gd name="connsiteX7" fmla="*/ 3887219 w 7933101"/>
              <a:gd name="connsiteY7" fmla="*/ 0 h 428259"/>
              <a:gd name="connsiteX8" fmla="*/ 4453870 w 7933101"/>
              <a:gd name="connsiteY8" fmla="*/ 0 h 428259"/>
              <a:gd name="connsiteX9" fmla="*/ 5099851 w 7933101"/>
              <a:gd name="connsiteY9" fmla="*/ 0 h 428259"/>
              <a:gd name="connsiteX10" fmla="*/ 5428508 w 7933101"/>
              <a:gd name="connsiteY10" fmla="*/ 0 h 428259"/>
              <a:gd name="connsiteX11" fmla="*/ 5757165 w 7933101"/>
              <a:gd name="connsiteY11" fmla="*/ 0 h 428259"/>
              <a:gd name="connsiteX12" fmla="*/ 6482477 w 7933101"/>
              <a:gd name="connsiteY12" fmla="*/ 0 h 428259"/>
              <a:gd name="connsiteX13" fmla="*/ 7049127 w 7933101"/>
              <a:gd name="connsiteY13" fmla="*/ 0 h 428259"/>
              <a:gd name="connsiteX14" fmla="*/ 7377784 w 7933101"/>
              <a:gd name="connsiteY14" fmla="*/ 0 h 428259"/>
              <a:gd name="connsiteX15" fmla="*/ 7933101 w 7933101"/>
              <a:gd name="connsiteY15" fmla="*/ 0 h 428259"/>
              <a:gd name="connsiteX16" fmla="*/ 7933101 w 7933101"/>
              <a:gd name="connsiteY16" fmla="*/ 428259 h 428259"/>
              <a:gd name="connsiteX17" fmla="*/ 7525113 w 7933101"/>
              <a:gd name="connsiteY17" fmla="*/ 428259 h 428259"/>
              <a:gd name="connsiteX18" fmla="*/ 6958463 w 7933101"/>
              <a:gd name="connsiteY18" fmla="*/ 428259 h 428259"/>
              <a:gd name="connsiteX19" fmla="*/ 6233151 w 7933101"/>
              <a:gd name="connsiteY19" fmla="*/ 428259 h 428259"/>
              <a:gd name="connsiteX20" fmla="*/ 5507839 w 7933101"/>
              <a:gd name="connsiteY20" fmla="*/ 428259 h 428259"/>
              <a:gd name="connsiteX21" fmla="*/ 4861858 w 7933101"/>
              <a:gd name="connsiteY21" fmla="*/ 428259 h 428259"/>
              <a:gd name="connsiteX22" fmla="*/ 4215877 w 7933101"/>
              <a:gd name="connsiteY22" fmla="*/ 428259 h 428259"/>
              <a:gd name="connsiteX23" fmla="*/ 3569895 w 7933101"/>
              <a:gd name="connsiteY23" fmla="*/ 428259 h 428259"/>
              <a:gd name="connsiteX24" fmla="*/ 3161907 w 7933101"/>
              <a:gd name="connsiteY24" fmla="*/ 428259 h 428259"/>
              <a:gd name="connsiteX25" fmla="*/ 2436595 w 7933101"/>
              <a:gd name="connsiteY25" fmla="*/ 428259 h 428259"/>
              <a:gd name="connsiteX26" fmla="*/ 1869945 w 7933101"/>
              <a:gd name="connsiteY26" fmla="*/ 428259 h 428259"/>
              <a:gd name="connsiteX27" fmla="*/ 1541288 w 7933101"/>
              <a:gd name="connsiteY27" fmla="*/ 428259 h 428259"/>
              <a:gd name="connsiteX28" fmla="*/ 974638 w 7933101"/>
              <a:gd name="connsiteY28" fmla="*/ 428259 h 428259"/>
              <a:gd name="connsiteX29" fmla="*/ 487319 w 7933101"/>
              <a:gd name="connsiteY29" fmla="*/ 428259 h 428259"/>
              <a:gd name="connsiteX30" fmla="*/ 0 w 7933101"/>
              <a:gd name="connsiteY30" fmla="*/ 428259 h 428259"/>
              <a:gd name="connsiteX31" fmla="*/ 0 w 7933101"/>
              <a:gd name="connsiteY31" fmla="*/ 0 h 42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33101" h="428259" fill="none" extrusionOk="0">
                <a:moveTo>
                  <a:pt x="0" y="0"/>
                </a:moveTo>
                <a:cubicBezTo>
                  <a:pt x="247467" y="-8876"/>
                  <a:pt x="350172" y="41218"/>
                  <a:pt x="645981" y="0"/>
                </a:cubicBezTo>
                <a:cubicBezTo>
                  <a:pt x="941790" y="-41218"/>
                  <a:pt x="903531" y="24740"/>
                  <a:pt x="1133300" y="0"/>
                </a:cubicBezTo>
                <a:cubicBezTo>
                  <a:pt x="1363069" y="-24740"/>
                  <a:pt x="1430902" y="9673"/>
                  <a:pt x="1699950" y="0"/>
                </a:cubicBezTo>
                <a:cubicBezTo>
                  <a:pt x="1968998" y="-9673"/>
                  <a:pt x="2257661" y="77877"/>
                  <a:pt x="2425262" y="0"/>
                </a:cubicBezTo>
                <a:cubicBezTo>
                  <a:pt x="2592863" y="-77877"/>
                  <a:pt x="2704483" y="12228"/>
                  <a:pt x="2833250" y="0"/>
                </a:cubicBezTo>
                <a:cubicBezTo>
                  <a:pt x="2962017" y="-12228"/>
                  <a:pt x="3342308" y="75951"/>
                  <a:pt x="3479231" y="0"/>
                </a:cubicBezTo>
                <a:cubicBezTo>
                  <a:pt x="3616154" y="-75951"/>
                  <a:pt x="3801552" y="39415"/>
                  <a:pt x="3887219" y="0"/>
                </a:cubicBezTo>
                <a:cubicBezTo>
                  <a:pt x="3972886" y="-39415"/>
                  <a:pt x="4191938" y="14414"/>
                  <a:pt x="4453870" y="0"/>
                </a:cubicBezTo>
                <a:cubicBezTo>
                  <a:pt x="4715802" y="-14414"/>
                  <a:pt x="4856227" y="22455"/>
                  <a:pt x="5099851" y="0"/>
                </a:cubicBezTo>
                <a:cubicBezTo>
                  <a:pt x="5343475" y="-22455"/>
                  <a:pt x="5361149" y="4564"/>
                  <a:pt x="5428508" y="0"/>
                </a:cubicBezTo>
                <a:cubicBezTo>
                  <a:pt x="5495867" y="-4564"/>
                  <a:pt x="5670456" y="2641"/>
                  <a:pt x="5757165" y="0"/>
                </a:cubicBezTo>
                <a:cubicBezTo>
                  <a:pt x="5843874" y="-2641"/>
                  <a:pt x="6321697" y="37791"/>
                  <a:pt x="6482477" y="0"/>
                </a:cubicBezTo>
                <a:cubicBezTo>
                  <a:pt x="6643257" y="-37791"/>
                  <a:pt x="6921059" y="19931"/>
                  <a:pt x="7049127" y="0"/>
                </a:cubicBezTo>
                <a:cubicBezTo>
                  <a:pt x="7177195" y="-19931"/>
                  <a:pt x="7246106" y="39425"/>
                  <a:pt x="7377784" y="0"/>
                </a:cubicBezTo>
                <a:cubicBezTo>
                  <a:pt x="7509462" y="-39425"/>
                  <a:pt x="7755012" y="42982"/>
                  <a:pt x="7933101" y="0"/>
                </a:cubicBezTo>
                <a:cubicBezTo>
                  <a:pt x="7950500" y="201388"/>
                  <a:pt x="7888270" y="284995"/>
                  <a:pt x="7933101" y="428259"/>
                </a:cubicBezTo>
                <a:cubicBezTo>
                  <a:pt x="7831561" y="445571"/>
                  <a:pt x="7637634" y="385606"/>
                  <a:pt x="7525113" y="428259"/>
                </a:cubicBezTo>
                <a:cubicBezTo>
                  <a:pt x="7412592" y="470912"/>
                  <a:pt x="7195684" y="410069"/>
                  <a:pt x="6958463" y="428259"/>
                </a:cubicBezTo>
                <a:cubicBezTo>
                  <a:pt x="6721242" y="446449"/>
                  <a:pt x="6424675" y="419368"/>
                  <a:pt x="6233151" y="428259"/>
                </a:cubicBezTo>
                <a:cubicBezTo>
                  <a:pt x="6041627" y="437150"/>
                  <a:pt x="5688222" y="408675"/>
                  <a:pt x="5507839" y="428259"/>
                </a:cubicBezTo>
                <a:cubicBezTo>
                  <a:pt x="5327456" y="447843"/>
                  <a:pt x="5029116" y="424493"/>
                  <a:pt x="4861858" y="428259"/>
                </a:cubicBezTo>
                <a:cubicBezTo>
                  <a:pt x="4694600" y="432025"/>
                  <a:pt x="4396907" y="372801"/>
                  <a:pt x="4215877" y="428259"/>
                </a:cubicBezTo>
                <a:cubicBezTo>
                  <a:pt x="4034847" y="483717"/>
                  <a:pt x="3804590" y="361892"/>
                  <a:pt x="3569895" y="428259"/>
                </a:cubicBezTo>
                <a:cubicBezTo>
                  <a:pt x="3335200" y="494626"/>
                  <a:pt x="3356627" y="404961"/>
                  <a:pt x="3161907" y="428259"/>
                </a:cubicBezTo>
                <a:cubicBezTo>
                  <a:pt x="2967187" y="451557"/>
                  <a:pt x="2617425" y="414172"/>
                  <a:pt x="2436595" y="428259"/>
                </a:cubicBezTo>
                <a:cubicBezTo>
                  <a:pt x="2255765" y="442346"/>
                  <a:pt x="2074999" y="382392"/>
                  <a:pt x="1869945" y="428259"/>
                </a:cubicBezTo>
                <a:cubicBezTo>
                  <a:pt x="1664891" y="474126"/>
                  <a:pt x="1637662" y="423237"/>
                  <a:pt x="1541288" y="428259"/>
                </a:cubicBezTo>
                <a:cubicBezTo>
                  <a:pt x="1444914" y="433281"/>
                  <a:pt x="1127846" y="397001"/>
                  <a:pt x="974638" y="428259"/>
                </a:cubicBezTo>
                <a:cubicBezTo>
                  <a:pt x="821430" y="459517"/>
                  <a:pt x="707314" y="409975"/>
                  <a:pt x="487319" y="428259"/>
                </a:cubicBezTo>
                <a:cubicBezTo>
                  <a:pt x="267324" y="446543"/>
                  <a:pt x="231509" y="426216"/>
                  <a:pt x="0" y="428259"/>
                </a:cubicBezTo>
                <a:cubicBezTo>
                  <a:pt x="-17028" y="277867"/>
                  <a:pt x="45179" y="99182"/>
                  <a:pt x="0" y="0"/>
                </a:cubicBezTo>
                <a:close/>
              </a:path>
              <a:path w="7933101" h="428259" stroke="0" extrusionOk="0">
                <a:moveTo>
                  <a:pt x="0" y="0"/>
                </a:moveTo>
                <a:cubicBezTo>
                  <a:pt x="203471" y="-46514"/>
                  <a:pt x="338399" y="30026"/>
                  <a:pt x="487319" y="0"/>
                </a:cubicBezTo>
                <a:cubicBezTo>
                  <a:pt x="636239" y="-30026"/>
                  <a:pt x="725070" y="14124"/>
                  <a:pt x="815976" y="0"/>
                </a:cubicBezTo>
                <a:cubicBezTo>
                  <a:pt x="906882" y="-14124"/>
                  <a:pt x="1333616" y="65074"/>
                  <a:pt x="1541288" y="0"/>
                </a:cubicBezTo>
                <a:cubicBezTo>
                  <a:pt x="1748960" y="-65074"/>
                  <a:pt x="1816354" y="46766"/>
                  <a:pt x="2028607" y="0"/>
                </a:cubicBezTo>
                <a:cubicBezTo>
                  <a:pt x="2240860" y="-46766"/>
                  <a:pt x="2319640" y="39822"/>
                  <a:pt x="2515926" y="0"/>
                </a:cubicBezTo>
                <a:cubicBezTo>
                  <a:pt x="2712212" y="-39822"/>
                  <a:pt x="3016831" y="50897"/>
                  <a:pt x="3241238" y="0"/>
                </a:cubicBezTo>
                <a:cubicBezTo>
                  <a:pt x="3465645" y="-50897"/>
                  <a:pt x="3479751" y="25653"/>
                  <a:pt x="3649226" y="0"/>
                </a:cubicBezTo>
                <a:cubicBezTo>
                  <a:pt x="3818701" y="-25653"/>
                  <a:pt x="4213879" y="26155"/>
                  <a:pt x="4374539" y="0"/>
                </a:cubicBezTo>
                <a:cubicBezTo>
                  <a:pt x="4535199" y="-26155"/>
                  <a:pt x="4923383" y="31068"/>
                  <a:pt x="5099851" y="0"/>
                </a:cubicBezTo>
                <a:cubicBezTo>
                  <a:pt x="5276319" y="-31068"/>
                  <a:pt x="5460456" y="61219"/>
                  <a:pt x="5666501" y="0"/>
                </a:cubicBezTo>
                <a:cubicBezTo>
                  <a:pt x="5872546" y="-61219"/>
                  <a:pt x="6127896" y="37941"/>
                  <a:pt x="6391813" y="0"/>
                </a:cubicBezTo>
                <a:cubicBezTo>
                  <a:pt x="6655730" y="-37941"/>
                  <a:pt x="6775980" y="8813"/>
                  <a:pt x="6879132" y="0"/>
                </a:cubicBezTo>
                <a:cubicBezTo>
                  <a:pt x="6982284" y="-8813"/>
                  <a:pt x="7123326" y="28948"/>
                  <a:pt x="7366451" y="0"/>
                </a:cubicBezTo>
                <a:cubicBezTo>
                  <a:pt x="7609576" y="-28948"/>
                  <a:pt x="7794609" y="8139"/>
                  <a:pt x="7933101" y="0"/>
                </a:cubicBezTo>
                <a:cubicBezTo>
                  <a:pt x="7935273" y="152171"/>
                  <a:pt x="7929196" y="302356"/>
                  <a:pt x="7933101" y="428259"/>
                </a:cubicBezTo>
                <a:cubicBezTo>
                  <a:pt x="7656796" y="436296"/>
                  <a:pt x="7542440" y="366894"/>
                  <a:pt x="7366451" y="428259"/>
                </a:cubicBezTo>
                <a:cubicBezTo>
                  <a:pt x="7190462" y="489624"/>
                  <a:pt x="6858790" y="417024"/>
                  <a:pt x="6641139" y="428259"/>
                </a:cubicBezTo>
                <a:cubicBezTo>
                  <a:pt x="6423488" y="439494"/>
                  <a:pt x="6337638" y="420579"/>
                  <a:pt x="6074489" y="428259"/>
                </a:cubicBezTo>
                <a:cubicBezTo>
                  <a:pt x="5811340" y="435939"/>
                  <a:pt x="5884680" y="426290"/>
                  <a:pt x="5745832" y="428259"/>
                </a:cubicBezTo>
                <a:cubicBezTo>
                  <a:pt x="5606984" y="430228"/>
                  <a:pt x="5429835" y="422180"/>
                  <a:pt x="5337844" y="428259"/>
                </a:cubicBezTo>
                <a:cubicBezTo>
                  <a:pt x="5245853" y="434338"/>
                  <a:pt x="4821527" y="410914"/>
                  <a:pt x="4612532" y="428259"/>
                </a:cubicBezTo>
                <a:cubicBezTo>
                  <a:pt x="4403537" y="445604"/>
                  <a:pt x="4194795" y="365800"/>
                  <a:pt x="4045882" y="428259"/>
                </a:cubicBezTo>
                <a:cubicBezTo>
                  <a:pt x="3896969" y="490718"/>
                  <a:pt x="3794215" y="389001"/>
                  <a:pt x="3637893" y="428259"/>
                </a:cubicBezTo>
                <a:cubicBezTo>
                  <a:pt x="3481571" y="467517"/>
                  <a:pt x="3211280" y="409387"/>
                  <a:pt x="3071243" y="428259"/>
                </a:cubicBezTo>
                <a:cubicBezTo>
                  <a:pt x="2931206" y="447131"/>
                  <a:pt x="2880978" y="422761"/>
                  <a:pt x="2742586" y="428259"/>
                </a:cubicBezTo>
                <a:cubicBezTo>
                  <a:pt x="2604194" y="433757"/>
                  <a:pt x="2568825" y="402531"/>
                  <a:pt x="2413929" y="428259"/>
                </a:cubicBezTo>
                <a:cubicBezTo>
                  <a:pt x="2259033" y="453987"/>
                  <a:pt x="2023053" y="380585"/>
                  <a:pt x="1847279" y="428259"/>
                </a:cubicBezTo>
                <a:cubicBezTo>
                  <a:pt x="1671505" y="475933"/>
                  <a:pt x="1580973" y="401635"/>
                  <a:pt x="1439291" y="428259"/>
                </a:cubicBezTo>
                <a:cubicBezTo>
                  <a:pt x="1297609" y="454883"/>
                  <a:pt x="1112674" y="383819"/>
                  <a:pt x="793310" y="428259"/>
                </a:cubicBezTo>
                <a:cubicBezTo>
                  <a:pt x="473946" y="472699"/>
                  <a:pt x="342875" y="409355"/>
                  <a:pt x="0" y="428259"/>
                </a:cubicBezTo>
                <a:cubicBezTo>
                  <a:pt x="-51154" y="259287"/>
                  <a:pt x="26411" y="204489"/>
                  <a:pt x="0" y="0"/>
                </a:cubicBezTo>
                <a:close/>
              </a:path>
            </a:pathLst>
          </a:custGeom>
          <a:ln w="22225">
            <a:solidFill>
              <a:schemeClr val="accent6">
                <a:lumMod val="75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r>
              <a:rPr lang="es-CL" sz="2183" dirty="0">
                <a:latin typeface="Century Gothic" panose="020B0502020202020204" pitchFamily="34" charset="0"/>
              </a:rPr>
              <a:t>Utilizaremos la clase Scanner para leer datos por teclado</a:t>
            </a:r>
            <a:endParaRPr lang="es-ES_tradnl" sz="2183" dirty="0">
              <a:latin typeface="Century Gothic" panose="020B0502020202020204" pitchFamily="34" charset="0"/>
            </a:endParaRPr>
          </a:p>
        </p:txBody>
      </p:sp>
      <p:pic>
        <p:nvPicPr>
          <p:cNvPr id="3" name="Imagen 2">
            <a:extLst>
              <a:ext uri="{FF2B5EF4-FFF2-40B4-BE49-F238E27FC236}">
                <a16:creationId xmlns:a16="http://schemas.microsoft.com/office/drawing/2014/main" id="{4F570A40-5195-7F80-5C0F-2FBA2CE50990}"/>
              </a:ext>
            </a:extLst>
          </p:cNvPr>
          <p:cNvPicPr>
            <a:picLocks noChangeAspect="1"/>
          </p:cNvPicPr>
          <p:nvPr/>
        </p:nvPicPr>
        <p:blipFill>
          <a:blip r:embed="rId2"/>
          <a:stretch>
            <a:fillRect/>
          </a:stretch>
        </p:blipFill>
        <p:spPr>
          <a:xfrm>
            <a:off x="4210478" y="1886296"/>
            <a:ext cx="2415596" cy="1496386"/>
          </a:xfrm>
          <a:prstGeom prst="rect">
            <a:avLst/>
          </a:prstGeom>
        </p:spPr>
      </p:pic>
    </p:spTree>
    <p:extLst>
      <p:ext uri="{BB962C8B-B14F-4D97-AF65-F5344CB8AC3E}">
        <p14:creationId xmlns:p14="http://schemas.microsoft.com/office/powerpoint/2010/main" val="2135628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iteración</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8803E6F2-2761-8E4C-EB41-551F0345BCEB}"/>
              </a:ext>
            </a:extLst>
          </p:cNvPr>
          <p:cNvPicPr>
            <a:picLocks noChangeAspect="1"/>
          </p:cNvPicPr>
          <p:nvPr/>
        </p:nvPicPr>
        <p:blipFill>
          <a:blip r:embed="rId2"/>
          <a:stretch>
            <a:fillRect/>
          </a:stretch>
        </p:blipFill>
        <p:spPr>
          <a:xfrm>
            <a:off x="1523198" y="1164820"/>
            <a:ext cx="8610372" cy="5264856"/>
          </a:xfrm>
          <a:prstGeom prst="rect">
            <a:avLst/>
          </a:prstGeom>
        </p:spPr>
      </p:pic>
    </p:spTree>
    <p:extLst>
      <p:ext uri="{BB962C8B-B14F-4D97-AF65-F5344CB8AC3E}">
        <p14:creationId xmlns:p14="http://schemas.microsoft.com/office/powerpoint/2010/main" val="1321226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iteración</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701" lvl="1" algn="just">
              <a:buClr>
                <a:srgbClr val="0070C0"/>
              </a:buClr>
            </a:pPr>
            <a:r>
              <a:rPr lang="es-CL" sz="2183" b="1" dirty="0">
                <a:solidFill>
                  <a:srgbClr val="222222"/>
                </a:solidFill>
                <a:latin typeface="Arial" panose="020B0604020202020204" pitchFamily="34" charset="0"/>
                <a:cs typeface="Arial" panose="020B0604020202020204" pitchFamily="34" charset="0"/>
              </a:rPr>
              <a:t>	do - while</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14" name="Gráfico 13" descr="Manos aplaudiendo">
            <a:extLst>
              <a:ext uri="{FF2B5EF4-FFF2-40B4-BE49-F238E27FC236}">
                <a16:creationId xmlns:a16="http://schemas.microsoft.com/office/drawing/2014/main" id="{FA50A988-A0A2-EE26-7418-2A9EF19580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70081" y="1341511"/>
            <a:ext cx="967818" cy="967818"/>
          </a:xfrm>
          <a:prstGeom prst="rect">
            <a:avLst/>
          </a:prstGeom>
        </p:spPr>
      </p:pic>
      <p:sp>
        <p:nvSpPr>
          <p:cNvPr id="15" name="Rectángulo 14">
            <a:extLst>
              <a:ext uri="{FF2B5EF4-FFF2-40B4-BE49-F238E27FC236}">
                <a16:creationId xmlns:a16="http://schemas.microsoft.com/office/drawing/2014/main" id="{34AFD259-8F2C-8E00-0954-CB98549F7E05}"/>
              </a:ext>
            </a:extLst>
          </p:cNvPr>
          <p:cNvSpPr/>
          <p:nvPr/>
        </p:nvSpPr>
        <p:spPr>
          <a:xfrm>
            <a:off x="1083732" y="2579414"/>
            <a:ext cx="967818" cy="428259"/>
          </a:xfrm>
          <a:custGeom>
            <a:avLst/>
            <a:gdLst>
              <a:gd name="connsiteX0" fmla="*/ 0 w 967818"/>
              <a:gd name="connsiteY0" fmla="*/ 0 h 428259"/>
              <a:gd name="connsiteX1" fmla="*/ 503265 w 967818"/>
              <a:gd name="connsiteY1" fmla="*/ 0 h 428259"/>
              <a:gd name="connsiteX2" fmla="*/ 967818 w 967818"/>
              <a:gd name="connsiteY2" fmla="*/ 0 h 428259"/>
              <a:gd name="connsiteX3" fmla="*/ 967818 w 967818"/>
              <a:gd name="connsiteY3" fmla="*/ 428259 h 428259"/>
              <a:gd name="connsiteX4" fmla="*/ 493587 w 967818"/>
              <a:gd name="connsiteY4" fmla="*/ 428259 h 428259"/>
              <a:gd name="connsiteX5" fmla="*/ 0 w 967818"/>
              <a:gd name="connsiteY5" fmla="*/ 428259 h 428259"/>
              <a:gd name="connsiteX6" fmla="*/ 0 w 967818"/>
              <a:gd name="connsiteY6" fmla="*/ 0 h 42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7818" h="428259" fill="none" extrusionOk="0">
                <a:moveTo>
                  <a:pt x="0" y="0"/>
                </a:moveTo>
                <a:cubicBezTo>
                  <a:pt x="153102" y="1836"/>
                  <a:pt x="308906" y="-19175"/>
                  <a:pt x="503265" y="0"/>
                </a:cubicBezTo>
                <a:cubicBezTo>
                  <a:pt x="697624" y="19175"/>
                  <a:pt x="800805" y="16860"/>
                  <a:pt x="967818" y="0"/>
                </a:cubicBezTo>
                <a:cubicBezTo>
                  <a:pt x="970453" y="210550"/>
                  <a:pt x="981014" y="259027"/>
                  <a:pt x="967818" y="428259"/>
                </a:cubicBezTo>
                <a:cubicBezTo>
                  <a:pt x="866026" y="430587"/>
                  <a:pt x="619799" y="433955"/>
                  <a:pt x="493587" y="428259"/>
                </a:cubicBezTo>
                <a:cubicBezTo>
                  <a:pt x="367375" y="422563"/>
                  <a:pt x="98936" y="449629"/>
                  <a:pt x="0" y="428259"/>
                </a:cubicBezTo>
                <a:cubicBezTo>
                  <a:pt x="13065" y="227457"/>
                  <a:pt x="1359" y="87794"/>
                  <a:pt x="0" y="0"/>
                </a:cubicBezTo>
                <a:close/>
              </a:path>
              <a:path w="967818" h="428259" stroke="0" extrusionOk="0">
                <a:moveTo>
                  <a:pt x="0" y="0"/>
                </a:moveTo>
                <a:cubicBezTo>
                  <a:pt x="132960" y="3525"/>
                  <a:pt x="258465" y="11767"/>
                  <a:pt x="474231" y="0"/>
                </a:cubicBezTo>
                <a:cubicBezTo>
                  <a:pt x="689997" y="-11767"/>
                  <a:pt x="749974" y="-2452"/>
                  <a:pt x="967818" y="0"/>
                </a:cubicBezTo>
                <a:cubicBezTo>
                  <a:pt x="966381" y="105820"/>
                  <a:pt x="958876" y="216634"/>
                  <a:pt x="967818" y="428259"/>
                </a:cubicBezTo>
                <a:cubicBezTo>
                  <a:pt x="764584" y="413270"/>
                  <a:pt x="654764" y="418172"/>
                  <a:pt x="483909" y="428259"/>
                </a:cubicBezTo>
                <a:cubicBezTo>
                  <a:pt x="313054" y="438346"/>
                  <a:pt x="114424" y="434119"/>
                  <a:pt x="0" y="428259"/>
                </a:cubicBezTo>
                <a:cubicBezTo>
                  <a:pt x="13291" y="275585"/>
                  <a:pt x="-1715" y="207161"/>
                  <a:pt x="0" y="0"/>
                </a:cubicBezTo>
                <a:close/>
              </a:path>
            </a:pathLst>
          </a:custGeom>
          <a:ln w="31750" cmpd="tri">
            <a:solidFill>
              <a:srgbClr val="92D050"/>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pPr marL="7701" lvl="1" algn="ctr">
              <a:buClr>
                <a:srgbClr val="0070C0"/>
              </a:buClr>
            </a:pPr>
            <a:r>
              <a:rPr lang="es-CL" sz="2183" dirty="0">
                <a:solidFill>
                  <a:srgbClr val="222222"/>
                </a:solidFill>
                <a:latin typeface="Arial" panose="020B0604020202020204" pitchFamily="34" charset="0"/>
                <a:cs typeface="Arial" panose="020B0604020202020204" pitchFamily="34" charset="0"/>
              </a:rPr>
              <a:t>1 a n</a:t>
            </a:r>
          </a:p>
        </p:txBody>
      </p:sp>
      <p:pic>
        <p:nvPicPr>
          <p:cNvPr id="3" name="Imagen 2">
            <a:extLst>
              <a:ext uri="{FF2B5EF4-FFF2-40B4-BE49-F238E27FC236}">
                <a16:creationId xmlns:a16="http://schemas.microsoft.com/office/drawing/2014/main" id="{18C3593C-7C8A-B011-578D-2CB4B9B6494B}"/>
              </a:ext>
            </a:extLst>
          </p:cNvPr>
          <p:cNvPicPr>
            <a:picLocks noChangeAspect="1"/>
          </p:cNvPicPr>
          <p:nvPr/>
        </p:nvPicPr>
        <p:blipFill>
          <a:blip r:embed="rId4"/>
          <a:stretch>
            <a:fillRect/>
          </a:stretch>
        </p:blipFill>
        <p:spPr>
          <a:xfrm>
            <a:off x="4053183" y="1142101"/>
            <a:ext cx="4800330" cy="5444838"/>
          </a:xfrm>
          <a:prstGeom prst="rect">
            <a:avLst/>
          </a:prstGeom>
          <a:ln>
            <a:noFill/>
          </a:ln>
        </p:spPr>
      </p:pic>
      <p:sp>
        <p:nvSpPr>
          <p:cNvPr id="10" name="Llamada rectangular redondeada 8">
            <a:extLst>
              <a:ext uri="{FF2B5EF4-FFF2-40B4-BE49-F238E27FC236}">
                <a16:creationId xmlns:a16="http://schemas.microsoft.com/office/drawing/2014/main" id="{37DEAF3E-1246-51E2-EFA0-381BA7B881E7}"/>
              </a:ext>
            </a:extLst>
          </p:cNvPr>
          <p:cNvSpPr/>
          <p:nvPr/>
        </p:nvSpPr>
        <p:spPr>
          <a:xfrm>
            <a:off x="4053183" y="1142101"/>
            <a:ext cx="3105595" cy="299965"/>
          </a:xfrm>
          <a:prstGeom prst="wedgeRoundRectCallout">
            <a:avLst>
              <a:gd name="adj1" fmla="val 86715"/>
              <a:gd name="adj2" fmla="val 11958"/>
              <a:gd name="adj3" fmla="val 16667"/>
            </a:avLst>
          </a:prstGeom>
          <a:noFill/>
          <a:ln w="19050"/>
        </p:spPr>
        <p:style>
          <a:lnRef idx="1">
            <a:schemeClr val="accent2"/>
          </a:lnRef>
          <a:fillRef idx="3">
            <a:schemeClr val="accent2"/>
          </a:fillRef>
          <a:effectRef idx="2">
            <a:schemeClr val="accent2"/>
          </a:effectRef>
          <a:fontRef idx="minor">
            <a:schemeClr val="lt1"/>
          </a:fontRef>
        </p:style>
        <p:txBody>
          <a:bodyPr rtlCol="0" anchor="ctr"/>
          <a:lstStyle/>
          <a:p>
            <a:pPr algn="ctr"/>
            <a:endParaRPr lang="es-ES" sz="1092" dirty="0"/>
          </a:p>
        </p:txBody>
      </p:sp>
      <p:sp>
        <p:nvSpPr>
          <p:cNvPr id="11" name="Rectángulo 10">
            <a:extLst>
              <a:ext uri="{FF2B5EF4-FFF2-40B4-BE49-F238E27FC236}">
                <a16:creationId xmlns:a16="http://schemas.microsoft.com/office/drawing/2014/main" id="{627A5650-6274-266D-0767-C0E5807A0573}"/>
              </a:ext>
            </a:extLst>
          </p:cNvPr>
          <p:cNvSpPr/>
          <p:nvPr/>
        </p:nvSpPr>
        <p:spPr>
          <a:xfrm>
            <a:off x="8458491" y="1061557"/>
            <a:ext cx="323983" cy="559976"/>
          </a:xfrm>
          <a:prstGeom prst="rect">
            <a:avLst/>
          </a:prstGeom>
          <a:noFill/>
        </p:spPr>
        <p:txBody>
          <a:bodyPr wrap="square" lIns="55449" tIns="27725" rIns="55449" bIns="27725">
            <a:spAutoFit/>
          </a:bodyPr>
          <a:lstStyle/>
          <a:p>
            <a:pPr algn="ctr"/>
            <a:r>
              <a:rPr lang="es-ES" sz="3275" b="1" dirty="0">
                <a:ln w="22225">
                  <a:solidFill>
                    <a:schemeClr val="accent2"/>
                  </a:solidFill>
                  <a:prstDash val="solid"/>
                </a:ln>
                <a:solidFill>
                  <a:schemeClr val="accent2">
                    <a:lumMod val="40000"/>
                    <a:lumOff val="60000"/>
                  </a:schemeClr>
                </a:solidFill>
                <a:latin typeface="Arial" panose="020B0604020202020204" pitchFamily="34" charset="0"/>
                <a:cs typeface="Arial" panose="020B0604020202020204" pitchFamily="34" charset="0"/>
              </a:rPr>
              <a:t>2</a:t>
            </a:r>
          </a:p>
        </p:txBody>
      </p:sp>
      <p:pic>
        <p:nvPicPr>
          <p:cNvPr id="12" name="Imagen 11">
            <a:extLst>
              <a:ext uri="{FF2B5EF4-FFF2-40B4-BE49-F238E27FC236}">
                <a16:creationId xmlns:a16="http://schemas.microsoft.com/office/drawing/2014/main" id="{E9198FAC-D0B0-A53F-D899-B788F60BB5A1}"/>
              </a:ext>
            </a:extLst>
          </p:cNvPr>
          <p:cNvPicPr>
            <a:picLocks noChangeAspect="1"/>
          </p:cNvPicPr>
          <p:nvPr/>
        </p:nvPicPr>
        <p:blipFill>
          <a:blip r:embed="rId5"/>
          <a:stretch>
            <a:fillRect/>
          </a:stretch>
        </p:blipFill>
        <p:spPr>
          <a:xfrm>
            <a:off x="4053183" y="888573"/>
            <a:ext cx="1442117" cy="240353"/>
          </a:xfrm>
          <a:prstGeom prst="rect">
            <a:avLst/>
          </a:prstGeom>
        </p:spPr>
      </p:pic>
      <p:sp>
        <p:nvSpPr>
          <p:cNvPr id="16" name="Llamada rectangular redondeada 13">
            <a:extLst>
              <a:ext uri="{FF2B5EF4-FFF2-40B4-BE49-F238E27FC236}">
                <a16:creationId xmlns:a16="http://schemas.microsoft.com/office/drawing/2014/main" id="{2C2DB881-A94B-8E7B-49A5-20A44B38A839}"/>
              </a:ext>
            </a:extLst>
          </p:cNvPr>
          <p:cNvSpPr/>
          <p:nvPr/>
        </p:nvSpPr>
        <p:spPr>
          <a:xfrm>
            <a:off x="4044711" y="838299"/>
            <a:ext cx="1442117" cy="247006"/>
          </a:xfrm>
          <a:prstGeom prst="wedgeRoundRectCallout">
            <a:avLst>
              <a:gd name="adj1" fmla="val 86715"/>
              <a:gd name="adj2" fmla="val 11958"/>
              <a:gd name="adj3" fmla="val 16667"/>
            </a:avLst>
          </a:prstGeom>
          <a:noFill/>
          <a:ln w="19050"/>
        </p:spPr>
        <p:style>
          <a:lnRef idx="1">
            <a:schemeClr val="accent2"/>
          </a:lnRef>
          <a:fillRef idx="3">
            <a:schemeClr val="accent2"/>
          </a:fillRef>
          <a:effectRef idx="2">
            <a:schemeClr val="accent2"/>
          </a:effectRef>
          <a:fontRef idx="minor">
            <a:schemeClr val="lt1"/>
          </a:fontRef>
        </p:style>
        <p:txBody>
          <a:bodyPr rtlCol="0" anchor="ctr"/>
          <a:lstStyle/>
          <a:p>
            <a:pPr algn="ctr"/>
            <a:endParaRPr lang="es-ES" sz="1092" dirty="0"/>
          </a:p>
        </p:txBody>
      </p:sp>
      <p:sp>
        <p:nvSpPr>
          <p:cNvPr id="17" name="Rectángulo 16">
            <a:extLst>
              <a:ext uri="{FF2B5EF4-FFF2-40B4-BE49-F238E27FC236}">
                <a16:creationId xmlns:a16="http://schemas.microsoft.com/office/drawing/2014/main" id="{7837718A-7AF8-252C-8395-B1A7A8AC81CA}"/>
              </a:ext>
            </a:extLst>
          </p:cNvPr>
          <p:cNvSpPr/>
          <p:nvPr/>
        </p:nvSpPr>
        <p:spPr>
          <a:xfrm>
            <a:off x="6093845" y="637311"/>
            <a:ext cx="323983" cy="559976"/>
          </a:xfrm>
          <a:prstGeom prst="rect">
            <a:avLst/>
          </a:prstGeom>
          <a:noFill/>
        </p:spPr>
        <p:txBody>
          <a:bodyPr wrap="square" lIns="55449" tIns="27725" rIns="55449" bIns="27725">
            <a:spAutoFit/>
          </a:bodyPr>
          <a:lstStyle/>
          <a:p>
            <a:pPr algn="ctr"/>
            <a:r>
              <a:rPr lang="es-ES" sz="3275" b="1" dirty="0">
                <a:ln w="22225">
                  <a:solidFill>
                    <a:schemeClr val="accent2"/>
                  </a:solidFill>
                  <a:prstDash val="solid"/>
                </a:ln>
                <a:solidFill>
                  <a:schemeClr val="accent2">
                    <a:lumMod val="40000"/>
                    <a:lumOff val="60000"/>
                  </a:schemeClr>
                </a:solidFill>
                <a:latin typeface="Arial" panose="020B0604020202020204" pitchFamily="34" charset="0"/>
                <a:cs typeface="Arial" panose="020B0604020202020204" pitchFamily="34" charset="0"/>
              </a:rPr>
              <a:t>1</a:t>
            </a:r>
          </a:p>
        </p:txBody>
      </p:sp>
      <p:sp>
        <p:nvSpPr>
          <p:cNvPr id="18" name="Llamada rectangular redondeada 11">
            <a:extLst>
              <a:ext uri="{FF2B5EF4-FFF2-40B4-BE49-F238E27FC236}">
                <a16:creationId xmlns:a16="http://schemas.microsoft.com/office/drawing/2014/main" id="{32746943-1631-2039-3066-E3E8A1E634B9}"/>
              </a:ext>
            </a:extLst>
          </p:cNvPr>
          <p:cNvSpPr/>
          <p:nvPr/>
        </p:nvSpPr>
        <p:spPr>
          <a:xfrm>
            <a:off x="4191553" y="3368619"/>
            <a:ext cx="2043071" cy="299965"/>
          </a:xfrm>
          <a:prstGeom prst="wedgeRoundRectCallout">
            <a:avLst>
              <a:gd name="adj1" fmla="val 86715"/>
              <a:gd name="adj2" fmla="val 11958"/>
              <a:gd name="adj3" fmla="val 16667"/>
            </a:avLst>
          </a:prstGeom>
          <a:noFill/>
          <a:ln w="19050"/>
        </p:spPr>
        <p:style>
          <a:lnRef idx="1">
            <a:schemeClr val="accent2"/>
          </a:lnRef>
          <a:fillRef idx="3">
            <a:schemeClr val="accent2"/>
          </a:fillRef>
          <a:effectRef idx="2">
            <a:schemeClr val="accent2"/>
          </a:effectRef>
          <a:fontRef idx="minor">
            <a:schemeClr val="lt1"/>
          </a:fontRef>
        </p:style>
        <p:txBody>
          <a:bodyPr rtlCol="0" anchor="ctr"/>
          <a:lstStyle/>
          <a:p>
            <a:pPr algn="ctr"/>
            <a:endParaRPr lang="es-ES" sz="1092" dirty="0"/>
          </a:p>
        </p:txBody>
      </p:sp>
      <p:sp>
        <p:nvSpPr>
          <p:cNvPr id="19" name="Rectángulo 18">
            <a:extLst>
              <a:ext uri="{FF2B5EF4-FFF2-40B4-BE49-F238E27FC236}">
                <a16:creationId xmlns:a16="http://schemas.microsoft.com/office/drawing/2014/main" id="{E46349E5-4EAB-1BEF-BB0D-383BF5860657}"/>
              </a:ext>
            </a:extLst>
          </p:cNvPr>
          <p:cNvSpPr/>
          <p:nvPr/>
        </p:nvSpPr>
        <p:spPr>
          <a:xfrm>
            <a:off x="7158778" y="3238648"/>
            <a:ext cx="323983" cy="559976"/>
          </a:xfrm>
          <a:prstGeom prst="rect">
            <a:avLst/>
          </a:prstGeom>
          <a:noFill/>
        </p:spPr>
        <p:txBody>
          <a:bodyPr wrap="square" lIns="55449" tIns="27725" rIns="55449" bIns="27725">
            <a:spAutoFit/>
          </a:bodyPr>
          <a:lstStyle/>
          <a:p>
            <a:pPr algn="ctr"/>
            <a:r>
              <a:rPr lang="es-ES" sz="3275" b="1" dirty="0">
                <a:ln w="22225">
                  <a:solidFill>
                    <a:schemeClr val="accent2"/>
                  </a:solidFill>
                  <a:prstDash val="solid"/>
                </a:ln>
                <a:solidFill>
                  <a:schemeClr val="accent2">
                    <a:lumMod val="40000"/>
                    <a:lumOff val="60000"/>
                  </a:schemeClr>
                </a:solidFill>
                <a:latin typeface="Arial" panose="020B0604020202020204" pitchFamily="34" charset="0"/>
                <a:cs typeface="Arial" panose="020B0604020202020204" pitchFamily="34" charset="0"/>
              </a:rPr>
              <a:t>3</a:t>
            </a:r>
          </a:p>
        </p:txBody>
      </p:sp>
      <p:sp>
        <p:nvSpPr>
          <p:cNvPr id="20" name="Llamada rectangular redondeada 17">
            <a:extLst>
              <a:ext uri="{FF2B5EF4-FFF2-40B4-BE49-F238E27FC236}">
                <a16:creationId xmlns:a16="http://schemas.microsoft.com/office/drawing/2014/main" id="{962B15ED-9DAE-97BF-9264-45123C7EB8F5}"/>
              </a:ext>
            </a:extLst>
          </p:cNvPr>
          <p:cNvSpPr/>
          <p:nvPr/>
        </p:nvSpPr>
        <p:spPr>
          <a:xfrm>
            <a:off x="4210806" y="6352925"/>
            <a:ext cx="1455548" cy="261738"/>
          </a:xfrm>
          <a:prstGeom prst="wedgeRoundRectCallout">
            <a:avLst>
              <a:gd name="adj1" fmla="val 86715"/>
              <a:gd name="adj2" fmla="val 11958"/>
              <a:gd name="adj3" fmla="val 16667"/>
            </a:avLst>
          </a:prstGeom>
          <a:noFill/>
          <a:ln w="19050"/>
        </p:spPr>
        <p:style>
          <a:lnRef idx="1">
            <a:schemeClr val="accent2"/>
          </a:lnRef>
          <a:fillRef idx="3">
            <a:schemeClr val="accent2"/>
          </a:fillRef>
          <a:effectRef idx="2">
            <a:schemeClr val="accent2"/>
          </a:effectRef>
          <a:fontRef idx="minor">
            <a:schemeClr val="lt1"/>
          </a:fontRef>
        </p:style>
        <p:txBody>
          <a:bodyPr rtlCol="0" anchor="ctr"/>
          <a:lstStyle/>
          <a:p>
            <a:pPr algn="ctr"/>
            <a:endParaRPr lang="es-ES" sz="1092" dirty="0"/>
          </a:p>
        </p:txBody>
      </p:sp>
      <p:sp>
        <p:nvSpPr>
          <p:cNvPr id="21" name="Rectángulo 20">
            <a:extLst>
              <a:ext uri="{FF2B5EF4-FFF2-40B4-BE49-F238E27FC236}">
                <a16:creationId xmlns:a16="http://schemas.microsoft.com/office/drawing/2014/main" id="{4959A5F9-5E92-8EB5-AA43-656F2D2C414F}"/>
              </a:ext>
            </a:extLst>
          </p:cNvPr>
          <p:cNvSpPr/>
          <p:nvPr/>
        </p:nvSpPr>
        <p:spPr>
          <a:xfrm>
            <a:off x="6071900" y="6306490"/>
            <a:ext cx="2497739" cy="354535"/>
          </a:xfrm>
          <a:prstGeom prst="rect">
            <a:avLst/>
          </a:prstGeom>
          <a:noFill/>
        </p:spPr>
        <p:txBody>
          <a:bodyPr wrap="square" lIns="55449" tIns="27725" rIns="55449" bIns="27725">
            <a:spAutoFit/>
            <a:scene3d>
              <a:camera prst="orthographicFront"/>
              <a:lightRig rig="harsh" dir="t"/>
            </a:scene3d>
            <a:sp3d prstMaterial="matte">
              <a:contourClr>
                <a:schemeClr val="bg1">
                  <a:lumMod val="65000"/>
                </a:schemeClr>
              </a:contourClr>
            </a:sp3d>
          </a:bodyPr>
          <a:lstStyle/>
          <a:p>
            <a:pPr algn="ctr"/>
            <a:r>
              <a:rPr lang="es-ES" sz="1940" b="1" dirty="0">
                <a:ln/>
                <a:solidFill>
                  <a:schemeClr val="accent2">
                    <a:lumMod val="75000"/>
                  </a:schemeClr>
                </a:solidFill>
                <a:effectLst>
                  <a:outerShdw blurRad="38100" dist="38100" dir="2700000" algn="tl">
                    <a:srgbClr val="000000">
                      <a:alpha val="43137"/>
                    </a:srgbClr>
                  </a:outerShdw>
                </a:effectLst>
                <a:latin typeface="Century Gothic" panose="020B0502020202020204" pitchFamily="34" charset="0"/>
              </a:rPr>
              <a:t>condición al final</a:t>
            </a:r>
          </a:p>
        </p:txBody>
      </p:sp>
    </p:spTree>
    <p:extLst>
      <p:ext uri="{BB962C8B-B14F-4D97-AF65-F5344CB8AC3E}">
        <p14:creationId xmlns:p14="http://schemas.microsoft.com/office/powerpoint/2010/main" val="505794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iteración</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701" lvl="1" algn="just">
              <a:buClr>
                <a:srgbClr val="0070C0"/>
              </a:buClr>
            </a:pPr>
            <a:r>
              <a:rPr lang="es-CL" sz="2183" b="1" dirty="0">
                <a:solidFill>
                  <a:srgbClr val="0070C0"/>
                </a:solidFill>
                <a:latin typeface="Arial" panose="020B0604020202020204" pitchFamily="34" charset="0"/>
                <a:cs typeface="Arial" panose="020B0604020202020204" pitchFamily="34" charset="0"/>
              </a:rPr>
              <a:t>3</a:t>
            </a:r>
            <a:r>
              <a:rPr lang="es-CL" sz="2183" dirty="0">
                <a:solidFill>
                  <a:srgbClr val="222222"/>
                </a:solidFill>
                <a:latin typeface="Arial" panose="020B0604020202020204" pitchFamily="34" charset="0"/>
                <a:cs typeface="Arial" panose="020B0604020202020204" pitchFamily="34" charset="0"/>
              </a:rPr>
              <a:t> En una fiesta de año nuevo, que incluye cena y fiesta se quiere determinar cuántos hombres, mujeres y niños asistirán, para comprar el cotillón. Las entradas al evento se compran antes con preventa y el valor de las entradas son:</a:t>
            </a: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27771" lvl="3" indent="-207935"/>
            <a:r>
              <a:rPr lang="es-ES" sz="2183" dirty="0">
                <a:latin typeface="Century Gothic" panose="020B0502020202020204" pitchFamily="34" charset="0"/>
              </a:rPr>
              <a:t>	 adultos           	</a:t>
            </a:r>
            <a:r>
              <a:rPr lang="es-ES" sz="2183" dirty="0">
                <a:latin typeface="Century Gothic" panose="020B0502020202020204" pitchFamily="34" charset="0"/>
                <a:sym typeface="Wingdings" panose="05000000000000000000" pitchFamily="2" charset="2"/>
              </a:rPr>
              <a:t> </a:t>
            </a:r>
            <a:r>
              <a:rPr lang="es-ES" sz="2183" dirty="0">
                <a:latin typeface="Century Gothic" panose="020B0502020202020204" pitchFamily="34" charset="0"/>
              </a:rPr>
              <a:t>$80.000          </a:t>
            </a:r>
          </a:p>
          <a:p>
            <a:pPr marL="727771" lvl="3" indent="-207935"/>
            <a:r>
              <a:rPr lang="es-ES" sz="2183" dirty="0">
                <a:latin typeface="Century Gothic" panose="020B0502020202020204" pitchFamily="34" charset="0"/>
              </a:rPr>
              <a:t> 	 niños   		</a:t>
            </a:r>
            <a:r>
              <a:rPr lang="es-ES" sz="2183" dirty="0">
                <a:latin typeface="Century Gothic" panose="020B0502020202020204" pitchFamily="34" charset="0"/>
                <a:sym typeface="Wingdings" panose="05000000000000000000" pitchFamily="2" charset="2"/>
              </a:rPr>
              <a:t></a:t>
            </a:r>
            <a:r>
              <a:rPr lang="es-ES" sz="2183" dirty="0">
                <a:latin typeface="Century Gothic" panose="020B0502020202020204" pitchFamily="34" charset="0"/>
              </a:rPr>
              <a:t> $50.000   (hasta los 12 años)        </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r>
              <a:rPr lang="es-CL" sz="2183" dirty="0">
                <a:latin typeface="Arial" panose="020B0604020202020204" pitchFamily="34" charset="0"/>
                <a:cs typeface="Arial" panose="020B0604020202020204" pitchFamily="34" charset="0"/>
              </a:rPr>
              <a:t>Entonces… ¿Qué ciclo es el adecuado?</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sp>
        <p:nvSpPr>
          <p:cNvPr id="10" name="Rectángulo 9">
            <a:extLst>
              <a:ext uri="{FF2B5EF4-FFF2-40B4-BE49-F238E27FC236}">
                <a16:creationId xmlns:a16="http://schemas.microsoft.com/office/drawing/2014/main" id="{9CBDBC89-1371-9086-7574-5A963A65E291}"/>
              </a:ext>
            </a:extLst>
          </p:cNvPr>
          <p:cNvSpPr/>
          <p:nvPr/>
        </p:nvSpPr>
        <p:spPr>
          <a:xfrm>
            <a:off x="458655" y="3550323"/>
            <a:ext cx="10850701" cy="764184"/>
          </a:xfrm>
          <a:custGeom>
            <a:avLst/>
            <a:gdLst>
              <a:gd name="connsiteX0" fmla="*/ 0 w 10850701"/>
              <a:gd name="connsiteY0" fmla="*/ 0 h 764184"/>
              <a:gd name="connsiteX1" fmla="*/ 571090 w 10850701"/>
              <a:gd name="connsiteY1" fmla="*/ 0 h 764184"/>
              <a:gd name="connsiteX2" fmla="*/ 1033672 w 10850701"/>
              <a:gd name="connsiteY2" fmla="*/ 0 h 764184"/>
              <a:gd name="connsiteX3" fmla="*/ 1496255 w 10850701"/>
              <a:gd name="connsiteY3" fmla="*/ 0 h 764184"/>
              <a:gd name="connsiteX4" fmla="*/ 2067344 w 10850701"/>
              <a:gd name="connsiteY4" fmla="*/ 0 h 764184"/>
              <a:gd name="connsiteX5" fmla="*/ 2746941 w 10850701"/>
              <a:gd name="connsiteY5" fmla="*/ 0 h 764184"/>
              <a:gd name="connsiteX6" fmla="*/ 3426537 w 10850701"/>
              <a:gd name="connsiteY6" fmla="*/ 0 h 764184"/>
              <a:gd name="connsiteX7" fmla="*/ 4106134 w 10850701"/>
              <a:gd name="connsiteY7" fmla="*/ 0 h 764184"/>
              <a:gd name="connsiteX8" fmla="*/ 4894237 w 10850701"/>
              <a:gd name="connsiteY8" fmla="*/ 0 h 764184"/>
              <a:gd name="connsiteX9" fmla="*/ 5465327 w 10850701"/>
              <a:gd name="connsiteY9" fmla="*/ 0 h 764184"/>
              <a:gd name="connsiteX10" fmla="*/ 6144923 w 10850701"/>
              <a:gd name="connsiteY10" fmla="*/ 0 h 764184"/>
              <a:gd name="connsiteX11" fmla="*/ 6716013 w 10850701"/>
              <a:gd name="connsiteY11" fmla="*/ 0 h 764184"/>
              <a:gd name="connsiteX12" fmla="*/ 7287102 w 10850701"/>
              <a:gd name="connsiteY12" fmla="*/ 0 h 764184"/>
              <a:gd name="connsiteX13" fmla="*/ 7858192 w 10850701"/>
              <a:gd name="connsiteY13" fmla="*/ 0 h 764184"/>
              <a:gd name="connsiteX14" fmla="*/ 8103760 w 10850701"/>
              <a:gd name="connsiteY14" fmla="*/ 0 h 764184"/>
              <a:gd name="connsiteX15" fmla="*/ 8783357 w 10850701"/>
              <a:gd name="connsiteY15" fmla="*/ 0 h 764184"/>
              <a:gd name="connsiteX16" fmla="*/ 9028925 w 10850701"/>
              <a:gd name="connsiteY16" fmla="*/ 0 h 764184"/>
              <a:gd name="connsiteX17" fmla="*/ 9600015 w 10850701"/>
              <a:gd name="connsiteY17" fmla="*/ 0 h 764184"/>
              <a:gd name="connsiteX18" fmla="*/ 10850701 w 10850701"/>
              <a:gd name="connsiteY18" fmla="*/ 0 h 764184"/>
              <a:gd name="connsiteX19" fmla="*/ 10850701 w 10850701"/>
              <a:gd name="connsiteY19" fmla="*/ 397376 h 764184"/>
              <a:gd name="connsiteX20" fmla="*/ 10850701 w 10850701"/>
              <a:gd name="connsiteY20" fmla="*/ 764184 h 764184"/>
              <a:gd name="connsiteX21" fmla="*/ 10496625 w 10850701"/>
              <a:gd name="connsiteY21" fmla="*/ 764184 h 764184"/>
              <a:gd name="connsiteX22" fmla="*/ 9817029 w 10850701"/>
              <a:gd name="connsiteY22" fmla="*/ 764184 h 764184"/>
              <a:gd name="connsiteX23" fmla="*/ 9462953 w 10850701"/>
              <a:gd name="connsiteY23" fmla="*/ 764184 h 764184"/>
              <a:gd name="connsiteX24" fmla="*/ 8674850 w 10850701"/>
              <a:gd name="connsiteY24" fmla="*/ 764184 h 764184"/>
              <a:gd name="connsiteX25" fmla="*/ 7886746 w 10850701"/>
              <a:gd name="connsiteY25" fmla="*/ 764184 h 764184"/>
              <a:gd name="connsiteX26" fmla="*/ 7315657 w 10850701"/>
              <a:gd name="connsiteY26" fmla="*/ 764184 h 764184"/>
              <a:gd name="connsiteX27" fmla="*/ 6527553 w 10850701"/>
              <a:gd name="connsiteY27" fmla="*/ 764184 h 764184"/>
              <a:gd name="connsiteX28" fmla="*/ 5956464 w 10850701"/>
              <a:gd name="connsiteY28" fmla="*/ 764184 h 764184"/>
              <a:gd name="connsiteX29" fmla="*/ 5276867 w 10850701"/>
              <a:gd name="connsiteY29" fmla="*/ 764184 h 764184"/>
              <a:gd name="connsiteX30" fmla="*/ 5031299 w 10850701"/>
              <a:gd name="connsiteY30" fmla="*/ 764184 h 764184"/>
              <a:gd name="connsiteX31" fmla="*/ 4243195 w 10850701"/>
              <a:gd name="connsiteY31" fmla="*/ 764184 h 764184"/>
              <a:gd name="connsiteX32" fmla="*/ 3780613 w 10850701"/>
              <a:gd name="connsiteY32" fmla="*/ 764184 h 764184"/>
              <a:gd name="connsiteX33" fmla="*/ 3101016 w 10850701"/>
              <a:gd name="connsiteY33" fmla="*/ 764184 h 764184"/>
              <a:gd name="connsiteX34" fmla="*/ 2855448 w 10850701"/>
              <a:gd name="connsiteY34" fmla="*/ 764184 h 764184"/>
              <a:gd name="connsiteX35" fmla="*/ 2067344 w 10850701"/>
              <a:gd name="connsiteY35" fmla="*/ 764184 h 764184"/>
              <a:gd name="connsiteX36" fmla="*/ 1604762 w 10850701"/>
              <a:gd name="connsiteY36" fmla="*/ 764184 h 764184"/>
              <a:gd name="connsiteX37" fmla="*/ 1033672 w 10850701"/>
              <a:gd name="connsiteY37" fmla="*/ 764184 h 764184"/>
              <a:gd name="connsiteX38" fmla="*/ 679597 w 10850701"/>
              <a:gd name="connsiteY38" fmla="*/ 764184 h 764184"/>
              <a:gd name="connsiteX39" fmla="*/ 0 w 10850701"/>
              <a:gd name="connsiteY39" fmla="*/ 764184 h 764184"/>
              <a:gd name="connsiteX40" fmla="*/ 0 w 10850701"/>
              <a:gd name="connsiteY40" fmla="*/ 366808 h 764184"/>
              <a:gd name="connsiteX41" fmla="*/ 0 w 10850701"/>
              <a:gd name="connsiteY41" fmla="*/ 0 h 76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850701" h="764184" fill="none" extrusionOk="0">
                <a:moveTo>
                  <a:pt x="0" y="0"/>
                </a:moveTo>
                <a:cubicBezTo>
                  <a:pt x="182548" y="-4287"/>
                  <a:pt x="341216" y="52464"/>
                  <a:pt x="571090" y="0"/>
                </a:cubicBezTo>
                <a:cubicBezTo>
                  <a:pt x="800964" y="-52464"/>
                  <a:pt x="935149" y="46117"/>
                  <a:pt x="1033672" y="0"/>
                </a:cubicBezTo>
                <a:cubicBezTo>
                  <a:pt x="1132195" y="-46117"/>
                  <a:pt x="1355493" y="4213"/>
                  <a:pt x="1496255" y="0"/>
                </a:cubicBezTo>
                <a:cubicBezTo>
                  <a:pt x="1637017" y="-4213"/>
                  <a:pt x="1849503" y="26106"/>
                  <a:pt x="2067344" y="0"/>
                </a:cubicBezTo>
                <a:cubicBezTo>
                  <a:pt x="2285185" y="-26106"/>
                  <a:pt x="2451411" y="28384"/>
                  <a:pt x="2746941" y="0"/>
                </a:cubicBezTo>
                <a:cubicBezTo>
                  <a:pt x="3042471" y="-28384"/>
                  <a:pt x="3215546" y="78470"/>
                  <a:pt x="3426537" y="0"/>
                </a:cubicBezTo>
                <a:cubicBezTo>
                  <a:pt x="3637528" y="-78470"/>
                  <a:pt x="3778067" y="53624"/>
                  <a:pt x="4106134" y="0"/>
                </a:cubicBezTo>
                <a:cubicBezTo>
                  <a:pt x="4434201" y="-53624"/>
                  <a:pt x="4696713" y="11110"/>
                  <a:pt x="4894237" y="0"/>
                </a:cubicBezTo>
                <a:cubicBezTo>
                  <a:pt x="5091761" y="-11110"/>
                  <a:pt x="5324222" y="43052"/>
                  <a:pt x="5465327" y="0"/>
                </a:cubicBezTo>
                <a:cubicBezTo>
                  <a:pt x="5606432" y="-43052"/>
                  <a:pt x="5957790" y="51723"/>
                  <a:pt x="6144923" y="0"/>
                </a:cubicBezTo>
                <a:cubicBezTo>
                  <a:pt x="6332056" y="-51723"/>
                  <a:pt x="6524345" y="2534"/>
                  <a:pt x="6716013" y="0"/>
                </a:cubicBezTo>
                <a:cubicBezTo>
                  <a:pt x="6907681" y="-2534"/>
                  <a:pt x="7121745" y="20555"/>
                  <a:pt x="7287102" y="0"/>
                </a:cubicBezTo>
                <a:cubicBezTo>
                  <a:pt x="7452459" y="-20555"/>
                  <a:pt x="7719429" y="65142"/>
                  <a:pt x="7858192" y="0"/>
                </a:cubicBezTo>
                <a:cubicBezTo>
                  <a:pt x="7996955" y="-65142"/>
                  <a:pt x="8046623" y="149"/>
                  <a:pt x="8103760" y="0"/>
                </a:cubicBezTo>
                <a:cubicBezTo>
                  <a:pt x="8160897" y="-149"/>
                  <a:pt x="8476168" y="18507"/>
                  <a:pt x="8783357" y="0"/>
                </a:cubicBezTo>
                <a:cubicBezTo>
                  <a:pt x="9090546" y="-18507"/>
                  <a:pt x="8925735" y="22941"/>
                  <a:pt x="9028925" y="0"/>
                </a:cubicBezTo>
                <a:cubicBezTo>
                  <a:pt x="9132115" y="-22941"/>
                  <a:pt x="9478182" y="1712"/>
                  <a:pt x="9600015" y="0"/>
                </a:cubicBezTo>
                <a:cubicBezTo>
                  <a:pt x="9721848" y="-1712"/>
                  <a:pt x="10350889" y="57631"/>
                  <a:pt x="10850701" y="0"/>
                </a:cubicBezTo>
                <a:cubicBezTo>
                  <a:pt x="10879762" y="127718"/>
                  <a:pt x="10804388" y="292141"/>
                  <a:pt x="10850701" y="397376"/>
                </a:cubicBezTo>
                <a:cubicBezTo>
                  <a:pt x="10897014" y="502611"/>
                  <a:pt x="10839737" y="605466"/>
                  <a:pt x="10850701" y="764184"/>
                </a:cubicBezTo>
                <a:cubicBezTo>
                  <a:pt x="10758028" y="782744"/>
                  <a:pt x="10637363" y="736774"/>
                  <a:pt x="10496625" y="764184"/>
                </a:cubicBezTo>
                <a:cubicBezTo>
                  <a:pt x="10355887" y="791594"/>
                  <a:pt x="10100259" y="750088"/>
                  <a:pt x="9817029" y="764184"/>
                </a:cubicBezTo>
                <a:cubicBezTo>
                  <a:pt x="9533799" y="778280"/>
                  <a:pt x="9546978" y="759906"/>
                  <a:pt x="9462953" y="764184"/>
                </a:cubicBezTo>
                <a:cubicBezTo>
                  <a:pt x="9378928" y="768462"/>
                  <a:pt x="9023505" y="754352"/>
                  <a:pt x="8674850" y="764184"/>
                </a:cubicBezTo>
                <a:cubicBezTo>
                  <a:pt x="8326195" y="774016"/>
                  <a:pt x="8054162" y="745546"/>
                  <a:pt x="7886746" y="764184"/>
                </a:cubicBezTo>
                <a:cubicBezTo>
                  <a:pt x="7719330" y="782822"/>
                  <a:pt x="7546013" y="745867"/>
                  <a:pt x="7315657" y="764184"/>
                </a:cubicBezTo>
                <a:cubicBezTo>
                  <a:pt x="7085301" y="782501"/>
                  <a:pt x="6894673" y="758944"/>
                  <a:pt x="6527553" y="764184"/>
                </a:cubicBezTo>
                <a:cubicBezTo>
                  <a:pt x="6160433" y="769424"/>
                  <a:pt x="6122658" y="695743"/>
                  <a:pt x="5956464" y="764184"/>
                </a:cubicBezTo>
                <a:cubicBezTo>
                  <a:pt x="5790270" y="832625"/>
                  <a:pt x="5558559" y="699327"/>
                  <a:pt x="5276867" y="764184"/>
                </a:cubicBezTo>
                <a:cubicBezTo>
                  <a:pt x="4995175" y="829041"/>
                  <a:pt x="5090078" y="742360"/>
                  <a:pt x="5031299" y="764184"/>
                </a:cubicBezTo>
                <a:cubicBezTo>
                  <a:pt x="4972520" y="786008"/>
                  <a:pt x="4450019" y="674938"/>
                  <a:pt x="4243195" y="764184"/>
                </a:cubicBezTo>
                <a:cubicBezTo>
                  <a:pt x="4036371" y="853430"/>
                  <a:pt x="4002186" y="720322"/>
                  <a:pt x="3780613" y="764184"/>
                </a:cubicBezTo>
                <a:cubicBezTo>
                  <a:pt x="3559040" y="808046"/>
                  <a:pt x="3422212" y="717615"/>
                  <a:pt x="3101016" y="764184"/>
                </a:cubicBezTo>
                <a:cubicBezTo>
                  <a:pt x="2779820" y="810753"/>
                  <a:pt x="2970749" y="751241"/>
                  <a:pt x="2855448" y="764184"/>
                </a:cubicBezTo>
                <a:cubicBezTo>
                  <a:pt x="2740147" y="777127"/>
                  <a:pt x="2427228" y="683405"/>
                  <a:pt x="2067344" y="764184"/>
                </a:cubicBezTo>
                <a:cubicBezTo>
                  <a:pt x="1707460" y="844963"/>
                  <a:pt x="1714075" y="716433"/>
                  <a:pt x="1604762" y="764184"/>
                </a:cubicBezTo>
                <a:cubicBezTo>
                  <a:pt x="1495449" y="811935"/>
                  <a:pt x="1206989" y="710225"/>
                  <a:pt x="1033672" y="764184"/>
                </a:cubicBezTo>
                <a:cubicBezTo>
                  <a:pt x="860355" y="818143"/>
                  <a:pt x="821081" y="730554"/>
                  <a:pt x="679597" y="764184"/>
                </a:cubicBezTo>
                <a:cubicBezTo>
                  <a:pt x="538114" y="797814"/>
                  <a:pt x="309425" y="746393"/>
                  <a:pt x="0" y="764184"/>
                </a:cubicBezTo>
                <a:cubicBezTo>
                  <a:pt x="-28893" y="637896"/>
                  <a:pt x="37539" y="562614"/>
                  <a:pt x="0" y="366808"/>
                </a:cubicBezTo>
                <a:cubicBezTo>
                  <a:pt x="-37539" y="171002"/>
                  <a:pt x="32610" y="99776"/>
                  <a:pt x="0" y="0"/>
                </a:cubicBezTo>
                <a:close/>
              </a:path>
              <a:path w="10850701" h="764184" stroke="0" extrusionOk="0">
                <a:moveTo>
                  <a:pt x="0" y="0"/>
                </a:moveTo>
                <a:cubicBezTo>
                  <a:pt x="107045" y="-27167"/>
                  <a:pt x="311534" y="8499"/>
                  <a:pt x="462583" y="0"/>
                </a:cubicBezTo>
                <a:cubicBezTo>
                  <a:pt x="613632" y="-8499"/>
                  <a:pt x="647594" y="3514"/>
                  <a:pt x="708151" y="0"/>
                </a:cubicBezTo>
                <a:cubicBezTo>
                  <a:pt x="768708" y="-3514"/>
                  <a:pt x="1155540" y="92106"/>
                  <a:pt x="1496255" y="0"/>
                </a:cubicBezTo>
                <a:cubicBezTo>
                  <a:pt x="1836970" y="-92106"/>
                  <a:pt x="1776965" y="31924"/>
                  <a:pt x="1958837" y="0"/>
                </a:cubicBezTo>
                <a:cubicBezTo>
                  <a:pt x="2140709" y="-31924"/>
                  <a:pt x="2315800" y="4973"/>
                  <a:pt x="2421420" y="0"/>
                </a:cubicBezTo>
                <a:cubicBezTo>
                  <a:pt x="2527040" y="-4973"/>
                  <a:pt x="2899664" y="67787"/>
                  <a:pt x="3209523" y="0"/>
                </a:cubicBezTo>
                <a:cubicBezTo>
                  <a:pt x="3519382" y="-67787"/>
                  <a:pt x="3414650" y="39913"/>
                  <a:pt x="3563599" y="0"/>
                </a:cubicBezTo>
                <a:cubicBezTo>
                  <a:pt x="3712548" y="-39913"/>
                  <a:pt x="3987602" y="16721"/>
                  <a:pt x="4351702" y="0"/>
                </a:cubicBezTo>
                <a:cubicBezTo>
                  <a:pt x="4715802" y="-16721"/>
                  <a:pt x="4782538" y="64775"/>
                  <a:pt x="5139806" y="0"/>
                </a:cubicBezTo>
                <a:cubicBezTo>
                  <a:pt x="5497074" y="-64775"/>
                  <a:pt x="5569399" y="49616"/>
                  <a:pt x="5710895" y="0"/>
                </a:cubicBezTo>
                <a:cubicBezTo>
                  <a:pt x="5852391" y="-49616"/>
                  <a:pt x="6109761" y="64114"/>
                  <a:pt x="6498999" y="0"/>
                </a:cubicBezTo>
                <a:cubicBezTo>
                  <a:pt x="6888237" y="-64114"/>
                  <a:pt x="6737469" y="34039"/>
                  <a:pt x="6961581" y="0"/>
                </a:cubicBezTo>
                <a:cubicBezTo>
                  <a:pt x="7185693" y="-34039"/>
                  <a:pt x="7300275" y="52332"/>
                  <a:pt x="7424164" y="0"/>
                </a:cubicBezTo>
                <a:cubicBezTo>
                  <a:pt x="7548053" y="-52332"/>
                  <a:pt x="7829329" y="69797"/>
                  <a:pt x="8103760" y="0"/>
                </a:cubicBezTo>
                <a:cubicBezTo>
                  <a:pt x="8378191" y="-69797"/>
                  <a:pt x="8433415" y="3606"/>
                  <a:pt x="8566343" y="0"/>
                </a:cubicBezTo>
                <a:cubicBezTo>
                  <a:pt x="8699271" y="-3606"/>
                  <a:pt x="8964238" y="15675"/>
                  <a:pt x="9354446" y="0"/>
                </a:cubicBezTo>
                <a:cubicBezTo>
                  <a:pt x="9744654" y="-15675"/>
                  <a:pt x="9956156" y="28684"/>
                  <a:pt x="10142550" y="0"/>
                </a:cubicBezTo>
                <a:cubicBezTo>
                  <a:pt x="10328944" y="-28684"/>
                  <a:pt x="10636068" y="55215"/>
                  <a:pt x="10850701" y="0"/>
                </a:cubicBezTo>
                <a:cubicBezTo>
                  <a:pt x="10865661" y="178591"/>
                  <a:pt x="10844779" y="221547"/>
                  <a:pt x="10850701" y="374450"/>
                </a:cubicBezTo>
                <a:cubicBezTo>
                  <a:pt x="10856623" y="527353"/>
                  <a:pt x="10828115" y="626621"/>
                  <a:pt x="10850701" y="764184"/>
                </a:cubicBezTo>
                <a:cubicBezTo>
                  <a:pt x="10739969" y="799663"/>
                  <a:pt x="10584050" y="752524"/>
                  <a:pt x="10496625" y="764184"/>
                </a:cubicBezTo>
                <a:cubicBezTo>
                  <a:pt x="10409200" y="775844"/>
                  <a:pt x="10207796" y="728000"/>
                  <a:pt x="9925536" y="764184"/>
                </a:cubicBezTo>
                <a:cubicBezTo>
                  <a:pt x="9643276" y="800368"/>
                  <a:pt x="9651745" y="753868"/>
                  <a:pt x="9571460" y="764184"/>
                </a:cubicBezTo>
                <a:cubicBezTo>
                  <a:pt x="9491175" y="774500"/>
                  <a:pt x="9273310" y="736459"/>
                  <a:pt x="9000371" y="764184"/>
                </a:cubicBezTo>
                <a:cubicBezTo>
                  <a:pt x="8727432" y="791909"/>
                  <a:pt x="8869669" y="758276"/>
                  <a:pt x="8754802" y="764184"/>
                </a:cubicBezTo>
                <a:cubicBezTo>
                  <a:pt x="8639935" y="770092"/>
                  <a:pt x="8611899" y="738660"/>
                  <a:pt x="8509234" y="764184"/>
                </a:cubicBezTo>
                <a:cubicBezTo>
                  <a:pt x="8406569" y="789708"/>
                  <a:pt x="8105506" y="702904"/>
                  <a:pt x="7938144" y="764184"/>
                </a:cubicBezTo>
                <a:cubicBezTo>
                  <a:pt x="7770782" y="825464"/>
                  <a:pt x="7673433" y="731945"/>
                  <a:pt x="7584069" y="764184"/>
                </a:cubicBezTo>
                <a:cubicBezTo>
                  <a:pt x="7494706" y="796423"/>
                  <a:pt x="7177228" y="719866"/>
                  <a:pt x="6904472" y="764184"/>
                </a:cubicBezTo>
                <a:cubicBezTo>
                  <a:pt x="6631716" y="808502"/>
                  <a:pt x="6721898" y="750523"/>
                  <a:pt x="6550397" y="764184"/>
                </a:cubicBezTo>
                <a:cubicBezTo>
                  <a:pt x="6378897" y="777845"/>
                  <a:pt x="6091339" y="745924"/>
                  <a:pt x="5870800" y="764184"/>
                </a:cubicBezTo>
                <a:cubicBezTo>
                  <a:pt x="5650261" y="782444"/>
                  <a:pt x="5713143" y="744773"/>
                  <a:pt x="5625232" y="764184"/>
                </a:cubicBezTo>
                <a:cubicBezTo>
                  <a:pt x="5537321" y="783595"/>
                  <a:pt x="5278216" y="704180"/>
                  <a:pt x="4945635" y="764184"/>
                </a:cubicBezTo>
                <a:cubicBezTo>
                  <a:pt x="4613054" y="824188"/>
                  <a:pt x="4748652" y="734570"/>
                  <a:pt x="4591560" y="764184"/>
                </a:cubicBezTo>
                <a:cubicBezTo>
                  <a:pt x="4434468" y="793798"/>
                  <a:pt x="4410311" y="761470"/>
                  <a:pt x="4345991" y="764184"/>
                </a:cubicBezTo>
                <a:cubicBezTo>
                  <a:pt x="4281671" y="766898"/>
                  <a:pt x="4136238" y="726883"/>
                  <a:pt x="3991916" y="764184"/>
                </a:cubicBezTo>
                <a:cubicBezTo>
                  <a:pt x="3847595" y="801485"/>
                  <a:pt x="3475329" y="683805"/>
                  <a:pt x="3312319" y="764184"/>
                </a:cubicBezTo>
                <a:cubicBezTo>
                  <a:pt x="3149309" y="844563"/>
                  <a:pt x="3036204" y="761945"/>
                  <a:pt x="2958244" y="764184"/>
                </a:cubicBezTo>
                <a:cubicBezTo>
                  <a:pt x="2880285" y="766423"/>
                  <a:pt x="2821526" y="735833"/>
                  <a:pt x="2712675" y="764184"/>
                </a:cubicBezTo>
                <a:cubicBezTo>
                  <a:pt x="2603824" y="792535"/>
                  <a:pt x="2451918" y="740883"/>
                  <a:pt x="2358600" y="764184"/>
                </a:cubicBezTo>
                <a:cubicBezTo>
                  <a:pt x="2265283" y="787485"/>
                  <a:pt x="2003375" y="756104"/>
                  <a:pt x="1896017" y="764184"/>
                </a:cubicBezTo>
                <a:cubicBezTo>
                  <a:pt x="1788659" y="772264"/>
                  <a:pt x="1547203" y="757064"/>
                  <a:pt x="1324928" y="764184"/>
                </a:cubicBezTo>
                <a:cubicBezTo>
                  <a:pt x="1102653" y="771304"/>
                  <a:pt x="1103859" y="734956"/>
                  <a:pt x="970852" y="764184"/>
                </a:cubicBezTo>
                <a:cubicBezTo>
                  <a:pt x="837845" y="793412"/>
                  <a:pt x="284136" y="710117"/>
                  <a:pt x="0" y="764184"/>
                </a:cubicBezTo>
                <a:cubicBezTo>
                  <a:pt x="-8837" y="615142"/>
                  <a:pt x="762" y="479095"/>
                  <a:pt x="0" y="382092"/>
                </a:cubicBezTo>
                <a:cubicBezTo>
                  <a:pt x="-762" y="285089"/>
                  <a:pt x="7939" y="117548"/>
                  <a:pt x="0" y="0"/>
                </a:cubicBezTo>
                <a:close/>
              </a:path>
            </a:pathLst>
          </a:custGeom>
          <a:ln>
            <a:solidFill>
              <a:srgbClr val="0070C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r>
              <a:rPr lang="es-CL" sz="2183" dirty="0">
                <a:latin typeface="Century Gothic" panose="020B0502020202020204" pitchFamily="34" charset="0"/>
              </a:rPr>
              <a:t>Tenemos que recorrer de 1 a </a:t>
            </a:r>
            <a:r>
              <a:rPr lang="es-CL" sz="2183" dirty="0" err="1">
                <a:latin typeface="Century Gothic" panose="020B0502020202020204" pitchFamily="34" charset="0"/>
              </a:rPr>
              <a:t>cantidadTotal</a:t>
            </a:r>
            <a:r>
              <a:rPr lang="es-CL" sz="2183" dirty="0">
                <a:latin typeface="Century Gothic" panose="020B0502020202020204" pitchFamily="34" charset="0"/>
              </a:rPr>
              <a:t> (sabemos el fin ya que es preventa)</a:t>
            </a:r>
            <a:endParaRPr lang="es-ES_tradnl" sz="2183" dirty="0">
              <a:latin typeface="Century Gothic" panose="020B0502020202020204" pitchFamily="34" charset="0"/>
            </a:endParaRPr>
          </a:p>
        </p:txBody>
      </p:sp>
      <p:sp>
        <p:nvSpPr>
          <p:cNvPr id="11" name="Rectángulo 10">
            <a:extLst>
              <a:ext uri="{FF2B5EF4-FFF2-40B4-BE49-F238E27FC236}">
                <a16:creationId xmlns:a16="http://schemas.microsoft.com/office/drawing/2014/main" id="{72C22D0A-407C-94FF-1B37-C5AC919A49E7}"/>
              </a:ext>
            </a:extLst>
          </p:cNvPr>
          <p:cNvSpPr/>
          <p:nvPr/>
        </p:nvSpPr>
        <p:spPr>
          <a:xfrm>
            <a:off x="2353172" y="4410534"/>
            <a:ext cx="9004816" cy="1100109"/>
          </a:xfrm>
          <a:custGeom>
            <a:avLst/>
            <a:gdLst>
              <a:gd name="connsiteX0" fmla="*/ 0 w 9004816"/>
              <a:gd name="connsiteY0" fmla="*/ 0 h 1100109"/>
              <a:gd name="connsiteX1" fmla="*/ 292657 w 9004816"/>
              <a:gd name="connsiteY1" fmla="*/ 0 h 1100109"/>
              <a:gd name="connsiteX2" fmla="*/ 585313 w 9004816"/>
              <a:gd name="connsiteY2" fmla="*/ 0 h 1100109"/>
              <a:gd name="connsiteX3" fmla="*/ 877970 w 9004816"/>
              <a:gd name="connsiteY3" fmla="*/ 0 h 1100109"/>
              <a:gd name="connsiteX4" fmla="*/ 1620867 w 9004816"/>
              <a:gd name="connsiteY4" fmla="*/ 0 h 1100109"/>
              <a:gd name="connsiteX5" fmla="*/ 2183668 w 9004816"/>
              <a:gd name="connsiteY5" fmla="*/ 0 h 1100109"/>
              <a:gd name="connsiteX6" fmla="*/ 2476324 w 9004816"/>
              <a:gd name="connsiteY6" fmla="*/ 0 h 1100109"/>
              <a:gd name="connsiteX7" fmla="*/ 3039125 w 9004816"/>
              <a:gd name="connsiteY7" fmla="*/ 0 h 1100109"/>
              <a:gd name="connsiteX8" fmla="*/ 3782023 w 9004816"/>
              <a:gd name="connsiteY8" fmla="*/ 0 h 1100109"/>
              <a:gd name="connsiteX9" fmla="*/ 4254776 w 9004816"/>
              <a:gd name="connsiteY9" fmla="*/ 0 h 1100109"/>
              <a:gd name="connsiteX10" fmla="*/ 4727528 w 9004816"/>
              <a:gd name="connsiteY10" fmla="*/ 0 h 1100109"/>
              <a:gd name="connsiteX11" fmla="*/ 5290329 w 9004816"/>
              <a:gd name="connsiteY11" fmla="*/ 0 h 1100109"/>
              <a:gd name="connsiteX12" fmla="*/ 5943179 w 9004816"/>
              <a:gd name="connsiteY12" fmla="*/ 0 h 1100109"/>
              <a:gd name="connsiteX13" fmla="*/ 6596028 w 9004816"/>
              <a:gd name="connsiteY13" fmla="*/ 0 h 1100109"/>
              <a:gd name="connsiteX14" fmla="*/ 7248877 w 9004816"/>
              <a:gd name="connsiteY14" fmla="*/ 0 h 1100109"/>
              <a:gd name="connsiteX15" fmla="*/ 7991774 w 9004816"/>
              <a:gd name="connsiteY15" fmla="*/ 0 h 1100109"/>
              <a:gd name="connsiteX16" fmla="*/ 9004816 w 9004816"/>
              <a:gd name="connsiteY16" fmla="*/ 0 h 1100109"/>
              <a:gd name="connsiteX17" fmla="*/ 9004816 w 9004816"/>
              <a:gd name="connsiteY17" fmla="*/ 561056 h 1100109"/>
              <a:gd name="connsiteX18" fmla="*/ 9004816 w 9004816"/>
              <a:gd name="connsiteY18" fmla="*/ 1100109 h 1100109"/>
              <a:gd name="connsiteX19" fmla="*/ 8261919 w 9004816"/>
              <a:gd name="connsiteY19" fmla="*/ 1100109 h 1100109"/>
              <a:gd name="connsiteX20" fmla="*/ 7699118 w 9004816"/>
              <a:gd name="connsiteY20" fmla="*/ 1100109 h 1100109"/>
              <a:gd name="connsiteX21" fmla="*/ 7226365 w 9004816"/>
              <a:gd name="connsiteY21" fmla="*/ 1100109 h 1100109"/>
              <a:gd name="connsiteX22" fmla="*/ 6753612 w 9004816"/>
              <a:gd name="connsiteY22" fmla="*/ 1100109 h 1100109"/>
              <a:gd name="connsiteX23" fmla="*/ 6280859 w 9004816"/>
              <a:gd name="connsiteY23" fmla="*/ 1100109 h 1100109"/>
              <a:gd name="connsiteX24" fmla="*/ 5808106 w 9004816"/>
              <a:gd name="connsiteY24" fmla="*/ 1100109 h 1100109"/>
              <a:gd name="connsiteX25" fmla="*/ 5155257 w 9004816"/>
              <a:gd name="connsiteY25" fmla="*/ 1100109 h 1100109"/>
              <a:gd name="connsiteX26" fmla="*/ 4592456 w 9004816"/>
              <a:gd name="connsiteY26" fmla="*/ 1100109 h 1100109"/>
              <a:gd name="connsiteX27" fmla="*/ 4299800 w 9004816"/>
              <a:gd name="connsiteY27" fmla="*/ 1100109 h 1100109"/>
              <a:gd name="connsiteX28" fmla="*/ 3827047 w 9004816"/>
              <a:gd name="connsiteY28" fmla="*/ 1100109 h 1100109"/>
              <a:gd name="connsiteX29" fmla="*/ 3174198 w 9004816"/>
              <a:gd name="connsiteY29" fmla="*/ 1100109 h 1100109"/>
              <a:gd name="connsiteX30" fmla="*/ 2791493 w 9004816"/>
              <a:gd name="connsiteY30" fmla="*/ 1100109 h 1100109"/>
              <a:gd name="connsiteX31" fmla="*/ 2048596 w 9004816"/>
              <a:gd name="connsiteY31" fmla="*/ 1100109 h 1100109"/>
              <a:gd name="connsiteX32" fmla="*/ 1305698 w 9004816"/>
              <a:gd name="connsiteY32" fmla="*/ 1100109 h 1100109"/>
              <a:gd name="connsiteX33" fmla="*/ 742897 w 9004816"/>
              <a:gd name="connsiteY33" fmla="*/ 1100109 h 1100109"/>
              <a:gd name="connsiteX34" fmla="*/ 0 w 9004816"/>
              <a:gd name="connsiteY34" fmla="*/ 1100109 h 1100109"/>
              <a:gd name="connsiteX35" fmla="*/ 0 w 9004816"/>
              <a:gd name="connsiteY35" fmla="*/ 550055 h 1100109"/>
              <a:gd name="connsiteX36" fmla="*/ 0 w 9004816"/>
              <a:gd name="connsiteY36" fmla="*/ 0 h 1100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004816" h="1100109" fill="none" extrusionOk="0">
                <a:moveTo>
                  <a:pt x="0" y="0"/>
                </a:moveTo>
                <a:cubicBezTo>
                  <a:pt x="92454" y="-11285"/>
                  <a:pt x="172188" y="32070"/>
                  <a:pt x="292657" y="0"/>
                </a:cubicBezTo>
                <a:cubicBezTo>
                  <a:pt x="413126" y="-32070"/>
                  <a:pt x="496599" y="14309"/>
                  <a:pt x="585313" y="0"/>
                </a:cubicBezTo>
                <a:cubicBezTo>
                  <a:pt x="674027" y="-14309"/>
                  <a:pt x="743050" y="32149"/>
                  <a:pt x="877970" y="0"/>
                </a:cubicBezTo>
                <a:cubicBezTo>
                  <a:pt x="1012890" y="-32149"/>
                  <a:pt x="1388834" y="72662"/>
                  <a:pt x="1620867" y="0"/>
                </a:cubicBezTo>
                <a:cubicBezTo>
                  <a:pt x="1852900" y="-72662"/>
                  <a:pt x="1979610" y="22043"/>
                  <a:pt x="2183668" y="0"/>
                </a:cubicBezTo>
                <a:cubicBezTo>
                  <a:pt x="2387726" y="-22043"/>
                  <a:pt x="2379814" y="25323"/>
                  <a:pt x="2476324" y="0"/>
                </a:cubicBezTo>
                <a:cubicBezTo>
                  <a:pt x="2572834" y="-25323"/>
                  <a:pt x="2905391" y="34532"/>
                  <a:pt x="3039125" y="0"/>
                </a:cubicBezTo>
                <a:cubicBezTo>
                  <a:pt x="3172859" y="-34532"/>
                  <a:pt x="3417816" y="43813"/>
                  <a:pt x="3782023" y="0"/>
                </a:cubicBezTo>
                <a:cubicBezTo>
                  <a:pt x="4146230" y="-43813"/>
                  <a:pt x="4141205" y="17166"/>
                  <a:pt x="4254776" y="0"/>
                </a:cubicBezTo>
                <a:cubicBezTo>
                  <a:pt x="4368347" y="-17166"/>
                  <a:pt x="4492344" y="14853"/>
                  <a:pt x="4727528" y="0"/>
                </a:cubicBezTo>
                <a:cubicBezTo>
                  <a:pt x="4962712" y="-14853"/>
                  <a:pt x="5061216" y="56081"/>
                  <a:pt x="5290329" y="0"/>
                </a:cubicBezTo>
                <a:cubicBezTo>
                  <a:pt x="5519442" y="-56081"/>
                  <a:pt x="5686783" y="61187"/>
                  <a:pt x="5943179" y="0"/>
                </a:cubicBezTo>
                <a:cubicBezTo>
                  <a:pt x="6199575" y="-61187"/>
                  <a:pt x="6427494" y="26992"/>
                  <a:pt x="6596028" y="0"/>
                </a:cubicBezTo>
                <a:cubicBezTo>
                  <a:pt x="6764562" y="-26992"/>
                  <a:pt x="7051387" y="71623"/>
                  <a:pt x="7248877" y="0"/>
                </a:cubicBezTo>
                <a:cubicBezTo>
                  <a:pt x="7446367" y="-71623"/>
                  <a:pt x="7679761" y="75275"/>
                  <a:pt x="7991774" y="0"/>
                </a:cubicBezTo>
                <a:cubicBezTo>
                  <a:pt x="8303787" y="-75275"/>
                  <a:pt x="8768754" y="47409"/>
                  <a:pt x="9004816" y="0"/>
                </a:cubicBezTo>
                <a:cubicBezTo>
                  <a:pt x="9057583" y="135183"/>
                  <a:pt x="8992018" y="315626"/>
                  <a:pt x="9004816" y="561056"/>
                </a:cubicBezTo>
                <a:cubicBezTo>
                  <a:pt x="9017614" y="806486"/>
                  <a:pt x="8999909" y="944912"/>
                  <a:pt x="9004816" y="1100109"/>
                </a:cubicBezTo>
                <a:cubicBezTo>
                  <a:pt x="8698310" y="1152312"/>
                  <a:pt x="8494691" y="1095157"/>
                  <a:pt x="8261919" y="1100109"/>
                </a:cubicBezTo>
                <a:cubicBezTo>
                  <a:pt x="8029147" y="1105061"/>
                  <a:pt x="7901677" y="1067040"/>
                  <a:pt x="7699118" y="1100109"/>
                </a:cubicBezTo>
                <a:cubicBezTo>
                  <a:pt x="7496559" y="1133178"/>
                  <a:pt x="7407590" y="1091799"/>
                  <a:pt x="7226365" y="1100109"/>
                </a:cubicBezTo>
                <a:cubicBezTo>
                  <a:pt x="7045140" y="1108419"/>
                  <a:pt x="6863036" y="1089587"/>
                  <a:pt x="6753612" y="1100109"/>
                </a:cubicBezTo>
                <a:cubicBezTo>
                  <a:pt x="6644188" y="1110631"/>
                  <a:pt x="6412638" y="1077562"/>
                  <a:pt x="6280859" y="1100109"/>
                </a:cubicBezTo>
                <a:cubicBezTo>
                  <a:pt x="6149080" y="1122656"/>
                  <a:pt x="5998183" y="1055661"/>
                  <a:pt x="5808106" y="1100109"/>
                </a:cubicBezTo>
                <a:cubicBezTo>
                  <a:pt x="5618029" y="1144557"/>
                  <a:pt x="5414495" y="1054752"/>
                  <a:pt x="5155257" y="1100109"/>
                </a:cubicBezTo>
                <a:cubicBezTo>
                  <a:pt x="4896019" y="1145466"/>
                  <a:pt x="4819007" y="1091523"/>
                  <a:pt x="4592456" y="1100109"/>
                </a:cubicBezTo>
                <a:cubicBezTo>
                  <a:pt x="4365905" y="1108695"/>
                  <a:pt x="4397201" y="1086852"/>
                  <a:pt x="4299800" y="1100109"/>
                </a:cubicBezTo>
                <a:cubicBezTo>
                  <a:pt x="4202399" y="1113366"/>
                  <a:pt x="4061980" y="1049120"/>
                  <a:pt x="3827047" y="1100109"/>
                </a:cubicBezTo>
                <a:cubicBezTo>
                  <a:pt x="3592114" y="1151098"/>
                  <a:pt x="3469850" y="1066989"/>
                  <a:pt x="3174198" y="1100109"/>
                </a:cubicBezTo>
                <a:cubicBezTo>
                  <a:pt x="2878546" y="1133229"/>
                  <a:pt x="2945077" y="1088910"/>
                  <a:pt x="2791493" y="1100109"/>
                </a:cubicBezTo>
                <a:cubicBezTo>
                  <a:pt x="2637909" y="1111308"/>
                  <a:pt x="2380728" y="1031271"/>
                  <a:pt x="2048596" y="1100109"/>
                </a:cubicBezTo>
                <a:cubicBezTo>
                  <a:pt x="1716464" y="1168947"/>
                  <a:pt x="1606891" y="1022567"/>
                  <a:pt x="1305698" y="1100109"/>
                </a:cubicBezTo>
                <a:cubicBezTo>
                  <a:pt x="1004505" y="1177651"/>
                  <a:pt x="896747" y="1053142"/>
                  <a:pt x="742897" y="1100109"/>
                </a:cubicBezTo>
                <a:cubicBezTo>
                  <a:pt x="589047" y="1147076"/>
                  <a:pt x="175563" y="1023194"/>
                  <a:pt x="0" y="1100109"/>
                </a:cubicBezTo>
                <a:cubicBezTo>
                  <a:pt x="-14840" y="915329"/>
                  <a:pt x="8099" y="821802"/>
                  <a:pt x="0" y="550055"/>
                </a:cubicBezTo>
                <a:cubicBezTo>
                  <a:pt x="-8099" y="278308"/>
                  <a:pt x="45993" y="204531"/>
                  <a:pt x="0" y="0"/>
                </a:cubicBezTo>
                <a:close/>
              </a:path>
              <a:path w="9004816" h="1100109" stroke="0" extrusionOk="0">
                <a:moveTo>
                  <a:pt x="0" y="0"/>
                </a:moveTo>
                <a:cubicBezTo>
                  <a:pt x="191956" y="-34568"/>
                  <a:pt x="337460" y="36014"/>
                  <a:pt x="472753" y="0"/>
                </a:cubicBezTo>
                <a:cubicBezTo>
                  <a:pt x="608046" y="-36014"/>
                  <a:pt x="638229" y="26088"/>
                  <a:pt x="765409" y="0"/>
                </a:cubicBezTo>
                <a:cubicBezTo>
                  <a:pt x="892589" y="-26088"/>
                  <a:pt x="1178351" y="35425"/>
                  <a:pt x="1508307" y="0"/>
                </a:cubicBezTo>
                <a:cubicBezTo>
                  <a:pt x="1838263" y="-35425"/>
                  <a:pt x="1855803" y="24505"/>
                  <a:pt x="1981060" y="0"/>
                </a:cubicBezTo>
                <a:cubicBezTo>
                  <a:pt x="2106317" y="-24505"/>
                  <a:pt x="2301609" y="7101"/>
                  <a:pt x="2453812" y="0"/>
                </a:cubicBezTo>
                <a:cubicBezTo>
                  <a:pt x="2606015" y="-7101"/>
                  <a:pt x="2925557" y="31900"/>
                  <a:pt x="3196710" y="0"/>
                </a:cubicBezTo>
                <a:cubicBezTo>
                  <a:pt x="3467863" y="-31900"/>
                  <a:pt x="3399951" y="32871"/>
                  <a:pt x="3579414" y="0"/>
                </a:cubicBezTo>
                <a:cubicBezTo>
                  <a:pt x="3758877" y="-32871"/>
                  <a:pt x="4083555" y="14467"/>
                  <a:pt x="4322312" y="0"/>
                </a:cubicBezTo>
                <a:cubicBezTo>
                  <a:pt x="4561069" y="-14467"/>
                  <a:pt x="4859975" y="39758"/>
                  <a:pt x="5065209" y="0"/>
                </a:cubicBezTo>
                <a:cubicBezTo>
                  <a:pt x="5270443" y="-39758"/>
                  <a:pt x="5396970" y="29691"/>
                  <a:pt x="5628010" y="0"/>
                </a:cubicBezTo>
                <a:cubicBezTo>
                  <a:pt x="5859050" y="-29691"/>
                  <a:pt x="6012229" y="83962"/>
                  <a:pt x="6370907" y="0"/>
                </a:cubicBezTo>
                <a:cubicBezTo>
                  <a:pt x="6729585" y="-83962"/>
                  <a:pt x="6645353" y="8097"/>
                  <a:pt x="6843660" y="0"/>
                </a:cubicBezTo>
                <a:cubicBezTo>
                  <a:pt x="7041967" y="-8097"/>
                  <a:pt x="7146922" y="33818"/>
                  <a:pt x="7316413" y="0"/>
                </a:cubicBezTo>
                <a:cubicBezTo>
                  <a:pt x="7485904" y="-33818"/>
                  <a:pt x="7688816" y="22333"/>
                  <a:pt x="7969262" y="0"/>
                </a:cubicBezTo>
                <a:cubicBezTo>
                  <a:pt x="8249708" y="-22333"/>
                  <a:pt x="8328020" y="44349"/>
                  <a:pt x="8442015" y="0"/>
                </a:cubicBezTo>
                <a:cubicBezTo>
                  <a:pt x="8556010" y="-44349"/>
                  <a:pt x="8727194" y="63528"/>
                  <a:pt x="9004816" y="0"/>
                </a:cubicBezTo>
                <a:cubicBezTo>
                  <a:pt x="9011904" y="247490"/>
                  <a:pt x="8966446" y="296434"/>
                  <a:pt x="9004816" y="572057"/>
                </a:cubicBezTo>
                <a:cubicBezTo>
                  <a:pt x="9043186" y="847680"/>
                  <a:pt x="8987645" y="915494"/>
                  <a:pt x="9004816" y="1100109"/>
                </a:cubicBezTo>
                <a:cubicBezTo>
                  <a:pt x="8858348" y="1116480"/>
                  <a:pt x="8521745" y="1089694"/>
                  <a:pt x="8351967" y="1100109"/>
                </a:cubicBezTo>
                <a:cubicBezTo>
                  <a:pt x="8182189" y="1110524"/>
                  <a:pt x="8133176" y="1098971"/>
                  <a:pt x="7969262" y="1100109"/>
                </a:cubicBezTo>
                <a:cubicBezTo>
                  <a:pt x="7805349" y="1101247"/>
                  <a:pt x="7586344" y="1017062"/>
                  <a:pt x="7226365" y="1100109"/>
                </a:cubicBezTo>
                <a:cubicBezTo>
                  <a:pt x="6866386" y="1183156"/>
                  <a:pt x="6899706" y="1058547"/>
                  <a:pt x="6663564" y="1100109"/>
                </a:cubicBezTo>
                <a:cubicBezTo>
                  <a:pt x="6427422" y="1141671"/>
                  <a:pt x="6396835" y="1082947"/>
                  <a:pt x="6280859" y="1100109"/>
                </a:cubicBezTo>
                <a:cubicBezTo>
                  <a:pt x="6164883" y="1117271"/>
                  <a:pt x="5946317" y="1065785"/>
                  <a:pt x="5718058" y="1100109"/>
                </a:cubicBezTo>
                <a:cubicBezTo>
                  <a:pt x="5489799" y="1134433"/>
                  <a:pt x="5514801" y="1087298"/>
                  <a:pt x="5425402" y="1100109"/>
                </a:cubicBezTo>
                <a:cubicBezTo>
                  <a:pt x="5336003" y="1112920"/>
                  <a:pt x="5227443" y="1074118"/>
                  <a:pt x="5132745" y="1100109"/>
                </a:cubicBezTo>
                <a:cubicBezTo>
                  <a:pt x="5038047" y="1126100"/>
                  <a:pt x="4715248" y="1055091"/>
                  <a:pt x="4569944" y="1100109"/>
                </a:cubicBezTo>
                <a:cubicBezTo>
                  <a:pt x="4424640" y="1145127"/>
                  <a:pt x="4356978" y="1081389"/>
                  <a:pt x="4187239" y="1100109"/>
                </a:cubicBezTo>
                <a:cubicBezTo>
                  <a:pt x="4017501" y="1118829"/>
                  <a:pt x="3804560" y="1092106"/>
                  <a:pt x="3534390" y="1100109"/>
                </a:cubicBezTo>
                <a:cubicBezTo>
                  <a:pt x="3264220" y="1108112"/>
                  <a:pt x="3233293" y="1070918"/>
                  <a:pt x="3151686" y="1100109"/>
                </a:cubicBezTo>
                <a:cubicBezTo>
                  <a:pt x="3070079" y="1129300"/>
                  <a:pt x="2692902" y="1083285"/>
                  <a:pt x="2498836" y="1100109"/>
                </a:cubicBezTo>
                <a:cubicBezTo>
                  <a:pt x="2304770" y="1116933"/>
                  <a:pt x="2266301" y="1098439"/>
                  <a:pt x="2206180" y="1100109"/>
                </a:cubicBezTo>
                <a:cubicBezTo>
                  <a:pt x="2146059" y="1101779"/>
                  <a:pt x="1740118" y="1083800"/>
                  <a:pt x="1553331" y="1100109"/>
                </a:cubicBezTo>
                <a:cubicBezTo>
                  <a:pt x="1366544" y="1116418"/>
                  <a:pt x="1302432" y="1056068"/>
                  <a:pt x="1170626" y="1100109"/>
                </a:cubicBezTo>
                <a:cubicBezTo>
                  <a:pt x="1038820" y="1144150"/>
                  <a:pt x="959885" y="1091322"/>
                  <a:pt x="877970" y="1100109"/>
                </a:cubicBezTo>
                <a:cubicBezTo>
                  <a:pt x="796055" y="1108896"/>
                  <a:pt x="616439" y="1095213"/>
                  <a:pt x="495265" y="1100109"/>
                </a:cubicBezTo>
                <a:cubicBezTo>
                  <a:pt x="374092" y="1105005"/>
                  <a:pt x="212805" y="1063449"/>
                  <a:pt x="0" y="1100109"/>
                </a:cubicBezTo>
                <a:cubicBezTo>
                  <a:pt x="-21529" y="929484"/>
                  <a:pt x="44129" y="728530"/>
                  <a:pt x="0" y="572057"/>
                </a:cubicBezTo>
                <a:cubicBezTo>
                  <a:pt x="-44129" y="415584"/>
                  <a:pt x="20498" y="260743"/>
                  <a:pt x="0" y="0"/>
                </a:cubicBezTo>
                <a:close/>
              </a:path>
            </a:pathLst>
          </a:custGeom>
          <a:ln>
            <a:solidFill>
              <a:srgbClr val="00B05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r>
              <a:rPr lang="es-CL" sz="2183" dirty="0">
                <a:latin typeface="Century Gothic" panose="020B0502020202020204" pitchFamily="34" charset="0"/>
              </a:rPr>
              <a:t>Se requiere contar la cantidad de adultos y niños para preparar el cotillón de los asistentes al evento (</a:t>
            </a:r>
            <a:r>
              <a:rPr lang="es-CL" sz="2183" dirty="0" err="1">
                <a:latin typeface="Century Gothic" panose="020B0502020202020204" pitchFamily="34" charset="0"/>
              </a:rPr>
              <a:t>contadorAdultos</a:t>
            </a:r>
            <a:r>
              <a:rPr lang="es-CL" sz="2183" dirty="0">
                <a:latin typeface="Century Gothic" panose="020B0502020202020204" pitchFamily="34" charset="0"/>
              </a:rPr>
              <a:t> y </a:t>
            </a:r>
            <a:r>
              <a:rPr lang="es-CL" sz="2183" dirty="0" err="1">
                <a:latin typeface="Century Gothic" panose="020B0502020202020204" pitchFamily="34" charset="0"/>
              </a:rPr>
              <a:t>contadorNinos</a:t>
            </a:r>
            <a:r>
              <a:rPr lang="es-CL" sz="2183" dirty="0">
                <a:latin typeface="Century Gothic" panose="020B0502020202020204" pitchFamily="34" charset="0"/>
              </a:rPr>
              <a:t>)</a:t>
            </a:r>
            <a:endParaRPr lang="es-ES_tradnl" sz="2183" dirty="0">
              <a:latin typeface="Century Gothic" panose="020B0502020202020204" pitchFamily="34" charset="0"/>
            </a:endParaRPr>
          </a:p>
        </p:txBody>
      </p:sp>
      <p:sp>
        <p:nvSpPr>
          <p:cNvPr id="12" name="Rectángulo 11">
            <a:extLst>
              <a:ext uri="{FF2B5EF4-FFF2-40B4-BE49-F238E27FC236}">
                <a16:creationId xmlns:a16="http://schemas.microsoft.com/office/drawing/2014/main" id="{486B74AD-5F98-AD63-2138-FE8C0E7A7F67}"/>
              </a:ext>
            </a:extLst>
          </p:cNvPr>
          <p:cNvSpPr/>
          <p:nvPr/>
        </p:nvSpPr>
        <p:spPr>
          <a:xfrm>
            <a:off x="415078" y="5653910"/>
            <a:ext cx="7933101" cy="428259"/>
          </a:xfrm>
          <a:custGeom>
            <a:avLst/>
            <a:gdLst>
              <a:gd name="connsiteX0" fmla="*/ 0 w 7933101"/>
              <a:gd name="connsiteY0" fmla="*/ 0 h 428259"/>
              <a:gd name="connsiteX1" fmla="*/ 645981 w 7933101"/>
              <a:gd name="connsiteY1" fmla="*/ 0 h 428259"/>
              <a:gd name="connsiteX2" fmla="*/ 1133300 w 7933101"/>
              <a:gd name="connsiteY2" fmla="*/ 0 h 428259"/>
              <a:gd name="connsiteX3" fmla="*/ 1699950 w 7933101"/>
              <a:gd name="connsiteY3" fmla="*/ 0 h 428259"/>
              <a:gd name="connsiteX4" fmla="*/ 2425262 w 7933101"/>
              <a:gd name="connsiteY4" fmla="*/ 0 h 428259"/>
              <a:gd name="connsiteX5" fmla="*/ 2833250 w 7933101"/>
              <a:gd name="connsiteY5" fmla="*/ 0 h 428259"/>
              <a:gd name="connsiteX6" fmla="*/ 3479231 w 7933101"/>
              <a:gd name="connsiteY6" fmla="*/ 0 h 428259"/>
              <a:gd name="connsiteX7" fmla="*/ 3887219 w 7933101"/>
              <a:gd name="connsiteY7" fmla="*/ 0 h 428259"/>
              <a:gd name="connsiteX8" fmla="*/ 4453870 w 7933101"/>
              <a:gd name="connsiteY8" fmla="*/ 0 h 428259"/>
              <a:gd name="connsiteX9" fmla="*/ 5099851 w 7933101"/>
              <a:gd name="connsiteY9" fmla="*/ 0 h 428259"/>
              <a:gd name="connsiteX10" fmla="*/ 5428508 w 7933101"/>
              <a:gd name="connsiteY10" fmla="*/ 0 h 428259"/>
              <a:gd name="connsiteX11" fmla="*/ 5757165 w 7933101"/>
              <a:gd name="connsiteY11" fmla="*/ 0 h 428259"/>
              <a:gd name="connsiteX12" fmla="*/ 6482477 w 7933101"/>
              <a:gd name="connsiteY12" fmla="*/ 0 h 428259"/>
              <a:gd name="connsiteX13" fmla="*/ 7049127 w 7933101"/>
              <a:gd name="connsiteY13" fmla="*/ 0 h 428259"/>
              <a:gd name="connsiteX14" fmla="*/ 7377784 w 7933101"/>
              <a:gd name="connsiteY14" fmla="*/ 0 h 428259"/>
              <a:gd name="connsiteX15" fmla="*/ 7933101 w 7933101"/>
              <a:gd name="connsiteY15" fmla="*/ 0 h 428259"/>
              <a:gd name="connsiteX16" fmla="*/ 7933101 w 7933101"/>
              <a:gd name="connsiteY16" fmla="*/ 428259 h 428259"/>
              <a:gd name="connsiteX17" fmla="*/ 7525113 w 7933101"/>
              <a:gd name="connsiteY17" fmla="*/ 428259 h 428259"/>
              <a:gd name="connsiteX18" fmla="*/ 6958463 w 7933101"/>
              <a:gd name="connsiteY18" fmla="*/ 428259 h 428259"/>
              <a:gd name="connsiteX19" fmla="*/ 6233151 w 7933101"/>
              <a:gd name="connsiteY19" fmla="*/ 428259 h 428259"/>
              <a:gd name="connsiteX20" fmla="*/ 5507839 w 7933101"/>
              <a:gd name="connsiteY20" fmla="*/ 428259 h 428259"/>
              <a:gd name="connsiteX21" fmla="*/ 4861858 w 7933101"/>
              <a:gd name="connsiteY21" fmla="*/ 428259 h 428259"/>
              <a:gd name="connsiteX22" fmla="*/ 4215877 w 7933101"/>
              <a:gd name="connsiteY22" fmla="*/ 428259 h 428259"/>
              <a:gd name="connsiteX23" fmla="*/ 3569895 w 7933101"/>
              <a:gd name="connsiteY23" fmla="*/ 428259 h 428259"/>
              <a:gd name="connsiteX24" fmla="*/ 3161907 w 7933101"/>
              <a:gd name="connsiteY24" fmla="*/ 428259 h 428259"/>
              <a:gd name="connsiteX25" fmla="*/ 2436595 w 7933101"/>
              <a:gd name="connsiteY25" fmla="*/ 428259 h 428259"/>
              <a:gd name="connsiteX26" fmla="*/ 1869945 w 7933101"/>
              <a:gd name="connsiteY26" fmla="*/ 428259 h 428259"/>
              <a:gd name="connsiteX27" fmla="*/ 1541288 w 7933101"/>
              <a:gd name="connsiteY27" fmla="*/ 428259 h 428259"/>
              <a:gd name="connsiteX28" fmla="*/ 974638 w 7933101"/>
              <a:gd name="connsiteY28" fmla="*/ 428259 h 428259"/>
              <a:gd name="connsiteX29" fmla="*/ 487319 w 7933101"/>
              <a:gd name="connsiteY29" fmla="*/ 428259 h 428259"/>
              <a:gd name="connsiteX30" fmla="*/ 0 w 7933101"/>
              <a:gd name="connsiteY30" fmla="*/ 428259 h 428259"/>
              <a:gd name="connsiteX31" fmla="*/ 0 w 7933101"/>
              <a:gd name="connsiteY31" fmla="*/ 0 h 42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33101" h="428259" fill="none" extrusionOk="0">
                <a:moveTo>
                  <a:pt x="0" y="0"/>
                </a:moveTo>
                <a:cubicBezTo>
                  <a:pt x="247467" y="-8876"/>
                  <a:pt x="350172" y="41218"/>
                  <a:pt x="645981" y="0"/>
                </a:cubicBezTo>
                <a:cubicBezTo>
                  <a:pt x="941790" y="-41218"/>
                  <a:pt x="903531" y="24740"/>
                  <a:pt x="1133300" y="0"/>
                </a:cubicBezTo>
                <a:cubicBezTo>
                  <a:pt x="1363069" y="-24740"/>
                  <a:pt x="1430902" y="9673"/>
                  <a:pt x="1699950" y="0"/>
                </a:cubicBezTo>
                <a:cubicBezTo>
                  <a:pt x="1968998" y="-9673"/>
                  <a:pt x="2257661" y="77877"/>
                  <a:pt x="2425262" y="0"/>
                </a:cubicBezTo>
                <a:cubicBezTo>
                  <a:pt x="2592863" y="-77877"/>
                  <a:pt x="2704483" y="12228"/>
                  <a:pt x="2833250" y="0"/>
                </a:cubicBezTo>
                <a:cubicBezTo>
                  <a:pt x="2962017" y="-12228"/>
                  <a:pt x="3342308" y="75951"/>
                  <a:pt x="3479231" y="0"/>
                </a:cubicBezTo>
                <a:cubicBezTo>
                  <a:pt x="3616154" y="-75951"/>
                  <a:pt x="3801552" y="39415"/>
                  <a:pt x="3887219" y="0"/>
                </a:cubicBezTo>
                <a:cubicBezTo>
                  <a:pt x="3972886" y="-39415"/>
                  <a:pt x="4191938" y="14414"/>
                  <a:pt x="4453870" y="0"/>
                </a:cubicBezTo>
                <a:cubicBezTo>
                  <a:pt x="4715802" y="-14414"/>
                  <a:pt x="4856227" y="22455"/>
                  <a:pt x="5099851" y="0"/>
                </a:cubicBezTo>
                <a:cubicBezTo>
                  <a:pt x="5343475" y="-22455"/>
                  <a:pt x="5361149" y="4564"/>
                  <a:pt x="5428508" y="0"/>
                </a:cubicBezTo>
                <a:cubicBezTo>
                  <a:pt x="5495867" y="-4564"/>
                  <a:pt x="5670456" y="2641"/>
                  <a:pt x="5757165" y="0"/>
                </a:cubicBezTo>
                <a:cubicBezTo>
                  <a:pt x="5843874" y="-2641"/>
                  <a:pt x="6321697" y="37791"/>
                  <a:pt x="6482477" y="0"/>
                </a:cubicBezTo>
                <a:cubicBezTo>
                  <a:pt x="6643257" y="-37791"/>
                  <a:pt x="6921059" y="19931"/>
                  <a:pt x="7049127" y="0"/>
                </a:cubicBezTo>
                <a:cubicBezTo>
                  <a:pt x="7177195" y="-19931"/>
                  <a:pt x="7246106" y="39425"/>
                  <a:pt x="7377784" y="0"/>
                </a:cubicBezTo>
                <a:cubicBezTo>
                  <a:pt x="7509462" y="-39425"/>
                  <a:pt x="7755012" y="42982"/>
                  <a:pt x="7933101" y="0"/>
                </a:cubicBezTo>
                <a:cubicBezTo>
                  <a:pt x="7950500" y="201388"/>
                  <a:pt x="7888270" y="284995"/>
                  <a:pt x="7933101" y="428259"/>
                </a:cubicBezTo>
                <a:cubicBezTo>
                  <a:pt x="7831561" y="445571"/>
                  <a:pt x="7637634" y="385606"/>
                  <a:pt x="7525113" y="428259"/>
                </a:cubicBezTo>
                <a:cubicBezTo>
                  <a:pt x="7412592" y="470912"/>
                  <a:pt x="7195684" y="410069"/>
                  <a:pt x="6958463" y="428259"/>
                </a:cubicBezTo>
                <a:cubicBezTo>
                  <a:pt x="6721242" y="446449"/>
                  <a:pt x="6424675" y="419368"/>
                  <a:pt x="6233151" y="428259"/>
                </a:cubicBezTo>
                <a:cubicBezTo>
                  <a:pt x="6041627" y="437150"/>
                  <a:pt x="5688222" y="408675"/>
                  <a:pt x="5507839" y="428259"/>
                </a:cubicBezTo>
                <a:cubicBezTo>
                  <a:pt x="5327456" y="447843"/>
                  <a:pt x="5029116" y="424493"/>
                  <a:pt x="4861858" y="428259"/>
                </a:cubicBezTo>
                <a:cubicBezTo>
                  <a:pt x="4694600" y="432025"/>
                  <a:pt x="4396907" y="372801"/>
                  <a:pt x="4215877" y="428259"/>
                </a:cubicBezTo>
                <a:cubicBezTo>
                  <a:pt x="4034847" y="483717"/>
                  <a:pt x="3804590" y="361892"/>
                  <a:pt x="3569895" y="428259"/>
                </a:cubicBezTo>
                <a:cubicBezTo>
                  <a:pt x="3335200" y="494626"/>
                  <a:pt x="3356627" y="404961"/>
                  <a:pt x="3161907" y="428259"/>
                </a:cubicBezTo>
                <a:cubicBezTo>
                  <a:pt x="2967187" y="451557"/>
                  <a:pt x="2617425" y="414172"/>
                  <a:pt x="2436595" y="428259"/>
                </a:cubicBezTo>
                <a:cubicBezTo>
                  <a:pt x="2255765" y="442346"/>
                  <a:pt x="2074999" y="382392"/>
                  <a:pt x="1869945" y="428259"/>
                </a:cubicBezTo>
                <a:cubicBezTo>
                  <a:pt x="1664891" y="474126"/>
                  <a:pt x="1637662" y="423237"/>
                  <a:pt x="1541288" y="428259"/>
                </a:cubicBezTo>
                <a:cubicBezTo>
                  <a:pt x="1444914" y="433281"/>
                  <a:pt x="1127846" y="397001"/>
                  <a:pt x="974638" y="428259"/>
                </a:cubicBezTo>
                <a:cubicBezTo>
                  <a:pt x="821430" y="459517"/>
                  <a:pt x="707314" y="409975"/>
                  <a:pt x="487319" y="428259"/>
                </a:cubicBezTo>
                <a:cubicBezTo>
                  <a:pt x="267324" y="446543"/>
                  <a:pt x="231509" y="426216"/>
                  <a:pt x="0" y="428259"/>
                </a:cubicBezTo>
                <a:cubicBezTo>
                  <a:pt x="-17028" y="277867"/>
                  <a:pt x="45179" y="99182"/>
                  <a:pt x="0" y="0"/>
                </a:cubicBezTo>
                <a:close/>
              </a:path>
              <a:path w="7933101" h="428259" stroke="0" extrusionOk="0">
                <a:moveTo>
                  <a:pt x="0" y="0"/>
                </a:moveTo>
                <a:cubicBezTo>
                  <a:pt x="203471" y="-46514"/>
                  <a:pt x="338399" y="30026"/>
                  <a:pt x="487319" y="0"/>
                </a:cubicBezTo>
                <a:cubicBezTo>
                  <a:pt x="636239" y="-30026"/>
                  <a:pt x="725070" y="14124"/>
                  <a:pt x="815976" y="0"/>
                </a:cubicBezTo>
                <a:cubicBezTo>
                  <a:pt x="906882" y="-14124"/>
                  <a:pt x="1333616" y="65074"/>
                  <a:pt x="1541288" y="0"/>
                </a:cubicBezTo>
                <a:cubicBezTo>
                  <a:pt x="1748960" y="-65074"/>
                  <a:pt x="1816354" y="46766"/>
                  <a:pt x="2028607" y="0"/>
                </a:cubicBezTo>
                <a:cubicBezTo>
                  <a:pt x="2240860" y="-46766"/>
                  <a:pt x="2319640" y="39822"/>
                  <a:pt x="2515926" y="0"/>
                </a:cubicBezTo>
                <a:cubicBezTo>
                  <a:pt x="2712212" y="-39822"/>
                  <a:pt x="3016831" y="50897"/>
                  <a:pt x="3241238" y="0"/>
                </a:cubicBezTo>
                <a:cubicBezTo>
                  <a:pt x="3465645" y="-50897"/>
                  <a:pt x="3479751" y="25653"/>
                  <a:pt x="3649226" y="0"/>
                </a:cubicBezTo>
                <a:cubicBezTo>
                  <a:pt x="3818701" y="-25653"/>
                  <a:pt x="4213879" y="26155"/>
                  <a:pt x="4374539" y="0"/>
                </a:cubicBezTo>
                <a:cubicBezTo>
                  <a:pt x="4535199" y="-26155"/>
                  <a:pt x="4923383" y="31068"/>
                  <a:pt x="5099851" y="0"/>
                </a:cubicBezTo>
                <a:cubicBezTo>
                  <a:pt x="5276319" y="-31068"/>
                  <a:pt x="5460456" y="61219"/>
                  <a:pt x="5666501" y="0"/>
                </a:cubicBezTo>
                <a:cubicBezTo>
                  <a:pt x="5872546" y="-61219"/>
                  <a:pt x="6127896" y="37941"/>
                  <a:pt x="6391813" y="0"/>
                </a:cubicBezTo>
                <a:cubicBezTo>
                  <a:pt x="6655730" y="-37941"/>
                  <a:pt x="6775980" y="8813"/>
                  <a:pt x="6879132" y="0"/>
                </a:cubicBezTo>
                <a:cubicBezTo>
                  <a:pt x="6982284" y="-8813"/>
                  <a:pt x="7123326" y="28948"/>
                  <a:pt x="7366451" y="0"/>
                </a:cubicBezTo>
                <a:cubicBezTo>
                  <a:pt x="7609576" y="-28948"/>
                  <a:pt x="7794609" y="8139"/>
                  <a:pt x="7933101" y="0"/>
                </a:cubicBezTo>
                <a:cubicBezTo>
                  <a:pt x="7935273" y="152171"/>
                  <a:pt x="7929196" y="302356"/>
                  <a:pt x="7933101" y="428259"/>
                </a:cubicBezTo>
                <a:cubicBezTo>
                  <a:pt x="7656796" y="436296"/>
                  <a:pt x="7542440" y="366894"/>
                  <a:pt x="7366451" y="428259"/>
                </a:cubicBezTo>
                <a:cubicBezTo>
                  <a:pt x="7190462" y="489624"/>
                  <a:pt x="6858790" y="417024"/>
                  <a:pt x="6641139" y="428259"/>
                </a:cubicBezTo>
                <a:cubicBezTo>
                  <a:pt x="6423488" y="439494"/>
                  <a:pt x="6337638" y="420579"/>
                  <a:pt x="6074489" y="428259"/>
                </a:cubicBezTo>
                <a:cubicBezTo>
                  <a:pt x="5811340" y="435939"/>
                  <a:pt x="5884680" y="426290"/>
                  <a:pt x="5745832" y="428259"/>
                </a:cubicBezTo>
                <a:cubicBezTo>
                  <a:pt x="5606984" y="430228"/>
                  <a:pt x="5429835" y="422180"/>
                  <a:pt x="5337844" y="428259"/>
                </a:cubicBezTo>
                <a:cubicBezTo>
                  <a:pt x="5245853" y="434338"/>
                  <a:pt x="4821527" y="410914"/>
                  <a:pt x="4612532" y="428259"/>
                </a:cubicBezTo>
                <a:cubicBezTo>
                  <a:pt x="4403537" y="445604"/>
                  <a:pt x="4194795" y="365800"/>
                  <a:pt x="4045882" y="428259"/>
                </a:cubicBezTo>
                <a:cubicBezTo>
                  <a:pt x="3896969" y="490718"/>
                  <a:pt x="3794215" y="389001"/>
                  <a:pt x="3637893" y="428259"/>
                </a:cubicBezTo>
                <a:cubicBezTo>
                  <a:pt x="3481571" y="467517"/>
                  <a:pt x="3211280" y="409387"/>
                  <a:pt x="3071243" y="428259"/>
                </a:cubicBezTo>
                <a:cubicBezTo>
                  <a:pt x="2931206" y="447131"/>
                  <a:pt x="2880978" y="422761"/>
                  <a:pt x="2742586" y="428259"/>
                </a:cubicBezTo>
                <a:cubicBezTo>
                  <a:pt x="2604194" y="433757"/>
                  <a:pt x="2568825" y="402531"/>
                  <a:pt x="2413929" y="428259"/>
                </a:cubicBezTo>
                <a:cubicBezTo>
                  <a:pt x="2259033" y="453987"/>
                  <a:pt x="2023053" y="380585"/>
                  <a:pt x="1847279" y="428259"/>
                </a:cubicBezTo>
                <a:cubicBezTo>
                  <a:pt x="1671505" y="475933"/>
                  <a:pt x="1580973" y="401635"/>
                  <a:pt x="1439291" y="428259"/>
                </a:cubicBezTo>
                <a:cubicBezTo>
                  <a:pt x="1297609" y="454883"/>
                  <a:pt x="1112674" y="383819"/>
                  <a:pt x="793310" y="428259"/>
                </a:cubicBezTo>
                <a:cubicBezTo>
                  <a:pt x="473946" y="472699"/>
                  <a:pt x="342875" y="409355"/>
                  <a:pt x="0" y="428259"/>
                </a:cubicBezTo>
                <a:cubicBezTo>
                  <a:pt x="-51154" y="259287"/>
                  <a:pt x="26411" y="204489"/>
                  <a:pt x="0" y="0"/>
                </a:cubicBezTo>
                <a:close/>
              </a:path>
            </a:pathLst>
          </a:custGeom>
          <a:ln w="22225">
            <a:solidFill>
              <a:schemeClr val="accent6">
                <a:lumMod val="75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algn="just"/>
            <a:r>
              <a:rPr lang="es-CL" sz="2183" dirty="0">
                <a:latin typeface="Century Gothic" panose="020B0502020202020204" pitchFamily="34" charset="0"/>
              </a:rPr>
              <a:t>Utilizaremos la clase Scanner para leer datos por teclado</a:t>
            </a:r>
            <a:endParaRPr lang="es-ES_tradnl" sz="2183" dirty="0">
              <a:latin typeface="Century Gothic" panose="020B0502020202020204" pitchFamily="34" charset="0"/>
            </a:endParaRPr>
          </a:p>
        </p:txBody>
      </p:sp>
    </p:spTree>
    <p:extLst>
      <p:ext uri="{BB962C8B-B14F-4D97-AF65-F5344CB8AC3E}">
        <p14:creationId xmlns:p14="http://schemas.microsoft.com/office/powerpoint/2010/main" val="198128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normAutofit fontScale="90000"/>
          </a:bodyPr>
          <a:lstStyle/>
          <a:p>
            <a:r>
              <a:rPr lang="es-CL" dirty="0"/>
              <a:t>Sentencias de iteración</a:t>
            </a:r>
          </a:p>
        </p:txBody>
      </p:sp>
      <p:sp>
        <p:nvSpPr>
          <p:cNvPr id="5" name="Marcador de texto 3">
            <a:extLst>
              <a:ext uri="{FF2B5EF4-FFF2-40B4-BE49-F238E27FC236}">
                <a16:creationId xmlns:a16="http://schemas.microsoft.com/office/drawing/2014/main" id="{96B2B5F8-1266-F9D8-8342-1A8CBAA081BD}"/>
              </a:ext>
            </a:extLst>
          </p:cNvPr>
          <p:cNvSpPr txBox="1">
            <a:spLocks/>
          </p:cNvSpPr>
          <p:nvPr/>
        </p:nvSpPr>
        <p:spPr>
          <a:xfrm>
            <a:off x="458655" y="1164820"/>
            <a:ext cx="11318268" cy="545251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701" lvl="1" algn="just">
              <a:buClr>
                <a:srgbClr val="0070C0"/>
              </a:buClr>
            </a:pPr>
            <a:r>
              <a:rPr lang="es-CL" sz="2183" b="1" dirty="0">
                <a:solidFill>
                  <a:srgbClr val="222222"/>
                </a:solidFill>
                <a:latin typeface="Arial" panose="020B0604020202020204" pitchFamily="34" charset="0"/>
                <a:cs typeface="Arial" panose="020B0604020202020204" pitchFamily="34" charset="0"/>
              </a:rPr>
              <a:t>	for</a:t>
            </a: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algn="just"/>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7701" lvl="1" algn="just">
              <a:buClr>
                <a:srgbClr val="0070C0"/>
              </a:buClr>
            </a:pPr>
            <a:endParaRPr lang="es-CL" sz="2183" dirty="0">
              <a:solidFill>
                <a:srgbClr val="222222"/>
              </a:solidFill>
              <a:latin typeface="Arial" panose="020B0604020202020204" pitchFamily="34" charset="0"/>
              <a:cs typeface="Arial" panose="020B0604020202020204" pitchFamily="34" charset="0"/>
            </a:endParaRPr>
          </a:p>
          <a:p>
            <a:pPr marL="207935" indent="-207935" algn="just">
              <a:buClr>
                <a:schemeClr val="dk1"/>
              </a:buClr>
              <a:buSzPts val="2400"/>
            </a:pPr>
            <a:endParaRPr lang="es-CL" sz="2668" dirty="0">
              <a:solidFill>
                <a:schemeClr val="dk1"/>
              </a:solidFill>
              <a:latin typeface="Calibri"/>
              <a:cs typeface="Calibri"/>
            </a:endParaRPr>
          </a:p>
          <a:p>
            <a:pPr lvl="4"/>
            <a:endParaRPr lang="es-ES_tradnl" sz="728" dirty="0">
              <a:latin typeface="Calibri" panose="020F0502020204030204" pitchFamily="34" charset="0"/>
              <a:cs typeface="Calibri" panose="020F0502020204030204" pitchFamily="34" charset="0"/>
            </a:endParaRPr>
          </a:p>
        </p:txBody>
      </p:sp>
      <p:pic>
        <p:nvPicPr>
          <p:cNvPr id="14" name="Gráfico 13" descr="Manos aplaudiendo">
            <a:extLst>
              <a:ext uri="{FF2B5EF4-FFF2-40B4-BE49-F238E27FC236}">
                <a16:creationId xmlns:a16="http://schemas.microsoft.com/office/drawing/2014/main" id="{FA50A988-A0A2-EE26-7418-2A9EF19580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11014" y="900125"/>
            <a:ext cx="967818" cy="967818"/>
          </a:xfrm>
          <a:prstGeom prst="rect">
            <a:avLst/>
          </a:prstGeom>
        </p:spPr>
      </p:pic>
      <p:sp>
        <p:nvSpPr>
          <p:cNvPr id="15" name="Rectángulo 14">
            <a:extLst>
              <a:ext uri="{FF2B5EF4-FFF2-40B4-BE49-F238E27FC236}">
                <a16:creationId xmlns:a16="http://schemas.microsoft.com/office/drawing/2014/main" id="{34AFD259-8F2C-8E00-0954-CB98549F7E05}"/>
              </a:ext>
            </a:extLst>
          </p:cNvPr>
          <p:cNvSpPr/>
          <p:nvPr/>
        </p:nvSpPr>
        <p:spPr>
          <a:xfrm>
            <a:off x="458655" y="1868328"/>
            <a:ext cx="2045296" cy="428259"/>
          </a:xfrm>
          <a:custGeom>
            <a:avLst/>
            <a:gdLst>
              <a:gd name="connsiteX0" fmla="*/ 0 w 2045296"/>
              <a:gd name="connsiteY0" fmla="*/ 0 h 428259"/>
              <a:gd name="connsiteX1" fmla="*/ 722671 w 2045296"/>
              <a:gd name="connsiteY1" fmla="*/ 0 h 428259"/>
              <a:gd name="connsiteX2" fmla="*/ 1424890 w 2045296"/>
              <a:gd name="connsiteY2" fmla="*/ 0 h 428259"/>
              <a:gd name="connsiteX3" fmla="*/ 2045296 w 2045296"/>
              <a:gd name="connsiteY3" fmla="*/ 0 h 428259"/>
              <a:gd name="connsiteX4" fmla="*/ 2045296 w 2045296"/>
              <a:gd name="connsiteY4" fmla="*/ 428259 h 428259"/>
              <a:gd name="connsiteX5" fmla="*/ 1404437 w 2045296"/>
              <a:gd name="connsiteY5" fmla="*/ 428259 h 428259"/>
              <a:gd name="connsiteX6" fmla="*/ 722671 w 2045296"/>
              <a:gd name="connsiteY6" fmla="*/ 428259 h 428259"/>
              <a:gd name="connsiteX7" fmla="*/ 0 w 2045296"/>
              <a:gd name="connsiteY7" fmla="*/ 428259 h 428259"/>
              <a:gd name="connsiteX8" fmla="*/ 0 w 2045296"/>
              <a:gd name="connsiteY8" fmla="*/ 0 h 42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45296" h="428259" fill="none" extrusionOk="0">
                <a:moveTo>
                  <a:pt x="0" y="0"/>
                </a:moveTo>
                <a:cubicBezTo>
                  <a:pt x="272291" y="15024"/>
                  <a:pt x="561383" y="16926"/>
                  <a:pt x="722671" y="0"/>
                </a:cubicBezTo>
                <a:cubicBezTo>
                  <a:pt x="883959" y="-16926"/>
                  <a:pt x="1074492" y="-9453"/>
                  <a:pt x="1424890" y="0"/>
                </a:cubicBezTo>
                <a:cubicBezTo>
                  <a:pt x="1775288" y="9453"/>
                  <a:pt x="1892845" y="21327"/>
                  <a:pt x="2045296" y="0"/>
                </a:cubicBezTo>
                <a:cubicBezTo>
                  <a:pt x="2066519" y="169904"/>
                  <a:pt x="2059622" y="283022"/>
                  <a:pt x="2045296" y="428259"/>
                </a:cubicBezTo>
                <a:cubicBezTo>
                  <a:pt x="1869157" y="404575"/>
                  <a:pt x="1642294" y="458279"/>
                  <a:pt x="1404437" y="428259"/>
                </a:cubicBezTo>
                <a:cubicBezTo>
                  <a:pt x="1166580" y="398239"/>
                  <a:pt x="876893" y="446132"/>
                  <a:pt x="722671" y="428259"/>
                </a:cubicBezTo>
                <a:cubicBezTo>
                  <a:pt x="568449" y="410386"/>
                  <a:pt x="282334" y="432079"/>
                  <a:pt x="0" y="428259"/>
                </a:cubicBezTo>
                <a:cubicBezTo>
                  <a:pt x="15624" y="258888"/>
                  <a:pt x="-8792" y="103709"/>
                  <a:pt x="0" y="0"/>
                </a:cubicBezTo>
                <a:close/>
              </a:path>
              <a:path w="2045296" h="428259" stroke="0" extrusionOk="0">
                <a:moveTo>
                  <a:pt x="0" y="0"/>
                </a:moveTo>
                <a:cubicBezTo>
                  <a:pt x="177268" y="10227"/>
                  <a:pt x="371916" y="-32461"/>
                  <a:pt x="661312" y="0"/>
                </a:cubicBezTo>
                <a:cubicBezTo>
                  <a:pt x="950708" y="32461"/>
                  <a:pt x="1076108" y="-14400"/>
                  <a:pt x="1281719" y="0"/>
                </a:cubicBezTo>
                <a:cubicBezTo>
                  <a:pt x="1487330" y="14400"/>
                  <a:pt x="1705771" y="-17458"/>
                  <a:pt x="2045296" y="0"/>
                </a:cubicBezTo>
                <a:cubicBezTo>
                  <a:pt x="2040545" y="147659"/>
                  <a:pt x="2044078" y="246220"/>
                  <a:pt x="2045296" y="428259"/>
                </a:cubicBezTo>
                <a:cubicBezTo>
                  <a:pt x="1748023" y="425980"/>
                  <a:pt x="1692900" y="435745"/>
                  <a:pt x="1404437" y="428259"/>
                </a:cubicBezTo>
                <a:cubicBezTo>
                  <a:pt x="1115974" y="420773"/>
                  <a:pt x="899338" y="418979"/>
                  <a:pt x="681765" y="428259"/>
                </a:cubicBezTo>
                <a:cubicBezTo>
                  <a:pt x="464192" y="437539"/>
                  <a:pt x="287203" y="429230"/>
                  <a:pt x="0" y="428259"/>
                </a:cubicBezTo>
                <a:cubicBezTo>
                  <a:pt x="-465" y="315904"/>
                  <a:pt x="-2161" y="165266"/>
                  <a:pt x="0" y="0"/>
                </a:cubicBezTo>
                <a:close/>
              </a:path>
            </a:pathLst>
          </a:custGeom>
          <a:ln w="31750" cmpd="tri">
            <a:solidFill>
              <a:srgbClr val="92D050"/>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pPr marL="7701" lvl="1" algn="ctr">
              <a:buClr>
                <a:srgbClr val="0070C0"/>
              </a:buClr>
            </a:pPr>
            <a:r>
              <a:rPr lang="es-CL" sz="2183" dirty="0">
                <a:solidFill>
                  <a:srgbClr val="222222"/>
                </a:solidFill>
                <a:latin typeface="Arial" panose="020B0604020202020204" pitchFamily="34" charset="0"/>
                <a:cs typeface="Arial" panose="020B0604020202020204" pitchFamily="34" charset="0"/>
              </a:rPr>
              <a:t>1 a valorTotal</a:t>
            </a:r>
          </a:p>
        </p:txBody>
      </p:sp>
      <p:sp>
        <p:nvSpPr>
          <p:cNvPr id="4" name="Rectángulo 3">
            <a:extLst>
              <a:ext uri="{FF2B5EF4-FFF2-40B4-BE49-F238E27FC236}">
                <a16:creationId xmlns:a16="http://schemas.microsoft.com/office/drawing/2014/main" id="{FE28B553-3E5F-F085-D23C-D18E591143BB}"/>
              </a:ext>
            </a:extLst>
          </p:cNvPr>
          <p:cNvSpPr/>
          <p:nvPr/>
        </p:nvSpPr>
        <p:spPr>
          <a:xfrm>
            <a:off x="415078" y="2667857"/>
            <a:ext cx="2045296" cy="764184"/>
          </a:xfrm>
          <a:custGeom>
            <a:avLst/>
            <a:gdLst>
              <a:gd name="connsiteX0" fmla="*/ 0 w 2045296"/>
              <a:gd name="connsiteY0" fmla="*/ 0 h 764184"/>
              <a:gd name="connsiteX1" fmla="*/ 661312 w 2045296"/>
              <a:gd name="connsiteY1" fmla="*/ 0 h 764184"/>
              <a:gd name="connsiteX2" fmla="*/ 1343078 w 2045296"/>
              <a:gd name="connsiteY2" fmla="*/ 0 h 764184"/>
              <a:gd name="connsiteX3" fmla="*/ 2045296 w 2045296"/>
              <a:gd name="connsiteY3" fmla="*/ 0 h 764184"/>
              <a:gd name="connsiteX4" fmla="*/ 2045296 w 2045296"/>
              <a:gd name="connsiteY4" fmla="*/ 382092 h 764184"/>
              <a:gd name="connsiteX5" fmla="*/ 2045296 w 2045296"/>
              <a:gd name="connsiteY5" fmla="*/ 764184 h 764184"/>
              <a:gd name="connsiteX6" fmla="*/ 1363531 w 2045296"/>
              <a:gd name="connsiteY6" fmla="*/ 764184 h 764184"/>
              <a:gd name="connsiteX7" fmla="*/ 722671 w 2045296"/>
              <a:gd name="connsiteY7" fmla="*/ 764184 h 764184"/>
              <a:gd name="connsiteX8" fmla="*/ 0 w 2045296"/>
              <a:gd name="connsiteY8" fmla="*/ 764184 h 764184"/>
              <a:gd name="connsiteX9" fmla="*/ 0 w 2045296"/>
              <a:gd name="connsiteY9" fmla="*/ 389734 h 764184"/>
              <a:gd name="connsiteX10" fmla="*/ 0 w 2045296"/>
              <a:gd name="connsiteY10" fmla="*/ 0 h 76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5296" h="764184" fill="none" extrusionOk="0">
                <a:moveTo>
                  <a:pt x="0" y="0"/>
                </a:moveTo>
                <a:cubicBezTo>
                  <a:pt x="316527" y="27623"/>
                  <a:pt x="427502" y="-25991"/>
                  <a:pt x="661312" y="0"/>
                </a:cubicBezTo>
                <a:cubicBezTo>
                  <a:pt x="895122" y="25991"/>
                  <a:pt x="1059983" y="-24538"/>
                  <a:pt x="1343078" y="0"/>
                </a:cubicBezTo>
                <a:cubicBezTo>
                  <a:pt x="1626173" y="24538"/>
                  <a:pt x="1724375" y="-10100"/>
                  <a:pt x="2045296" y="0"/>
                </a:cubicBezTo>
                <a:cubicBezTo>
                  <a:pt x="2063034" y="190061"/>
                  <a:pt x="2055446" y="280225"/>
                  <a:pt x="2045296" y="382092"/>
                </a:cubicBezTo>
                <a:cubicBezTo>
                  <a:pt x="2035146" y="483959"/>
                  <a:pt x="2053875" y="645882"/>
                  <a:pt x="2045296" y="764184"/>
                </a:cubicBezTo>
                <a:cubicBezTo>
                  <a:pt x="1842777" y="792997"/>
                  <a:pt x="1504368" y="734462"/>
                  <a:pt x="1363531" y="764184"/>
                </a:cubicBezTo>
                <a:cubicBezTo>
                  <a:pt x="1222695" y="793906"/>
                  <a:pt x="955982" y="733940"/>
                  <a:pt x="722671" y="764184"/>
                </a:cubicBezTo>
                <a:cubicBezTo>
                  <a:pt x="489360" y="794428"/>
                  <a:pt x="296913" y="779628"/>
                  <a:pt x="0" y="764184"/>
                </a:cubicBezTo>
                <a:cubicBezTo>
                  <a:pt x="-6346" y="675347"/>
                  <a:pt x="-5386" y="518532"/>
                  <a:pt x="0" y="389734"/>
                </a:cubicBezTo>
                <a:cubicBezTo>
                  <a:pt x="5386" y="260936"/>
                  <a:pt x="-7327" y="139358"/>
                  <a:pt x="0" y="0"/>
                </a:cubicBezTo>
                <a:close/>
              </a:path>
              <a:path w="2045296" h="764184" stroke="0" extrusionOk="0">
                <a:moveTo>
                  <a:pt x="0" y="0"/>
                </a:moveTo>
                <a:cubicBezTo>
                  <a:pt x="177268" y="10227"/>
                  <a:pt x="371916" y="-32461"/>
                  <a:pt x="661312" y="0"/>
                </a:cubicBezTo>
                <a:cubicBezTo>
                  <a:pt x="950708" y="32461"/>
                  <a:pt x="1076108" y="-14400"/>
                  <a:pt x="1281719" y="0"/>
                </a:cubicBezTo>
                <a:cubicBezTo>
                  <a:pt x="1487330" y="14400"/>
                  <a:pt x="1705771" y="-17458"/>
                  <a:pt x="2045296" y="0"/>
                </a:cubicBezTo>
                <a:cubicBezTo>
                  <a:pt x="2046031" y="103811"/>
                  <a:pt x="2036319" y="251529"/>
                  <a:pt x="2045296" y="374450"/>
                </a:cubicBezTo>
                <a:cubicBezTo>
                  <a:pt x="2054274" y="497371"/>
                  <a:pt x="2053998" y="585849"/>
                  <a:pt x="2045296" y="764184"/>
                </a:cubicBezTo>
                <a:cubicBezTo>
                  <a:pt x="1906060" y="756014"/>
                  <a:pt x="1706616" y="756765"/>
                  <a:pt x="1404437" y="764184"/>
                </a:cubicBezTo>
                <a:cubicBezTo>
                  <a:pt x="1102258" y="771603"/>
                  <a:pt x="911763" y="769984"/>
                  <a:pt x="763577" y="764184"/>
                </a:cubicBezTo>
                <a:cubicBezTo>
                  <a:pt x="615391" y="758384"/>
                  <a:pt x="355891" y="753455"/>
                  <a:pt x="0" y="764184"/>
                </a:cubicBezTo>
                <a:cubicBezTo>
                  <a:pt x="3404" y="645472"/>
                  <a:pt x="-17515" y="564867"/>
                  <a:pt x="0" y="405018"/>
                </a:cubicBezTo>
                <a:cubicBezTo>
                  <a:pt x="17515" y="245169"/>
                  <a:pt x="-2848" y="195535"/>
                  <a:pt x="0" y="0"/>
                </a:cubicBezTo>
                <a:close/>
              </a:path>
            </a:pathLst>
          </a:custGeom>
          <a:ln w="31750" cmpd="tri">
            <a:solidFill>
              <a:srgbClr val="92D050"/>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a:spAutoFit/>
          </a:bodyPr>
          <a:lstStyle/>
          <a:p>
            <a:pPr marL="7701" lvl="1">
              <a:buClr>
                <a:srgbClr val="0070C0"/>
              </a:buClr>
            </a:pPr>
            <a:r>
              <a:rPr lang="es-CL" sz="2183" dirty="0">
                <a:solidFill>
                  <a:srgbClr val="222222"/>
                </a:solidFill>
                <a:latin typeface="Arial" panose="020B0604020202020204" pitchFamily="34" charset="0"/>
                <a:cs typeface="Arial" panose="020B0604020202020204" pitchFamily="34" charset="0"/>
              </a:rPr>
              <a:t>ValorTotal es conocido</a:t>
            </a:r>
          </a:p>
        </p:txBody>
      </p:sp>
      <p:pic>
        <p:nvPicPr>
          <p:cNvPr id="6" name="Imagen 5">
            <a:extLst>
              <a:ext uri="{FF2B5EF4-FFF2-40B4-BE49-F238E27FC236}">
                <a16:creationId xmlns:a16="http://schemas.microsoft.com/office/drawing/2014/main" id="{63EAD726-BA61-EA79-B025-9ABE35D0E44F}"/>
              </a:ext>
            </a:extLst>
          </p:cNvPr>
          <p:cNvPicPr>
            <a:picLocks noChangeAspect="1"/>
          </p:cNvPicPr>
          <p:nvPr/>
        </p:nvPicPr>
        <p:blipFill>
          <a:blip r:embed="rId4"/>
          <a:stretch>
            <a:fillRect/>
          </a:stretch>
        </p:blipFill>
        <p:spPr>
          <a:xfrm>
            <a:off x="3631610" y="2198629"/>
            <a:ext cx="6207218" cy="4470942"/>
          </a:xfrm>
          <a:prstGeom prst="rect">
            <a:avLst/>
          </a:prstGeom>
        </p:spPr>
      </p:pic>
      <p:sp>
        <p:nvSpPr>
          <p:cNvPr id="7" name="Rectángulo 6">
            <a:extLst>
              <a:ext uri="{FF2B5EF4-FFF2-40B4-BE49-F238E27FC236}">
                <a16:creationId xmlns:a16="http://schemas.microsoft.com/office/drawing/2014/main" id="{99963CD4-606F-3CF7-539C-8512C680EE5D}"/>
              </a:ext>
            </a:extLst>
          </p:cNvPr>
          <p:cNvSpPr/>
          <p:nvPr/>
        </p:nvSpPr>
        <p:spPr>
          <a:xfrm>
            <a:off x="3758941" y="859568"/>
            <a:ext cx="7142665" cy="1436034"/>
          </a:xfrm>
          <a:custGeom>
            <a:avLst/>
            <a:gdLst>
              <a:gd name="connsiteX0" fmla="*/ 0 w 7142665"/>
              <a:gd name="connsiteY0" fmla="*/ 0 h 1436034"/>
              <a:gd name="connsiteX1" fmla="*/ 380942 w 7142665"/>
              <a:gd name="connsiteY1" fmla="*/ 0 h 1436034"/>
              <a:gd name="connsiteX2" fmla="*/ 1047591 w 7142665"/>
              <a:gd name="connsiteY2" fmla="*/ 0 h 1436034"/>
              <a:gd name="connsiteX3" fmla="*/ 1571386 w 7142665"/>
              <a:gd name="connsiteY3" fmla="*/ 0 h 1436034"/>
              <a:gd name="connsiteX4" fmla="*/ 2166608 w 7142665"/>
              <a:gd name="connsiteY4" fmla="*/ 0 h 1436034"/>
              <a:gd name="connsiteX5" fmla="*/ 2904684 w 7142665"/>
              <a:gd name="connsiteY5" fmla="*/ 0 h 1436034"/>
              <a:gd name="connsiteX6" fmla="*/ 3357053 w 7142665"/>
              <a:gd name="connsiteY6" fmla="*/ 0 h 1436034"/>
              <a:gd name="connsiteX7" fmla="*/ 4023701 w 7142665"/>
              <a:gd name="connsiteY7" fmla="*/ 0 h 1436034"/>
              <a:gd name="connsiteX8" fmla="*/ 4476070 w 7142665"/>
              <a:gd name="connsiteY8" fmla="*/ 0 h 1436034"/>
              <a:gd name="connsiteX9" fmla="*/ 5071292 w 7142665"/>
              <a:gd name="connsiteY9" fmla="*/ 0 h 1436034"/>
              <a:gd name="connsiteX10" fmla="*/ 5737941 w 7142665"/>
              <a:gd name="connsiteY10" fmla="*/ 0 h 1436034"/>
              <a:gd name="connsiteX11" fmla="*/ 6118883 w 7142665"/>
              <a:gd name="connsiteY11" fmla="*/ 0 h 1436034"/>
              <a:gd name="connsiteX12" fmla="*/ 6499825 w 7142665"/>
              <a:gd name="connsiteY12" fmla="*/ 0 h 1436034"/>
              <a:gd name="connsiteX13" fmla="*/ 7142665 w 7142665"/>
              <a:gd name="connsiteY13" fmla="*/ 0 h 1436034"/>
              <a:gd name="connsiteX14" fmla="*/ 7142665 w 7142665"/>
              <a:gd name="connsiteY14" fmla="*/ 478678 h 1436034"/>
              <a:gd name="connsiteX15" fmla="*/ 7142665 w 7142665"/>
              <a:gd name="connsiteY15" fmla="*/ 971716 h 1436034"/>
              <a:gd name="connsiteX16" fmla="*/ 7142665 w 7142665"/>
              <a:gd name="connsiteY16" fmla="*/ 1436034 h 1436034"/>
              <a:gd name="connsiteX17" fmla="*/ 6476016 w 7142665"/>
              <a:gd name="connsiteY17" fmla="*/ 1436034 h 1436034"/>
              <a:gd name="connsiteX18" fmla="*/ 5809368 w 7142665"/>
              <a:gd name="connsiteY18" fmla="*/ 1436034 h 1436034"/>
              <a:gd name="connsiteX19" fmla="*/ 5214145 w 7142665"/>
              <a:gd name="connsiteY19" fmla="*/ 1436034 h 1436034"/>
              <a:gd name="connsiteX20" fmla="*/ 4476070 w 7142665"/>
              <a:gd name="connsiteY20" fmla="*/ 1436034 h 1436034"/>
              <a:gd name="connsiteX21" fmla="*/ 3737995 w 7142665"/>
              <a:gd name="connsiteY21" fmla="*/ 1436034 h 1436034"/>
              <a:gd name="connsiteX22" fmla="*/ 3071346 w 7142665"/>
              <a:gd name="connsiteY22" fmla="*/ 1436034 h 1436034"/>
              <a:gd name="connsiteX23" fmla="*/ 2404697 w 7142665"/>
              <a:gd name="connsiteY23" fmla="*/ 1436034 h 1436034"/>
              <a:gd name="connsiteX24" fmla="*/ 1738048 w 7142665"/>
              <a:gd name="connsiteY24" fmla="*/ 1436034 h 1436034"/>
              <a:gd name="connsiteX25" fmla="*/ 1285680 w 7142665"/>
              <a:gd name="connsiteY25" fmla="*/ 1436034 h 1436034"/>
              <a:gd name="connsiteX26" fmla="*/ 547604 w 7142665"/>
              <a:gd name="connsiteY26" fmla="*/ 1436034 h 1436034"/>
              <a:gd name="connsiteX27" fmla="*/ 0 w 7142665"/>
              <a:gd name="connsiteY27" fmla="*/ 1436034 h 1436034"/>
              <a:gd name="connsiteX28" fmla="*/ 0 w 7142665"/>
              <a:gd name="connsiteY28" fmla="*/ 1000437 h 1436034"/>
              <a:gd name="connsiteX29" fmla="*/ 0 w 7142665"/>
              <a:gd name="connsiteY29" fmla="*/ 507399 h 1436034"/>
              <a:gd name="connsiteX30" fmla="*/ 0 w 7142665"/>
              <a:gd name="connsiteY30" fmla="*/ 0 h 143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142665" h="1436034" fill="none" extrusionOk="0">
                <a:moveTo>
                  <a:pt x="0" y="0"/>
                </a:moveTo>
                <a:cubicBezTo>
                  <a:pt x="110737" y="-33213"/>
                  <a:pt x="263932" y="43780"/>
                  <a:pt x="380942" y="0"/>
                </a:cubicBezTo>
                <a:cubicBezTo>
                  <a:pt x="497952" y="-43780"/>
                  <a:pt x="865380" y="62791"/>
                  <a:pt x="1047591" y="0"/>
                </a:cubicBezTo>
                <a:cubicBezTo>
                  <a:pt x="1229802" y="-62791"/>
                  <a:pt x="1405141" y="9320"/>
                  <a:pt x="1571386" y="0"/>
                </a:cubicBezTo>
                <a:cubicBezTo>
                  <a:pt x="1737631" y="-9320"/>
                  <a:pt x="1913610" y="14879"/>
                  <a:pt x="2166608" y="0"/>
                </a:cubicBezTo>
                <a:cubicBezTo>
                  <a:pt x="2419606" y="-14879"/>
                  <a:pt x="2650640" y="45154"/>
                  <a:pt x="2904684" y="0"/>
                </a:cubicBezTo>
                <a:cubicBezTo>
                  <a:pt x="3158728" y="-45154"/>
                  <a:pt x="3184990" y="1213"/>
                  <a:pt x="3357053" y="0"/>
                </a:cubicBezTo>
                <a:cubicBezTo>
                  <a:pt x="3529116" y="-1213"/>
                  <a:pt x="3834340" y="17779"/>
                  <a:pt x="4023701" y="0"/>
                </a:cubicBezTo>
                <a:cubicBezTo>
                  <a:pt x="4213062" y="-17779"/>
                  <a:pt x="4268708" y="20006"/>
                  <a:pt x="4476070" y="0"/>
                </a:cubicBezTo>
                <a:cubicBezTo>
                  <a:pt x="4683432" y="-20006"/>
                  <a:pt x="4789564" y="31194"/>
                  <a:pt x="5071292" y="0"/>
                </a:cubicBezTo>
                <a:cubicBezTo>
                  <a:pt x="5353020" y="-31194"/>
                  <a:pt x="5413052" y="18741"/>
                  <a:pt x="5737941" y="0"/>
                </a:cubicBezTo>
                <a:cubicBezTo>
                  <a:pt x="6062830" y="-18741"/>
                  <a:pt x="6022498" y="44887"/>
                  <a:pt x="6118883" y="0"/>
                </a:cubicBezTo>
                <a:cubicBezTo>
                  <a:pt x="6215268" y="-44887"/>
                  <a:pt x="6381469" y="27516"/>
                  <a:pt x="6499825" y="0"/>
                </a:cubicBezTo>
                <a:cubicBezTo>
                  <a:pt x="6618181" y="-27516"/>
                  <a:pt x="6940533" y="19563"/>
                  <a:pt x="7142665" y="0"/>
                </a:cubicBezTo>
                <a:cubicBezTo>
                  <a:pt x="7198143" y="225077"/>
                  <a:pt x="7125536" y="301969"/>
                  <a:pt x="7142665" y="478678"/>
                </a:cubicBezTo>
                <a:cubicBezTo>
                  <a:pt x="7159794" y="655387"/>
                  <a:pt x="7114233" y="830921"/>
                  <a:pt x="7142665" y="971716"/>
                </a:cubicBezTo>
                <a:cubicBezTo>
                  <a:pt x="7171097" y="1112511"/>
                  <a:pt x="7139907" y="1270352"/>
                  <a:pt x="7142665" y="1436034"/>
                </a:cubicBezTo>
                <a:cubicBezTo>
                  <a:pt x="6889562" y="1438481"/>
                  <a:pt x="6643303" y="1369791"/>
                  <a:pt x="6476016" y="1436034"/>
                </a:cubicBezTo>
                <a:cubicBezTo>
                  <a:pt x="6308729" y="1502277"/>
                  <a:pt x="6082132" y="1419067"/>
                  <a:pt x="5809368" y="1436034"/>
                </a:cubicBezTo>
                <a:cubicBezTo>
                  <a:pt x="5536604" y="1453001"/>
                  <a:pt x="5444743" y="1411954"/>
                  <a:pt x="5214145" y="1436034"/>
                </a:cubicBezTo>
                <a:cubicBezTo>
                  <a:pt x="4983547" y="1460114"/>
                  <a:pt x="4818917" y="1368233"/>
                  <a:pt x="4476070" y="1436034"/>
                </a:cubicBezTo>
                <a:cubicBezTo>
                  <a:pt x="4133224" y="1503835"/>
                  <a:pt x="4071173" y="1378829"/>
                  <a:pt x="3737995" y="1436034"/>
                </a:cubicBezTo>
                <a:cubicBezTo>
                  <a:pt x="3404818" y="1493239"/>
                  <a:pt x="3382249" y="1377535"/>
                  <a:pt x="3071346" y="1436034"/>
                </a:cubicBezTo>
                <a:cubicBezTo>
                  <a:pt x="2760443" y="1494533"/>
                  <a:pt x="2587097" y="1373590"/>
                  <a:pt x="2404697" y="1436034"/>
                </a:cubicBezTo>
                <a:cubicBezTo>
                  <a:pt x="2222297" y="1498478"/>
                  <a:pt x="1959379" y="1369274"/>
                  <a:pt x="1738048" y="1436034"/>
                </a:cubicBezTo>
                <a:cubicBezTo>
                  <a:pt x="1516717" y="1502794"/>
                  <a:pt x="1480403" y="1388530"/>
                  <a:pt x="1285680" y="1436034"/>
                </a:cubicBezTo>
                <a:cubicBezTo>
                  <a:pt x="1090957" y="1483538"/>
                  <a:pt x="849062" y="1349710"/>
                  <a:pt x="547604" y="1436034"/>
                </a:cubicBezTo>
                <a:cubicBezTo>
                  <a:pt x="246146" y="1522358"/>
                  <a:pt x="273791" y="1424916"/>
                  <a:pt x="0" y="1436034"/>
                </a:cubicBezTo>
                <a:cubicBezTo>
                  <a:pt x="-26192" y="1296529"/>
                  <a:pt x="28701" y="1183258"/>
                  <a:pt x="0" y="1000437"/>
                </a:cubicBezTo>
                <a:cubicBezTo>
                  <a:pt x="-28701" y="817616"/>
                  <a:pt x="18177" y="700746"/>
                  <a:pt x="0" y="507399"/>
                </a:cubicBezTo>
                <a:cubicBezTo>
                  <a:pt x="-18177" y="314052"/>
                  <a:pt x="38920" y="193293"/>
                  <a:pt x="0" y="0"/>
                </a:cubicBezTo>
                <a:close/>
              </a:path>
              <a:path w="7142665" h="1436034" stroke="0" extrusionOk="0">
                <a:moveTo>
                  <a:pt x="0" y="0"/>
                </a:moveTo>
                <a:cubicBezTo>
                  <a:pt x="165774" y="-55520"/>
                  <a:pt x="385339" y="44596"/>
                  <a:pt x="523795" y="0"/>
                </a:cubicBezTo>
                <a:cubicBezTo>
                  <a:pt x="662252" y="-44596"/>
                  <a:pt x="714338" y="33755"/>
                  <a:pt x="904738" y="0"/>
                </a:cubicBezTo>
                <a:cubicBezTo>
                  <a:pt x="1095138" y="-33755"/>
                  <a:pt x="1288520" y="22082"/>
                  <a:pt x="1642813" y="0"/>
                </a:cubicBezTo>
                <a:cubicBezTo>
                  <a:pt x="1997106" y="-22082"/>
                  <a:pt x="1961240" y="4395"/>
                  <a:pt x="2166608" y="0"/>
                </a:cubicBezTo>
                <a:cubicBezTo>
                  <a:pt x="2371977" y="-4395"/>
                  <a:pt x="2554466" y="39703"/>
                  <a:pt x="2690404" y="0"/>
                </a:cubicBezTo>
                <a:cubicBezTo>
                  <a:pt x="2826342" y="-39703"/>
                  <a:pt x="3175358" y="84034"/>
                  <a:pt x="3428479" y="0"/>
                </a:cubicBezTo>
                <a:cubicBezTo>
                  <a:pt x="3681601" y="-84034"/>
                  <a:pt x="3713017" y="45684"/>
                  <a:pt x="3880848" y="0"/>
                </a:cubicBezTo>
                <a:cubicBezTo>
                  <a:pt x="4048679" y="-45684"/>
                  <a:pt x="4404655" y="79251"/>
                  <a:pt x="4618923" y="0"/>
                </a:cubicBezTo>
                <a:cubicBezTo>
                  <a:pt x="4833192" y="-79251"/>
                  <a:pt x="5054710" y="68243"/>
                  <a:pt x="5356999" y="0"/>
                </a:cubicBezTo>
                <a:cubicBezTo>
                  <a:pt x="5659288" y="-68243"/>
                  <a:pt x="5769509" y="48022"/>
                  <a:pt x="5952221" y="0"/>
                </a:cubicBezTo>
                <a:cubicBezTo>
                  <a:pt x="6134933" y="-48022"/>
                  <a:pt x="6763214" y="106716"/>
                  <a:pt x="7142665" y="0"/>
                </a:cubicBezTo>
                <a:cubicBezTo>
                  <a:pt x="7162336" y="230129"/>
                  <a:pt x="7116896" y="361293"/>
                  <a:pt x="7142665" y="464318"/>
                </a:cubicBezTo>
                <a:cubicBezTo>
                  <a:pt x="7168434" y="567343"/>
                  <a:pt x="7120092" y="748128"/>
                  <a:pt x="7142665" y="899915"/>
                </a:cubicBezTo>
                <a:cubicBezTo>
                  <a:pt x="7165238" y="1051702"/>
                  <a:pt x="7142091" y="1277736"/>
                  <a:pt x="7142665" y="1436034"/>
                </a:cubicBezTo>
                <a:cubicBezTo>
                  <a:pt x="6869929" y="1473287"/>
                  <a:pt x="6734099" y="1387367"/>
                  <a:pt x="6547443" y="1436034"/>
                </a:cubicBezTo>
                <a:cubicBezTo>
                  <a:pt x="6360787" y="1484701"/>
                  <a:pt x="6170237" y="1418763"/>
                  <a:pt x="5952221" y="1436034"/>
                </a:cubicBezTo>
                <a:cubicBezTo>
                  <a:pt x="5734205" y="1453305"/>
                  <a:pt x="5569395" y="1423993"/>
                  <a:pt x="5214145" y="1436034"/>
                </a:cubicBezTo>
                <a:cubicBezTo>
                  <a:pt x="4858895" y="1448075"/>
                  <a:pt x="4781861" y="1405230"/>
                  <a:pt x="4618923" y="1436034"/>
                </a:cubicBezTo>
                <a:cubicBezTo>
                  <a:pt x="4455985" y="1466838"/>
                  <a:pt x="4404080" y="1412821"/>
                  <a:pt x="4237981" y="1436034"/>
                </a:cubicBezTo>
                <a:cubicBezTo>
                  <a:pt x="4071882" y="1459247"/>
                  <a:pt x="3969430" y="1401391"/>
                  <a:pt x="3785612" y="1436034"/>
                </a:cubicBezTo>
                <a:cubicBezTo>
                  <a:pt x="3601794" y="1470677"/>
                  <a:pt x="3255484" y="1387423"/>
                  <a:pt x="3047537" y="1436034"/>
                </a:cubicBezTo>
                <a:cubicBezTo>
                  <a:pt x="2839590" y="1484645"/>
                  <a:pt x="2701718" y="1417986"/>
                  <a:pt x="2452315" y="1436034"/>
                </a:cubicBezTo>
                <a:cubicBezTo>
                  <a:pt x="2202912" y="1454082"/>
                  <a:pt x="2190498" y="1415637"/>
                  <a:pt x="1999946" y="1436034"/>
                </a:cubicBezTo>
                <a:cubicBezTo>
                  <a:pt x="1809394" y="1456431"/>
                  <a:pt x="1533539" y="1390549"/>
                  <a:pt x="1404724" y="1436034"/>
                </a:cubicBezTo>
                <a:cubicBezTo>
                  <a:pt x="1275909" y="1481519"/>
                  <a:pt x="1123882" y="1396679"/>
                  <a:pt x="1023782" y="1436034"/>
                </a:cubicBezTo>
                <a:cubicBezTo>
                  <a:pt x="923682" y="1475389"/>
                  <a:pt x="754673" y="1416410"/>
                  <a:pt x="642840" y="1436034"/>
                </a:cubicBezTo>
                <a:cubicBezTo>
                  <a:pt x="531007" y="1455658"/>
                  <a:pt x="174588" y="1423202"/>
                  <a:pt x="0" y="1436034"/>
                </a:cubicBezTo>
                <a:cubicBezTo>
                  <a:pt x="-46023" y="1240339"/>
                  <a:pt x="4543" y="1094949"/>
                  <a:pt x="0" y="986077"/>
                </a:cubicBezTo>
                <a:cubicBezTo>
                  <a:pt x="-4543" y="877205"/>
                  <a:pt x="38784" y="693056"/>
                  <a:pt x="0" y="478678"/>
                </a:cubicBezTo>
                <a:cubicBezTo>
                  <a:pt x="-38784" y="264300"/>
                  <a:pt x="21799" y="107072"/>
                  <a:pt x="0" y="0"/>
                </a:cubicBezTo>
                <a:close/>
              </a:path>
            </a:pathLst>
          </a:custGeom>
          <a:ln>
            <a:solidFill>
              <a:schemeClr val="accent2">
                <a:shade val="95000"/>
                <a:satMod val="105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lvl="3" algn="just" eaLnBrk="1" hangingPunct="1">
              <a:buFontTx/>
              <a:buNone/>
            </a:pPr>
            <a:r>
              <a:rPr lang="es-ES" sz="2183" dirty="0">
                <a:latin typeface="Arial" panose="020B0604020202020204" pitchFamily="34" charset="0"/>
                <a:cs typeface="Arial" panose="020B0604020202020204" pitchFamily="34" charset="0"/>
              </a:rPr>
              <a:t>for (inicialización; condición de repetición; incremento){</a:t>
            </a:r>
          </a:p>
          <a:p>
            <a:pPr lvl="3" algn="just" eaLnBrk="1" hangingPunct="1">
              <a:buFontTx/>
              <a:buNone/>
            </a:pPr>
            <a:r>
              <a:rPr lang="es-ES" sz="2183" dirty="0">
                <a:latin typeface="Arial" panose="020B0604020202020204" pitchFamily="34" charset="0"/>
                <a:cs typeface="Arial" panose="020B0604020202020204" pitchFamily="34" charset="0"/>
              </a:rPr>
              <a:t>     //instrucciones;</a:t>
            </a:r>
          </a:p>
          <a:p>
            <a:pPr lvl="3" algn="just" eaLnBrk="1" hangingPunct="1">
              <a:buFontTx/>
              <a:buNone/>
            </a:pPr>
            <a:r>
              <a:rPr lang="es-ES" sz="2183"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803093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for: la cuenta regresiva del cohete</a:t>
            </a:r>
          </a:p>
        </p:txBody>
      </p:sp>
      <p:sp>
        <p:nvSpPr>
          <p:cNvPr id="3" name="Rounded Rectangle 2"/>
          <p:cNvSpPr/>
          <p:nvPr/>
        </p:nvSpPr>
        <p:spPr>
          <a:xfrm>
            <a:off x="640080" y="1325880"/>
            <a:ext cx="6675120" cy="210312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59" y="1481328"/>
            <a:ext cx="137160" cy="1371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51560" y="1481328"/>
            <a:ext cx="137160" cy="1371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80160" y="1481328"/>
            <a:ext cx="137160" cy="1371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54480" y="1417320"/>
            <a:ext cx="5577840" cy="27432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Cohete.java</a:t>
            </a:r>
          </a:p>
        </p:txBody>
      </p:sp>
      <p:sp>
        <p:nvSpPr>
          <p:cNvPr id="8" name="TextBox 7"/>
          <p:cNvSpPr txBox="1"/>
          <p:nvPr/>
        </p:nvSpPr>
        <p:spPr>
          <a:xfrm>
            <a:off x="914400" y="1783080"/>
            <a:ext cx="6217920" cy="1508760"/>
          </a:xfrm>
          <a:prstGeom prst="rect">
            <a:avLst/>
          </a:prstGeom>
          <a:noFill/>
        </p:spPr>
        <p:txBody>
          <a:bodyPr wrap="square" lIns="0" rIns="0" tIns="0" bIns="0" anchor="t">
            <a:spAutoFit/>
          </a:bodyPr>
          <a:lstStyle/>
          <a:p>
            <a:pPr algn="l">
              <a:spcAft>
                <a:spcPts val="0"/>
              </a:spcAft>
            </a:pPr>
            <a:r>
              <a:rPr sz="1600" b="0" i="0">
                <a:solidFill>
                  <a:srgbClr val="C792EA"/>
                </a:solidFill>
                <a:latin typeface="Courier New"/>
              </a:rPr>
              <a:t>for</a:t>
            </a:r>
            <a:r>
              <a:rPr sz="1600" b="0" i="0">
                <a:solidFill>
                  <a:srgbClr val="E6EDF3"/>
                </a:solidFill>
                <a:latin typeface="Courier New"/>
              </a:rPr>
              <a:t> </a:t>
            </a:r>
            <a:r>
              <a:rPr sz="1600" b="0" i="0">
                <a:solidFill>
                  <a:srgbClr val="E6EDF3"/>
                </a:solidFill>
                <a:latin typeface="Courier New"/>
              </a:rPr>
              <a:t>(</a:t>
            </a:r>
            <a:r>
              <a:rPr sz="1600" b="0" i="0">
                <a:solidFill>
                  <a:srgbClr val="5EC8FF"/>
                </a:solidFill>
                <a:latin typeface="Courier New"/>
              </a:rPr>
              <a:t>int</a:t>
            </a:r>
            <a:r>
              <a:rPr sz="1600" b="0" i="0">
                <a:solidFill>
                  <a:srgbClr val="E6EDF3"/>
                </a:solidFill>
                <a:latin typeface="Courier New"/>
              </a:rPr>
              <a:t> </a:t>
            </a:r>
            <a:r>
              <a:rPr sz="1600" b="0" i="0">
                <a:solidFill>
                  <a:srgbClr val="E6EDF3"/>
                </a:solidFill>
                <a:latin typeface="Courier New"/>
              </a:rPr>
              <a:t>i</a:t>
            </a:r>
            <a:r>
              <a:rPr sz="1600" b="0" i="0">
                <a:solidFill>
                  <a:srgbClr val="E6EDF3"/>
                </a:solidFill>
                <a:latin typeface="Courier New"/>
              </a:rPr>
              <a:t> </a:t>
            </a:r>
            <a:r>
              <a:rPr sz="1600" b="0" i="0">
                <a:solidFill>
                  <a:srgbClr val="E6EDF3"/>
                </a:solidFill>
                <a:latin typeface="Courier New"/>
              </a:rPr>
              <a:t>=</a:t>
            </a:r>
            <a:r>
              <a:rPr sz="1600" b="0" i="0">
                <a:solidFill>
                  <a:srgbClr val="E6EDF3"/>
                </a:solidFill>
                <a:latin typeface="Courier New"/>
              </a:rPr>
              <a:t> </a:t>
            </a:r>
            <a:r>
              <a:rPr sz="1600" b="0" i="0">
                <a:solidFill>
                  <a:srgbClr val="F78C6C"/>
                </a:solidFill>
                <a:latin typeface="Courier New"/>
              </a:rPr>
              <a:t>10</a:t>
            </a:r>
            <a:r>
              <a:rPr sz="1600" b="0" i="0">
                <a:solidFill>
                  <a:srgbClr val="E6EDF3"/>
                </a:solidFill>
                <a:latin typeface="Courier New"/>
              </a:rPr>
              <a:t>;</a:t>
            </a:r>
            <a:r>
              <a:rPr sz="1600" b="0" i="0">
                <a:solidFill>
                  <a:srgbClr val="E6EDF3"/>
                </a:solidFill>
                <a:latin typeface="Courier New"/>
              </a:rPr>
              <a:t> </a:t>
            </a:r>
            <a:r>
              <a:rPr sz="1600" b="0" i="0">
                <a:solidFill>
                  <a:srgbClr val="E6EDF3"/>
                </a:solidFill>
                <a:latin typeface="Courier New"/>
              </a:rPr>
              <a:t>i</a:t>
            </a:r>
            <a:r>
              <a:rPr sz="1600" b="0" i="0">
                <a:solidFill>
                  <a:srgbClr val="E6EDF3"/>
                </a:solidFill>
                <a:latin typeface="Courier New"/>
              </a:rPr>
              <a:t> </a:t>
            </a:r>
            <a:r>
              <a:rPr sz="1600" b="0" i="0">
                <a:solidFill>
                  <a:srgbClr val="E6EDF3"/>
                </a:solidFill>
                <a:latin typeface="Courier New"/>
              </a:rPr>
              <a:t>&gt;</a:t>
            </a:r>
            <a:r>
              <a:rPr sz="1600" b="0" i="0">
                <a:solidFill>
                  <a:srgbClr val="E6EDF3"/>
                </a:solidFill>
                <a:latin typeface="Courier New"/>
              </a:rPr>
              <a:t>=</a:t>
            </a:r>
            <a:r>
              <a:rPr sz="1600" b="0" i="0">
                <a:solidFill>
                  <a:srgbClr val="E6EDF3"/>
                </a:solidFill>
                <a:latin typeface="Courier New"/>
              </a:rPr>
              <a:t> </a:t>
            </a:r>
            <a:r>
              <a:rPr sz="1600" b="0" i="0">
                <a:solidFill>
                  <a:srgbClr val="F78C6C"/>
                </a:solidFill>
                <a:latin typeface="Courier New"/>
              </a:rPr>
              <a:t>1</a:t>
            </a:r>
            <a:r>
              <a:rPr sz="1600" b="0" i="0">
                <a:solidFill>
                  <a:srgbClr val="E6EDF3"/>
                </a:solidFill>
                <a:latin typeface="Courier New"/>
              </a:rPr>
              <a:t>;</a:t>
            </a:r>
            <a:r>
              <a:rPr sz="1600" b="0" i="0">
                <a:solidFill>
                  <a:srgbClr val="E6EDF3"/>
                </a:solidFill>
                <a:latin typeface="Courier New"/>
              </a:rPr>
              <a:t> </a:t>
            </a:r>
            <a:r>
              <a:rPr sz="1600" b="0" i="0">
                <a:solidFill>
                  <a:srgbClr val="E6EDF3"/>
                </a:solidFill>
                <a:latin typeface="Courier New"/>
              </a:rPr>
              <a:t>i</a:t>
            </a:r>
            <a:r>
              <a:rPr sz="1600" b="0" i="0">
                <a:solidFill>
                  <a:srgbClr val="E6EDF3"/>
                </a:solidFill>
                <a:latin typeface="Courier New"/>
              </a:rPr>
              <a:t>-</a:t>
            </a:r>
            <a:r>
              <a:rPr sz="1600" b="0" i="0">
                <a:solidFill>
                  <a:srgbClr val="E6EDF3"/>
                </a:solidFill>
                <a:latin typeface="Courier New"/>
              </a:rPr>
              <a:t>-</a:t>
            </a:r>
            <a:r>
              <a:rPr sz="1600" b="0" i="0">
                <a:solidFill>
                  <a:srgbClr val="E6EDF3"/>
                </a:solidFill>
                <a:latin typeface="Courier New"/>
              </a:rPr>
              <a:t>)</a:t>
            </a:r>
            <a:r>
              <a:rPr sz="1600" b="0" i="0">
                <a:solidFill>
                  <a:srgbClr val="E6EDF3"/>
                </a:solidFill>
                <a:latin typeface="Courier New"/>
              </a:rPr>
              <a:t> </a:t>
            </a:r>
            <a:r>
              <a:rPr sz="1600" b="0" i="0">
                <a:solidFill>
                  <a:srgbClr val="E6EDF3"/>
                </a:solidFill>
                <a:latin typeface="Courier New"/>
              </a:rPr>
              <a:t>{</a:t>
            </a:r>
          </a:p>
          <a:p>
            <a:pPr algn="l">
              <a:spcAft>
                <a:spcPts val="0"/>
              </a:spcAft>
            </a:pPr>
            <a:r>
              <a:rPr sz="1600" b="0" i="0">
                <a:solidFill>
                  <a:srgbClr val="E6EDF3"/>
                </a:solidFill>
                <a:latin typeface="Courier New"/>
              </a:rPr>
              <a:t>    </a:t>
            </a:r>
            <a:r>
              <a:rPr sz="1600" b="0" i="0">
                <a:solidFill>
                  <a:srgbClr val="E6EDF3"/>
                </a:solidFill>
                <a:latin typeface="Courier New"/>
              </a:rPr>
              <a:t>System</a:t>
            </a:r>
            <a:r>
              <a:rPr sz="1600" b="0" i="0">
                <a:solidFill>
                  <a:srgbClr val="E6EDF3"/>
                </a:solidFill>
                <a:latin typeface="Courier New"/>
              </a:rPr>
              <a:t>.</a:t>
            </a:r>
            <a:r>
              <a:rPr sz="1600" b="0" i="0">
                <a:solidFill>
                  <a:srgbClr val="E6EDF3"/>
                </a:solidFill>
                <a:latin typeface="Courier New"/>
              </a:rPr>
              <a:t>out</a:t>
            </a:r>
            <a:r>
              <a:rPr sz="1600" b="0" i="0">
                <a:solidFill>
                  <a:srgbClr val="E6EDF3"/>
                </a:solidFill>
                <a:latin typeface="Courier New"/>
              </a:rPr>
              <a:t>.</a:t>
            </a:r>
            <a:r>
              <a:rPr sz="1600" b="0" i="0">
                <a:solidFill>
                  <a:srgbClr val="E6EDF3"/>
                </a:solidFill>
                <a:latin typeface="Courier New"/>
              </a:rPr>
              <a:t>println</a:t>
            </a:r>
            <a:r>
              <a:rPr sz="1600" b="0" i="0">
                <a:solidFill>
                  <a:srgbClr val="E6EDF3"/>
                </a:solidFill>
                <a:latin typeface="Courier New"/>
              </a:rPr>
              <a:t>(</a:t>
            </a:r>
            <a:r>
              <a:rPr sz="1600" b="0" i="0">
                <a:solidFill>
                  <a:srgbClr val="E6EDF3"/>
                </a:solidFill>
                <a:latin typeface="Courier New"/>
              </a:rPr>
              <a:t>i</a:t>
            </a:r>
            <a:r>
              <a:rPr sz="1600" b="0" i="0">
                <a:solidFill>
                  <a:srgbClr val="E6EDF3"/>
                </a:solidFill>
                <a:latin typeface="Courier New"/>
              </a:rPr>
              <a:t> </a:t>
            </a:r>
            <a:r>
              <a:rPr sz="1600" b="0" i="0">
                <a:solidFill>
                  <a:srgbClr val="E6EDF3"/>
                </a:solidFill>
                <a:latin typeface="Courier New"/>
              </a:rPr>
              <a:t>+</a:t>
            </a:r>
            <a:r>
              <a:rPr sz="1600" b="0" i="0">
                <a:solidFill>
                  <a:srgbClr val="E6EDF3"/>
                </a:solidFill>
                <a:latin typeface="Courier New"/>
              </a:rPr>
              <a:t> </a:t>
            </a:r>
            <a:r>
              <a:rPr sz="1600" b="0" i="0">
                <a:solidFill>
                  <a:srgbClr val="FFB86B"/>
                </a:solidFill>
                <a:latin typeface="Courier New"/>
              </a:rPr>
              <a:t>"..."</a:t>
            </a:r>
            <a:r>
              <a:rPr sz="1600" b="0" i="0">
                <a:solidFill>
                  <a:srgbClr val="E6EDF3"/>
                </a:solidFill>
                <a:latin typeface="Courier New"/>
              </a:rPr>
              <a:t>)</a:t>
            </a:r>
            <a:r>
              <a:rPr sz="1600" b="0" i="0">
                <a:solidFill>
                  <a:srgbClr val="E6EDF3"/>
                </a:solidFill>
                <a:latin typeface="Courier New"/>
              </a:rPr>
              <a:t>;</a:t>
            </a:r>
          </a:p>
          <a:p>
            <a:pPr algn="l">
              <a:spcAft>
                <a:spcPts val="0"/>
              </a:spcAft>
            </a:pPr>
            <a:r>
              <a:rPr sz="1600" b="0" i="0">
                <a:solidFill>
                  <a:srgbClr val="E6EDF3"/>
                </a:solidFill>
                <a:latin typeface="Courier New"/>
              </a:rPr>
              <a:t>}</a:t>
            </a:r>
          </a:p>
          <a:p>
            <a:pPr algn="l">
              <a:spcAft>
                <a:spcPts val="0"/>
              </a:spcAft>
            </a:pPr>
            <a:r>
              <a:rPr sz="1600" b="0" i="0">
                <a:solidFill>
                  <a:srgbClr val="E6EDF3"/>
                </a:solidFill>
                <a:latin typeface="Courier New"/>
              </a:rPr>
              <a:t>System</a:t>
            </a:r>
            <a:r>
              <a:rPr sz="1600" b="0" i="0">
                <a:solidFill>
                  <a:srgbClr val="E6EDF3"/>
                </a:solidFill>
                <a:latin typeface="Courier New"/>
              </a:rPr>
              <a:t>.</a:t>
            </a:r>
            <a:r>
              <a:rPr sz="1600" b="0" i="0">
                <a:solidFill>
                  <a:srgbClr val="E6EDF3"/>
                </a:solidFill>
                <a:latin typeface="Courier New"/>
              </a:rPr>
              <a:t>out</a:t>
            </a:r>
            <a:r>
              <a:rPr sz="1600" b="0" i="0">
                <a:solidFill>
                  <a:srgbClr val="E6EDF3"/>
                </a:solidFill>
                <a:latin typeface="Courier New"/>
              </a:rPr>
              <a:t>.</a:t>
            </a:r>
            <a:r>
              <a:rPr sz="1600" b="0" i="0">
                <a:solidFill>
                  <a:srgbClr val="E6EDF3"/>
                </a:solidFill>
                <a:latin typeface="Courier New"/>
              </a:rPr>
              <a:t>println</a:t>
            </a:r>
            <a:r>
              <a:rPr sz="1600" b="0" i="0">
                <a:solidFill>
                  <a:srgbClr val="E6EDF3"/>
                </a:solidFill>
                <a:latin typeface="Courier New"/>
              </a:rPr>
              <a:t>(</a:t>
            </a:r>
            <a:r>
              <a:rPr sz="1600" b="0" i="0">
                <a:solidFill>
                  <a:srgbClr val="FFB86B"/>
                </a:solidFill>
                <a:latin typeface="Courier New"/>
              </a:rPr>
              <a:t>"¡DESPEGUE!"</a:t>
            </a:r>
            <a:r>
              <a:rPr sz="1600" b="0" i="0">
                <a:solidFill>
                  <a:srgbClr val="E6EDF3"/>
                </a:solidFill>
                <a:latin typeface="Courier New"/>
              </a:rPr>
              <a:t>)</a:t>
            </a:r>
            <a:r>
              <a:rPr sz="1600" b="0" i="0">
                <a:solidFill>
                  <a:srgbClr val="E6EDF3"/>
                </a:solidFill>
                <a:latin typeface="Courier New"/>
              </a:rPr>
              <a:t>;</a:t>
            </a:r>
          </a:p>
        </p:txBody>
      </p:sp>
      <p:sp>
        <p:nvSpPr>
          <p:cNvPr id="9" name="TextBox 8"/>
          <p:cNvSpPr txBox="1"/>
          <p:nvPr/>
        </p:nvSpPr>
        <p:spPr>
          <a:xfrm>
            <a:off x="640080" y="3657600"/>
            <a:ext cx="6675120" cy="411480"/>
          </a:xfrm>
          <a:prstGeom prst="rect">
            <a:avLst/>
          </a:prstGeom>
          <a:noFill/>
        </p:spPr>
        <p:txBody>
          <a:bodyPr wrap="square" lIns="0" rIns="0" tIns="0" bIns="0" anchor="t">
            <a:spAutoFit/>
          </a:bodyPr>
          <a:lstStyle/>
          <a:p>
            <a:pPr algn="l">
              <a:spcAft>
                <a:spcPts val="400"/>
              </a:spcAft>
            </a:pPr>
            <a:r>
              <a:rPr sz="1900" b="1" i="0">
                <a:solidFill>
                  <a:srgbClr val="0B2A4A"/>
                </a:solidFill>
                <a:latin typeface="Arial"/>
              </a:rPr>
              <a:t>Las 3 partes del for</a:t>
            </a:r>
          </a:p>
        </p:txBody>
      </p:sp>
      <p:sp>
        <p:nvSpPr>
          <p:cNvPr id="10" name="Rounded Rectangle 9"/>
          <p:cNvSpPr/>
          <p:nvPr/>
        </p:nvSpPr>
        <p:spPr>
          <a:xfrm>
            <a:off x="640080" y="4160520"/>
            <a:ext cx="2103120" cy="594360"/>
          </a:xfrm>
          <a:prstGeom prst="roundRect">
            <a:avLst>
              <a:gd name="adj" fmla="val 20000"/>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160520"/>
            <a:ext cx="2103120" cy="594360"/>
          </a:xfrm>
          <a:prstGeom prst="rect">
            <a:avLst/>
          </a:prstGeom>
          <a:noFill/>
        </p:spPr>
        <p:txBody>
          <a:bodyPr wrap="square" lIns="0" rIns="0" tIns="0" bIns="0" anchor="ctr">
            <a:spAutoFit/>
          </a:bodyPr>
          <a:lstStyle/>
          <a:p>
            <a:pPr algn="ctr">
              <a:spcAft>
                <a:spcPts val="400"/>
              </a:spcAft>
            </a:pPr>
            <a:r>
              <a:rPr sz="1500" b="1" i="0">
                <a:solidFill>
                  <a:srgbClr val="FFFFFF"/>
                </a:solidFill>
                <a:latin typeface="Courier New"/>
              </a:rPr>
              <a:t>int i = 10</a:t>
            </a:r>
          </a:p>
        </p:txBody>
      </p:sp>
      <p:sp>
        <p:nvSpPr>
          <p:cNvPr id="12" name="TextBox 11"/>
          <p:cNvSpPr txBox="1"/>
          <p:nvPr/>
        </p:nvSpPr>
        <p:spPr>
          <a:xfrm>
            <a:off x="640080" y="4846320"/>
            <a:ext cx="2103120" cy="822960"/>
          </a:xfrm>
          <a:prstGeom prst="rect">
            <a:avLst/>
          </a:prstGeom>
          <a:noFill/>
        </p:spPr>
        <p:txBody>
          <a:bodyPr wrap="square" lIns="0" rIns="0" tIns="0" bIns="0" anchor="t">
            <a:spAutoFit/>
          </a:bodyPr>
          <a:lstStyle/>
          <a:p>
            <a:pPr algn="ctr">
              <a:spcAft>
                <a:spcPts val="400"/>
              </a:spcAft>
            </a:pPr>
            <a:r>
              <a:rPr sz="1400" b="0" i="0">
                <a:solidFill>
                  <a:srgbClr val="4A5A6A"/>
                </a:solidFill>
                <a:latin typeface="Arial"/>
              </a:rPr>
              <a:t>Inicio: ¿desde dónde parto?</a:t>
            </a:r>
          </a:p>
        </p:txBody>
      </p:sp>
      <p:sp>
        <p:nvSpPr>
          <p:cNvPr id="13" name="Rounded Rectangle 12"/>
          <p:cNvSpPr/>
          <p:nvPr/>
        </p:nvSpPr>
        <p:spPr>
          <a:xfrm>
            <a:off x="2926080" y="4160520"/>
            <a:ext cx="2103120" cy="594360"/>
          </a:xfrm>
          <a:prstGeom prst="roundRect">
            <a:avLst>
              <a:gd name="adj" fmla="val 2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26080" y="4160520"/>
            <a:ext cx="2103120" cy="594360"/>
          </a:xfrm>
          <a:prstGeom prst="rect">
            <a:avLst/>
          </a:prstGeom>
          <a:noFill/>
        </p:spPr>
        <p:txBody>
          <a:bodyPr wrap="square" lIns="0" rIns="0" tIns="0" bIns="0" anchor="ctr">
            <a:spAutoFit/>
          </a:bodyPr>
          <a:lstStyle/>
          <a:p>
            <a:pPr algn="ctr">
              <a:spcAft>
                <a:spcPts val="400"/>
              </a:spcAft>
            </a:pPr>
            <a:r>
              <a:rPr sz="1500" b="1" i="0">
                <a:solidFill>
                  <a:srgbClr val="0B2A4A"/>
                </a:solidFill>
                <a:latin typeface="Courier New"/>
              </a:rPr>
              <a:t>i &gt;= 1</a:t>
            </a:r>
          </a:p>
        </p:txBody>
      </p:sp>
      <p:sp>
        <p:nvSpPr>
          <p:cNvPr id="15" name="TextBox 14"/>
          <p:cNvSpPr txBox="1"/>
          <p:nvPr/>
        </p:nvSpPr>
        <p:spPr>
          <a:xfrm>
            <a:off x="2926080" y="4846320"/>
            <a:ext cx="2103120" cy="822960"/>
          </a:xfrm>
          <a:prstGeom prst="rect">
            <a:avLst/>
          </a:prstGeom>
          <a:noFill/>
        </p:spPr>
        <p:txBody>
          <a:bodyPr wrap="square" lIns="0" rIns="0" tIns="0" bIns="0" anchor="t">
            <a:spAutoFit/>
          </a:bodyPr>
          <a:lstStyle/>
          <a:p>
            <a:pPr algn="ctr">
              <a:spcAft>
                <a:spcPts val="400"/>
              </a:spcAft>
            </a:pPr>
            <a:r>
              <a:rPr sz="1400" b="0" i="0">
                <a:solidFill>
                  <a:srgbClr val="4A5A6A"/>
                </a:solidFill>
                <a:latin typeface="Arial"/>
              </a:rPr>
              <a:t>Condición: ¿hasta cuándo sigo?</a:t>
            </a:r>
          </a:p>
        </p:txBody>
      </p:sp>
      <p:sp>
        <p:nvSpPr>
          <p:cNvPr id="16" name="Rounded Rectangle 15"/>
          <p:cNvSpPr/>
          <p:nvPr/>
        </p:nvSpPr>
        <p:spPr>
          <a:xfrm>
            <a:off x="5212080" y="4160520"/>
            <a:ext cx="2103120" cy="594360"/>
          </a:xfrm>
          <a:prstGeom prst="roundRect">
            <a:avLst>
              <a:gd name="adj" fmla="val 20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12080" y="4160520"/>
            <a:ext cx="2103120" cy="594360"/>
          </a:xfrm>
          <a:prstGeom prst="rect">
            <a:avLst/>
          </a:prstGeom>
          <a:noFill/>
        </p:spPr>
        <p:txBody>
          <a:bodyPr wrap="square" lIns="0" rIns="0" tIns="0" bIns="0" anchor="ctr">
            <a:spAutoFit/>
          </a:bodyPr>
          <a:lstStyle/>
          <a:p>
            <a:pPr algn="ctr">
              <a:spcAft>
                <a:spcPts val="400"/>
              </a:spcAft>
            </a:pPr>
            <a:r>
              <a:rPr sz="1500" b="1" i="0">
                <a:solidFill>
                  <a:srgbClr val="FFFFFF"/>
                </a:solidFill>
                <a:latin typeface="Courier New"/>
              </a:rPr>
              <a:t>i--</a:t>
            </a:r>
          </a:p>
        </p:txBody>
      </p:sp>
      <p:sp>
        <p:nvSpPr>
          <p:cNvPr id="18" name="TextBox 17"/>
          <p:cNvSpPr txBox="1"/>
          <p:nvPr/>
        </p:nvSpPr>
        <p:spPr>
          <a:xfrm>
            <a:off x="5212080" y="4846320"/>
            <a:ext cx="2103120" cy="822960"/>
          </a:xfrm>
          <a:prstGeom prst="rect">
            <a:avLst/>
          </a:prstGeom>
          <a:noFill/>
        </p:spPr>
        <p:txBody>
          <a:bodyPr wrap="square" lIns="0" rIns="0" tIns="0" bIns="0" anchor="t">
            <a:spAutoFit/>
          </a:bodyPr>
          <a:lstStyle/>
          <a:p>
            <a:pPr algn="ctr">
              <a:spcAft>
                <a:spcPts val="400"/>
              </a:spcAft>
            </a:pPr>
            <a:r>
              <a:rPr sz="1400" b="0" i="0">
                <a:solidFill>
                  <a:srgbClr val="4A5A6A"/>
                </a:solidFill>
                <a:latin typeface="Arial"/>
              </a:rPr>
              <a:t>Cambio: resto 1 en cada vuelta</a:t>
            </a:r>
          </a:p>
        </p:txBody>
      </p:sp>
      <p:sp>
        <p:nvSpPr>
          <p:cNvPr id="19" name="Rounded Rectangle 18"/>
          <p:cNvSpPr/>
          <p:nvPr/>
        </p:nvSpPr>
        <p:spPr>
          <a:xfrm>
            <a:off x="7635240" y="1325880"/>
            <a:ext cx="3931920" cy="4572000"/>
          </a:xfrm>
          <a:prstGeom prst="roundRect">
            <a:avLst>
              <a:gd name="adj" fmla="val 4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63840" y="1444752"/>
            <a:ext cx="3474720" cy="32004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Consola  ▸ Output</a:t>
            </a:r>
          </a:p>
        </p:txBody>
      </p:sp>
      <p:sp>
        <p:nvSpPr>
          <p:cNvPr id="21" name="TextBox 20"/>
          <p:cNvSpPr txBox="1"/>
          <p:nvPr/>
        </p:nvSpPr>
        <p:spPr>
          <a:xfrm>
            <a:off x="7863840" y="1828800"/>
            <a:ext cx="2011680" cy="3931920"/>
          </a:xfrm>
          <a:prstGeom prst="rect">
            <a:avLst/>
          </a:prstGeom>
          <a:noFill/>
        </p:spPr>
        <p:txBody>
          <a:bodyPr wrap="square" lIns="0" rIns="0" tIns="0" bIns="0" anchor="t">
            <a:spAutoFit/>
          </a:bodyPr>
          <a:lstStyle/>
          <a:p>
            <a:pPr algn="l">
              <a:spcAft>
                <a:spcPts val="0"/>
              </a:spcAft>
            </a:pPr>
            <a:r>
              <a:rPr sz="1300" b="0" i="0">
                <a:solidFill>
                  <a:srgbClr val="7FE0A8"/>
                </a:solidFill>
                <a:latin typeface="Courier New"/>
              </a:rPr>
              <a:t>10...</a:t>
            </a:r>
          </a:p>
          <a:p>
            <a:pPr algn="l">
              <a:spcAft>
                <a:spcPts val="0"/>
              </a:spcAft>
            </a:pPr>
            <a:r>
              <a:rPr sz="1300" b="0" i="0">
                <a:solidFill>
                  <a:srgbClr val="7FE0A8"/>
                </a:solidFill>
                <a:latin typeface="Courier New"/>
              </a:rPr>
              <a:t>9...</a:t>
            </a:r>
          </a:p>
          <a:p>
            <a:pPr algn="l">
              <a:spcAft>
                <a:spcPts val="0"/>
              </a:spcAft>
            </a:pPr>
            <a:r>
              <a:rPr sz="1300" b="0" i="0">
                <a:solidFill>
                  <a:srgbClr val="7FE0A8"/>
                </a:solidFill>
                <a:latin typeface="Courier New"/>
              </a:rPr>
              <a:t>8...</a:t>
            </a:r>
          </a:p>
          <a:p>
            <a:pPr algn="l">
              <a:spcAft>
                <a:spcPts val="0"/>
              </a:spcAft>
            </a:pPr>
            <a:r>
              <a:rPr sz="1300" b="0" i="0">
                <a:solidFill>
                  <a:srgbClr val="7FE0A8"/>
                </a:solidFill>
                <a:latin typeface="Courier New"/>
              </a:rPr>
              <a:t>7...</a:t>
            </a:r>
          </a:p>
          <a:p>
            <a:pPr algn="l">
              <a:spcAft>
                <a:spcPts val="0"/>
              </a:spcAft>
            </a:pPr>
            <a:r>
              <a:rPr sz="1300" b="0" i="0">
                <a:solidFill>
                  <a:srgbClr val="7FE0A8"/>
                </a:solidFill>
                <a:latin typeface="Courier New"/>
              </a:rPr>
              <a:t>6...</a:t>
            </a:r>
          </a:p>
          <a:p>
            <a:pPr algn="l">
              <a:spcAft>
                <a:spcPts val="0"/>
              </a:spcAft>
            </a:pPr>
            <a:r>
              <a:rPr sz="1300" b="0" i="0">
                <a:solidFill>
                  <a:srgbClr val="7FE0A8"/>
                </a:solidFill>
                <a:latin typeface="Courier New"/>
              </a:rPr>
              <a:t>5...</a:t>
            </a:r>
          </a:p>
          <a:p>
            <a:pPr algn="l">
              <a:spcAft>
                <a:spcPts val="0"/>
              </a:spcAft>
            </a:pPr>
            <a:r>
              <a:rPr sz="1300" b="0" i="0">
                <a:solidFill>
                  <a:srgbClr val="7FE0A8"/>
                </a:solidFill>
                <a:latin typeface="Courier New"/>
              </a:rPr>
              <a:t>4...</a:t>
            </a:r>
          </a:p>
          <a:p>
            <a:pPr algn="l">
              <a:spcAft>
                <a:spcPts val="0"/>
              </a:spcAft>
            </a:pPr>
            <a:r>
              <a:rPr sz="1300" b="0" i="0">
                <a:solidFill>
                  <a:srgbClr val="7FE0A8"/>
                </a:solidFill>
                <a:latin typeface="Courier New"/>
              </a:rPr>
              <a:t>3...</a:t>
            </a:r>
          </a:p>
          <a:p>
            <a:pPr algn="l">
              <a:spcAft>
                <a:spcPts val="0"/>
              </a:spcAft>
            </a:pPr>
            <a:r>
              <a:rPr sz="1300" b="0" i="0">
                <a:solidFill>
                  <a:srgbClr val="7FE0A8"/>
                </a:solidFill>
                <a:latin typeface="Courier New"/>
              </a:rPr>
              <a:t>2...</a:t>
            </a:r>
          </a:p>
          <a:p>
            <a:pPr algn="l">
              <a:spcAft>
                <a:spcPts val="0"/>
              </a:spcAft>
            </a:pPr>
            <a:r>
              <a:rPr sz="1300" b="0" i="0">
                <a:solidFill>
                  <a:srgbClr val="7FE0A8"/>
                </a:solidFill>
                <a:latin typeface="Courier New"/>
              </a:rPr>
              <a:t>1...</a:t>
            </a:r>
          </a:p>
          <a:p>
            <a:pPr algn="l">
              <a:spcAft>
                <a:spcPts val="0"/>
              </a:spcAft>
            </a:pPr>
            <a:r>
              <a:rPr sz="1300" b="1" i="0">
                <a:solidFill>
                  <a:srgbClr val="FFC629"/>
                </a:solidFill>
                <a:latin typeface="Courier New"/>
              </a:rPr>
              <a:t>¡DESPEGUE!</a:t>
            </a:r>
          </a:p>
        </p:txBody>
      </p:sp>
      <p:sp>
        <p:nvSpPr>
          <p:cNvPr id="22" name="Oval 21"/>
          <p:cNvSpPr/>
          <p:nvPr/>
        </p:nvSpPr>
        <p:spPr>
          <a:xfrm>
            <a:off x="10058400" y="4480560"/>
            <a:ext cx="1188720" cy="118872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rocket_w.png"/>
          <p:cNvPicPr>
            <a:picLocks noChangeAspect="1"/>
          </p:cNvPicPr>
          <p:nvPr/>
        </p:nvPicPr>
        <p:blipFill>
          <a:blip r:embed="rId2"/>
          <a:stretch>
            <a:fillRect/>
          </a:stretch>
        </p:blipFill>
        <p:spPr>
          <a:xfrm>
            <a:off x="10343692" y="4765852"/>
            <a:ext cx="618134" cy="61813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while: ¡sube de nivel!</a:t>
            </a:r>
          </a:p>
        </p:txBody>
      </p:sp>
      <p:sp>
        <p:nvSpPr>
          <p:cNvPr id="3" name="Rounded Rectangle 2"/>
          <p:cNvSpPr/>
          <p:nvPr/>
        </p:nvSpPr>
        <p:spPr>
          <a:xfrm>
            <a:off x="640080" y="1325880"/>
            <a:ext cx="6949440" cy="310896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59" y="1481328"/>
            <a:ext cx="137160" cy="1371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51560" y="1481328"/>
            <a:ext cx="137160" cy="1371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80160" y="1481328"/>
            <a:ext cx="137160" cy="1371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54480" y="1417320"/>
            <a:ext cx="5852159" cy="27432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SubirNivel.java</a:t>
            </a:r>
          </a:p>
        </p:txBody>
      </p:sp>
      <p:sp>
        <p:nvSpPr>
          <p:cNvPr id="8" name="TextBox 7"/>
          <p:cNvSpPr txBox="1"/>
          <p:nvPr/>
        </p:nvSpPr>
        <p:spPr>
          <a:xfrm>
            <a:off x="914400" y="1783080"/>
            <a:ext cx="6492240" cy="2514600"/>
          </a:xfrm>
          <a:prstGeom prst="rect">
            <a:avLst/>
          </a:prstGeom>
          <a:noFill/>
        </p:spPr>
        <p:txBody>
          <a:bodyPr wrap="square" lIns="0" rIns="0" tIns="0" bIns="0" anchor="t">
            <a:spAutoFit/>
          </a:bodyPr>
          <a:lstStyle/>
          <a:p>
            <a:pPr algn="l">
              <a:spcAft>
                <a:spcPts val="0"/>
              </a:spcAft>
            </a:pPr>
            <a:r>
              <a:rPr sz="1300" b="0" i="0">
                <a:solidFill>
                  <a:srgbClr val="5EC8FF"/>
                </a:solidFill>
                <a:latin typeface="Courier New"/>
              </a:rPr>
              <a:t>int</a:t>
            </a:r>
            <a:r>
              <a:rPr sz="1300" b="0" i="0">
                <a:solidFill>
                  <a:srgbClr val="E6EDF3"/>
                </a:solidFill>
                <a:latin typeface="Courier New"/>
              </a:rPr>
              <a:t> </a:t>
            </a:r>
            <a:r>
              <a:rPr sz="1300" b="0" i="0">
                <a:solidFill>
                  <a:srgbClr val="E6EDF3"/>
                </a:solidFill>
                <a:latin typeface="Courier New"/>
              </a:rPr>
              <a:t>xp</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0</a:t>
            </a:r>
            <a:r>
              <a:rPr sz="1300" b="0" i="0">
                <a:solidFill>
                  <a:srgbClr val="E6EDF3"/>
                </a:solidFill>
                <a:latin typeface="Courier New"/>
              </a:rPr>
              <a:t>;</a:t>
            </a:r>
          </a:p>
          <a:p>
            <a:pPr algn="l">
              <a:spcAft>
                <a:spcPts val="0"/>
              </a:spcAft>
            </a:pPr>
            <a:r>
              <a:rPr sz="1300" b="0" i="0">
                <a:solidFill>
                  <a:srgbClr val="5EC8FF"/>
                </a:solidFill>
                <a:latin typeface="Courier New"/>
              </a:rPr>
              <a:t>int</a:t>
            </a:r>
            <a:r>
              <a:rPr sz="1300" b="0" i="0">
                <a:solidFill>
                  <a:srgbClr val="E6EDF3"/>
                </a:solidFill>
                <a:latin typeface="Courier New"/>
              </a:rPr>
              <a:t> </a:t>
            </a:r>
            <a:r>
              <a:rPr sz="1300" b="0" i="0">
                <a:solidFill>
                  <a:srgbClr val="E6EDF3"/>
                </a:solidFill>
                <a:latin typeface="Courier New"/>
              </a:rPr>
              <a:t>batallas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0</a:t>
            </a:r>
            <a:r>
              <a:rPr sz="1300" b="0" i="0">
                <a:solidFill>
                  <a:srgbClr val="E6EDF3"/>
                </a:solidFill>
                <a:latin typeface="Courier New"/>
              </a:rPr>
              <a:t>;</a:t>
            </a:r>
          </a:p>
          <a:p>
            <a:pPr algn="l">
              <a:spcAft>
                <a:spcPts val="0"/>
              </a:spcAft>
            </a:pPr>
            <a:r>
              <a:rPr sz="1300" b="0" i="0">
                <a:solidFill>
                  <a:srgbClr val="E6EDF3"/>
                </a:solidFill>
                <a:latin typeface="Courier New"/>
              </a:rPr>
              <a:t> </a:t>
            </a:r>
          </a:p>
          <a:p>
            <a:pPr algn="l">
              <a:spcAft>
                <a:spcPts val="0"/>
              </a:spcAft>
            </a:pPr>
            <a:r>
              <a:rPr sz="1300" b="0" i="0">
                <a:solidFill>
                  <a:srgbClr val="C792EA"/>
                </a:solidFill>
                <a:latin typeface="Courier New"/>
              </a:rPr>
              <a:t>while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xp</a:t>
            </a:r>
            <a:r>
              <a:rPr sz="1300" b="0" i="0">
                <a:solidFill>
                  <a:srgbClr val="E6EDF3"/>
                </a:solidFill>
                <a:latin typeface="Courier New"/>
              </a:rPr>
              <a:t> </a:t>
            </a:r>
            <a:r>
              <a:rPr sz="1300" b="0" i="0">
                <a:solidFill>
                  <a:srgbClr val="E6EDF3"/>
                </a:solidFill>
                <a:latin typeface="Courier New"/>
              </a:rPr>
              <a:t>&lt;</a:t>
            </a:r>
            <a:r>
              <a:rPr sz="1300" b="0" i="0">
                <a:solidFill>
                  <a:srgbClr val="E6EDF3"/>
                </a:solidFill>
                <a:latin typeface="Courier New"/>
              </a:rPr>
              <a:t> </a:t>
            </a:r>
            <a:r>
              <a:rPr sz="1300" b="0" i="0">
                <a:solidFill>
                  <a:srgbClr val="F78C6C"/>
                </a:solidFill>
                <a:latin typeface="Courier New"/>
              </a:rPr>
              <a:t>100</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xp</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xp</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30</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batallas</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out</a:t>
            </a:r>
            <a:r>
              <a:rPr sz="1300" b="0" i="0">
                <a:solidFill>
                  <a:srgbClr val="E6EDF3"/>
                </a:solidFill>
                <a:latin typeface="Courier New"/>
              </a:rPr>
              <a:t>.</a:t>
            </a:r>
            <a:r>
              <a:rPr sz="1300" b="0" i="0">
                <a:solidFill>
                  <a:srgbClr val="E6EDF3"/>
                </a:solidFill>
                <a:latin typeface="Courier New"/>
              </a:rPr>
              <a:t>println</a:t>
            </a:r>
            <a:r>
              <a:rPr sz="1300" b="0" i="0">
                <a:solidFill>
                  <a:srgbClr val="E6EDF3"/>
                </a:solidFill>
                <a:latin typeface="Courier New"/>
              </a:rPr>
              <a:t>(</a:t>
            </a:r>
            <a:r>
              <a:rPr sz="1300" b="0" i="0">
                <a:solidFill>
                  <a:srgbClr val="FFB86B"/>
                </a:solidFill>
                <a:latin typeface="Courier New"/>
              </a:rPr>
              <a:t>"Batalla "</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batallas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FFB86B"/>
                </a:solidFill>
                <a:latin typeface="Courier New"/>
              </a:rPr>
              <a:t>" | XP: "</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xp</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a:t>
            </a:r>
          </a:p>
          <a:p>
            <a:pPr algn="l">
              <a:spcAft>
                <a:spcPts val="0"/>
              </a:spcAft>
            </a:pP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out</a:t>
            </a:r>
            <a:r>
              <a:rPr sz="1300" b="0" i="0">
                <a:solidFill>
                  <a:srgbClr val="E6EDF3"/>
                </a:solidFill>
                <a:latin typeface="Courier New"/>
              </a:rPr>
              <a:t>.</a:t>
            </a:r>
            <a:r>
              <a:rPr sz="1300" b="0" i="0">
                <a:solidFill>
                  <a:srgbClr val="E6EDF3"/>
                </a:solidFill>
                <a:latin typeface="Courier New"/>
              </a:rPr>
              <a:t>println</a:t>
            </a:r>
            <a:r>
              <a:rPr sz="1300" b="0" i="0">
                <a:solidFill>
                  <a:srgbClr val="E6EDF3"/>
                </a:solidFill>
                <a:latin typeface="Courier New"/>
              </a:rPr>
              <a:t>(</a:t>
            </a:r>
            <a:r>
              <a:rPr sz="1300" b="0" i="0">
                <a:solidFill>
                  <a:srgbClr val="FFB86B"/>
                </a:solidFill>
                <a:latin typeface="Courier New"/>
              </a:rPr>
              <a:t>"¡SUBISTE DE NIVEL!"</a:t>
            </a:r>
            <a:r>
              <a:rPr sz="1300" b="0" i="0">
                <a:solidFill>
                  <a:srgbClr val="E6EDF3"/>
                </a:solidFill>
                <a:latin typeface="Courier New"/>
              </a:rPr>
              <a:t>)</a:t>
            </a:r>
            <a:r>
              <a:rPr sz="1300" b="0" i="0">
                <a:solidFill>
                  <a:srgbClr val="E6EDF3"/>
                </a:solidFill>
                <a:latin typeface="Courier New"/>
              </a:rPr>
              <a:t>;</a:t>
            </a:r>
          </a:p>
        </p:txBody>
      </p:sp>
      <p:sp>
        <p:nvSpPr>
          <p:cNvPr id="9" name="Rounded Rectangle 8"/>
          <p:cNvSpPr/>
          <p:nvPr/>
        </p:nvSpPr>
        <p:spPr>
          <a:xfrm>
            <a:off x="7863840" y="1325880"/>
            <a:ext cx="3703320" cy="3108960"/>
          </a:xfrm>
          <a:prstGeom prst="roundRect">
            <a:avLst>
              <a:gd name="adj" fmla="val 4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092440" y="1444752"/>
            <a:ext cx="3291840" cy="32004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Consola  ▸ Output</a:t>
            </a:r>
          </a:p>
        </p:txBody>
      </p:sp>
      <p:sp>
        <p:nvSpPr>
          <p:cNvPr id="11" name="TextBox 10"/>
          <p:cNvSpPr txBox="1"/>
          <p:nvPr/>
        </p:nvSpPr>
        <p:spPr>
          <a:xfrm>
            <a:off x="8092440" y="1874519"/>
            <a:ext cx="3383280" cy="2743200"/>
          </a:xfrm>
          <a:prstGeom prst="rect">
            <a:avLst/>
          </a:prstGeom>
          <a:noFill/>
        </p:spPr>
        <p:txBody>
          <a:bodyPr wrap="square" lIns="0" rIns="0" tIns="0" bIns="0" anchor="t">
            <a:spAutoFit/>
          </a:bodyPr>
          <a:lstStyle/>
          <a:p>
            <a:pPr algn="l">
              <a:spcAft>
                <a:spcPts val="800"/>
              </a:spcAft>
            </a:pPr>
            <a:r>
              <a:rPr sz="1300" b="0" i="0">
                <a:solidFill>
                  <a:srgbClr val="7FE0A8"/>
                </a:solidFill>
                <a:latin typeface="Courier New"/>
              </a:rPr>
              <a:t>Batalla 1 | XP: 30</a:t>
            </a:r>
          </a:p>
          <a:p>
            <a:pPr algn="l">
              <a:spcAft>
                <a:spcPts val="800"/>
              </a:spcAft>
            </a:pPr>
            <a:r>
              <a:rPr sz="1300" b="0" i="0">
                <a:solidFill>
                  <a:srgbClr val="7FE0A8"/>
                </a:solidFill>
                <a:latin typeface="Courier New"/>
              </a:rPr>
              <a:t>Batalla 2 | XP: 60</a:t>
            </a:r>
          </a:p>
          <a:p>
            <a:pPr algn="l">
              <a:spcAft>
                <a:spcPts val="800"/>
              </a:spcAft>
            </a:pPr>
            <a:r>
              <a:rPr sz="1300" b="0" i="0">
                <a:solidFill>
                  <a:srgbClr val="7FE0A8"/>
                </a:solidFill>
                <a:latin typeface="Courier New"/>
              </a:rPr>
              <a:t>Batalla 3 | XP: 90</a:t>
            </a:r>
          </a:p>
          <a:p>
            <a:pPr algn="l">
              <a:spcAft>
                <a:spcPts val="800"/>
              </a:spcAft>
            </a:pPr>
            <a:r>
              <a:rPr sz="1300" b="0" i="0">
                <a:solidFill>
                  <a:srgbClr val="7FE0A8"/>
                </a:solidFill>
                <a:latin typeface="Courier New"/>
              </a:rPr>
              <a:t>Batalla 4 | XP: 120</a:t>
            </a:r>
          </a:p>
          <a:p>
            <a:pPr algn="l">
              <a:spcAft>
                <a:spcPts val="800"/>
              </a:spcAft>
            </a:pPr>
            <a:r>
              <a:rPr sz="1300" b="1" i="0">
                <a:solidFill>
                  <a:srgbClr val="FFC629"/>
                </a:solidFill>
                <a:latin typeface="Courier New"/>
              </a:rPr>
              <a:t>¡SUBISTE DE NIVEL!</a:t>
            </a:r>
          </a:p>
        </p:txBody>
      </p:sp>
      <p:sp>
        <p:nvSpPr>
          <p:cNvPr id="12" name="TextBox 11"/>
          <p:cNvSpPr txBox="1"/>
          <p:nvPr/>
        </p:nvSpPr>
        <p:spPr>
          <a:xfrm>
            <a:off x="640080" y="4754880"/>
            <a:ext cx="2743200" cy="365760"/>
          </a:xfrm>
          <a:prstGeom prst="rect">
            <a:avLst/>
          </a:prstGeom>
          <a:noFill/>
        </p:spPr>
        <p:txBody>
          <a:bodyPr wrap="square" lIns="0" rIns="0" tIns="0" bIns="0" anchor="t">
            <a:spAutoFit/>
          </a:bodyPr>
          <a:lstStyle/>
          <a:p>
            <a:pPr algn="l">
              <a:spcAft>
                <a:spcPts val="400"/>
              </a:spcAft>
            </a:pPr>
            <a:r>
              <a:rPr sz="1500" b="1" i="0">
                <a:solidFill>
                  <a:srgbClr val="0B2A4A"/>
                </a:solidFill>
                <a:latin typeface="Arial"/>
              </a:rPr>
              <a:t>Barra de experiencia</a:t>
            </a:r>
          </a:p>
        </p:txBody>
      </p:sp>
      <p:sp>
        <p:nvSpPr>
          <p:cNvPr id="13" name="Rounded Rectangle 12"/>
          <p:cNvSpPr/>
          <p:nvPr/>
        </p:nvSpPr>
        <p:spPr>
          <a:xfrm>
            <a:off x="640080" y="5212080"/>
            <a:ext cx="2560320" cy="502920"/>
          </a:xfrm>
          <a:prstGeom prst="roundRect">
            <a:avLst>
              <a:gd name="adj" fmla="val 30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212080"/>
            <a:ext cx="2560320" cy="502920"/>
          </a:xfrm>
          <a:prstGeom prst="rect">
            <a:avLst/>
          </a:prstGeom>
          <a:noFill/>
        </p:spPr>
        <p:txBody>
          <a:bodyPr wrap="square" lIns="0" rIns="0" tIns="0" bIns="0" anchor="ctr">
            <a:spAutoFit/>
          </a:bodyPr>
          <a:lstStyle/>
          <a:p>
            <a:pPr algn="ctr">
              <a:spcAft>
                <a:spcPts val="400"/>
              </a:spcAft>
            </a:pPr>
            <a:r>
              <a:rPr sz="1300" b="1" i="0">
                <a:solidFill>
                  <a:srgbClr val="FFFFFF"/>
                </a:solidFill>
                <a:latin typeface="Arial"/>
              </a:rPr>
              <a:t>+30 XP</a:t>
            </a:r>
          </a:p>
        </p:txBody>
      </p:sp>
      <p:sp>
        <p:nvSpPr>
          <p:cNvPr id="15" name="Rounded Rectangle 14"/>
          <p:cNvSpPr/>
          <p:nvPr/>
        </p:nvSpPr>
        <p:spPr>
          <a:xfrm>
            <a:off x="3383280" y="5212080"/>
            <a:ext cx="2560320" cy="502920"/>
          </a:xfrm>
          <a:prstGeom prst="roundRect">
            <a:avLst>
              <a:gd name="adj" fmla="val 30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383280" y="5212080"/>
            <a:ext cx="2560320" cy="502920"/>
          </a:xfrm>
          <a:prstGeom prst="rect">
            <a:avLst/>
          </a:prstGeom>
          <a:noFill/>
        </p:spPr>
        <p:txBody>
          <a:bodyPr wrap="square" lIns="0" rIns="0" tIns="0" bIns="0" anchor="ctr">
            <a:spAutoFit/>
          </a:bodyPr>
          <a:lstStyle/>
          <a:p>
            <a:pPr algn="ctr">
              <a:spcAft>
                <a:spcPts val="400"/>
              </a:spcAft>
            </a:pPr>
            <a:r>
              <a:rPr sz="1300" b="1" i="0">
                <a:solidFill>
                  <a:srgbClr val="FFFFFF"/>
                </a:solidFill>
                <a:latin typeface="Arial"/>
              </a:rPr>
              <a:t>+30 XP</a:t>
            </a:r>
          </a:p>
        </p:txBody>
      </p:sp>
      <p:sp>
        <p:nvSpPr>
          <p:cNvPr id="17" name="Rounded Rectangle 16"/>
          <p:cNvSpPr/>
          <p:nvPr/>
        </p:nvSpPr>
        <p:spPr>
          <a:xfrm>
            <a:off x="6126480" y="5212080"/>
            <a:ext cx="2560320" cy="502920"/>
          </a:xfrm>
          <a:prstGeom prst="roundRect">
            <a:avLst>
              <a:gd name="adj" fmla="val 30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26480" y="5212080"/>
            <a:ext cx="2560320" cy="502920"/>
          </a:xfrm>
          <a:prstGeom prst="rect">
            <a:avLst/>
          </a:prstGeom>
          <a:noFill/>
        </p:spPr>
        <p:txBody>
          <a:bodyPr wrap="square" lIns="0" rIns="0" tIns="0" bIns="0" anchor="ctr">
            <a:spAutoFit/>
          </a:bodyPr>
          <a:lstStyle/>
          <a:p>
            <a:pPr algn="ctr">
              <a:spcAft>
                <a:spcPts val="400"/>
              </a:spcAft>
            </a:pPr>
            <a:r>
              <a:rPr sz="1300" b="1" i="0">
                <a:solidFill>
                  <a:srgbClr val="FFFFFF"/>
                </a:solidFill>
                <a:latin typeface="Arial"/>
              </a:rPr>
              <a:t>+30 XP</a:t>
            </a:r>
          </a:p>
        </p:txBody>
      </p:sp>
      <p:sp>
        <p:nvSpPr>
          <p:cNvPr id="19" name="Rounded Rectangle 18"/>
          <p:cNvSpPr/>
          <p:nvPr/>
        </p:nvSpPr>
        <p:spPr>
          <a:xfrm>
            <a:off x="8869680" y="5212080"/>
            <a:ext cx="2560320" cy="502920"/>
          </a:xfrm>
          <a:prstGeom prst="roundRect">
            <a:avLst>
              <a:gd name="adj" fmla="val 30000"/>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0" y="5212080"/>
            <a:ext cx="2560320" cy="502920"/>
          </a:xfrm>
          <a:prstGeom prst="rect">
            <a:avLst/>
          </a:prstGeom>
          <a:noFill/>
        </p:spPr>
        <p:txBody>
          <a:bodyPr wrap="square" lIns="0" rIns="0" tIns="0" bIns="0" anchor="ctr">
            <a:spAutoFit/>
          </a:bodyPr>
          <a:lstStyle/>
          <a:p>
            <a:pPr algn="ctr">
              <a:spcAft>
                <a:spcPts val="400"/>
              </a:spcAft>
            </a:pPr>
            <a:r>
              <a:rPr sz="1300" b="1" i="0">
                <a:solidFill>
                  <a:srgbClr val="FFFFFF"/>
                </a:solidFill>
                <a:latin typeface="Arial"/>
              </a:rPr>
              <a:t>+30 XP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¡Cuidado con el ciclo infinito!</a:t>
            </a:r>
          </a:p>
        </p:txBody>
      </p:sp>
      <p:sp>
        <p:nvSpPr>
          <p:cNvPr id="3" name="Rounded Rectangle 2"/>
          <p:cNvSpPr/>
          <p:nvPr/>
        </p:nvSpPr>
        <p:spPr>
          <a:xfrm>
            <a:off x="640080" y="1325880"/>
            <a:ext cx="5486400" cy="4526280"/>
          </a:xfrm>
          <a:prstGeom prst="roundRect">
            <a:avLst>
              <a:gd name="adj" fmla="val 5000"/>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14400" y="1600200"/>
            <a:ext cx="822960" cy="8229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infinity_w.png"/>
          <p:cNvPicPr>
            <a:picLocks noChangeAspect="1"/>
          </p:cNvPicPr>
          <p:nvPr/>
        </p:nvPicPr>
        <p:blipFill>
          <a:blip r:embed="rId2"/>
          <a:stretch>
            <a:fillRect/>
          </a:stretch>
        </p:blipFill>
        <p:spPr>
          <a:xfrm>
            <a:off x="1111910" y="1797710"/>
            <a:ext cx="427939" cy="427939"/>
          </a:xfrm>
          <a:prstGeom prst="rect">
            <a:avLst/>
          </a:prstGeom>
        </p:spPr>
      </p:pic>
      <p:sp>
        <p:nvSpPr>
          <p:cNvPr id="6" name="TextBox 5"/>
          <p:cNvSpPr txBox="1"/>
          <p:nvPr/>
        </p:nvSpPr>
        <p:spPr>
          <a:xfrm>
            <a:off x="1920240" y="1600200"/>
            <a:ext cx="4023360" cy="822960"/>
          </a:xfrm>
          <a:prstGeom prst="rect">
            <a:avLst/>
          </a:prstGeom>
          <a:noFill/>
        </p:spPr>
        <p:txBody>
          <a:bodyPr wrap="square" lIns="0" rIns="0" tIns="0" bIns="0" anchor="ctr">
            <a:spAutoFit/>
          </a:bodyPr>
          <a:lstStyle/>
          <a:p>
            <a:pPr algn="l">
              <a:spcAft>
                <a:spcPts val="400"/>
              </a:spcAft>
            </a:pPr>
            <a:r>
              <a:rPr sz="1700" b="1" i="0">
                <a:solidFill>
                  <a:srgbClr val="FFFFFF"/>
                </a:solidFill>
                <a:latin typeface="Arial"/>
              </a:rPr>
              <a:t>Un ciclo cuya condición NUNCA se vuelve false</a:t>
            </a:r>
          </a:p>
        </p:txBody>
      </p:sp>
      <p:sp>
        <p:nvSpPr>
          <p:cNvPr id="7" name="Rounded Rectangle 6"/>
          <p:cNvSpPr/>
          <p:nvPr/>
        </p:nvSpPr>
        <p:spPr>
          <a:xfrm>
            <a:off x="914400" y="2697480"/>
            <a:ext cx="4937760" cy="1828800"/>
          </a:xfrm>
          <a:prstGeom prst="roundRect">
            <a:avLst>
              <a:gd name="adj" fmla="val 4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880360"/>
            <a:ext cx="4480560" cy="1508760"/>
          </a:xfrm>
          <a:prstGeom prst="rect">
            <a:avLst/>
          </a:prstGeom>
          <a:noFill/>
        </p:spPr>
        <p:txBody>
          <a:bodyPr wrap="square" lIns="0" rIns="0" tIns="0" bIns="0" anchor="t">
            <a:spAutoFit/>
          </a:bodyPr>
          <a:lstStyle/>
          <a:p>
            <a:pPr algn="l">
              <a:spcAft>
                <a:spcPts val="0"/>
              </a:spcAft>
            </a:pPr>
            <a:r>
              <a:rPr sz="1300" b="0" i="0">
                <a:solidFill>
                  <a:srgbClr val="5EC8FF"/>
                </a:solidFill>
                <a:latin typeface="Courier New"/>
              </a:rPr>
              <a:t>int</a:t>
            </a:r>
            <a:r>
              <a:rPr sz="1300" b="0" i="0">
                <a:solidFill>
                  <a:srgbClr val="E6EDF3"/>
                </a:solidFill>
                <a:latin typeface="Courier New"/>
              </a:rPr>
              <a:t> </a:t>
            </a:r>
            <a:r>
              <a:rPr sz="1300" b="0" i="0">
                <a:solidFill>
                  <a:srgbClr val="E6EDF3"/>
                </a:solidFill>
                <a:latin typeface="Courier New"/>
              </a:rPr>
              <a:t>vidas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F78C6C"/>
                </a:solidFill>
                <a:latin typeface="Courier New"/>
              </a:rPr>
              <a:t>3</a:t>
            </a:r>
            <a:r>
              <a:rPr sz="1300" b="0" i="0">
                <a:solidFill>
                  <a:srgbClr val="E6EDF3"/>
                </a:solidFill>
                <a:latin typeface="Courier New"/>
              </a:rPr>
              <a:t>;</a:t>
            </a:r>
          </a:p>
          <a:p>
            <a:pPr algn="l">
              <a:spcAft>
                <a:spcPts val="0"/>
              </a:spcAft>
            </a:pPr>
            <a:r>
              <a:rPr sz="1300" b="0" i="0">
                <a:solidFill>
                  <a:srgbClr val="C792EA"/>
                </a:solidFill>
                <a:latin typeface="Courier New"/>
              </a:rPr>
              <a:t>while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vidas</a:t>
            </a:r>
            <a:r>
              <a:rPr sz="1300" b="0" i="0">
                <a:solidFill>
                  <a:srgbClr val="E6EDF3"/>
                </a:solidFill>
                <a:latin typeface="Courier New"/>
              </a:rPr>
              <a:t> </a:t>
            </a:r>
            <a:r>
              <a:rPr sz="1300" b="0" i="0">
                <a:solidFill>
                  <a:srgbClr val="E6EDF3"/>
                </a:solidFill>
                <a:latin typeface="Courier New"/>
              </a:rPr>
              <a:t>&gt;</a:t>
            </a:r>
            <a:r>
              <a:rPr sz="1300" b="0" i="0">
                <a:solidFill>
                  <a:srgbClr val="E6EDF3"/>
                </a:solidFill>
                <a:latin typeface="Courier New"/>
              </a:rPr>
              <a:t> </a:t>
            </a:r>
            <a:r>
              <a:rPr sz="1300" b="0" i="0">
                <a:solidFill>
                  <a:srgbClr val="F78C6C"/>
                </a:solidFill>
                <a:latin typeface="Courier New"/>
              </a:rPr>
              <a:t>0</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0">
                <a:solidFill>
                  <a:srgbClr val="E6EDF3"/>
                </a:solidFill>
                <a:latin typeface="Courier New"/>
              </a:rPr>
              <a:t>System</a:t>
            </a:r>
            <a:r>
              <a:rPr sz="1300" b="0" i="0">
                <a:solidFill>
                  <a:srgbClr val="E6EDF3"/>
                </a:solidFill>
                <a:latin typeface="Courier New"/>
              </a:rPr>
              <a:t>.</a:t>
            </a:r>
            <a:r>
              <a:rPr sz="1300" b="0" i="0">
                <a:solidFill>
                  <a:srgbClr val="E6EDF3"/>
                </a:solidFill>
                <a:latin typeface="Courier New"/>
              </a:rPr>
              <a:t>out</a:t>
            </a:r>
            <a:r>
              <a:rPr sz="1300" b="0" i="0">
                <a:solidFill>
                  <a:srgbClr val="E6EDF3"/>
                </a:solidFill>
                <a:latin typeface="Courier New"/>
              </a:rPr>
              <a:t>.</a:t>
            </a:r>
            <a:r>
              <a:rPr sz="1300" b="0" i="0">
                <a:solidFill>
                  <a:srgbClr val="E6EDF3"/>
                </a:solidFill>
                <a:latin typeface="Courier New"/>
              </a:rPr>
              <a:t>println</a:t>
            </a:r>
            <a:r>
              <a:rPr sz="1300" b="0" i="0">
                <a:solidFill>
                  <a:srgbClr val="E6EDF3"/>
                </a:solidFill>
                <a:latin typeface="Courier New"/>
              </a:rPr>
              <a:t>(</a:t>
            </a:r>
            <a:r>
              <a:rPr sz="1300" b="0" i="0">
                <a:solidFill>
                  <a:srgbClr val="FFB86B"/>
                </a:solidFill>
                <a:latin typeface="Courier New"/>
              </a:rPr>
              <a:t>"Jugando..."</a:t>
            </a:r>
            <a:r>
              <a:rPr sz="1300" b="0" i="0">
                <a:solidFill>
                  <a:srgbClr val="E6EDF3"/>
                </a:solidFill>
                <a:latin typeface="Courier New"/>
              </a:rPr>
              <a:t>)</a:t>
            </a:r>
            <a:r>
              <a:rPr sz="1300" b="0" i="0">
                <a:solidFill>
                  <a:srgbClr val="E6EDF3"/>
                </a:solidFill>
                <a:latin typeface="Courier New"/>
              </a:rPr>
              <a:t>;</a:t>
            </a:r>
          </a:p>
          <a:p>
            <a:pPr algn="l">
              <a:spcAft>
                <a:spcPts val="0"/>
              </a:spcAft>
            </a:pPr>
            <a:r>
              <a:rPr sz="1300" b="0" i="0">
                <a:solidFill>
                  <a:srgbClr val="E6EDF3"/>
                </a:solidFill>
                <a:latin typeface="Courier New"/>
              </a:rPr>
              <a:t>    </a:t>
            </a:r>
            <a:r>
              <a:rPr sz="1300" b="0" i="1">
                <a:solidFill>
                  <a:srgbClr val="7FD18B"/>
                </a:solidFill>
                <a:latin typeface="Courier New"/>
              </a:rPr>
              <a:t>// ¡olvidamos restar vidas!</a:t>
            </a:r>
          </a:p>
          <a:p>
            <a:pPr algn="l">
              <a:spcAft>
                <a:spcPts val="0"/>
              </a:spcAft>
            </a:pPr>
            <a:r>
              <a:rPr sz="1300" b="0" i="0">
                <a:solidFill>
                  <a:srgbClr val="E6EDF3"/>
                </a:solidFill>
                <a:latin typeface="Courier New"/>
              </a:rPr>
              <a:t>}</a:t>
            </a:r>
          </a:p>
        </p:txBody>
      </p:sp>
      <p:sp>
        <p:nvSpPr>
          <p:cNvPr id="9" name="TextBox 8"/>
          <p:cNvSpPr txBox="1"/>
          <p:nvPr/>
        </p:nvSpPr>
        <p:spPr>
          <a:xfrm>
            <a:off x="914400" y="4663440"/>
            <a:ext cx="4937760" cy="1097280"/>
          </a:xfrm>
          <a:prstGeom prst="rect">
            <a:avLst/>
          </a:prstGeom>
          <a:noFill/>
        </p:spPr>
        <p:txBody>
          <a:bodyPr wrap="square" lIns="0" rIns="0" tIns="0" bIns="0" anchor="t">
            <a:spAutoFit/>
          </a:bodyPr>
          <a:lstStyle/>
          <a:p>
            <a:pPr algn="l">
              <a:spcAft>
                <a:spcPts val="400"/>
              </a:spcAft>
            </a:pPr>
            <a:r>
              <a:rPr sz="1500" b="1" i="0">
                <a:solidFill>
                  <a:srgbClr val="FFC629"/>
                </a:solidFill>
                <a:latin typeface="Arial"/>
              </a:rPr>
              <a:t>Es como decir “una partida más y me voy a dormir”… y seguir jugando hasta las 4 AM.</a:t>
            </a:r>
          </a:p>
        </p:txBody>
      </p:sp>
      <p:sp>
        <p:nvSpPr>
          <p:cNvPr id="10" name="Rounded Rectangle 9"/>
          <p:cNvSpPr/>
          <p:nvPr/>
        </p:nvSpPr>
        <p:spPr>
          <a:xfrm>
            <a:off x="6446520" y="1325880"/>
            <a:ext cx="5120640" cy="2194560"/>
          </a:xfrm>
          <a:prstGeom prst="roundRect">
            <a:avLst>
              <a:gd name="adj" fmla="val 4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75120" y="1444752"/>
            <a:ext cx="4754880" cy="32004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Consola  ▸ Output</a:t>
            </a:r>
          </a:p>
        </p:txBody>
      </p:sp>
      <p:sp>
        <p:nvSpPr>
          <p:cNvPr id="12" name="TextBox 11"/>
          <p:cNvSpPr txBox="1"/>
          <p:nvPr/>
        </p:nvSpPr>
        <p:spPr>
          <a:xfrm>
            <a:off x="6675120" y="1783080"/>
            <a:ext cx="4754880" cy="1645920"/>
          </a:xfrm>
          <a:prstGeom prst="rect">
            <a:avLst/>
          </a:prstGeom>
          <a:noFill/>
        </p:spPr>
        <p:txBody>
          <a:bodyPr wrap="square" lIns="0" rIns="0" tIns="0" bIns="0" anchor="t">
            <a:spAutoFit/>
          </a:bodyPr>
          <a:lstStyle/>
          <a:p>
            <a:pPr algn="l">
              <a:spcAft>
                <a:spcPts val="0"/>
              </a:spcAft>
            </a:pPr>
            <a:r>
              <a:rPr sz="1300" b="0" i="0">
                <a:solidFill>
                  <a:srgbClr val="FF5A5F"/>
                </a:solidFill>
                <a:latin typeface="Courier New"/>
              </a:rPr>
              <a:t>Jugando...</a:t>
            </a:r>
          </a:p>
          <a:p>
            <a:pPr algn="l">
              <a:spcAft>
                <a:spcPts val="0"/>
              </a:spcAft>
            </a:pPr>
            <a:r>
              <a:rPr sz="1300" b="0" i="0">
                <a:solidFill>
                  <a:srgbClr val="FF5A5F"/>
                </a:solidFill>
                <a:latin typeface="Courier New"/>
              </a:rPr>
              <a:t>Jugando...</a:t>
            </a:r>
          </a:p>
          <a:p>
            <a:pPr algn="l">
              <a:spcAft>
                <a:spcPts val="0"/>
              </a:spcAft>
            </a:pPr>
            <a:r>
              <a:rPr sz="1300" b="0" i="0">
                <a:solidFill>
                  <a:srgbClr val="FF5A5F"/>
                </a:solidFill>
                <a:latin typeface="Courier New"/>
              </a:rPr>
              <a:t>Jugando...</a:t>
            </a:r>
          </a:p>
          <a:p>
            <a:pPr algn="l">
              <a:spcAft>
                <a:spcPts val="0"/>
              </a:spcAft>
            </a:pPr>
            <a:r>
              <a:rPr sz="1300" b="0" i="0">
                <a:solidFill>
                  <a:srgbClr val="FF5A5F"/>
                </a:solidFill>
                <a:latin typeface="Courier New"/>
              </a:rPr>
              <a:t>Jugando... (para siempre)</a:t>
            </a:r>
          </a:p>
        </p:txBody>
      </p:sp>
      <p:sp>
        <p:nvSpPr>
          <p:cNvPr id="13" name="Rounded Rectangle 12"/>
          <p:cNvSpPr/>
          <p:nvPr/>
        </p:nvSpPr>
        <p:spPr>
          <a:xfrm>
            <a:off x="6446520" y="3749039"/>
            <a:ext cx="5120640" cy="2103120"/>
          </a:xfrm>
          <a:prstGeom prst="roundRect">
            <a:avLst>
              <a:gd name="adj" fmla="val 7000"/>
            </a:avLst>
          </a:prstGeom>
          <a:solidFill>
            <a:srgbClr val="E3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675120" y="3931920"/>
            <a:ext cx="731520" cy="73152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heck_w.png"/>
          <p:cNvPicPr>
            <a:picLocks noChangeAspect="1"/>
          </p:cNvPicPr>
          <p:nvPr/>
        </p:nvPicPr>
        <p:blipFill>
          <a:blip r:embed="rId3"/>
          <a:stretch>
            <a:fillRect/>
          </a:stretch>
        </p:blipFill>
        <p:spPr>
          <a:xfrm>
            <a:off x="6850684" y="4107484"/>
            <a:ext cx="380390" cy="380390"/>
          </a:xfrm>
          <a:prstGeom prst="rect">
            <a:avLst/>
          </a:prstGeom>
        </p:spPr>
      </p:pic>
      <p:sp>
        <p:nvSpPr>
          <p:cNvPr id="16" name="TextBox 15"/>
          <p:cNvSpPr txBox="1"/>
          <p:nvPr/>
        </p:nvSpPr>
        <p:spPr>
          <a:xfrm>
            <a:off x="7589520" y="3931920"/>
            <a:ext cx="3840480" cy="731520"/>
          </a:xfrm>
          <a:prstGeom prst="rect">
            <a:avLst/>
          </a:prstGeom>
          <a:noFill/>
        </p:spPr>
        <p:txBody>
          <a:bodyPr wrap="square" lIns="0" rIns="0" tIns="0" bIns="0" anchor="ctr">
            <a:spAutoFit/>
          </a:bodyPr>
          <a:lstStyle/>
          <a:p>
            <a:pPr algn="l">
              <a:spcAft>
                <a:spcPts val="400"/>
              </a:spcAft>
            </a:pPr>
            <a:r>
              <a:rPr sz="1600" b="1" i="0">
                <a:solidFill>
                  <a:srgbClr val="0B2A4A"/>
                </a:solidFill>
                <a:latin typeface="Arial"/>
              </a:rPr>
              <a:t>La solución: la condición debe poder cambiar</a:t>
            </a:r>
          </a:p>
        </p:txBody>
      </p:sp>
      <p:sp>
        <p:nvSpPr>
          <p:cNvPr id="17" name="TextBox 16"/>
          <p:cNvSpPr txBox="1"/>
          <p:nvPr/>
        </p:nvSpPr>
        <p:spPr>
          <a:xfrm>
            <a:off x="6675120" y="4800600"/>
            <a:ext cx="4754880" cy="457200"/>
          </a:xfrm>
          <a:prstGeom prst="rect">
            <a:avLst/>
          </a:prstGeom>
          <a:noFill/>
        </p:spPr>
        <p:txBody>
          <a:bodyPr wrap="square" lIns="0" rIns="0" tIns="0" bIns="0" anchor="t">
            <a:spAutoFit/>
          </a:bodyPr>
          <a:lstStyle/>
          <a:p>
            <a:pPr algn="l">
              <a:spcAft>
                <a:spcPts val="400"/>
              </a:spcAft>
            </a:pPr>
            <a:r>
              <a:rPr sz="1600" b="1" i="0">
                <a:solidFill>
                  <a:srgbClr val="1FB58F"/>
                </a:solidFill>
                <a:latin typeface="Courier New"/>
              </a:rPr>
              <a:t>vidas--;</a:t>
            </a:r>
            <a:r>
              <a:rPr sz="1600" b="0" i="0">
                <a:solidFill>
                  <a:srgbClr val="4A5A6A"/>
                </a:solidFill>
                <a:latin typeface="Arial"/>
              </a:rPr>
              <a:t>  dentro del ciclo</a:t>
            </a:r>
          </a:p>
        </p:txBody>
      </p:sp>
      <p:sp>
        <p:nvSpPr>
          <p:cNvPr id="18" name="TextBox 17"/>
          <p:cNvSpPr txBox="1"/>
          <p:nvPr/>
        </p:nvSpPr>
        <p:spPr>
          <a:xfrm>
            <a:off x="6675120" y="5257800"/>
            <a:ext cx="4754880" cy="45720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En NetBeans: botón rojo </a:t>
            </a:r>
            <a:r>
              <a:rPr sz="1400" b="1" i="0">
                <a:solidFill>
                  <a:srgbClr val="4A5A6A"/>
                </a:solidFill>
                <a:latin typeface="Arial"/>
              </a:rPr>
              <a:t>Stop</a:t>
            </a:r>
            <a:r>
              <a:rPr sz="1400" b="0" i="0">
                <a:solidFill>
                  <a:srgbClr val="4A5A6A"/>
                </a:solidFill>
                <a:latin typeface="Arial"/>
              </a:rPr>
              <a:t> para detenerlo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¿Qué ciclo elijo? Tu guía rápida</a:t>
            </a:r>
          </a:p>
        </p:txBody>
      </p:sp>
      <p:sp>
        <p:nvSpPr>
          <p:cNvPr id="3" name="Rounded Rectangle 2"/>
          <p:cNvSpPr/>
          <p:nvPr/>
        </p:nvSpPr>
        <p:spPr>
          <a:xfrm>
            <a:off x="640080" y="1371600"/>
            <a:ext cx="6583680" cy="11887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68680" y="1645920"/>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645920"/>
            <a:ext cx="640080" cy="640080"/>
          </a:xfrm>
          <a:prstGeom prst="rect">
            <a:avLst/>
          </a:prstGeom>
          <a:noFill/>
        </p:spPr>
        <p:txBody>
          <a:bodyPr wrap="square" lIns="0" rIns="0" tIns="0" bIns="0" anchor="ctr">
            <a:spAutoFit/>
          </a:bodyPr>
          <a:lstStyle/>
          <a:p>
            <a:pPr algn="ctr">
              <a:spcAft>
                <a:spcPts val="400"/>
              </a:spcAft>
            </a:pPr>
            <a:r>
              <a:rPr sz="2000" b="1" i="0">
                <a:solidFill>
                  <a:srgbClr val="FFFFFF"/>
                </a:solidFill>
                <a:latin typeface="Arial"/>
              </a:rPr>
              <a:t>1</a:t>
            </a:r>
          </a:p>
        </p:txBody>
      </p:sp>
      <p:sp>
        <p:nvSpPr>
          <p:cNvPr id="6" name="TextBox 5"/>
          <p:cNvSpPr txBox="1"/>
          <p:nvPr/>
        </p:nvSpPr>
        <p:spPr>
          <a:xfrm>
            <a:off x="1737360" y="1371600"/>
            <a:ext cx="5394960" cy="118872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¿Sabes exactamente cuántas veces se repite?</a:t>
            </a:r>
          </a:p>
        </p:txBody>
      </p:sp>
      <p:cxnSp>
        <p:nvCxnSpPr>
          <p:cNvPr id="7" name="Connector 6"/>
          <p:cNvCxnSpPr/>
          <p:nvPr/>
        </p:nvCxnSpPr>
        <p:spPr>
          <a:xfrm>
            <a:off x="7360920" y="1965960"/>
            <a:ext cx="640080" cy="0"/>
          </a:xfrm>
          <a:prstGeom prst="line">
            <a:avLst/>
          </a:prstGeom>
          <a:ln w="38100">
            <a:solidFill>
              <a:srgbClr val="FF5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138160" y="1371600"/>
            <a:ext cx="3429000" cy="1188720"/>
          </a:xfrm>
          <a:prstGeom prst="roundRect">
            <a:avLst>
              <a:gd name="adj" fmla="val 12000"/>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0" y="1481328"/>
            <a:ext cx="3429000" cy="594360"/>
          </a:xfrm>
          <a:prstGeom prst="rect">
            <a:avLst/>
          </a:prstGeom>
          <a:noFill/>
        </p:spPr>
        <p:txBody>
          <a:bodyPr wrap="square" lIns="0" rIns="0" tIns="0" bIns="0" anchor="ctr">
            <a:spAutoFit/>
          </a:bodyPr>
          <a:lstStyle/>
          <a:p>
            <a:pPr algn="ctr">
              <a:spcAft>
                <a:spcPts val="400"/>
              </a:spcAft>
            </a:pPr>
            <a:r>
              <a:rPr sz="2600" b="1" i="0">
                <a:solidFill>
                  <a:srgbClr val="FFFFFF"/>
                </a:solidFill>
                <a:latin typeface="Courier New"/>
              </a:rPr>
              <a:t>for</a:t>
            </a:r>
          </a:p>
        </p:txBody>
      </p:sp>
      <p:sp>
        <p:nvSpPr>
          <p:cNvPr id="10" name="TextBox 9"/>
          <p:cNvSpPr txBox="1"/>
          <p:nvPr/>
        </p:nvSpPr>
        <p:spPr>
          <a:xfrm>
            <a:off x="8138160" y="2057400"/>
            <a:ext cx="3429000" cy="365760"/>
          </a:xfrm>
          <a:prstGeom prst="rect">
            <a:avLst/>
          </a:prstGeom>
          <a:noFill/>
        </p:spPr>
        <p:txBody>
          <a:bodyPr wrap="square" lIns="0" rIns="0" tIns="0" bIns="0" anchor="t">
            <a:spAutoFit/>
          </a:bodyPr>
          <a:lstStyle/>
          <a:p>
            <a:pPr algn="ctr">
              <a:spcAft>
                <a:spcPts val="400"/>
              </a:spcAft>
            </a:pPr>
            <a:r>
              <a:rPr sz="1400" b="0" i="0">
                <a:solidFill>
                  <a:srgbClr val="FFFFFF"/>
                </a:solidFill>
                <a:latin typeface="Arial"/>
              </a:rPr>
              <a:t>1 → valor conocido</a:t>
            </a:r>
          </a:p>
        </p:txBody>
      </p:sp>
      <p:sp>
        <p:nvSpPr>
          <p:cNvPr id="11" name="Rounded Rectangle 10"/>
          <p:cNvSpPr/>
          <p:nvPr/>
        </p:nvSpPr>
        <p:spPr>
          <a:xfrm>
            <a:off x="640080" y="2834640"/>
            <a:ext cx="6583680" cy="11887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68680" y="3108960"/>
            <a:ext cx="640080" cy="64008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3108960"/>
            <a:ext cx="640080" cy="640080"/>
          </a:xfrm>
          <a:prstGeom prst="rect">
            <a:avLst/>
          </a:prstGeom>
          <a:noFill/>
        </p:spPr>
        <p:txBody>
          <a:bodyPr wrap="square" lIns="0" rIns="0" tIns="0" bIns="0" anchor="ctr">
            <a:spAutoFit/>
          </a:bodyPr>
          <a:lstStyle/>
          <a:p>
            <a:pPr algn="ctr">
              <a:spcAft>
                <a:spcPts val="400"/>
              </a:spcAft>
            </a:pPr>
            <a:r>
              <a:rPr sz="2000" b="1" i="0">
                <a:solidFill>
                  <a:srgbClr val="FFFFFF"/>
                </a:solidFill>
                <a:latin typeface="Arial"/>
              </a:rPr>
              <a:t>2</a:t>
            </a:r>
          </a:p>
        </p:txBody>
      </p:sp>
      <p:sp>
        <p:nvSpPr>
          <p:cNvPr id="14" name="TextBox 13"/>
          <p:cNvSpPr txBox="1"/>
          <p:nvPr/>
        </p:nvSpPr>
        <p:spPr>
          <a:xfrm>
            <a:off x="1737360" y="2834640"/>
            <a:ext cx="5394960" cy="118872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¿Debe ejecutarse al menos una vez?</a:t>
            </a:r>
          </a:p>
        </p:txBody>
      </p:sp>
      <p:cxnSp>
        <p:nvCxnSpPr>
          <p:cNvPr id="15" name="Connector 14"/>
          <p:cNvCxnSpPr/>
          <p:nvPr/>
        </p:nvCxnSpPr>
        <p:spPr>
          <a:xfrm>
            <a:off x="7360920" y="3429000"/>
            <a:ext cx="640080" cy="0"/>
          </a:xfrm>
          <a:prstGeom prst="line">
            <a:avLst/>
          </a:prstGeom>
          <a:ln w="38100">
            <a:solidFill>
              <a:srgbClr val="7B5CF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138160" y="2834640"/>
            <a:ext cx="3429000" cy="1188720"/>
          </a:xfrm>
          <a:prstGeom prst="roundRect">
            <a:avLst>
              <a:gd name="adj" fmla="val 12000"/>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38160" y="2944368"/>
            <a:ext cx="3429000" cy="594360"/>
          </a:xfrm>
          <a:prstGeom prst="rect">
            <a:avLst/>
          </a:prstGeom>
          <a:noFill/>
        </p:spPr>
        <p:txBody>
          <a:bodyPr wrap="square" lIns="0" rIns="0" tIns="0" bIns="0" anchor="ctr">
            <a:spAutoFit/>
          </a:bodyPr>
          <a:lstStyle/>
          <a:p>
            <a:pPr algn="ctr">
              <a:spcAft>
                <a:spcPts val="400"/>
              </a:spcAft>
            </a:pPr>
            <a:r>
              <a:rPr sz="2600" b="1" i="0">
                <a:solidFill>
                  <a:srgbClr val="FFFFFF"/>
                </a:solidFill>
                <a:latin typeface="Courier New"/>
              </a:rPr>
              <a:t>do-while</a:t>
            </a:r>
          </a:p>
        </p:txBody>
      </p:sp>
      <p:sp>
        <p:nvSpPr>
          <p:cNvPr id="18" name="TextBox 17"/>
          <p:cNvSpPr txBox="1"/>
          <p:nvPr/>
        </p:nvSpPr>
        <p:spPr>
          <a:xfrm>
            <a:off x="8138160" y="3520440"/>
            <a:ext cx="3429000" cy="365760"/>
          </a:xfrm>
          <a:prstGeom prst="rect">
            <a:avLst/>
          </a:prstGeom>
          <a:noFill/>
        </p:spPr>
        <p:txBody>
          <a:bodyPr wrap="square" lIns="0" rIns="0" tIns="0" bIns="0" anchor="t">
            <a:spAutoFit/>
          </a:bodyPr>
          <a:lstStyle/>
          <a:p>
            <a:pPr algn="ctr">
              <a:spcAft>
                <a:spcPts val="400"/>
              </a:spcAft>
            </a:pPr>
            <a:r>
              <a:rPr sz="1400" b="0" i="0">
                <a:solidFill>
                  <a:srgbClr val="FFFFFF"/>
                </a:solidFill>
                <a:latin typeface="Arial"/>
              </a:rPr>
              <a:t>1 → n</a:t>
            </a:r>
          </a:p>
        </p:txBody>
      </p:sp>
      <p:sp>
        <p:nvSpPr>
          <p:cNvPr id="19" name="Rounded Rectangle 18"/>
          <p:cNvSpPr/>
          <p:nvPr/>
        </p:nvSpPr>
        <p:spPr>
          <a:xfrm>
            <a:off x="640080" y="4297680"/>
            <a:ext cx="6583680" cy="118872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8680" y="4572000"/>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4572000"/>
            <a:ext cx="640080" cy="640080"/>
          </a:xfrm>
          <a:prstGeom prst="rect">
            <a:avLst/>
          </a:prstGeom>
          <a:noFill/>
        </p:spPr>
        <p:txBody>
          <a:bodyPr wrap="square" lIns="0" rIns="0" tIns="0" bIns="0" anchor="ctr">
            <a:spAutoFit/>
          </a:bodyPr>
          <a:lstStyle/>
          <a:p>
            <a:pPr algn="ctr">
              <a:spcAft>
                <a:spcPts val="400"/>
              </a:spcAft>
            </a:pPr>
            <a:r>
              <a:rPr sz="2000" b="1" i="0">
                <a:solidFill>
                  <a:srgbClr val="FFFFFF"/>
                </a:solidFill>
                <a:latin typeface="Arial"/>
              </a:rPr>
              <a:t>3</a:t>
            </a:r>
          </a:p>
        </p:txBody>
      </p:sp>
      <p:sp>
        <p:nvSpPr>
          <p:cNvPr id="22" name="TextBox 21"/>
          <p:cNvSpPr txBox="1"/>
          <p:nvPr/>
        </p:nvSpPr>
        <p:spPr>
          <a:xfrm>
            <a:off x="1737360" y="4297680"/>
            <a:ext cx="5394960" cy="1188720"/>
          </a:xfrm>
          <a:prstGeom prst="rect">
            <a:avLst/>
          </a:prstGeom>
          <a:noFill/>
        </p:spPr>
        <p:txBody>
          <a:bodyPr wrap="square" lIns="0" rIns="0" tIns="0" bIns="0" anchor="ctr">
            <a:spAutoFit/>
          </a:bodyPr>
          <a:lstStyle/>
          <a:p>
            <a:pPr algn="l">
              <a:spcAft>
                <a:spcPts val="400"/>
              </a:spcAft>
            </a:pPr>
            <a:r>
              <a:rPr sz="1800" b="1" i="0">
                <a:solidFill>
                  <a:srgbClr val="0B2A4A"/>
                </a:solidFill>
                <a:latin typeface="Arial"/>
              </a:rPr>
              <a:t>¿Podría no ejecutarse nunca?</a:t>
            </a:r>
          </a:p>
        </p:txBody>
      </p:sp>
      <p:cxnSp>
        <p:nvCxnSpPr>
          <p:cNvPr id="23" name="Connector 22"/>
          <p:cNvCxnSpPr/>
          <p:nvPr/>
        </p:nvCxnSpPr>
        <p:spPr>
          <a:xfrm>
            <a:off x="7360920" y="4892040"/>
            <a:ext cx="640080" cy="0"/>
          </a:xfrm>
          <a:prstGeom prst="line">
            <a:avLst/>
          </a:prstGeom>
          <a:ln w="38100">
            <a:solidFill>
              <a:srgbClr val="257CE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38160" y="4297680"/>
            <a:ext cx="3429000" cy="1188720"/>
          </a:xfrm>
          <a:prstGeom prst="roundRect">
            <a:avLst>
              <a:gd name="adj" fmla="val 12000"/>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38160" y="4407408"/>
            <a:ext cx="3429000" cy="594360"/>
          </a:xfrm>
          <a:prstGeom prst="rect">
            <a:avLst/>
          </a:prstGeom>
          <a:noFill/>
        </p:spPr>
        <p:txBody>
          <a:bodyPr wrap="square" lIns="0" rIns="0" tIns="0" bIns="0" anchor="ctr">
            <a:spAutoFit/>
          </a:bodyPr>
          <a:lstStyle/>
          <a:p>
            <a:pPr algn="ctr">
              <a:spcAft>
                <a:spcPts val="400"/>
              </a:spcAft>
            </a:pPr>
            <a:r>
              <a:rPr sz="2600" b="1" i="0">
                <a:solidFill>
                  <a:srgbClr val="FFFFFF"/>
                </a:solidFill>
                <a:latin typeface="Courier New"/>
              </a:rPr>
              <a:t>while</a:t>
            </a:r>
          </a:p>
        </p:txBody>
      </p:sp>
      <p:sp>
        <p:nvSpPr>
          <p:cNvPr id="26" name="TextBox 25"/>
          <p:cNvSpPr txBox="1"/>
          <p:nvPr/>
        </p:nvSpPr>
        <p:spPr>
          <a:xfrm>
            <a:off x="8138160" y="4983480"/>
            <a:ext cx="3429000" cy="365760"/>
          </a:xfrm>
          <a:prstGeom prst="rect">
            <a:avLst/>
          </a:prstGeom>
          <a:noFill/>
        </p:spPr>
        <p:txBody>
          <a:bodyPr wrap="square" lIns="0" rIns="0" tIns="0" bIns="0" anchor="t">
            <a:spAutoFit/>
          </a:bodyPr>
          <a:lstStyle/>
          <a:p>
            <a:pPr algn="ctr">
              <a:spcAft>
                <a:spcPts val="400"/>
              </a:spcAft>
            </a:pPr>
            <a:r>
              <a:rPr sz="1400" b="0" i="0">
                <a:solidFill>
                  <a:srgbClr val="FFFFFF"/>
                </a:solidFill>
                <a:latin typeface="Arial"/>
              </a:rPr>
              <a:t>0 → n</a:t>
            </a:r>
          </a:p>
        </p:txBody>
      </p:sp>
      <p:sp>
        <p:nvSpPr>
          <p:cNvPr id="27" name="Rounded Rectangle 26"/>
          <p:cNvSpPr/>
          <p:nvPr/>
        </p:nvSpPr>
        <p:spPr>
          <a:xfrm>
            <a:off x="1463040" y="5760720"/>
            <a:ext cx="8503920" cy="502920"/>
          </a:xfrm>
          <a:prstGeom prst="roundRect">
            <a:avLst>
              <a:gd name="adj" fmla="val 50000"/>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ightbulb_n.png"/>
          <p:cNvPicPr>
            <a:picLocks noChangeAspect="1"/>
          </p:cNvPicPr>
          <p:nvPr/>
        </p:nvPicPr>
        <p:blipFill>
          <a:blip r:embed="rId2"/>
          <a:stretch>
            <a:fillRect/>
          </a:stretch>
        </p:blipFill>
        <p:spPr>
          <a:xfrm>
            <a:off x="1600200" y="5806440"/>
            <a:ext cx="411480" cy="411480"/>
          </a:xfrm>
          <a:prstGeom prst="rect">
            <a:avLst/>
          </a:prstGeom>
        </p:spPr>
      </p:pic>
      <p:sp>
        <p:nvSpPr>
          <p:cNvPr id="29" name="TextBox 28"/>
          <p:cNvSpPr txBox="1"/>
          <p:nvPr/>
        </p:nvSpPr>
        <p:spPr>
          <a:xfrm>
            <a:off x="2148840" y="5760720"/>
            <a:ext cx="7635240" cy="502920"/>
          </a:xfrm>
          <a:prstGeom prst="rect">
            <a:avLst/>
          </a:prstGeom>
          <a:noFill/>
        </p:spPr>
        <p:txBody>
          <a:bodyPr wrap="square" lIns="0" rIns="0" tIns="0" bIns="0" anchor="ctr">
            <a:spAutoFit/>
          </a:bodyPr>
          <a:lstStyle/>
          <a:p>
            <a:pPr algn="l">
              <a:spcAft>
                <a:spcPts val="400"/>
              </a:spcAft>
            </a:pPr>
            <a:r>
              <a:rPr sz="1500" b="1" i="0">
                <a:solidFill>
                  <a:srgbClr val="0B2A4A"/>
                </a:solidFill>
                <a:latin typeface="Arial"/>
              </a:rPr>
              <a:t>Si la respuesta es NO, pasa a la siguiente pregunta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135200" y="4491779"/>
            <a:ext cx="6302645" cy="1231797"/>
          </a:xfrm>
        </p:spPr>
        <p:txBody>
          <a:bodyPr/>
          <a:lstStyle/>
          <a:p>
            <a:r>
              <a:rPr lang="es-CL" sz="4002" dirty="0"/>
              <a:t>¡A JUGAR! DESAFÍOS</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5512534" y="3752454"/>
            <a:ext cx="1155194" cy="89575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5821" dirty="0">
                <a:latin typeface="Arial Black" panose="020B0604020202020204" pitchFamily="34" charset="0"/>
                <a:cs typeface="Arial Black" panose="020B0604020202020204" pitchFamily="34" charset="0"/>
              </a:rPr>
              <a:t>03</a:t>
            </a:r>
          </a:p>
        </p:txBody>
      </p:sp>
    </p:spTree>
    <p:extLst>
      <p:ext uri="{BB962C8B-B14F-4D97-AF65-F5344CB8AC3E}">
        <p14:creationId xmlns:p14="http://schemas.microsoft.com/office/powerpoint/2010/main" val="117780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Desafío relámpago: ¡predice la salida!</a:t>
            </a:r>
          </a:p>
        </p:txBody>
      </p:sp>
      <p:sp>
        <p:nvSpPr>
          <p:cNvPr id="3" name="TextBox 2"/>
          <p:cNvSpPr txBox="1"/>
          <p:nvPr/>
        </p:nvSpPr>
        <p:spPr>
          <a:xfrm>
            <a:off x="640080" y="1234440"/>
            <a:ext cx="10972800" cy="457200"/>
          </a:xfrm>
          <a:prstGeom prst="rect">
            <a:avLst/>
          </a:prstGeom>
          <a:noFill/>
        </p:spPr>
        <p:txBody>
          <a:bodyPr wrap="square" lIns="0" rIns="0" tIns="0" bIns="0" anchor="t">
            <a:spAutoFit/>
          </a:bodyPr>
          <a:lstStyle/>
          <a:p>
            <a:pPr algn="l">
              <a:spcAft>
                <a:spcPts val="400"/>
              </a:spcAft>
            </a:pPr>
            <a:r>
              <a:rPr sz="1800" b="1" i="0">
                <a:solidFill>
                  <a:srgbClr val="FF5A5F"/>
                </a:solidFill>
                <a:latin typeface="Arial"/>
              </a:rPr>
              <a:t>En equipos: </a:t>
            </a:r>
            <a:r>
              <a:rPr sz="1800" b="0" i="0">
                <a:solidFill>
                  <a:srgbClr val="4A5A6A"/>
                </a:solidFill>
                <a:latin typeface="Arial"/>
              </a:rPr>
              <a:t>lean el código SIN ejecutarlo. 1 punto por respuesta correcta.</a:t>
            </a:r>
          </a:p>
        </p:txBody>
      </p:sp>
      <p:sp>
        <p:nvSpPr>
          <p:cNvPr id="4" name="Oval 3"/>
          <p:cNvSpPr/>
          <p:nvPr/>
        </p:nvSpPr>
        <p:spPr>
          <a:xfrm>
            <a:off x="640080" y="1874519"/>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874519"/>
            <a:ext cx="640080" cy="640080"/>
          </a:xfrm>
          <a:prstGeom prst="rect">
            <a:avLst/>
          </a:prstGeom>
          <a:noFill/>
        </p:spPr>
        <p:txBody>
          <a:bodyPr wrap="square" lIns="0" rIns="0" tIns="0" bIns="0" anchor="ctr">
            <a:spAutoFit/>
          </a:bodyPr>
          <a:lstStyle/>
          <a:p>
            <a:pPr algn="ctr">
              <a:spcAft>
                <a:spcPts val="400"/>
              </a:spcAft>
            </a:pPr>
            <a:r>
              <a:rPr sz="2200" b="1" i="0">
                <a:solidFill>
                  <a:srgbClr val="FFFFFF"/>
                </a:solidFill>
                <a:latin typeface="Arial"/>
              </a:rPr>
              <a:t>A</a:t>
            </a:r>
          </a:p>
        </p:txBody>
      </p:sp>
      <p:sp>
        <p:nvSpPr>
          <p:cNvPr id="6" name="TextBox 5"/>
          <p:cNvSpPr txBox="1"/>
          <p:nvPr/>
        </p:nvSpPr>
        <p:spPr>
          <a:xfrm>
            <a:off x="1417319" y="1874519"/>
            <a:ext cx="2651760" cy="640080"/>
          </a:xfrm>
          <a:prstGeom prst="rect">
            <a:avLst/>
          </a:prstGeom>
          <a:noFill/>
        </p:spPr>
        <p:txBody>
          <a:bodyPr wrap="square" lIns="0" rIns="0" tIns="0" bIns="0" anchor="ctr">
            <a:spAutoFit/>
          </a:bodyPr>
          <a:lstStyle/>
          <a:p>
            <a:pPr algn="l">
              <a:spcAft>
                <a:spcPts val="400"/>
              </a:spcAft>
            </a:pPr>
            <a:r>
              <a:rPr sz="1600" b="1" i="0">
                <a:solidFill>
                  <a:srgbClr val="257CE1"/>
                </a:solidFill>
                <a:latin typeface="Arial"/>
              </a:rPr>
              <a:t>Nivel fácil</a:t>
            </a:r>
          </a:p>
        </p:txBody>
      </p:sp>
      <p:sp>
        <p:nvSpPr>
          <p:cNvPr id="7" name="Rounded Rectangle 6"/>
          <p:cNvSpPr/>
          <p:nvPr/>
        </p:nvSpPr>
        <p:spPr>
          <a:xfrm>
            <a:off x="640080" y="2697480"/>
            <a:ext cx="3474720" cy="219456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2880360"/>
            <a:ext cx="3017520" cy="1874519"/>
          </a:xfrm>
          <a:prstGeom prst="rect">
            <a:avLst/>
          </a:prstGeom>
          <a:noFill/>
        </p:spPr>
        <p:txBody>
          <a:bodyPr wrap="square" lIns="0" rIns="0" tIns="0" bIns="0" anchor="t">
            <a:spAutoFit/>
          </a:bodyPr>
          <a:lstStyle/>
          <a:p>
            <a:pPr algn="l">
              <a:spcAft>
                <a:spcPts val="0"/>
              </a:spcAft>
            </a:pPr>
            <a:r>
              <a:rPr sz="1200" b="0" i="0">
                <a:solidFill>
                  <a:srgbClr val="5EC8FF"/>
                </a:solidFill>
                <a:latin typeface="Courier New"/>
              </a:rPr>
              <a:t>int</a:t>
            </a:r>
            <a:r>
              <a:rPr sz="1200" b="0" i="0">
                <a:solidFill>
                  <a:srgbClr val="E6EDF3"/>
                </a:solidFill>
                <a:latin typeface="Courier New"/>
              </a:rPr>
              <a:t> </a:t>
            </a:r>
            <a:r>
              <a:rPr sz="1200" b="0" i="0">
                <a:solidFill>
                  <a:srgbClr val="E6EDF3"/>
                </a:solidFill>
                <a:latin typeface="Courier New"/>
              </a:rPr>
              <a:t>x</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78C6C"/>
                </a:solidFill>
                <a:latin typeface="Courier New"/>
              </a:rPr>
              <a:t>7</a:t>
            </a:r>
            <a:r>
              <a:rPr sz="1200" b="0" i="0">
                <a:solidFill>
                  <a:srgbClr val="E6EDF3"/>
                </a:solidFill>
                <a:latin typeface="Courier New"/>
              </a:rPr>
              <a:t>;</a:t>
            </a:r>
          </a:p>
          <a:p>
            <a:pPr algn="l">
              <a:spcAft>
                <a:spcPts val="0"/>
              </a:spcAft>
            </a:pPr>
            <a:r>
              <a:rPr sz="1200" b="0" i="0">
                <a:solidFill>
                  <a:srgbClr val="C792EA"/>
                </a:solidFill>
                <a:latin typeface="Courier New"/>
              </a:rPr>
              <a:t>if</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x</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78C6C"/>
                </a:solidFill>
                <a:latin typeface="Courier New"/>
              </a:rPr>
              <a:t>2</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F78C6C"/>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System</a:t>
            </a:r>
            <a:r>
              <a:rPr sz="1200" b="0" i="0">
                <a:solidFill>
                  <a:srgbClr val="E6EDF3"/>
                </a:solidFill>
                <a:latin typeface="Courier New"/>
              </a:rPr>
              <a:t>.</a:t>
            </a:r>
            <a:r>
              <a:rPr sz="1200" b="0" i="0">
                <a:solidFill>
                  <a:srgbClr val="E6EDF3"/>
                </a:solidFill>
                <a:latin typeface="Courier New"/>
              </a:rPr>
              <a:t>out</a:t>
            </a:r>
            <a:r>
              <a:rPr sz="1200" b="0" i="0">
                <a:solidFill>
                  <a:srgbClr val="E6EDF3"/>
                </a:solidFill>
                <a:latin typeface="Courier New"/>
              </a:rPr>
              <a:t>.</a:t>
            </a:r>
            <a:r>
              <a:rPr sz="1200" b="0" i="0">
                <a:solidFill>
                  <a:srgbClr val="E6EDF3"/>
                </a:solidFill>
                <a:latin typeface="Courier New"/>
              </a:rPr>
              <a:t>println</a:t>
            </a:r>
            <a:r>
              <a:rPr sz="1200" b="0" i="0">
                <a:solidFill>
                  <a:srgbClr val="E6EDF3"/>
                </a:solidFill>
                <a:latin typeface="Courier New"/>
              </a:rPr>
              <a:t>(</a:t>
            </a:r>
            <a:r>
              <a:rPr sz="1200" b="0" i="0">
                <a:solidFill>
                  <a:srgbClr val="FFB86B"/>
                </a:solidFill>
                <a:latin typeface="Courier New"/>
              </a:rPr>
              <a:t>"Par"</a:t>
            </a:r>
            <a:r>
              <a:rPr sz="1200" b="0" i="0">
                <a:solidFill>
                  <a:srgbClr val="E6EDF3"/>
                </a:solidFill>
                <a:latin typeface="Courier New"/>
              </a:rPr>
              <a:t>)</a:t>
            </a:r>
            <a:r>
              <a:rPr sz="1200" b="0" i="0">
                <a:solidFill>
                  <a:srgbClr val="E6EDF3"/>
                </a:solidFill>
                <a:latin typeface="Courier New"/>
              </a:rPr>
              <a:t>;</a:t>
            </a:r>
          </a:p>
          <a:p>
            <a:pPr algn="l">
              <a:spcAft>
                <a:spcPts val="0"/>
              </a:spcAft>
            </a:pPr>
            <a:r>
              <a:rPr sz="1200" b="0" i="0">
                <a:solidFill>
                  <a:srgbClr val="E6EDF3"/>
                </a:solidFill>
                <a:latin typeface="Courier New"/>
              </a:rPr>
              <a:t>}</a:t>
            </a:r>
            <a:r>
              <a:rPr sz="1200" b="0" i="0">
                <a:solidFill>
                  <a:srgbClr val="E6EDF3"/>
                </a:solidFill>
                <a:latin typeface="Courier New"/>
              </a:rPr>
              <a:t> </a:t>
            </a:r>
            <a:r>
              <a:rPr sz="1200" b="0" i="0">
                <a:solidFill>
                  <a:srgbClr val="C792EA"/>
                </a:solidFill>
                <a:latin typeface="Courier New"/>
              </a:rPr>
              <a:t>else</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System</a:t>
            </a:r>
            <a:r>
              <a:rPr sz="1200" b="0" i="0">
                <a:solidFill>
                  <a:srgbClr val="E6EDF3"/>
                </a:solidFill>
                <a:latin typeface="Courier New"/>
              </a:rPr>
              <a:t>.</a:t>
            </a:r>
            <a:r>
              <a:rPr sz="1200" b="0" i="0">
                <a:solidFill>
                  <a:srgbClr val="E6EDF3"/>
                </a:solidFill>
                <a:latin typeface="Courier New"/>
              </a:rPr>
              <a:t>out</a:t>
            </a:r>
            <a:r>
              <a:rPr sz="1200" b="0" i="0">
                <a:solidFill>
                  <a:srgbClr val="E6EDF3"/>
                </a:solidFill>
                <a:latin typeface="Courier New"/>
              </a:rPr>
              <a:t>.</a:t>
            </a:r>
            <a:r>
              <a:rPr sz="1200" b="0" i="0">
                <a:solidFill>
                  <a:srgbClr val="E6EDF3"/>
                </a:solidFill>
                <a:latin typeface="Courier New"/>
              </a:rPr>
              <a:t>println</a:t>
            </a:r>
            <a:r>
              <a:rPr sz="1200" b="0" i="0">
                <a:solidFill>
                  <a:srgbClr val="E6EDF3"/>
                </a:solidFill>
                <a:latin typeface="Courier New"/>
              </a:rPr>
              <a:t>(</a:t>
            </a:r>
            <a:r>
              <a:rPr sz="1200" b="0" i="0">
                <a:solidFill>
                  <a:srgbClr val="FFB86B"/>
                </a:solidFill>
                <a:latin typeface="Courier New"/>
              </a:rPr>
              <a:t>"Impar"</a:t>
            </a:r>
            <a:r>
              <a:rPr sz="1200" b="0" i="0">
                <a:solidFill>
                  <a:srgbClr val="E6EDF3"/>
                </a:solidFill>
                <a:latin typeface="Courier New"/>
              </a:rPr>
              <a:t>)</a:t>
            </a:r>
            <a:r>
              <a:rPr sz="1200" b="0" i="0">
                <a:solidFill>
                  <a:srgbClr val="E6EDF3"/>
                </a:solidFill>
                <a:latin typeface="Courier New"/>
              </a:rPr>
              <a:t>;</a:t>
            </a:r>
          </a:p>
          <a:p>
            <a:pPr algn="l">
              <a:spcAft>
                <a:spcPts val="0"/>
              </a:spcAft>
            </a:pPr>
            <a:r>
              <a:rPr sz="1200" b="0" i="0">
                <a:solidFill>
                  <a:srgbClr val="E6EDF3"/>
                </a:solidFill>
                <a:latin typeface="Courier New"/>
              </a:rPr>
              <a:t>}</a:t>
            </a:r>
          </a:p>
        </p:txBody>
      </p:sp>
      <p:sp>
        <p:nvSpPr>
          <p:cNvPr id="9" name="Rounded Rectangle 8"/>
          <p:cNvSpPr/>
          <p:nvPr/>
        </p:nvSpPr>
        <p:spPr>
          <a:xfrm>
            <a:off x="640080" y="5074920"/>
            <a:ext cx="3474720" cy="822960"/>
          </a:xfrm>
          <a:prstGeom prst="roundRect">
            <a:avLst>
              <a:gd name="adj" fmla="val 8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5074920"/>
            <a:ext cx="3017520" cy="822960"/>
          </a:xfrm>
          <a:prstGeom prst="rect">
            <a:avLst/>
          </a:prstGeom>
          <a:noFill/>
        </p:spPr>
        <p:txBody>
          <a:bodyPr wrap="square" lIns="0" rIns="0" tIns="0" bIns="0" anchor="ctr">
            <a:spAutoFit/>
          </a:bodyPr>
          <a:lstStyle/>
          <a:p>
            <a:pPr algn="l">
              <a:spcAft>
                <a:spcPts val="400"/>
              </a:spcAft>
            </a:pPr>
            <a:r>
              <a:rPr sz="1600" b="0" i="0">
                <a:solidFill>
                  <a:srgbClr val="1FB58F"/>
                </a:solidFill>
                <a:latin typeface="Courier New"/>
              </a:rPr>
              <a:t>&gt; </a:t>
            </a:r>
            <a:r>
              <a:rPr sz="2600" b="1" i="0">
                <a:solidFill>
                  <a:srgbClr val="FFC629"/>
                </a:solidFill>
                <a:latin typeface="Courier New"/>
              </a:rPr>
              <a:t>?</a:t>
            </a:r>
          </a:p>
        </p:txBody>
      </p:sp>
      <p:sp>
        <p:nvSpPr>
          <p:cNvPr id="11" name="Oval 10"/>
          <p:cNvSpPr/>
          <p:nvPr/>
        </p:nvSpPr>
        <p:spPr>
          <a:xfrm>
            <a:off x="4343400" y="1874519"/>
            <a:ext cx="640080" cy="64008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43400" y="1874519"/>
            <a:ext cx="640080" cy="640080"/>
          </a:xfrm>
          <a:prstGeom prst="rect">
            <a:avLst/>
          </a:prstGeom>
          <a:noFill/>
        </p:spPr>
        <p:txBody>
          <a:bodyPr wrap="square" lIns="0" rIns="0" tIns="0" bIns="0" anchor="ctr">
            <a:spAutoFit/>
          </a:bodyPr>
          <a:lstStyle/>
          <a:p>
            <a:pPr algn="ctr">
              <a:spcAft>
                <a:spcPts val="400"/>
              </a:spcAft>
            </a:pPr>
            <a:r>
              <a:rPr sz="2200" b="1" i="0">
                <a:solidFill>
                  <a:srgbClr val="FFFFFF"/>
                </a:solidFill>
                <a:latin typeface="Arial"/>
              </a:rPr>
              <a:t>B</a:t>
            </a:r>
          </a:p>
        </p:txBody>
      </p:sp>
      <p:sp>
        <p:nvSpPr>
          <p:cNvPr id="13" name="TextBox 12"/>
          <p:cNvSpPr txBox="1"/>
          <p:nvPr/>
        </p:nvSpPr>
        <p:spPr>
          <a:xfrm>
            <a:off x="5120640" y="1874519"/>
            <a:ext cx="2651760" cy="640080"/>
          </a:xfrm>
          <a:prstGeom prst="rect">
            <a:avLst/>
          </a:prstGeom>
          <a:noFill/>
        </p:spPr>
        <p:txBody>
          <a:bodyPr wrap="square" lIns="0" rIns="0" tIns="0" bIns="0" anchor="ctr">
            <a:spAutoFit/>
          </a:bodyPr>
          <a:lstStyle/>
          <a:p>
            <a:pPr algn="l">
              <a:spcAft>
                <a:spcPts val="400"/>
              </a:spcAft>
            </a:pPr>
            <a:r>
              <a:rPr sz="1600" b="1" i="0">
                <a:solidFill>
                  <a:srgbClr val="7B5CFA"/>
                </a:solidFill>
                <a:latin typeface="Arial"/>
              </a:rPr>
              <a:t>Nivel medio</a:t>
            </a:r>
          </a:p>
        </p:txBody>
      </p:sp>
      <p:sp>
        <p:nvSpPr>
          <p:cNvPr id="14" name="Rounded Rectangle 13"/>
          <p:cNvSpPr/>
          <p:nvPr/>
        </p:nvSpPr>
        <p:spPr>
          <a:xfrm>
            <a:off x="4343400" y="2697480"/>
            <a:ext cx="3474720" cy="219456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617720" y="2880360"/>
            <a:ext cx="3017520" cy="1874519"/>
          </a:xfrm>
          <a:prstGeom prst="rect">
            <a:avLst/>
          </a:prstGeom>
          <a:noFill/>
        </p:spPr>
        <p:txBody>
          <a:bodyPr wrap="square" lIns="0" rIns="0" tIns="0" bIns="0" anchor="t">
            <a:spAutoFit/>
          </a:bodyPr>
          <a:lstStyle/>
          <a:p>
            <a:pPr algn="l">
              <a:spcAft>
                <a:spcPts val="0"/>
              </a:spcAft>
            </a:pPr>
            <a:r>
              <a:rPr sz="1200" b="0" i="0">
                <a:solidFill>
                  <a:srgbClr val="C792EA"/>
                </a:solidFill>
                <a:latin typeface="Courier New"/>
              </a:rPr>
              <a:t>for</a:t>
            </a:r>
            <a:r>
              <a:rPr sz="1200" b="0" i="0">
                <a:solidFill>
                  <a:srgbClr val="E6EDF3"/>
                </a:solidFill>
                <a:latin typeface="Courier New"/>
              </a:rPr>
              <a:t> </a:t>
            </a:r>
            <a:r>
              <a:rPr sz="1200" b="0" i="0">
                <a:solidFill>
                  <a:srgbClr val="E6EDF3"/>
                </a:solidFill>
                <a:latin typeface="Courier New"/>
              </a:rPr>
              <a:t>(</a:t>
            </a:r>
            <a:r>
              <a:rPr sz="1200" b="0" i="0">
                <a:solidFill>
                  <a:srgbClr val="5EC8FF"/>
                </a:solidFill>
                <a:latin typeface="Courier New"/>
              </a:rPr>
              <a:t>int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78C6C"/>
                </a:solidFill>
                <a:latin typeface="Courier New"/>
              </a:rPr>
              <a:t>1</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E6EDF3"/>
                </a:solidFill>
                <a:latin typeface="Courier New"/>
              </a:rPr>
              <a:t>&lt;</a:t>
            </a:r>
            <a:r>
              <a:rPr sz="1200" b="0" i="0">
                <a:solidFill>
                  <a:srgbClr val="E6EDF3"/>
                </a:solidFill>
                <a:latin typeface="Courier New"/>
              </a:rPr>
              <a:t>=</a:t>
            </a:r>
            <a:r>
              <a:rPr sz="1200" b="0" i="0">
                <a:solidFill>
                  <a:srgbClr val="E6EDF3"/>
                </a:solidFill>
                <a:latin typeface="Courier New"/>
              </a:rPr>
              <a:t> </a:t>
            </a:r>
            <a:r>
              <a:rPr sz="1200" b="0" i="0">
                <a:solidFill>
                  <a:srgbClr val="F78C6C"/>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System</a:t>
            </a:r>
            <a:r>
              <a:rPr sz="1200" b="0" i="0">
                <a:solidFill>
                  <a:srgbClr val="E6EDF3"/>
                </a:solidFill>
                <a:latin typeface="Courier New"/>
              </a:rPr>
              <a:t>.</a:t>
            </a:r>
            <a:r>
              <a:rPr sz="1200" b="0" i="0">
                <a:solidFill>
                  <a:srgbClr val="E6EDF3"/>
                </a:solidFill>
                <a:latin typeface="Courier New"/>
              </a:rPr>
              <a:t>out</a:t>
            </a:r>
            <a:r>
              <a:rPr sz="1200" b="0" i="0">
                <a:solidFill>
                  <a:srgbClr val="E6EDF3"/>
                </a:solidFill>
                <a:latin typeface="Courier New"/>
              </a:rPr>
              <a:t>.</a:t>
            </a:r>
            <a:r>
              <a:rPr sz="1200" b="0" i="0">
                <a:solidFill>
                  <a:srgbClr val="E6EDF3"/>
                </a:solidFill>
                <a:latin typeface="Courier New"/>
              </a:rPr>
              <a:t>println</a:t>
            </a:r>
            <a:r>
              <a:rPr sz="1200" b="0" i="0">
                <a:solidFill>
                  <a:srgbClr val="E6EDF3"/>
                </a:solidFill>
                <a:latin typeface="Courier New"/>
              </a:rPr>
              <a:t>(</a:t>
            </a:r>
            <a:r>
              <a:rPr sz="1200" b="0" i="0">
                <a:solidFill>
                  <a:srgbClr val="FFB86B"/>
                </a:solidFill>
                <a:latin typeface="Courier New"/>
              </a:rPr>
              <a:t>"Hip hip"</a:t>
            </a:r>
            <a:r>
              <a:rPr sz="1200" b="0" i="0">
                <a:solidFill>
                  <a:srgbClr val="E6EDF3"/>
                </a:solidFill>
                <a:latin typeface="Courier New"/>
              </a:rPr>
              <a:t>)</a:t>
            </a:r>
            <a:r>
              <a:rPr sz="1200" b="0" i="0">
                <a:solidFill>
                  <a:srgbClr val="E6EDF3"/>
                </a:solidFill>
                <a:latin typeface="Courier New"/>
              </a:rPr>
              <a:t>;</a:t>
            </a:r>
          </a:p>
          <a:p>
            <a:pPr algn="l">
              <a:spcAft>
                <a:spcPts val="0"/>
              </a:spcAft>
            </a:pPr>
            <a:r>
              <a:rPr sz="1200" b="0" i="0">
                <a:solidFill>
                  <a:srgbClr val="E6EDF3"/>
                </a:solidFill>
                <a:latin typeface="Courier New"/>
              </a:rPr>
              <a:t>}</a:t>
            </a:r>
          </a:p>
          <a:p>
            <a:pPr algn="l">
              <a:spcAft>
                <a:spcPts val="0"/>
              </a:spcAft>
            </a:pPr>
            <a:r>
              <a:rPr sz="1200" b="0" i="0">
                <a:solidFill>
                  <a:srgbClr val="E6EDF3"/>
                </a:solidFill>
                <a:latin typeface="Courier New"/>
              </a:rPr>
              <a:t>System</a:t>
            </a:r>
            <a:r>
              <a:rPr sz="1200" b="0" i="0">
                <a:solidFill>
                  <a:srgbClr val="E6EDF3"/>
                </a:solidFill>
                <a:latin typeface="Courier New"/>
              </a:rPr>
              <a:t>.</a:t>
            </a:r>
            <a:r>
              <a:rPr sz="1200" b="0" i="0">
                <a:solidFill>
                  <a:srgbClr val="E6EDF3"/>
                </a:solidFill>
                <a:latin typeface="Courier New"/>
              </a:rPr>
              <a:t>out</a:t>
            </a:r>
            <a:r>
              <a:rPr sz="1200" b="0" i="0">
                <a:solidFill>
                  <a:srgbClr val="E6EDF3"/>
                </a:solidFill>
                <a:latin typeface="Courier New"/>
              </a:rPr>
              <a:t>.</a:t>
            </a:r>
            <a:r>
              <a:rPr sz="1200" b="0" i="0">
                <a:solidFill>
                  <a:srgbClr val="E6EDF3"/>
                </a:solidFill>
                <a:latin typeface="Courier New"/>
              </a:rPr>
              <a:t>println</a:t>
            </a:r>
            <a:r>
              <a:rPr sz="1200" b="0" i="0">
                <a:solidFill>
                  <a:srgbClr val="E6EDF3"/>
                </a:solidFill>
                <a:latin typeface="Courier New"/>
              </a:rPr>
              <a:t>(</a:t>
            </a:r>
            <a:r>
              <a:rPr sz="1200" b="0" i="0">
                <a:solidFill>
                  <a:srgbClr val="FFB86B"/>
                </a:solidFill>
                <a:latin typeface="Courier New"/>
              </a:rPr>
              <a:t>"¡Hurra!"</a:t>
            </a:r>
            <a:r>
              <a:rPr sz="1200" b="0" i="0">
                <a:solidFill>
                  <a:srgbClr val="E6EDF3"/>
                </a:solidFill>
                <a:latin typeface="Courier New"/>
              </a:rPr>
              <a:t>)</a:t>
            </a:r>
            <a:r>
              <a:rPr sz="1200" b="0" i="0">
                <a:solidFill>
                  <a:srgbClr val="E6EDF3"/>
                </a:solidFill>
                <a:latin typeface="Courier New"/>
              </a:rPr>
              <a:t>;</a:t>
            </a:r>
          </a:p>
        </p:txBody>
      </p:sp>
      <p:sp>
        <p:nvSpPr>
          <p:cNvPr id="16" name="Rounded Rectangle 15"/>
          <p:cNvSpPr/>
          <p:nvPr/>
        </p:nvSpPr>
        <p:spPr>
          <a:xfrm>
            <a:off x="4343400" y="5074920"/>
            <a:ext cx="3474720" cy="822960"/>
          </a:xfrm>
          <a:prstGeom prst="roundRect">
            <a:avLst>
              <a:gd name="adj" fmla="val 8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0" y="5074920"/>
            <a:ext cx="3017520" cy="822960"/>
          </a:xfrm>
          <a:prstGeom prst="rect">
            <a:avLst/>
          </a:prstGeom>
          <a:noFill/>
        </p:spPr>
        <p:txBody>
          <a:bodyPr wrap="square" lIns="0" rIns="0" tIns="0" bIns="0" anchor="ctr">
            <a:spAutoFit/>
          </a:bodyPr>
          <a:lstStyle/>
          <a:p>
            <a:pPr algn="l">
              <a:spcAft>
                <a:spcPts val="400"/>
              </a:spcAft>
            </a:pPr>
            <a:r>
              <a:rPr sz="1600" b="0" i="0">
                <a:solidFill>
                  <a:srgbClr val="1FB58F"/>
                </a:solidFill>
                <a:latin typeface="Courier New"/>
              </a:rPr>
              <a:t>&gt; </a:t>
            </a:r>
            <a:r>
              <a:rPr sz="2600" b="1" i="0">
                <a:solidFill>
                  <a:srgbClr val="FFC629"/>
                </a:solidFill>
                <a:latin typeface="Courier New"/>
              </a:rPr>
              <a:t>?</a:t>
            </a:r>
          </a:p>
        </p:txBody>
      </p:sp>
      <p:sp>
        <p:nvSpPr>
          <p:cNvPr id="18" name="Oval 17"/>
          <p:cNvSpPr/>
          <p:nvPr/>
        </p:nvSpPr>
        <p:spPr>
          <a:xfrm>
            <a:off x="8046719" y="1874519"/>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046719" y="1874519"/>
            <a:ext cx="640080" cy="640080"/>
          </a:xfrm>
          <a:prstGeom prst="rect">
            <a:avLst/>
          </a:prstGeom>
          <a:noFill/>
        </p:spPr>
        <p:txBody>
          <a:bodyPr wrap="square" lIns="0" rIns="0" tIns="0" bIns="0" anchor="ctr">
            <a:spAutoFit/>
          </a:bodyPr>
          <a:lstStyle/>
          <a:p>
            <a:pPr algn="ctr">
              <a:spcAft>
                <a:spcPts val="400"/>
              </a:spcAft>
            </a:pPr>
            <a:r>
              <a:rPr sz="2200" b="1" i="0">
                <a:solidFill>
                  <a:srgbClr val="FFFFFF"/>
                </a:solidFill>
                <a:latin typeface="Arial"/>
              </a:rPr>
              <a:t>C</a:t>
            </a:r>
          </a:p>
        </p:txBody>
      </p:sp>
      <p:sp>
        <p:nvSpPr>
          <p:cNvPr id="20" name="TextBox 19"/>
          <p:cNvSpPr txBox="1"/>
          <p:nvPr/>
        </p:nvSpPr>
        <p:spPr>
          <a:xfrm>
            <a:off x="8823959" y="1874519"/>
            <a:ext cx="2651760" cy="640080"/>
          </a:xfrm>
          <a:prstGeom prst="rect">
            <a:avLst/>
          </a:prstGeom>
          <a:noFill/>
        </p:spPr>
        <p:txBody>
          <a:bodyPr wrap="square" lIns="0" rIns="0" tIns="0" bIns="0" anchor="ctr">
            <a:spAutoFit/>
          </a:bodyPr>
          <a:lstStyle/>
          <a:p>
            <a:pPr algn="l">
              <a:spcAft>
                <a:spcPts val="400"/>
              </a:spcAft>
            </a:pPr>
            <a:r>
              <a:rPr sz="1600" b="1" i="0">
                <a:solidFill>
                  <a:srgbClr val="FF5A5F"/>
                </a:solidFill>
                <a:latin typeface="Arial"/>
              </a:rPr>
              <a:t>Nivel difícil</a:t>
            </a:r>
          </a:p>
        </p:txBody>
      </p:sp>
      <p:sp>
        <p:nvSpPr>
          <p:cNvPr id="21" name="Rounded Rectangle 20"/>
          <p:cNvSpPr/>
          <p:nvPr/>
        </p:nvSpPr>
        <p:spPr>
          <a:xfrm>
            <a:off x="8046719" y="2697480"/>
            <a:ext cx="3474720" cy="219456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21040" y="2880360"/>
            <a:ext cx="3017520" cy="1874519"/>
          </a:xfrm>
          <a:prstGeom prst="rect">
            <a:avLst/>
          </a:prstGeom>
          <a:noFill/>
        </p:spPr>
        <p:txBody>
          <a:bodyPr wrap="square" lIns="0" rIns="0" tIns="0" bIns="0" anchor="t">
            <a:spAutoFit/>
          </a:bodyPr>
          <a:lstStyle/>
          <a:p>
            <a:pPr algn="l">
              <a:spcAft>
                <a:spcPts val="0"/>
              </a:spcAft>
            </a:pPr>
            <a:r>
              <a:rPr sz="1200" b="0" i="0">
                <a:solidFill>
                  <a:srgbClr val="5EC8FF"/>
                </a:solidFill>
                <a:latin typeface="Courier New"/>
              </a:rPr>
              <a:t>int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78C6C"/>
                </a:solidFill>
                <a:latin typeface="Courier New"/>
              </a:rPr>
              <a:t>1</a:t>
            </a:r>
            <a:r>
              <a:rPr sz="1200" b="0" i="0">
                <a:solidFill>
                  <a:srgbClr val="E6EDF3"/>
                </a:solidFill>
                <a:latin typeface="Courier New"/>
              </a:rPr>
              <a:t>;</a:t>
            </a:r>
          </a:p>
          <a:p>
            <a:pPr algn="l">
              <a:spcAft>
                <a:spcPts val="0"/>
              </a:spcAft>
            </a:pPr>
            <a:r>
              <a:rPr sz="1200" b="0" i="0">
                <a:solidFill>
                  <a:srgbClr val="C792EA"/>
                </a:solidFill>
                <a:latin typeface="Courier New"/>
              </a:rPr>
              <a:t>while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&lt;</a:t>
            </a:r>
            <a:r>
              <a:rPr sz="1200" b="0" i="0">
                <a:solidFill>
                  <a:srgbClr val="E6EDF3"/>
                </a:solidFill>
                <a:latin typeface="Courier New"/>
              </a:rPr>
              <a:t> </a:t>
            </a:r>
            <a:r>
              <a:rPr sz="1200" b="0" i="0">
                <a:solidFill>
                  <a:srgbClr val="F78C6C"/>
                </a:solidFill>
                <a:latin typeface="Courier New"/>
              </a:rPr>
              <a:t>20</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p>
          <a:p>
            <a:pPr algn="l">
              <a:spcAft>
                <a:spcPts val="0"/>
              </a:spcAft>
            </a:pP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78C6C"/>
                </a:solidFill>
                <a:latin typeface="Courier New"/>
              </a:rPr>
              <a:t>2</a:t>
            </a:r>
            <a:r>
              <a:rPr sz="1200" b="0" i="0">
                <a:solidFill>
                  <a:srgbClr val="E6EDF3"/>
                </a:solidFill>
                <a:latin typeface="Courier New"/>
              </a:rPr>
              <a:t>;</a:t>
            </a:r>
          </a:p>
          <a:p>
            <a:pPr algn="l">
              <a:spcAft>
                <a:spcPts val="0"/>
              </a:spcAft>
            </a:pPr>
            <a:r>
              <a:rPr sz="1200" b="0" i="0">
                <a:solidFill>
                  <a:srgbClr val="E6EDF3"/>
                </a:solidFill>
                <a:latin typeface="Courier New"/>
              </a:rPr>
              <a:t>}</a:t>
            </a:r>
          </a:p>
          <a:p>
            <a:pPr algn="l">
              <a:spcAft>
                <a:spcPts val="0"/>
              </a:spcAft>
            </a:pPr>
            <a:r>
              <a:rPr sz="1200" b="0" i="0">
                <a:solidFill>
                  <a:srgbClr val="E6EDF3"/>
                </a:solidFill>
                <a:latin typeface="Courier New"/>
              </a:rPr>
              <a:t>System</a:t>
            </a:r>
            <a:r>
              <a:rPr sz="1200" b="0" i="0">
                <a:solidFill>
                  <a:srgbClr val="E6EDF3"/>
                </a:solidFill>
                <a:latin typeface="Courier New"/>
              </a:rPr>
              <a:t>.</a:t>
            </a:r>
            <a:r>
              <a:rPr sz="1200" b="0" i="0">
                <a:solidFill>
                  <a:srgbClr val="E6EDF3"/>
                </a:solidFill>
                <a:latin typeface="Courier New"/>
              </a:rPr>
              <a:t>out</a:t>
            </a:r>
            <a:r>
              <a:rPr sz="1200" b="0" i="0">
                <a:solidFill>
                  <a:srgbClr val="E6EDF3"/>
                </a:solidFill>
                <a:latin typeface="Courier New"/>
              </a:rPr>
              <a:t>.</a:t>
            </a:r>
            <a:r>
              <a:rPr sz="1200" b="0" i="0">
                <a:solidFill>
                  <a:srgbClr val="E6EDF3"/>
                </a:solidFill>
                <a:latin typeface="Courier New"/>
              </a:rPr>
              <a:t>println</a:t>
            </a:r>
            <a:r>
              <a:rPr sz="1200" b="0" i="0">
                <a:solidFill>
                  <a:srgbClr val="E6EDF3"/>
                </a:solidFill>
                <a:latin typeface="Courier New"/>
              </a:rPr>
              <a:t>(</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a:t>
            </a:r>
          </a:p>
        </p:txBody>
      </p:sp>
      <p:sp>
        <p:nvSpPr>
          <p:cNvPr id="23" name="Rounded Rectangle 22"/>
          <p:cNvSpPr/>
          <p:nvPr/>
        </p:nvSpPr>
        <p:spPr>
          <a:xfrm>
            <a:off x="8046719" y="5074920"/>
            <a:ext cx="3474720" cy="822960"/>
          </a:xfrm>
          <a:prstGeom prst="roundRect">
            <a:avLst>
              <a:gd name="adj" fmla="val 8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75319" y="5074920"/>
            <a:ext cx="3017520" cy="822960"/>
          </a:xfrm>
          <a:prstGeom prst="rect">
            <a:avLst/>
          </a:prstGeom>
          <a:noFill/>
        </p:spPr>
        <p:txBody>
          <a:bodyPr wrap="square" lIns="0" rIns="0" tIns="0" bIns="0" anchor="ctr">
            <a:spAutoFit/>
          </a:bodyPr>
          <a:lstStyle/>
          <a:p>
            <a:pPr algn="l">
              <a:spcAft>
                <a:spcPts val="400"/>
              </a:spcAft>
            </a:pPr>
            <a:r>
              <a:rPr sz="1600" b="0" i="0">
                <a:solidFill>
                  <a:srgbClr val="1FB58F"/>
                </a:solidFill>
                <a:latin typeface="Courier New"/>
              </a:rPr>
              <a:t>&gt; </a:t>
            </a:r>
            <a:r>
              <a:rPr sz="2600" b="1" i="0">
                <a:solidFill>
                  <a:srgbClr val="FFC629"/>
                </a:solidFill>
                <a:latin typeface="Courier New"/>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Todo junto: Piedra, Papel o Tijera</a:t>
            </a:r>
          </a:p>
        </p:txBody>
      </p:sp>
      <p:sp>
        <p:nvSpPr>
          <p:cNvPr id="3" name="Rounded Rectangle 2"/>
          <p:cNvSpPr/>
          <p:nvPr/>
        </p:nvSpPr>
        <p:spPr>
          <a:xfrm>
            <a:off x="640080" y="1234440"/>
            <a:ext cx="7635240" cy="4846320"/>
          </a:xfrm>
          <a:prstGeom prst="roundRect">
            <a:avLst>
              <a:gd name="adj" fmla="val 4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59" y="1389888"/>
            <a:ext cx="137160" cy="1371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51560" y="1389888"/>
            <a:ext cx="137160" cy="13716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80160" y="1389888"/>
            <a:ext cx="137160" cy="1371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54480" y="1325880"/>
            <a:ext cx="6537959" cy="274320"/>
          </a:xfrm>
          <a:prstGeom prst="rect">
            <a:avLst/>
          </a:prstGeom>
          <a:noFill/>
        </p:spPr>
        <p:txBody>
          <a:bodyPr wrap="square" lIns="0" rIns="0" tIns="0" bIns="0" anchor="t">
            <a:spAutoFit/>
          </a:bodyPr>
          <a:lstStyle/>
          <a:p>
            <a:pPr algn="l">
              <a:spcAft>
                <a:spcPts val="400"/>
              </a:spcAft>
            </a:pPr>
            <a:r>
              <a:rPr sz="1100" b="0" i="0">
                <a:solidFill>
                  <a:srgbClr val="9AA7B8"/>
                </a:solidFill>
                <a:latin typeface="Courier New"/>
              </a:rPr>
              <a:t>PiedraPapelTijera.java  (dentro del main)</a:t>
            </a:r>
          </a:p>
        </p:txBody>
      </p:sp>
      <p:sp>
        <p:nvSpPr>
          <p:cNvPr id="8" name="TextBox 7"/>
          <p:cNvSpPr txBox="1"/>
          <p:nvPr/>
        </p:nvSpPr>
        <p:spPr>
          <a:xfrm>
            <a:off x="914400" y="1691640"/>
            <a:ext cx="7178040" cy="4251959"/>
          </a:xfrm>
          <a:prstGeom prst="rect">
            <a:avLst/>
          </a:prstGeom>
          <a:noFill/>
        </p:spPr>
        <p:txBody>
          <a:bodyPr wrap="square" lIns="0" rIns="0" tIns="0" bIns="0" anchor="t">
            <a:spAutoFit/>
          </a:bodyPr>
          <a:lstStyle/>
          <a:p>
            <a:pPr algn="l">
              <a:spcAft>
                <a:spcPts val="0"/>
              </a:spcAft>
            </a:pPr>
            <a:r>
              <a:rPr sz="1050" b="0" i="0">
                <a:solidFill>
                  <a:srgbClr val="5EC8FF"/>
                </a:solidFill>
                <a:latin typeface="Courier New"/>
              </a:rPr>
              <a:t>Scanner</a:t>
            </a:r>
            <a:r>
              <a:rPr sz="1050" b="0" i="0">
                <a:solidFill>
                  <a:srgbClr val="E6EDF3"/>
                </a:solidFill>
                <a:latin typeface="Courier New"/>
              </a:rPr>
              <a:t> </a:t>
            </a:r>
            <a:r>
              <a:rPr sz="1050" b="0" i="0">
                <a:solidFill>
                  <a:srgbClr val="E6EDF3"/>
                </a:solidFill>
                <a:latin typeface="Courier New"/>
              </a:rPr>
              <a:t>sc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C792EA"/>
                </a:solidFill>
                <a:latin typeface="Courier New"/>
              </a:rPr>
              <a:t>new</a:t>
            </a:r>
            <a:r>
              <a:rPr sz="1050" b="0" i="0">
                <a:solidFill>
                  <a:srgbClr val="E6EDF3"/>
                </a:solidFill>
                <a:latin typeface="Courier New"/>
              </a:rPr>
              <a:t> </a:t>
            </a:r>
            <a:r>
              <a:rPr sz="1050" b="0" i="0">
                <a:solidFill>
                  <a:srgbClr val="5EC8FF"/>
                </a:solidFill>
                <a:latin typeface="Courier New"/>
              </a:rPr>
              <a:t>Scanner</a:t>
            </a:r>
            <a:r>
              <a:rPr sz="1050" b="0" i="0">
                <a:solidFill>
                  <a:srgbClr val="E6EDF3"/>
                </a:solidFill>
                <a:latin typeface="Courier New"/>
              </a:rPr>
              <a:t>(</a:t>
            </a:r>
            <a:r>
              <a:rPr sz="1050" b="0" i="0">
                <a:solidFill>
                  <a:srgbClr val="E6EDF3"/>
                </a:solidFill>
                <a:latin typeface="Courier New"/>
              </a:rPr>
              <a:t>System</a:t>
            </a:r>
            <a:r>
              <a:rPr sz="1050" b="0" i="0">
                <a:solidFill>
                  <a:srgbClr val="E6EDF3"/>
                </a:solidFill>
                <a:latin typeface="Courier New"/>
              </a:rPr>
              <a:t>.</a:t>
            </a:r>
            <a:r>
              <a:rPr sz="1050" b="0" i="0">
                <a:solidFill>
                  <a:srgbClr val="E6EDF3"/>
                </a:solidFill>
                <a:latin typeface="Courier New"/>
              </a:rPr>
              <a:t>in</a:t>
            </a:r>
            <a:r>
              <a:rPr sz="1050" b="0" i="0">
                <a:solidFill>
                  <a:srgbClr val="E6EDF3"/>
                </a:solidFill>
                <a:latin typeface="Courier New"/>
              </a:rPr>
              <a:t>)</a:t>
            </a:r>
            <a:r>
              <a:rPr sz="1050" b="0" i="0">
                <a:solidFill>
                  <a:srgbClr val="E6EDF3"/>
                </a:solidFill>
                <a:latin typeface="Courier New"/>
              </a:rPr>
              <a:t>;</a:t>
            </a:r>
          </a:p>
          <a:p>
            <a:pPr algn="l">
              <a:spcAft>
                <a:spcPts val="0"/>
              </a:spcAft>
            </a:pPr>
            <a:r>
              <a:rPr sz="1050" b="0" i="0">
                <a:solidFill>
                  <a:srgbClr val="5EC8FF"/>
                </a:solidFill>
                <a:latin typeface="Courier New"/>
              </a:rPr>
              <a:t>int</a:t>
            </a:r>
            <a:r>
              <a:rPr sz="1050" b="0" i="0">
                <a:solidFill>
                  <a:srgbClr val="E6EDF3"/>
                </a:solidFill>
                <a:latin typeface="Courier New"/>
              </a:rPr>
              <a:t> </a:t>
            </a:r>
            <a:r>
              <a:rPr sz="1050" b="0" i="0">
                <a:solidFill>
                  <a:srgbClr val="E6EDF3"/>
                </a:solidFill>
                <a:latin typeface="Courier New"/>
              </a:rPr>
              <a:t>otra</a:t>
            </a:r>
            <a:r>
              <a:rPr sz="1050" b="0" i="0">
                <a:solidFill>
                  <a:srgbClr val="E6EDF3"/>
                </a:solidFill>
                <a:latin typeface="Courier New"/>
              </a:rPr>
              <a:t>;</a:t>
            </a:r>
          </a:p>
          <a:p>
            <a:pPr algn="l">
              <a:spcAft>
                <a:spcPts val="0"/>
              </a:spcAft>
            </a:pPr>
            <a:r>
              <a:rPr sz="1050" b="0" i="0">
                <a:solidFill>
                  <a:srgbClr val="C792EA"/>
                </a:solidFill>
                <a:latin typeface="Courier New"/>
              </a:rPr>
              <a:t>do</a:t>
            </a:r>
            <a:r>
              <a:rPr sz="1050" b="0" i="0">
                <a:solidFill>
                  <a:srgbClr val="E6EDF3"/>
                </a:solidFill>
                <a:latin typeface="Courier New"/>
              </a:rPr>
              <a:t> </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System</a:t>
            </a:r>
            <a:r>
              <a:rPr sz="1050" b="0" i="0">
                <a:solidFill>
                  <a:srgbClr val="E6EDF3"/>
                </a:solidFill>
                <a:latin typeface="Courier New"/>
              </a:rPr>
              <a:t>.</a:t>
            </a:r>
            <a:r>
              <a:rPr sz="1050" b="0" i="0">
                <a:solidFill>
                  <a:srgbClr val="E6EDF3"/>
                </a:solidFill>
                <a:latin typeface="Courier New"/>
              </a:rPr>
              <a:t>out</a:t>
            </a:r>
            <a:r>
              <a:rPr sz="1050" b="0" i="0">
                <a:solidFill>
                  <a:srgbClr val="E6EDF3"/>
                </a:solidFill>
                <a:latin typeface="Courier New"/>
              </a:rPr>
              <a:t>.</a:t>
            </a:r>
            <a:r>
              <a:rPr sz="1050" b="0" i="0">
                <a:solidFill>
                  <a:srgbClr val="E6EDF3"/>
                </a:solidFill>
                <a:latin typeface="Courier New"/>
              </a:rPr>
              <a:t>print</a:t>
            </a:r>
            <a:r>
              <a:rPr sz="1050" b="0" i="0">
                <a:solidFill>
                  <a:srgbClr val="E6EDF3"/>
                </a:solidFill>
                <a:latin typeface="Courier New"/>
              </a:rPr>
              <a:t>(</a:t>
            </a:r>
            <a:r>
              <a:rPr sz="1050" b="0" i="0">
                <a:solidFill>
                  <a:srgbClr val="FFB86B"/>
                </a:solidFill>
                <a:latin typeface="Courier New"/>
              </a:rPr>
              <a:t>"1 Piedra, 2 Papel, 3 Tijera: "</a:t>
            </a:r>
            <a:r>
              <a:rPr sz="1050" b="0" i="0">
                <a:solidFill>
                  <a:srgbClr val="E6EDF3"/>
                </a:solidFill>
                <a:latin typeface="Courier New"/>
              </a:rPr>
              <a:t>)</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5EC8FF"/>
                </a:solidFill>
                <a:latin typeface="Courier New"/>
              </a:rPr>
              <a:t>int</a:t>
            </a:r>
            <a:r>
              <a:rPr sz="1050" b="0" i="0">
                <a:solidFill>
                  <a:srgbClr val="E6EDF3"/>
                </a:solidFill>
                <a:latin typeface="Courier New"/>
              </a:rPr>
              <a:t> </a:t>
            </a:r>
            <a:r>
              <a:rPr sz="1050" b="0" i="0">
                <a:solidFill>
                  <a:srgbClr val="E6EDF3"/>
                </a:solidFill>
                <a:latin typeface="Courier New"/>
              </a:rPr>
              <a:t>yo</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sc</a:t>
            </a:r>
            <a:r>
              <a:rPr sz="1050" b="0" i="0">
                <a:solidFill>
                  <a:srgbClr val="E6EDF3"/>
                </a:solidFill>
                <a:latin typeface="Courier New"/>
              </a:rPr>
              <a:t>.</a:t>
            </a:r>
            <a:r>
              <a:rPr sz="1050" b="0" i="0">
                <a:solidFill>
                  <a:srgbClr val="E6EDF3"/>
                </a:solidFill>
                <a:latin typeface="Courier New"/>
              </a:rPr>
              <a:t>nextInt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5EC8FF"/>
                </a:solidFill>
                <a:latin typeface="Courier New"/>
              </a:rPr>
              <a:t>int</a:t>
            </a:r>
            <a:r>
              <a:rPr sz="1050" b="0" i="0">
                <a:solidFill>
                  <a:srgbClr val="E6EDF3"/>
                </a:solidFill>
                <a:latin typeface="Courier New"/>
              </a:rPr>
              <a:t> </a:t>
            </a:r>
            <a:r>
              <a:rPr sz="1050" b="0" i="0">
                <a:solidFill>
                  <a:srgbClr val="E6EDF3"/>
                </a:solidFill>
                <a:latin typeface="Courier New"/>
              </a:rPr>
              <a:t>pc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5EC8FF"/>
                </a:solidFill>
                <a:latin typeface="Courier New"/>
              </a:rPr>
              <a:t>int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Math</a:t>
            </a:r>
            <a:r>
              <a:rPr sz="1050" b="0" i="0">
                <a:solidFill>
                  <a:srgbClr val="E6EDF3"/>
                </a:solidFill>
                <a:latin typeface="Courier New"/>
              </a:rPr>
              <a:t>.</a:t>
            </a:r>
            <a:r>
              <a:rPr sz="1050" b="0" i="0">
                <a:solidFill>
                  <a:srgbClr val="E6EDF3"/>
                </a:solidFill>
                <a:latin typeface="Courier New"/>
              </a:rPr>
              <a:t>random</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F78C6C"/>
                </a:solidFill>
                <a:latin typeface="Courier New"/>
              </a:rPr>
              <a:t>3</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F78C6C"/>
                </a:solidFill>
                <a:latin typeface="Courier New"/>
              </a:rPr>
              <a:t>1</a:t>
            </a:r>
            <a:r>
              <a:rPr sz="1050" b="0" i="0">
                <a:solidFill>
                  <a:srgbClr val="E6EDF3"/>
                </a:solidFill>
                <a:latin typeface="Courier New"/>
              </a:rPr>
              <a:t>;</a:t>
            </a:r>
          </a:p>
          <a:p>
            <a:pPr algn="l">
              <a:spcAft>
                <a:spcPts val="0"/>
              </a:spcAft>
            </a:pPr>
            <a:r>
              <a:rPr sz="1050" b="0" i="0">
                <a:solidFill>
                  <a:srgbClr val="E6EDF3"/>
                </a:solidFill>
                <a:latin typeface="Courier New"/>
              </a:rPr>
              <a:t> </a:t>
            </a:r>
          </a:p>
          <a:p>
            <a:pPr algn="l">
              <a:spcAft>
                <a:spcPts val="0"/>
              </a:spcAft>
            </a:pPr>
            <a:r>
              <a:rPr sz="1050" b="0" i="0">
                <a:solidFill>
                  <a:srgbClr val="E6EDF3"/>
                </a:solidFill>
                <a:latin typeface="Courier New"/>
              </a:rPr>
              <a:t>    </a:t>
            </a:r>
            <a:r>
              <a:rPr sz="1050" b="0" i="0">
                <a:solidFill>
                  <a:srgbClr val="C792EA"/>
                </a:solidFill>
                <a:latin typeface="Courier New"/>
              </a:rPr>
              <a:t>switch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pc</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C792EA"/>
                </a:solidFill>
                <a:latin typeface="Courier New"/>
              </a:rPr>
              <a:t>case</a:t>
            </a:r>
            <a:r>
              <a:rPr sz="1050" b="0" i="0">
                <a:solidFill>
                  <a:srgbClr val="E6EDF3"/>
                </a:solidFill>
                <a:latin typeface="Courier New"/>
              </a:rPr>
              <a:t> </a:t>
            </a:r>
            <a:r>
              <a:rPr sz="1050" b="0" i="0">
                <a:solidFill>
                  <a:srgbClr val="F78C6C"/>
                </a:solidFill>
                <a:latin typeface="Courier New"/>
              </a:rPr>
              <a:t>1</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System</a:t>
            </a:r>
            <a:r>
              <a:rPr sz="1050" b="0" i="0">
                <a:solidFill>
                  <a:srgbClr val="E6EDF3"/>
                </a:solidFill>
                <a:latin typeface="Courier New"/>
              </a:rPr>
              <a:t>.</a:t>
            </a:r>
            <a:r>
              <a:rPr sz="1050" b="0" i="0">
                <a:solidFill>
                  <a:srgbClr val="E6EDF3"/>
                </a:solidFill>
                <a:latin typeface="Courier New"/>
              </a:rPr>
              <a:t>out</a:t>
            </a:r>
            <a:r>
              <a:rPr sz="1050" b="0" i="0">
                <a:solidFill>
                  <a:srgbClr val="E6EDF3"/>
                </a:solidFill>
                <a:latin typeface="Courier New"/>
              </a:rPr>
              <a:t>.</a:t>
            </a:r>
            <a:r>
              <a:rPr sz="1050" b="0" i="0">
                <a:solidFill>
                  <a:srgbClr val="E6EDF3"/>
                </a:solidFill>
                <a:latin typeface="Courier New"/>
              </a:rPr>
              <a:t>println</a:t>
            </a:r>
            <a:r>
              <a:rPr sz="1050" b="0" i="0">
                <a:solidFill>
                  <a:srgbClr val="E6EDF3"/>
                </a:solidFill>
                <a:latin typeface="Courier New"/>
              </a:rPr>
              <a:t>(</a:t>
            </a:r>
            <a:r>
              <a:rPr sz="1050" b="0" i="0">
                <a:solidFill>
                  <a:srgbClr val="FFB86B"/>
                </a:solidFill>
                <a:latin typeface="Courier New"/>
              </a:rPr>
              <a:t>"PC: Piedra"</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792EA"/>
                </a:solidFill>
                <a:latin typeface="Courier New"/>
              </a:rPr>
              <a:t>break</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C792EA"/>
                </a:solidFill>
                <a:latin typeface="Courier New"/>
              </a:rPr>
              <a:t>case</a:t>
            </a:r>
            <a:r>
              <a:rPr sz="1050" b="0" i="0">
                <a:solidFill>
                  <a:srgbClr val="E6EDF3"/>
                </a:solidFill>
                <a:latin typeface="Courier New"/>
              </a:rPr>
              <a:t> </a:t>
            </a:r>
            <a:r>
              <a:rPr sz="1050" b="0" i="0">
                <a:solidFill>
                  <a:srgbClr val="F78C6C"/>
                </a:solidFill>
                <a:latin typeface="Courier New"/>
              </a:rPr>
              <a:t>2</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System</a:t>
            </a:r>
            <a:r>
              <a:rPr sz="1050" b="0" i="0">
                <a:solidFill>
                  <a:srgbClr val="E6EDF3"/>
                </a:solidFill>
                <a:latin typeface="Courier New"/>
              </a:rPr>
              <a:t>.</a:t>
            </a:r>
            <a:r>
              <a:rPr sz="1050" b="0" i="0">
                <a:solidFill>
                  <a:srgbClr val="E6EDF3"/>
                </a:solidFill>
                <a:latin typeface="Courier New"/>
              </a:rPr>
              <a:t>out</a:t>
            </a:r>
            <a:r>
              <a:rPr sz="1050" b="0" i="0">
                <a:solidFill>
                  <a:srgbClr val="E6EDF3"/>
                </a:solidFill>
                <a:latin typeface="Courier New"/>
              </a:rPr>
              <a:t>.</a:t>
            </a:r>
            <a:r>
              <a:rPr sz="1050" b="0" i="0">
                <a:solidFill>
                  <a:srgbClr val="E6EDF3"/>
                </a:solidFill>
                <a:latin typeface="Courier New"/>
              </a:rPr>
              <a:t>println</a:t>
            </a:r>
            <a:r>
              <a:rPr sz="1050" b="0" i="0">
                <a:solidFill>
                  <a:srgbClr val="E6EDF3"/>
                </a:solidFill>
                <a:latin typeface="Courier New"/>
              </a:rPr>
              <a:t>(</a:t>
            </a:r>
            <a:r>
              <a:rPr sz="1050" b="0" i="0">
                <a:solidFill>
                  <a:srgbClr val="FFB86B"/>
                </a:solidFill>
                <a:latin typeface="Courier New"/>
              </a:rPr>
              <a:t>"PC: Papel"</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792EA"/>
                </a:solidFill>
                <a:latin typeface="Courier New"/>
              </a:rPr>
              <a:t>break</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C792EA"/>
                </a:solidFill>
                <a:latin typeface="Courier New"/>
              </a:rPr>
              <a:t>case</a:t>
            </a:r>
            <a:r>
              <a:rPr sz="1050" b="0" i="0">
                <a:solidFill>
                  <a:srgbClr val="E6EDF3"/>
                </a:solidFill>
                <a:latin typeface="Courier New"/>
              </a:rPr>
              <a:t> </a:t>
            </a:r>
            <a:r>
              <a:rPr sz="1050" b="0" i="0">
                <a:solidFill>
                  <a:srgbClr val="F78C6C"/>
                </a:solidFill>
                <a:latin typeface="Courier New"/>
              </a:rPr>
              <a:t>3</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System</a:t>
            </a:r>
            <a:r>
              <a:rPr sz="1050" b="0" i="0">
                <a:solidFill>
                  <a:srgbClr val="E6EDF3"/>
                </a:solidFill>
                <a:latin typeface="Courier New"/>
              </a:rPr>
              <a:t>.</a:t>
            </a:r>
            <a:r>
              <a:rPr sz="1050" b="0" i="0">
                <a:solidFill>
                  <a:srgbClr val="E6EDF3"/>
                </a:solidFill>
                <a:latin typeface="Courier New"/>
              </a:rPr>
              <a:t>out</a:t>
            </a:r>
            <a:r>
              <a:rPr sz="1050" b="0" i="0">
                <a:solidFill>
                  <a:srgbClr val="E6EDF3"/>
                </a:solidFill>
                <a:latin typeface="Courier New"/>
              </a:rPr>
              <a:t>.</a:t>
            </a:r>
            <a:r>
              <a:rPr sz="1050" b="0" i="0">
                <a:solidFill>
                  <a:srgbClr val="E6EDF3"/>
                </a:solidFill>
                <a:latin typeface="Courier New"/>
              </a:rPr>
              <a:t>println</a:t>
            </a:r>
            <a:r>
              <a:rPr sz="1050" b="0" i="0">
                <a:solidFill>
                  <a:srgbClr val="E6EDF3"/>
                </a:solidFill>
                <a:latin typeface="Courier New"/>
              </a:rPr>
              <a:t>(</a:t>
            </a:r>
            <a:r>
              <a:rPr sz="1050" b="0" i="0">
                <a:solidFill>
                  <a:srgbClr val="FFB86B"/>
                </a:solidFill>
                <a:latin typeface="Courier New"/>
              </a:rPr>
              <a:t>"PC: Tijera"</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792EA"/>
                </a:solidFill>
                <a:latin typeface="Courier New"/>
              </a:rPr>
              <a:t>break</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a:t>
            </a:r>
          </a:p>
          <a:p>
            <a:pPr algn="l">
              <a:spcAft>
                <a:spcPts val="0"/>
              </a:spcAft>
            </a:pPr>
            <a:r>
              <a:rPr sz="1050" b="0" i="0">
                <a:solidFill>
                  <a:srgbClr val="E6EDF3"/>
                </a:solidFill>
                <a:latin typeface="Courier New"/>
              </a:rPr>
              <a:t> </a:t>
            </a:r>
          </a:p>
          <a:p>
            <a:pPr algn="l">
              <a:spcAft>
                <a:spcPts val="0"/>
              </a:spcAft>
            </a:pPr>
            <a:r>
              <a:rPr sz="1050" b="0" i="0">
                <a:solidFill>
                  <a:srgbClr val="E6EDF3"/>
                </a:solidFill>
                <a:latin typeface="Courier New"/>
              </a:rPr>
              <a:t>    </a:t>
            </a:r>
            <a:r>
              <a:rPr sz="1050" b="0" i="0">
                <a:solidFill>
                  <a:srgbClr val="C792EA"/>
                </a:solidFill>
                <a:latin typeface="Courier New"/>
              </a:rPr>
              <a:t>if</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yo</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pc</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System</a:t>
            </a:r>
            <a:r>
              <a:rPr sz="1050" b="0" i="0">
                <a:solidFill>
                  <a:srgbClr val="E6EDF3"/>
                </a:solidFill>
                <a:latin typeface="Courier New"/>
              </a:rPr>
              <a:t>.</a:t>
            </a:r>
            <a:r>
              <a:rPr sz="1050" b="0" i="0">
                <a:solidFill>
                  <a:srgbClr val="E6EDF3"/>
                </a:solidFill>
                <a:latin typeface="Courier New"/>
              </a:rPr>
              <a:t>out</a:t>
            </a:r>
            <a:r>
              <a:rPr sz="1050" b="0" i="0">
                <a:solidFill>
                  <a:srgbClr val="E6EDF3"/>
                </a:solidFill>
                <a:latin typeface="Courier New"/>
              </a:rPr>
              <a:t>.</a:t>
            </a:r>
            <a:r>
              <a:rPr sz="1050" b="0" i="0">
                <a:solidFill>
                  <a:srgbClr val="E6EDF3"/>
                </a:solidFill>
                <a:latin typeface="Courier New"/>
              </a:rPr>
              <a:t>println</a:t>
            </a:r>
            <a:r>
              <a:rPr sz="1050" b="0" i="0">
                <a:solidFill>
                  <a:srgbClr val="E6EDF3"/>
                </a:solidFill>
                <a:latin typeface="Courier New"/>
              </a:rPr>
              <a:t>(</a:t>
            </a:r>
            <a:r>
              <a:rPr sz="1050" b="0" i="0">
                <a:solidFill>
                  <a:srgbClr val="FFB86B"/>
                </a:solidFill>
                <a:latin typeface="Courier New"/>
              </a:rPr>
              <a:t>"¡Empate!"</a:t>
            </a:r>
            <a:r>
              <a:rPr sz="1050" b="0" i="0">
                <a:solidFill>
                  <a:srgbClr val="E6EDF3"/>
                </a:solidFill>
                <a:latin typeface="Courier New"/>
              </a:rPr>
              <a:t>)</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C792EA"/>
                </a:solidFill>
                <a:latin typeface="Courier New"/>
              </a:rPr>
              <a:t>else</a:t>
            </a:r>
            <a:r>
              <a:rPr sz="1050" b="0" i="0">
                <a:solidFill>
                  <a:srgbClr val="E6EDF3"/>
                </a:solidFill>
                <a:latin typeface="Courier New"/>
              </a:rPr>
              <a:t> </a:t>
            </a:r>
            <a:r>
              <a:rPr sz="1050" b="0" i="0">
                <a:solidFill>
                  <a:srgbClr val="C792EA"/>
                </a:solidFill>
                <a:latin typeface="Courier New"/>
              </a:rPr>
              <a:t>if</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yo</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78C6C"/>
                </a:solidFill>
                <a:latin typeface="Courier New"/>
              </a:rPr>
              <a:t>1</a:t>
            </a:r>
            <a:r>
              <a:rPr sz="1050" b="0" i="0">
                <a:solidFill>
                  <a:srgbClr val="E6EDF3"/>
                </a:solidFill>
                <a:latin typeface="Courier New"/>
              </a:rPr>
              <a:t> </a:t>
            </a:r>
            <a:r>
              <a:rPr sz="1050" b="0" i="0">
                <a:solidFill>
                  <a:srgbClr val="E6EDF3"/>
                </a:solidFill>
                <a:latin typeface="Courier New"/>
              </a:rPr>
              <a:t>&amp;</a:t>
            </a:r>
            <a:r>
              <a:rPr sz="1050" b="0" i="0">
                <a:solidFill>
                  <a:srgbClr val="E6EDF3"/>
                </a:solidFill>
                <a:latin typeface="Courier New"/>
              </a:rPr>
              <a:t>&amp;</a:t>
            </a:r>
            <a:r>
              <a:rPr sz="1050" b="0" i="0">
                <a:solidFill>
                  <a:srgbClr val="E6EDF3"/>
                </a:solidFill>
                <a:latin typeface="Courier New"/>
              </a:rPr>
              <a:t> </a:t>
            </a:r>
            <a:r>
              <a:rPr sz="1050" b="0" i="0">
                <a:solidFill>
                  <a:srgbClr val="E6EDF3"/>
                </a:solidFill>
                <a:latin typeface="Courier New"/>
              </a:rPr>
              <a:t>pc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78C6C"/>
                </a:solidFill>
                <a:latin typeface="Courier New"/>
              </a:rPr>
              <a:t>3</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yo</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78C6C"/>
                </a:solidFill>
                <a:latin typeface="Courier New"/>
              </a:rPr>
              <a:t>2</a:t>
            </a:r>
            <a:r>
              <a:rPr sz="1050" b="0" i="0">
                <a:solidFill>
                  <a:srgbClr val="E6EDF3"/>
                </a:solidFill>
                <a:latin typeface="Courier New"/>
              </a:rPr>
              <a:t> </a:t>
            </a:r>
            <a:r>
              <a:rPr sz="1050" b="0" i="0">
                <a:solidFill>
                  <a:srgbClr val="E6EDF3"/>
                </a:solidFill>
                <a:latin typeface="Courier New"/>
              </a:rPr>
              <a:t>&amp;</a:t>
            </a:r>
            <a:r>
              <a:rPr sz="1050" b="0" i="0">
                <a:solidFill>
                  <a:srgbClr val="E6EDF3"/>
                </a:solidFill>
                <a:latin typeface="Courier New"/>
              </a:rPr>
              <a:t>&amp;</a:t>
            </a:r>
            <a:r>
              <a:rPr sz="1050" b="0" i="0">
                <a:solidFill>
                  <a:srgbClr val="E6EDF3"/>
                </a:solidFill>
                <a:latin typeface="Courier New"/>
              </a:rPr>
              <a:t> </a:t>
            </a:r>
            <a:r>
              <a:rPr sz="1050" b="0" i="0">
                <a:solidFill>
                  <a:srgbClr val="E6EDF3"/>
                </a:solidFill>
                <a:latin typeface="Courier New"/>
              </a:rPr>
              <a:t>pc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78C6C"/>
                </a:solidFill>
                <a:latin typeface="Courier New"/>
              </a:rPr>
              <a:t>1</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yo</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78C6C"/>
                </a:solidFill>
                <a:latin typeface="Courier New"/>
              </a:rPr>
              <a:t>3</a:t>
            </a:r>
            <a:r>
              <a:rPr sz="1050" b="0" i="0">
                <a:solidFill>
                  <a:srgbClr val="E6EDF3"/>
                </a:solidFill>
                <a:latin typeface="Courier New"/>
              </a:rPr>
              <a:t> </a:t>
            </a:r>
            <a:r>
              <a:rPr sz="1050" b="0" i="0">
                <a:solidFill>
                  <a:srgbClr val="E6EDF3"/>
                </a:solidFill>
                <a:latin typeface="Courier New"/>
              </a:rPr>
              <a:t>&amp;</a:t>
            </a:r>
            <a:r>
              <a:rPr sz="1050" b="0" i="0">
                <a:solidFill>
                  <a:srgbClr val="E6EDF3"/>
                </a:solidFill>
                <a:latin typeface="Courier New"/>
              </a:rPr>
              <a:t>&amp;</a:t>
            </a:r>
            <a:r>
              <a:rPr sz="1050" b="0" i="0">
                <a:solidFill>
                  <a:srgbClr val="E6EDF3"/>
                </a:solidFill>
                <a:latin typeface="Courier New"/>
              </a:rPr>
              <a:t> </a:t>
            </a:r>
            <a:r>
              <a:rPr sz="1050" b="0" i="0">
                <a:solidFill>
                  <a:srgbClr val="E6EDF3"/>
                </a:solidFill>
                <a:latin typeface="Courier New"/>
              </a:rPr>
              <a:t>pc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78C6C"/>
                </a:solidFill>
                <a:latin typeface="Courier New"/>
              </a:rPr>
              <a:t>2</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System</a:t>
            </a:r>
            <a:r>
              <a:rPr sz="1050" b="0" i="0">
                <a:solidFill>
                  <a:srgbClr val="E6EDF3"/>
                </a:solidFill>
                <a:latin typeface="Courier New"/>
              </a:rPr>
              <a:t>.</a:t>
            </a:r>
            <a:r>
              <a:rPr sz="1050" b="0" i="0">
                <a:solidFill>
                  <a:srgbClr val="E6EDF3"/>
                </a:solidFill>
                <a:latin typeface="Courier New"/>
              </a:rPr>
              <a:t>out</a:t>
            </a:r>
            <a:r>
              <a:rPr sz="1050" b="0" i="0">
                <a:solidFill>
                  <a:srgbClr val="E6EDF3"/>
                </a:solidFill>
                <a:latin typeface="Courier New"/>
              </a:rPr>
              <a:t>.</a:t>
            </a:r>
            <a:r>
              <a:rPr sz="1050" b="0" i="0">
                <a:solidFill>
                  <a:srgbClr val="E6EDF3"/>
                </a:solidFill>
                <a:latin typeface="Courier New"/>
              </a:rPr>
              <a:t>println</a:t>
            </a:r>
            <a:r>
              <a:rPr sz="1050" b="0" i="0">
                <a:solidFill>
                  <a:srgbClr val="E6EDF3"/>
                </a:solidFill>
                <a:latin typeface="Courier New"/>
              </a:rPr>
              <a:t>(</a:t>
            </a:r>
            <a:r>
              <a:rPr sz="1050" b="0" i="0">
                <a:solidFill>
                  <a:srgbClr val="FFB86B"/>
                </a:solidFill>
                <a:latin typeface="Courier New"/>
              </a:rPr>
              <a:t>"¡Ganaste!"</a:t>
            </a:r>
            <a:r>
              <a:rPr sz="1050" b="0" i="0">
                <a:solidFill>
                  <a:srgbClr val="E6EDF3"/>
                </a:solidFill>
                <a:latin typeface="Courier New"/>
              </a:rPr>
              <a:t>)</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C792EA"/>
                </a:solidFill>
                <a:latin typeface="Courier New"/>
              </a:rPr>
              <a:t>else</a:t>
            </a:r>
            <a:r>
              <a:rPr sz="1050" b="0" i="0">
                <a:solidFill>
                  <a:srgbClr val="E6EDF3"/>
                </a:solidFill>
                <a:latin typeface="Courier New"/>
              </a:rPr>
              <a:t> </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System</a:t>
            </a:r>
            <a:r>
              <a:rPr sz="1050" b="0" i="0">
                <a:solidFill>
                  <a:srgbClr val="E6EDF3"/>
                </a:solidFill>
                <a:latin typeface="Courier New"/>
              </a:rPr>
              <a:t>.</a:t>
            </a:r>
            <a:r>
              <a:rPr sz="1050" b="0" i="0">
                <a:solidFill>
                  <a:srgbClr val="E6EDF3"/>
                </a:solidFill>
                <a:latin typeface="Courier New"/>
              </a:rPr>
              <a:t>out</a:t>
            </a:r>
            <a:r>
              <a:rPr sz="1050" b="0" i="0">
                <a:solidFill>
                  <a:srgbClr val="E6EDF3"/>
                </a:solidFill>
                <a:latin typeface="Courier New"/>
              </a:rPr>
              <a:t>.</a:t>
            </a:r>
            <a:r>
              <a:rPr sz="1050" b="0" i="0">
                <a:solidFill>
                  <a:srgbClr val="E6EDF3"/>
                </a:solidFill>
                <a:latin typeface="Courier New"/>
              </a:rPr>
              <a:t>println</a:t>
            </a:r>
            <a:r>
              <a:rPr sz="1050" b="0" i="0">
                <a:solidFill>
                  <a:srgbClr val="E6EDF3"/>
                </a:solidFill>
                <a:latin typeface="Courier New"/>
              </a:rPr>
              <a:t>(</a:t>
            </a:r>
            <a:r>
              <a:rPr sz="1050" b="0" i="0">
                <a:solidFill>
                  <a:srgbClr val="FFB86B"/>
                </a:solidFill>
                <a:latin typeface="Courier New"/>
              </a:rPr>
              <a:t>"Gana el PC"</a:t>
            </a:r>
            <a:r>
              <a:rPr sz="1050" b="0" i="0">
                <a:solidFill>
                  <a:srgbClr val="E6EDF3"/>
                </a:solidFill>
                <a:latin typeface="Courier New"/>
              </a:rPr>
              <a:t>)</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System</a:t>
            </a:r>
            <a:r>
              <a:rPr sz="1050" b="0" i="0">
                <a:solidFill>
                  <a:srgbClr val="E6EDF3"/>
                </a:solidFill>
                <a:latin typeface="Courier New"/>
              </a:rPr>
              <a:t>.</a:t>
            </a:r>
            <a:r>
              <a:rPr sz="1050" b="0" i="0">
                <a:solidFill>
                  <a:srgbClr val="E6EDF3"/>
                </a:solidFill>
                <a:latin typeface="Courier New"/>
              </a:rPr>
              <a:t>out</a:t>
            </a:r>
            <a:r>
              <a:rPr sz="1050" b="0" i="0">
                <a:solidFill>
                  <a:srgbClr val="E6EDF3"/>
                </a:solidFill>
                <a:latin typeface="Courier New"/>
              </a:rPr>
              <a:t>.</a:t>
            </a:r>
            <a:r>
              <a:rPr sz="1050" b="0" i="0">
                <a:solidFill>
                  <a:srgbClr val="E6EDF3"/>
                </a:solidFill>
                <a:latin typeface="Courier New"/>
              </a:rPr>
              <a:t>print</a:t>
            </a:r>
            <a:r>
              <a:rPr sz="1050" b="0" i="0">
                <a:solidFill>
                  <a:srgbClr val="E6EDF3"/>
                </a:solidFill>
                <a:latin typeface="Courier New"/>
              </a:rPr>
              <a:t>(</a:t>
            </a:r>
            <a:r>
              <a:rPr sz="1050" b="0" i="0">
                <a:solidFill>
                  <a:srgbClr val="FFB86B"/>
                </a:solidFill>
                <a:latin typeface="Courier New"/>
              </a:rPr>
              <a:t>"¿Otra? (1 Sí / 0 No): "</a:t>
            </a:r>
            <a:r>
              <a:rPr sz="1050" b="0" i="0">
                <a:solidFill>
                  <a:srgbClr val="E6EDF3"/>
                </a:solidFill>
                <a:latin typeface="Courier New"/>
              </a:rPr>
              <a:t>)</a:t>
            </a:r>
            <a:r>
              <a:rPr sz="1050" b="0" i="0">
                <a:solidFill>
                  <a:srgbClr val="E6EDF3"/>
                </a:solidFill>
                <a:latin typeface="Courier New"/>
              </a:rPr>
              <a:t>;</a:t>
            </a:r>
          </a:p>
          <a:p>
            <a:pPr algn="l">
              <a:spcAft>
                <a:spcPts val="0"/>
              </a:spcAft>
            </a:pPr>
            <a:r>
              <a:rPr sz="1050" b="0" i="0">
                <a:solidFill>
                  <a:srgbClr val="E6EDF3"/>
                </a:solidFill>
                <a:latin typeface="Courier New"/>
              </a:rPr>
              <a:t>    </a:t>
            </a:r>
            <a:r>
              <a:rPr sz="1050" b="0" i="0">
                <a:solidFill>
                  <a:srgbClr val="E6EDF3"/>
                </a:solidFill>
                <a:latin typeface="Courier New"/>
              </a:rPr>
              <a:t>otra</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sc</a:t>
            </a:r>
            <a:r>
              <a:rPr sz="1050" b="0" i="0">
                <a:solidFill>
                  <a:srgbClr val="E6EDF3"/>
                </a:solidFill>
                <a:latin typeface="Courier New"/>
              </a:rPr>
              <a:t>.</a:t>
            </a:r>
            <a:r>
              <a:rPr sz="1050" b="0" i="0">
                <a:solidFill>
                  <a:srgbClr val="E6EDF3"/>
                </a:solidFill>
                <a:latin typeface="Courier New"/>
              </a:rPr>
              <a:t>nextInt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spcAft>
                <a:spcPts val="0"/>
              </a:spcAft>
            </a:pPr>
            <a:r>
              <a:rPr sz="1050" b="0" i="0">
                <a:solidFill>
                  <a:srgbClr val="E6EDF3"/>
                </a:solidFill>
                <a:latin typeface="Courier New"/>
              </a:rPr>
              <a:t>}</a:t>
            </a:r>
            <a:r>
              <a:rPr sz="1050" b="0" i="0">
                <a:solidFill>
                  <a:srgbClr val="E6EDF3"/>
                </a:solidFill>
                <a:latin typeface="Courier New"/>
              </a:rPr>
              <a:t> </a:t>
            </a:r>
            <a:r>
              <a:rPr sz="1050" b="0" i="0">
                <a:solidFill>
                  <a:srgbClr val="C792EA"/>
                </a:solidFill>
                <a:latin typeface="Courier New"/>
              </a:rPr>
              <a:t>while</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otra</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78C6C"/>
                </a:solidFill>
                <a:latin typeface="Courier New"/>
              </a:rPr>
              <a:t>1</a:t>
            </a:r>
            <a:r>
              <a:rPr sz="1050" b="0" i="0">
                <a:solidFill>
                  <a:srgbClr val="E6EDF3"/>
                </a:solidFill>
                <a:latin typeface="Courier New"/>
              </a:rPr>
              <a:t>)</a:t>
            </a:r>
            <a:r>
              <a:rPr sz="1050" b="0" i="0">
                <a:solidFill>
                  <a:srgbClr val="E6EDF3"/>
                </a:solidFill>
                <a:latin typeface="Courier New"/>
              </a:rPr>
              <a:t>;</a:t>
            </a:r>
          </a:p>
        </p:txBody>
      </p:sp>
      <p:sp>
        <p:nvSpPr>
          <p:cNvPr id="9" name="Oval 8"/>
          <p:cNvSpPr/>
          <p:nvPr/>
        </p:nvSpPr>
        <p:spPr>
          <a:xfrm>
            <a:off x="8595360" y="1234440"/>
            <a:ext cx="822960" cy="82296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ck_w.png"/>
          <p:cNvPicPr>
            <a:picLocks noChangeAspect="1"/>
          </p:cNvPicPr>
          <p:nvPr/>
        </p:nvPicPr>
        <p:blipFill>
          <a:blip r:embed="rId2"/>
          <a:stretch>
            <a:fillRect/>
          </a:stretch>
        </p:blipFill>
        <p:spPr>
          <a:xfrm>
            <a:off x="8792870" y="1431950"/>
            <a:ext cx="427939" cy="427939"/>
          </a:xfrm>
          <a:prstGeom prst="rect">
            <a:avLst/>
          </a:prstGeom>
        </p:spPr>
      </p:pic>
      <p:sp>
        <p:nvSpPr>
          <p:cNvPr id="11" name="Oval 10"/>
          <p:cNvSpPr/>
          <p:nvPr/>
        </p:nvSpPr>
        <p:spPr>
          <a:xfrm>
            <a:off x="9601200" y="1234440"/>
            <a:ext cx="822960" cy="82296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aper_w.png"/>
          <p:cNvPicPr>
            <a:picLocks noChangeAspect="1"/>
          </p:cNvPicPr>
          <p:nvPr/>
        </p:nvPicPr>
        <p:blipFill>
          <a:blip r:embed="rId3"/>
          <a:stretch>
            <a:fillRect/>
          </a:stretch>
        </p:blipFill>
        <p:spPr>
          <a:xfrm>
            <a:off x="9798710" y="1431950"/>
            <a:ext cx="427939" cy="427939"/>
          </a:xfrm>
          <a:prstGeom prst="rect">
            <a:avLst/>
          </a:prstGeom>
        </p:spPr>
      </p:pic>
      <p:sp>
        <p:nvSpPr>
          <p:cNvPr id="13" name="Oval 12"/>
          <p:cNvSpPr/>
          <p:nvPr/>
        </p:nvSpPr>
        <p:spPr>
          <a:xfrm>
            <a:off x="10607040" y="1234440"/>
            <a:ext cx="822960" cy="82296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cissors_w.png"/>
          <p:cNvPicPr>
            <a:picLocks noChangeAspect="1"/>
          </p:cNvPicPr>
          <p:nvPr/>
        </p:nvPicPr>
        <p:blipFill>
          <a:blip r:embed="rId4"/>
          <a:stretch>
            <a:fillRect/>
          </a:stretch>
        </p:blipFill>
        <p:spPr>
          <a:xfrm>
            <a:off x="10804550" y="1431950"/>
            <a:ext cx="427939" cy="427939"/>
          </a:xfrm>
          <a:prstGeom prst="rect">
            <a:avLst/>
          </a:prstGeom>
        </p:spPr>
      </p:pic>
      <p:sp>
        <p:nvSpPr>
          <p:cNvPr id="15" name="Rounded Rectangle 14"/>
          <p:cNvSpPr/>
          <p:nvPr/>
        </p:nvSpPr>
        <p:spPr>
          <a:xfrm>
            <a:off x="8503920" y="2240280"/>
            <a:ext cx="3063240" cy="82296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641080" y="2423160"/>
            <a:ext cx="201168" cy="201168"/>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0" y="2304288"/>
            <a:ext cx="2560320" cy="320040"/>
          </a:xfrm>
          <a:prstGeom prst="rect">
            <a:avLst/>
          </a:prstGeom>
          <a:noFill/>
        </p:spPr>
        <p:txBody>
          <a:bodyPr wrap="square" lIns="0" rIns="0" tIns="0" bIns="0" anchor="t">
            <a:spAutoFit/>
          </a:bodyPr>
          <a:lstStyle/>
          <a:p>
            <a:pPr algn="l">
              <a:spcAft>
                <a:spcPts val="400"/>
              </a:spcAft>
            </a:pPr>
            <a:r>
              <a:rPr sz="1400" b="1" i="0">
                <a:solidFill>
                  <a:srgbClr val="0B2A4A"/>
                </a:solidFill>
                <a:latin typeface="Courier New"/>
              </a:rPr>
              <a:t>do-while</a:t>
            </a:r>
          </a:p>
        </p:txBody>
      </p:sp>
      <p:sp>
        <p:nvSpPr>
          <p:cNvPr id="18" name="TextBox 17"/>
          <p:cNvSpPr txBox="1"/>
          <p:nvPr/>
        </p:nvSpPr>
        <p:spPr>
          <a:xfrm>
            <a:off x="8961120" y="2624328"/>
            <a:ext cx="2560320" cy="411480"/>
          </a:xfrm>
          <a:prstGeom prst="rect">
            <a:avLst/>
          </a:prstGeom>
          <a:noFill/>
        </p:spPr>
        <p:txBody>
          <a:bodyPr wrap="square" lIns="0" rIns="0" tIns="0" bIns="0" anchor="t">
            <a:spAutoFit/>
          </a:bodyPr>
          <a:lstStyle/>
          <a:p>
            <a:pPr algn="l">
              <a:spcAft>
                <a:spcPts val="400"/>
              </a:spcAft>
            </a:pPr>
            <a:r>
              <a:rPr sz="1200" b="0" i="0">
                <a:solidFill>
                  <a:srgbClr val="4A5A6A"/>
                </a:solidFill>
                <a:latin typeface="Arial"/>
              </a:rPr>
              <a:t>Repite partidas mientras quieras seguir</a:t>
            </a:r>
          </a:p>
        </p:txBody>
      </p:sp>
      <p:sp>
        <p:nvSpPr>
          <p:cNvPr id="19" name="Rounded Rectangle 18"/>
          <p:cNvSpPr/>
          <p:nvPr/>
        </p:nvSpPr>
        <p:spPr>
          <a:xfrm>
            <a:off x="8503920" y="3200400"/>
            <a:ext cx="3063240" cy="82296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641080" y="3383280"/>
            <a:ext cx="201168" cy="201168"/>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61120" y="3264408"/>
            <a:ext cx="2560320" cy="320040"/>
          </a:xfrm>
          <a:prstGeom prst="rect">
            <a:avLst/>
          </a:prstGeom>
          <a:noFill/>
        </p:spPr>
        <p:txBody>
          <a:bodyPr wrap="square" lIns="0" rIns="0" tIns="0" bIns="0" anchor="t">
            <a:spAutoFit/>
          </a:bodyPr>
          <a:lstStyle/>
          <a:p>
            <a:pPr algn="l">
              <a:spcAft>
                <a:spcPts val="400"/>
              </a:spcAft>
            </a:pPr>
            <a:r>
              <a:rPr sz="1400" b="1" i="0">
                <a:solidFill>
                  <a:srgbClr val="0B2A4A"/>
                </a:solidFill>
                <a:latin typeface="Courier New"/>
              </a:rPr>
              <a:t>Math.random()</a:t>
            </a:r>
          </a:p>
        </p:txBody>
      </p:sp>
      <p:sp>
        <p:nvSpPr>
          <p:cNvPr id="22" name="TextBox 21"/>
          <p:cNvSpPr txBox="1"/>
          <p:nvPr/>
        </p:nvSpPr>
        <p:spPr>
          <a:xfrm>
            <a:off x="8961120" y="3584448"/>
            <a:ext cx="2560320" cy="411480"/>
          </a:xfrm>
          <a:prstGeom prst="rect">
            <a:avLst/>
          </a:prstGeom>
          <a:noFill/>
        </p:spPr>
        <p:txBody>
          <a:bodyPr wrap="square" lIns="0" rIns="0" tIns="0" bIns="0" anchor="t">
            <a:spAutoFit/>
          </a:bodyPr>
          <a:lstStyle/>
          <a:p>
            <a:pPr algn="l">
              <a:spcAft>
                <a:spcPts val="400"/>
              </a:spcAft>
            </a:pPr>
            <a:r>
              <a:rPr sz="1200" b="0" i="0">
                <a:solidFill>
                  <a:srgbClr val="4A5A6A"/>
                </a:solidFill>
                <a:latin typeface="Arial"/>
              </a:rPr>
              <a:t>El PC elige al azar un número del 1 al 3</a:t>
            </a:r>
          </a:p>
        </p:txBody>
      </p:sp>
      <p:sp>
        <p:nvSpPr>
          <p:cNvPr id="23" name="Rounded Rectangle 22"/>
          <p:cNvSpPr/>
          <p:nvPr/>
        </p:nvSpPr>
        <p:spPr>
          <a:xfrm>
            <a:off x="8503920" y="4160520"/>
            <a:ext cx="3063240" cy="82296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641080" y="4343400"/>
            <a:ext cx="201168" cy="201168"/>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0" y="4224528"/>
            <a:ext cx="2560320" cy="320040"/>
          </a:xfrm>
          <a:prstGeom prst="rect">
            <a:avLst/>
          </a:prstGeom>
          <a:noFill/>
        </p:spPr>
        <p:txBody>
          <a:bodyPr wrap="square" lIns="0" rIns="0" tIns="0" bIns="0" anchor="t">
            <a:spAutoFit/>
          </a:bodyPr>
          <a:lstStyle/>
          <a:p>
            <a:pPr algn="l">
              <a:spcAft>
                <a:spcPts val="400"/>
              </a:spcAft>
            </a:pPr>
            <a:r>
              <a:rPr sz="1400" b="1" i="0">
                <a:solidFill>
                  <a:srgbClr val="0B2A4A"/>
                </a:solidFill>
                <a:latin typeface="Courier New"/>
              </a:rPr>
              <a:t>switch</a:t>
            </a:r>
          </a:p>
        </p:txBody>
      </p:sp>
      <p:sp>
        <p:nvSpPr>
          <p:cNvPr id="26" name="TextBox 25"/>
          <p:cNvSpPr txBox="1"/>
          <p:nvPr/>
        </p:nvSpPr>
        <p:spPr>
          <a:xfrm>
            <a:off x="8961120" y="4544568"/>
            <a:ext cx="2560320" cy="411480"/>
          </a:xfrm>
          <a:prstGeom prst="rect">
            <a:avLst/>
          </a:prstGeom>
          <a:noFill/>
        </p:spPr>
        <p:txBody>
          <a:bodyPr wrap="square" lIns="0" rIns="0" tIns="0" bIns="0" anchor="t">
            <a:spAutoFit/>
          </a:bodyPr>
          <a:lstStyle/>
          <a:p>
            <a:pPr algn="l">
              <a:spcAft>
                <a:spcPts val="400"/>
              </a:spcAft>
            </a:pPr>
            <a:r>
              <a:rPr sz="1200" b="0" i="0">
                <a:solidFill>
                  <a:srgbClr val="4A5A6A"/>
                </a:solidFill>
                <a:latin typeface="Arial"/>
              </a:rPr>
              <a:t>Muestra la jugada del PC</a:t>
            </a:r>
          </a:p>
        </p:txBody>
      </p:sp>
      <p:sp>
        <p:nvSpPr>
          <p:cNvPr id="27" name="Rounded Rectangle 26"/>
          <p:cNvSpPr/>
          <p:nvPr/>
        </p:nvSpPr>
        <p:spPr>
          <a:xfrm>
            <a:off x="8503920" y="5120640"/>
            <a:ext cx="3063240" cy="822960"/>
          </a:xfrm>
          <a:prstGeom prst="roundRect">
            <a:avLst>
              <a:gd name="adj" fmla="val 7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641080" y="5303520"/>
            <a:ext cx="201168" cy="201168"/>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961120" y="5184648"/>
            <a:ext cx="2560320" cy="320040"/>
          </a:xfrm>
          <a:prstGeom prst="rect">
            <a:avLst/>
          </a:prstGeom>
          <a:noFill/>
        </p:spPr>
        <p:txBody>
          <a:bodyPr wrap="square" lIns="0" rIns="0" tIns="0" bIns="0" anchor="t">
            <a:spAutoFit/>
          </a:bodyPr>
          <a:lstStyle/>
          <a:p>
            <a:pPr algn="l">
              <a:spcAft>
                <a:spcPts val="400"/>
              </a:spcAft>
            </a:pPr>
            <a:r>
              <a:rPr sz="1400" b="1" i="0">
                <a:solidFill>
                  <a:srgbClr val="0B2A4A"/>
                </a:solidFill>
                <a:latin typeface="Courier New"/>
              </a:rPr>
              <a:t>if + &amp;&amp; ||</a:t>
            </a:r>
          </a:p>
        </p:txBody>
      </p:sp>
      <p:sp>
        <p:nvSpPr>
          <p:cNvPr id="30" name="TextBox 29"/>
          <p:cNvSpPr txBox="1"/>
          <p:nvPr/>
        </p:nvSpPr>
        <p:spPr>
          <a:xfrm>
            <a:off x="8961120" y="5504688"/>
            <a:ext cx="2560320" cy="411480"/>
          </a:xfrm>
          <a:prstGeom prst="rect">
            <a:avLst/>
          </a:prstGeom>
          <a:noFill/>
        </p:spPr>
        <p:txBody>
          <a:bodyPr wrap="square" lIns="0" rIns="0" tIns="0" bIns="0" anchor="t">
            <a:spAutoFit/>
          </a:bodyPr>
          <a:lstStyle/>
          <a:p>
            <a:pPr algn="l">
              <a:spcAft>
                <a:spcPts val="400"/>
              </a:spcAft>
            </a:pPr>
            <a:r>
              <a:rPr sz="1200" b="0" i="0">
                <a:solidFill>
                  <a:srgbClr val="4A5A6A"/>
                </a:solidFill>
                <a:latin typeface="Arial"/>
              </a:rPr>
              <a:t>Decide quién gana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135200" y="4491779"/>
            <a:ext cx="6302645" cy="1231797"/>
          </a:xfrm>
        </p:spPr>
        <p:txBody>
          <a:bodyPr/>
          <a:lstStyle/>
          <a:p>
            <a:r>
              <a:rPr lang="es-CL" sz="4002" dirty="0"/>
              <a:t>EJERCICIOS</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5512534" y="3752454"/>
            <a:ext cx="1155194" cy="89575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5821"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17780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Caso 1 · La tienda de videojuegos</a:t>
            </a:r>
          </a:p>
        </p:txBody>
      </p:sp>
      <p:sp>
        <p:nvSpPr>
          <p:cNvPr id="3" name="TextBox 2"/>
          <p:cNvSpPr txBox="1"/>
          <p:nvPr/>
        </p:nvSpPr>
        <p:spPr>
          <a:xfrm>
            <a:off x="640080" y="1234440"/>
            <a:ext cx="10972800" cy="457200"/>
          </a:xfrm>
          <a:prstGeom prst="rect">
            <a:avLst/>
          </a:prstGeom>
          <a:noFill/>
        </p:spPr>
        <p:txBody>
          <a:bodyPr wrap="square" lIns="0" rIns="0" tIns="0" bIns="0" anchor="t">
            <a:spAutoFit/>
          </a:bodyPr>
          <a:lstStyle/>
          <a:p>
            <a:pPr algn="l">
              <a:spcAft>
                <a:spcPts val="400"/>
              </a:spcAft>
            </a:pPr>
            <a:r>
              <a:rPr sz="1800" b="0" i="0">
                <a:solidFill>
                  <a:srgbClr val="4A5A6A"/>
                </a:solidFill>
                <a:latin typeface="Arial"/>
              </a:rPr>
              <a:t>Una tienda online quiere un programa que simule la compra de videojuegos.</a:t>
            </a:r>
          </a:p>
        </p:txBody>
      </p:sp>
      <p:sp>
        <p:nvSpPr>
          <p:cNvPr id="4" name="Rounded Rectangle 3"/>
          <p:cNvSpPr/>
          <p:nvPr/>
        </p:nvSpPr>
        <p:spPr>
          <a:xfrm>
            <a:off x="640080" y="1828800"/>
            <a:ext cx="4480560" cy="4160520"/>
          </a:xfrm>
          <a:prstGeom prst="roundRect">
            <a:avLst>
              <a:gd name="adj" fmla="val 4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965960"/>
            <a:ext cx="4114800" cy="3931920"/>
          </a:xfrm>
          <a:prstGeom prst="rect">
            <a:avLst/>
          </a:prstGeom>
          <a:noFill/>
        </p:spPr>
        <p:txBody>
          <a:bodyPr wrap="square" lIns="0" rIns="0" tIns="0" bIns="0" anchor="t">
            <a:spAutoFit/>
          </a:bodyPr>
          <a:lstStyle/>
          <a:p>
            <a:pPr algn="l">
              <a:spcAft>
                <a:spcPts val="200"/>
              </a:spcAft>
            </a:pPr>
            <a:r>
              <a:rPr sz="1400" b="1" i="0">
                <a:solidFill>
                  <a:srgbClr val="FFC629"/>
                </a:solidFill>
                <a:latin typeface="Courier New"/>
              </a:rPr>
              <a:t>=== GAME STORE ===</a:t>
            </a:r>
          </a:p>
          <a:p>
            <a:pPr algn="l">
              <a:spcAft>
                <a:spcPts val="200"/>
              </a:spcAft>
            </a:pPr>
            <a:r>
              <a:rPr sz="1400" b="0" i="0">
                <a:solidFill>
                  <a:srgbClr val="E6EDF3"/>
                </a:solidFill>
                <a:latin typeface="Courier New"/>
              </a:rPr>
              <a:t>Edad: 19</a:t>
            </a:r>
          </a:p>
          <a:p>
            <a:pPr algn="l">
              <a:spcAft>
                <a:spcPts val="200"/>
              </a:spcAft>
            </a:pPr>
            <a:r>
              <a:rPr sz="1400" b="0" i="0">
                <a:solidFill>
                  <a:srgbClr val="E6EDF3"/>
                </a:solidFill>
                <a:latin typeface="Courier New"/>
              </a:rPr>
              <a:t>1. Aventura Galáctica  $29.990</a:t>
            </a:r>
          </a:p>
          <a:p>
            <a:pPr algn="l">
              <a:spcAft>
                <a:spcPts val="200"/>
              </a:spcAft>
            </a:pPr>
            <a:r>
              <a:rPr sz="1400" b="0" i="0">
                <a:solidFill>
                  <a:srgbClr val="E6EDF3"/>
                </a:solidFill>
                <a:latin typeface="Courier New"/>
              </a:rPr>
              <a:t>2. Fútbol Pro         $39.990</a:t>
            </a:r>
          </a:p>
          <a:p>
            <a:pPr algn="l">
              <a:spcAft>
                <a:spcPts val="200"/>
              </a:spcAft>
            </a:pPr>
            <a:r>
              <a:rPr sz="1400" b="0" i="0">
                <a:solidFill>
                  <a:srgbClr val="E6EDF3"/>
                </a:solidFill>
                <a:latin typeface="Courier New"/>
              </a:rPr>
              <a:t>3. Carreras Extremas  $24.990</a:t>
            </a:r>
          </a:p>
          <a:p>
            <a:pPr algn="l">
              <a:spcAft>
                <a:spcPts val="200"/>
              </a:spcAft>
            </a:pPr>
            <a:r>
              <a:rPr sz="1400" b="0" i="0">
                <a:solidFill>
                  <a:srgbClr val="E6EDF3"/>
                </a:solidFill>
                <a:latin typeface="Courier New"/>
              </a:rPr>
              <a:t>0. Salir</a:t>
            </a:r>
          </a:p>
          <a:p>
            <a:pPr algn="l">
              <a:spcAft>
                <a:spcPts val="200"/>
              </a:spcAft>
            </a:pPr>
            <a:r>
              <a:rPr sz="1400" b="0" i="0">
                <a:solidFill>
                  <a:srgbClr val="E6EDF3"/>
                </a:solidFill>
                <a:latin typeface="Courier New"/>
              </a:rPr>
              <a:t/>
            </a:r>
          </a:p>
          <a:p>
            <a:pPr algn="l">
              <a:spcAft>
                <a:spcPts val="200"/>
              </a:spcAft>
            </a:pPr>
            <a:r>
              <a:rPr sz="1400" b="0" i="0">
                <a:solidFill>
                  <a:srgbClr val="E6EDF3"/>
                </a:solidFill>
                <a:latin typeface="Courier New"/>
              </a:rPr>
              <a:t>Opción: 2</a:t>
            </a:r>
          </a:p>
          <a:p>
            <a:pPr algn="l">
              <a:spcAft>
                <a:spcPts val="200"/>
              </a:spcAft>
            </a:pPr>
            <a:r>
              <a:rPr sz="1400" b="0" i="0">
                <a:solidFill>
                  <a:srgbClr val="E6EDF3"/>
                </a:solidFill>
                <a:latin typeface="Courier New"/>
              </a:rPr>
              <a:t>Cantidad: 2</a:t>
            </a:r>
          </a:p>
          <a:p>
            <a:pPr algn="l">
              <a:spcAft>
                <a:spcPts val="200"/>
              </a:spcAft>
            </a:pPr>
            <a:r>
              <a:rPr sz="1400" b="0" i="0">
                <a:solidFill>
                  <a:srgbClr val="1FB58F"/>
                </a:solidFill>
                <a:latin typeface="Courier New"/>
              </a:rPr>
              <a:t>Subtotal: $79.980</a:t>
            </a:r>
          </a:p>
          <a:p>
            <a:pPr algn="l">
              <a:spcAft>
                <a:spcPts val="200"/>
              </a:spcAft>
            </a:pPr>
            <a:r>
              <a:rPr sz="1400" b="0" i="0">
                <a:solidFill>
                  <a:srgbClr val="E6EDF3"/>
                </a:solidFill>
                <a:latin typeface="Courier New"/>
              </a:rPr>
              <a:t>Opción: 0</a:t>
            </a:r>
          </a:p>
          <a:p>
            <a:pPr algn="l">
              <a:spcAft>
                <a:spcPts val="200"/>
              </a:spcAft>
            </a:pPr>
            <a:r>
              <a:rPr sz="1400" b="1" i="0">
                <a:solidFill>
                  <a:srgbClr val="FFC629"/>
                </a:solidFill>
                <a:latin typeface="Courier New"/>
              </a:rPr>
              <a:t>TOTAL: $79.980</a:t>
            </a:r>
          </a:p>
        </p:txBody>
      </p:sp>
      <p:sp>
        <p:nvSpPr>
          <p:cNvPr id="6" name="Oval 5"/>
          <p:cNvSpPr/>
          <p:nvPr/>
        </p:nvSpPr>
        <p:spPr>
          <a:xfrm>
            <a:off x="5440680" y="1874519"/>
            <a:ext cx="640080" cy="64008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ist2_w.png"/>
          <p:cNvPicPr>
            <a:picLocks noChangeAspect="1"/>
          </p:cNvPicPr>
          <p:nvPr/>
        </p:nvPicPr>
        <p:blipFill>
          <a:blip r:embed="rId2"/>
          <a:stretch>
            <a:fillRect/>
          </a:stretch>
        </p:blipFill>
        <p:spPr>
          <a:xfrm>
            <a:off x="5594299" y="2028139"/>
            <a:ext cx="332841" cy="332841"/>
          </a:xfrm>
          <a:prstGeom prst="rect">
            <a:avLst/>
          </a:prstGeom>
        </p:spPr>
      </p:pic>
      <p:sp>
        <p:nvSpPr>
          <p:cNvPr id="8" name="TextBox 7"/>
          <p:cNvSpPr txBox="1"/>
          <p:nvPr/>
        </p:nvSpPr>
        <p:spPr>
          <a:xfrm>
            <a:off x="6263640" y="1828800"/>
            <a:ext cx="5303520" cy="365760"/>
          </a:xfrm>
          <a:prstGeom prst="rect">
            <a:avLst/>
          </a:prstGeom>
          <a:noFill/>
        </p:spPr>
        <p:txBody>
          <a:bodyPr wrap="square" lIns="0" rIns="0" tIns="0" bIns="0" anchor="t">
            <a:spAutoFit/>
          </a:bodyPr>
          <a:lstStyle/>
          <a:p>
            <a:pPr algn="l">
              <a:spcAft>
                <a:spcPts val="400"/>
              </a:spcAft>
            </a:pPr>
            <a:r>
              <a:rPr sz="1700" b="1" i="0">
                <a:solidFill>
                  <a:srgbClr val="0B2A4A"/>
                </a:solidFill>
                <a:latin typeface="Arial"/>
              </a:rPr>
              <a:t>1. Menú con switch</a:t>
            </a:r>
          </a:p>
        </p:txBody>
      </p:sp>
      <p:sp>
        <p:nvSpPr>
          <p:cNvPr id="9" name="TextBox 8"/>
          <p:cNvSpPr txBox="1"/>
          <p:nvPr/>
        </p:nvSpPr>
        <p:spPr>
          <a:xfrm>
            <a:off x="6263640" y="2194560"/>
            <a:ext cx="530352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3 videojuegos y la opción Salir</a:t>
            </a:r>
          </a:p>
        </p:txBody>
      </p:sp>
      <p:sp>
        <p:nvSpPr>
          <p:cNvPr id="10" name="Oval 9"/>
          <p:cNvSpPr/>
          <p:nvPr/>
        </p:nvSpPr>
        <p:spPr>
          <a:xfrm>
            <a:off x="5440680" y="2724912"/>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uard_w.png"/>
          <p:cNvPicPr>
            <a:picLocks noChangeAspect="1"/>
          </p:cNvPicPr>
          <p:nvPr/>
        </p:nvPicPr>
        <p:blipFill>
          <a:blip r:embed="rId3"/>
          <a:stretch>
            <a:fillRect/>
          </a:stretch>
        </p:blipFill>
        <p:spPr>
          <a:xfrm>
            <a:off x="5594299" y="2878531"/>
            <a:ext cx="332841" cy="332841"/>
          </a:xfrm>
          <a:prstGeom prst="rect">
            <a:avLst/>
          </a:prstGeom>
        </p:spPr>
      </p:pic>
      <p:sp>
        <p:nvSpPr>
          <p:cNvPr id="12" name="TextBox 11"/>
          <p:cNvSpPr txBox="1"/>
          <p:nvPr/>
        </p:nvSpPr>
        <p:spPr>
          <a:xfrm>
            <a:off x="6263640" y="2679192"/>
            <a:ext cx="5303520" cy="365760"/>
          </a:xfrm>
          <a:prstGeom prst="rect">
            <a:avLst/>
          </a:prstGeom>
          <a:noFill/>
        </p:spPr>
        <p:txBody>
          <a:bodyPr wrap="square" lIns="0" rIns="0" tIns="0" bIns="0" anchor="t">
            <a:spAutoFit/>
          </a:bodyPr>
          <a:lstStyle/>
          <a:p>
            <a:pPr algn="l">
              <a:spcAft>
                <a:spcPts val="400"/>
              </a:spcAft>
            </a:pPr>
            <a:r>
              <a:rPr sz="1700" b="1" i="0">
                <a:solidFill>
                  <a:srgbClr val="0B2A4A"/>
                </a:solidFill>
                <a:latin typeface="Arial"/>
              </a:rPr>
              <a:t>2. Edad con if</a:t>
            </a:r>
          </a:p>
        </p:txBody>
      </p:sp>
      <p:sp>
        <p:nvSpPr>
          <p:cNvPr id="13" name="TextBox 12"/>
          <p:cNvSpPr txBox="1"/>
          <p:nvPr/>
        </p:nvSpPr>
        <p:spPr>
          <a:xfrm>
            <a:off x="6263640" y="3044952"/>
            <a:ext cx="530352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Si es menor de 18, el programa termina</a:t>
            </a:r>
          </a:p>
        </p:txBody>
      </p:sp>
      <p:sp>
        <p:nvSpPr>
          <p:cNvPr id="14" name="Oval 13"/>
          <p:cNvSpPr/>
          <p:nvPr/>
        </p:nvSpPr>
        <p:spPr>
          <a:xfrm>
            <a:off x="5440680" y="3575304"/>
            <a:ext cx="640080" cy="64008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ync_w.png"/>
          <p:cNvPicPr>
            <a:picLocks noChangeAspect="1"/>
          </p:cNvPicPr>
          <p:nvPr/>
        </p:nvPicPr>
        <p:blipFill>
          <a:blip r:embed="rId4"/>
          <a:stretch>
            <a:fillRect/>
          </a:stretch>
        </p:blipFill>
        <p:spPr>
          <a:xfrm>
            <a:off x="5594299" y="3728923"/>
            <a:ext cx="332841" cy="332841"/>
          </a:xfrm>
          <a:prstGeom prst="rect">
            <a:avLst/>
          </a:prstGeom>
        </p:spPr>
      </p:pic>
      <p:sp>
        <p:nvSpPr>
          <p:cNvPr id="16" name="TextBox 15"/>
          <p:cNvSpPr txBox="1"/>
          <p:nvPr/>
        </p:nvSpPr>
        <p:spPr>
          <a:xfrm>
            <a:off x="6263640" y="3529584"/>
            <a:ext cx="5303520" cy="365760"/>
          </a:xfrm>
          <a:prstGeom prst="rect">
            <a:avLst/>
          </a:prstGeom>
          <a:noFill/>
        </p:spPr>
        <p:txBody>
          <a:bodyPr wrap="square" lIns="0" rIns="0" tIns="0" bIns="0" anchor="t">
            <a:spAutoFit/>
          </a:bodyPr>
          <a:lstStyle/>
          <a:p>
            <a:pPr algn="l">
              <a:spcAft>
                <a:spcPts val="400"/>
              </a:spcAft>
            </a:pPr>
            <a:r>
              <a:rPr sz="1700" b="1" i="0">
                <a:solidFill>
                  <a:srgbClr val="0B2A4A"/>
                </a:solidFill>
                <a:latin typeface="Arial"/>
              </a:rPr>
              <a:t>3. Ciclo while</a:t>
            </a:r>
          </a:p>
        </p:txBody>
      </p:sp>
      <p:sp>
        <p:nvSpPr>
          <p:cNvPr id="17" name="TextBox 16"/>
          <p:cNvSpPr txBox="1"/>
          <p:nvPr/>
        </p:nvSpPr>
        <p:spPr>
          <a:xfrm>
            <a:off x="6263640" y="3895344"/>
            <a:ext cx="530352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Permite comprar varios juegos hasta salir</a:t>
            </a:r>
          </a:p>
        </p:txBody>
      </p:sp>
      <p:sp>
        <p:nvSpPr>
          <p:cNvPr id="18" name="Oval 17"/>
          <p:cNvSpPr/>
          <p:nvPr/>
        </p:nvSpPr>
        <p:spPr>
          <a:xfrm>
            <a:off x="5440680" y="4425696"/>
            <a:ext cx="640080" cy="64008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art_w.png"/>
          <p:cNvPicPr>
            <a:picLocks noChangeAspect="1"/>
          </p:cNvPicPr>
          <p:nvPr/>
        </p:nvPicPr>
        <p:blipFill>
          <a:blip r:embed="rId5"/>
          <a:stretch>
            <a:fillRect/>
          </a:stretch>
        </p:blipFill>
        <p:spPr>
          <a:xfrm>
            <a:off x="5594299" y="4579315"/>
            <a:ext cx="332841" cy="332841"/>
          </a:xfrm>
          <a:prstGeom prst="rect">
            <a:avLst/>
          </a:prstGeom>
        </p:spPr>
      </p:pic>
      <p:sp>
        <p:nvSpPr>
          <p:cNvPr id="20" name="TextBox 19"/>
          <p:cNvSpPr txBox="1"/>
          <p:nvPr/>
        </p:nvSpPr>
        <p:spPr>
          <a:xfrm>
            <a:off x="6263640" y="4379976"/>
            <a:ext cx="5303520" cy="365760"/>
          </a:xfrm>
          <a:prstGeom prst="rect">
            <a:avLst/>
          </a:prstGeom>
          <a:noFill/>
        </p:spPr>
        <p:txBody>
          <a:bodyPr wrap="square" lIns="0" rIns="0" tIns="0" bIns="0" anchor="t">
            <a:spAutoFit/>
          </a:bodyPr>
          <a:lstStyle/>
          <a:p>
            <a:pPr algn="l">
              <a:spcAft>
                <a:spcPts val="400"/>
              </a:spcAft>
            </a:pPr>
            <a:r>
              <a:rPr sz="1700" b="1" i="0">
                <a:solidFill>
                  <a:srgbClr val="0B2A4A"/>
                </a:solidFill>
                <a:latin typeface="Arial"/>
              </a:rPr>
              <a:t>4. Subtotal</a:t>
            </a:r>
          </a:p>
        </p:txBody>
      </p:sp>
      <p:sp>
        <p:nvSpPr>
          <p:cNvPr id="21" name="TextBox 20"/>
          <p:cNvSpPr txBox="1"/>
          <p:nvPr/>
        </p:nvSpPr>
        <p:spPr>
          <a:xfrm>
            <a:off x="6263640" y="4745736"/>
            <a:ext cx="530352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Pide cantidad y calcula precio × cantidad</a:t>
            </a:r>
          </a:p>
        </p:txBody>
      </p:sp>
      <p:sp>
        <p:nvSpPr>
          <p:cNvPr id="22" name="Oval 21"/>
          <p:cNvSpPr/>
          <p:nvPr/>
        </p:nvSpPr>
        <p:spPr>
          <a:xfrm>
            <a:off x="5440680" y="5276088"/>
            <a:ext cx="640080" cy="64008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oney_n.png"/>
          <p:cNvPicPr>
            <a:picLocks noChangeAspect="1"/>
          </p:cNvPicPr>
          <p:nvPr/>
        </p:nvPicPr>
        <p:blipFill>
          <a:blip r:embed="rId6"/>
          <a:stretch>
            <a:fillRect/>
          </a:stretch>
        </p:blipFill>
        <p:spPr>
          <a:xfrm>
            <a:off x="5594299" y="5429707"/>
            <a:ext cx="332841" cy="332841"/>
          </a:xfrm>
          <a:prstGeom prst="rect">
            <a:avLst/>
          </a:prstGeom>
        </p:spPr>
      </p:pic>
      <p:sp>
        <p:nvSpPr>
          <p:cNvPr id="24" name="TextBox 23"/>
          <p:cNvSpPr txBox="1"/>
          <p:nvPr/>
        </p:nvSpPr>
        <p:spPr>
          <a:xfrm>
            <a:off x="6263640" y="5230368"/>
            <a:ext cx="5303520" cy="365760"/>
          </a:xfrm>
          <a:prstGeom prst="rect">
            <a:avLst/>
          </a:prstGeom>
          <a:noFill/>
        </p:spPr>
        <p:txBody>
          <a:bodyPr wrap="square" lIns="0" rIns="0" tIns="0" bIns="0" anchor="t">
            <a:spAutoFit/>
          </a:bodyPr>
          <a:lstStyle/>
          <a:p>
            <a:pPr algn="l">
              <a:spcAft>
                <a:spcPts val="400"/>
              </a:spcAft>
            </a:pPr>
            <a:r>
              <a:rPr sz="1700" b="1" i="0">
                <a:solidFill>
                  <a:srgbClr val="0B2A4A"/>
                </a:solidFill>
                <a:latin typeface="Arial"/>
              </a:rPr>
              <a:t>5. Total final</a:t>
            </a:r>
          </a:p>
        </p:txBody>
      </p:sp>
      <p:sp>
        <p:nvSpPr>
          <p:cNvPr id="25" name="TextBox 24"/>
          <p:cNvSpPr txBox="1"/>
          <p:nvPr/>
        </p:nvSpPr>
        <p:spPr>
          <a:xfrm>
            <a:off x="6263640" y="5596128"/>
            <a:ext cx="5303520" cy="365760"/>
          </a:xfrm>
          <a:prstGeom prst="rect">
            <a:avLst/>
          </a:prstGeom>
          <a:noFill/>
        </p:spPr>
        <p:txBody>
          <a:bodyPr wrap="square" lIns="0" rIns="0" tIns="0" bIns="0" anchor="t">
            <a:spAutoFit/>
          </a:bodyPr>
          <a:lstStyle/>
          <a:p>
            <a:pPr algn="l">
              <a:spcAft>
                <a:spcPts val="400"/>
              </a:spcAft>
            </a:pPr>
            <a:r>
              <a:rPr sz="1400" b="0" i="0">
                <a:solidFill>
                  <a:srgbClr val="4A5A6A"/>
                </a:solidFill>
                <a:latin typeface="Arial"/>
              </a:rPr>
              <a:t>Muestra el total acumulado de la compra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2768" y="402336"/>
            <a:ext cx="10058400" cy="640080"/>
          </a:xfrm>
          <a:prstGeom prst="rect">
            <a:avLst/>
          </a:prstGeom>
          <a:noFill/>
        </p:spPr>
        <p:txBody>
          <a:bodyPr wrap="square" lIns="0" rIns="0" tIns="0" bIns="0" anchor="ctr">
            <a:spAutoFit/>
          </a:bodyPr>
          <a:lstStyle/>
          <a:p>
            <a:pPr algn="l">
              <a:spcAft>
                <a:spcPts val="400"/>
              </a:spcAft>
            </a:pPr>
            <a:r>
              <a:rPr sz="2600" b="1" i="0">
                <a:solidFill>
                  <a:srgbClr val="0B2A4A"/>
                </a:solidFill>
                <a:latin typeface="Arial"/>
              </a:rPr>
              <a:t>Caso 2 · Adivina el número secreto</a:t>
            </a:r>
          </a:p>
        </p:txBody>
      </p:sp>
      <p:sp>
        <p:nvSpPr>
          <p:cNvPr id="3" name="Rounded Rectangle 2"/>
          <p:cNvSpPr/>
          <p:nvPr/>
        </p:nvSpPr>
        <p:spPr>
          <a:xfrm>
            <a:off x="640080" y="1325880"/>
            <a:ext cx="3931920" cy="4663440"/>
          </a:xfrm>
          <a:prstGeom prst="roundRect">
            <a:avLst>
              <a:gd name="adj" fmla="val 5000"/>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600200" y="1645920"/>
            <a:ext cx="2011680" cy="201168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600200" y="1645920"/>
            <a:ext cx="2011680" cy="2011680"/>
          </a:xfrm>
          <a:prstGeom prst="rect">
            <a:avLst/>
          </a:prstGeom>
          <a:noFill/>
        </p:spPr>
        <p:txBody>
          <a:bodyPr wrap="square" lIns="0" rIns="0" tIns="0" bIns="0" anchor="ctr">
            <a:spAutoFit/>
          </a:bodyPr>
          <a:lstStyle/>
          <a:p>
            <a:pPr algn="ctr">
              <a:spcAft>
                <a:spcPts val="400"/>
              </a:spcAft>
            </a:pPr>
            <a:r>
              <a:rPr sz="8000" b="1" i="0">
                <a:solidFill>
                  <a:srgbClr val="0B2A4A"/>
                </a:solidFill>
                <a:latin typeface="Arial"/>
              </a:rPr>
              <a:t>?</a:t>
            </a:r>
          </a:p>
        </p:txBody>
      </p:sp>
      <p:sp>
        <p:nvSpPr>
          <p:cNvPr id="6" name="TextBox 5"/>
          <p:cNvSpPr txBox="1"/>
          <p:nvPr/>
        </p:nvSpPr>
        <p:spPr>
          <a:xfrm>
            <a:off x="868680" y="3794760"/>
            <a:ext cx="3474720" cy="457200"/>
          </a:xfrm>
          <a:prstGeom prst="rect">
            <a:avLst/>
          </a:prstGeom>
          <a:noFill/>
        </p:spPr>
        <p:txBody>
          <a:bodyPr wrap="square" lIns="0" rIns="0" tIns="0" bIns="0" anchor="t">
            <a:spAutoFit/>
          </a:bodyPr>
          <a:lstStyle/>
          <a:p>
            <a:pPr algn="ctr">
              <a:spcAft>
                <a:spcPts val="400"/>
              </a:spcAft>
            </a:pPr>
            <a:r>
              <a:rPr sz="1700" b="1" i="0">
                <a:solidFill>
                  <a:srgbClr val="FFFFFF"/>
                </a:solidFill>
                <a:latin typeface="Arial"/>
              </a:rPr>
              <a:t>Un número del 1 al 10</a:t>
            </a:r>
          </a:p>
        </p:txBody>
      </p:sp>
      <p:sp>
        <p:nvSpPr>
          <p:cNvPr id="7" name="Oval 6"/>
          <p:cNvSpPr/>
          <p:nvPr/>
        </p:nvSpPr>
        <p:spPr>
          <a:xfrm>
            <a:off x="1463040" y="4389120"/>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art_w.png"/>
          <p:cNvPicPr>
            <a:picLocks noChangeAspect="1"/>
          </p:cNvPicPr>
          <p:nvPr/>
        </p:nvPicPr>
        <p:blipFill>
          <a:blip r:embed="rId2"/>
          <a:stretch>
            <a:fillRect/>
          </a:stretch>
        </p:blipFill>
        <p:spPr>
          <a:xfrm>
            <a:off x="1603857" y="4529937"/>
            <a:ext cx="358444" cy="358444"/>
          </a:xfrm>
          <a:prstGeom prst="rect">
            <a:avLst/>
          </a:prstGeom>
        </p:spPr>
      </p:pic>
      <p:sp>
        <p:nvSpPr>
          <p:cNvPr id="9" name="Oval 8"/>
          <p:cNvSpPr/>
          <p:nvPr/>
        </p:nvSpPr>
        <p:spPr>
          <a:xfrm>
            <a:off x="2286000" y="4389120"/>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eart_w.png"/>
          <p:cNvPicPr>
            <a:picLocks noChangeAspect="1"/>
          </p:cNvPicPr>
          <p:nvPr/>
        </p:nvPicPr>
        <p:blipFill>
          <a:blip r:embed="rId2"/>
          <a:stretch>
            <a:fillRect/>
          </a:stretch>
        </p:blipFill>
        <p:spPr>
          <a:xfrm>
            <a:off x="2426817" y="4529937"/>
            <a:ext cx="358444" cy="358444"/>
          </a:xfrm>
          <a:prstGeom prst="rect">
            <a:avLst/>
          </a:prstGeom>
        </p:spPr>
      </p:pic>
      <p:sp>
        <p:nvSpPr>
          <p:cNvPr id="11" name="Oval 10"/>
          <p:cNvSpPr/>
          <p:nvPr/>
        </p:nvSpPr>
        <p:spPr>
          <a:xfrm>
            <a:off x="3108960" y="4389120"/>
            <a:ext cx="640080" cy="64008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eart_w.png"/>
          <p:cNvPicPr>
            <a:picLocks noChangeAspect="1"/>
          </p:cNvPicPr>
          <p:nvPr/>
        </p:nvPicPr>
        <p:blipFill>
          <a:blip r:embed="rId2"/>
          <a:stretch>
            <a:fillRect/>
          </a:stretch>
        </p:blipFill>
        <p:spPr>
          <a:xfrm>
            <a:off x="3249777" y="4529937"/>
            <a:ext cx="358444" cy="358444"/>
          </a:xfrm>
          <a:prstGeom prst="rect">
            <a:avLst/>
          </a:prstGeom>
        </p:spPr>
      </p:pic>
      <p:sp>
        <p:nvSpPr>
          <p:cNvPr id="13" name="TextBox 12"/>
          <p:cNvSpPr txBox="1"/>
          <p:nvPr/>
        </p:nvSpPr>
        <p:spPr>
          <a:xfrm>
            <a:off x="868680" y="5166360"/>
            <a:ext cx="3474720" cy="457200"/>
          </a:xfrm>
          <a:prstGeom prst="rect">
            <a:avLst/>
          </a:prstGeom>
          <a:noFill/>
        </p:spPr>
        <p:txBody>
          <a:bodyPr wrap="square" lIns="0" rIns="0" tIns="0" bIns="0" anchor="t">
            <a:spAutoFit/>
          </a:bodyPr>
          <a:lstStyle/>
          <a:p>
            <a:pPr algn="ctr">
              <a:spcAft>
                <a:spcPts val="400"/>
              </a:spcAft>
            </a:pPr>
            <a:r>
              <a:rPr sz="1600" b="1" i="0">
                <a:solidFill>
                  <a:srgbClr val="FFC629"/>
                </a:solidFill>
                <a:latin typeface="Arial"/>
              </a:rPr>
              <a:t>Tienes 3 intentos</a:t>
            </a:r>
          </a:p>
        </p:txBody>
      </p:sp>
      <p:sp>
        <p:nvSpPr>
          <p:cNvPr id="14" name="Oval 13"/>
          <p:cNvSpPr/>
          <p:nvPr/>
        </p:nvSpPr>
        <p:spPr>
          <a:xfrm>
            <a:off x="4892040" y="1371600"/>
            <a:ext cx="502920" cy="502920"/>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dice_w.png"/>
          <p:cNvPicPr>
            <a:picLocks noChangeAspect="1"/>
          </p:cNvPicPr>
          <p:nvPr/>
        </p:nvPicPr>
        <p:blipFill>
          <a:blip r:embed="rId3"/>
          <a:stretch>
            <a:fillRect/>
          </a:stretch>
        </p:blipFill>
        <p:spPr>
          <a:xfrm>
            <a:off x="5012740" y="1492300"/>
            <a:ext cx="261518" cy="261518"/>
          </a:xfrm>
          <a:prstGeom prst="rect">
            <a:avLst/>
          </a:prstGeom>
        </p:spPr>
      </p:pic>
      <p:sp>
        <p:nvSpPr>
          <p:cNvPr id="16" name="TextBox 15"/>
          <p:cNvSpPr txBox="1"/>
          <p:nvPr/>
        </p:nvSpPr>
        <p:spPr>
          <a:xfrm>
            <a:off x="5577840" y="1371600"/>
            <a:ext cx="5989320" cy="502920"/>
          </a:xfrm>
          <a:prstGeom prst="rect">
            <a:avLst/>
          </a:prstGeom>
          <a:noFill/>
        </p:spPr>
        <p:txBody>
          <a:bodyPr wrap="square" lIns="0" rIns="0" tIns="0" bIns="0" anchor="ctr">
            <a:spAutoFit/>
          </a:bodyPr>
          <a:lstStyle/>
          <a:p>
            <a:pPr algn="l">
              <a:spcAft>
                <a:spcPts val="400"/>
              </a:spcAft>
            </a:pPr>
            <a:r>
              <a:rPr sz="1500" b="0" i="0">
                <a:solidFill>
                  <a:srgbClr val="0B2A4A"/>
                </a:solidFill>
                <a:latin typeface="Arial"/>
              </a:rPr>
              <a:t>El programa genera un número secreto al azar entre 1 y 10.</a:t>
            </a:r>
          </a:p>
        </p:txBody>
      </p:sp>
      <p:sp>
        <p:nvSpPr>
          <p:cNvPr id="17" name="Oval 16"/>
          <p:cNvSpPr/>
          <p:nvPr/>
        </p:nvSpPr>
        <p:spPr>
          <a:xfrm>
            <a:off x="4892040" y="2029967"/>
            <a:ext cx="502920" cy="502920"/>
          </a:xfrm>
          <a:prstGeom prst="ellipse">
            <a:avLst/>
          </a:prstGeom>
          <a:solidFill>
            <a:srgbClr val="FF5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eart_w.png"/>
          <p:cNvPicPr>
            <a:picLocks noChangeAspect="1"/>
          </p:cNvPicPr>
          <p:nvPr/>
        </p:nvPicPr>
        <p:blipFill>
          <a:blip r:embed="rId2"/>
          <a:stretch>
            <a:fillRect/>
          </a:stretch>
        </p:blipFill>
        <p:spPr>
          <a:xfrm>
            <a:off x="5012740" y="2150668"/>
            <a:ext cx="261518" cy="261518"/>
          </a:xfrm>
          <a:prstGeom prst="rect">
            <a:avLst/>
          </a:prstGeom>
        </p:spPr>
      </p:pic>
      <p:sp>
        <p:nvSpPr>
          <p:cNvPr id="19" name="TextBox 18"/>
          <p:cNvSpPr txBox="1"/>
          <p:nvPr/>
        </p:nvSpPr>
        <p:spPr>
          <a:xfrm>
            <a:off x="5577840" y="2029967"/>
            <a:ext cx="5989320" cy="502920"/>
          </a:xfrm>
          <a:prstGeom prst="rect">
            <a:avLst/>
          </a:prstGeom>
          <a:noFill/>
        </p:spPr>
        <p:txBody>
          <a:bodyPr wrap="square" lIns="0" rIns="0" tIns="0" bIns="0" anchor="ctr">
            <a:spAutoFit/>
          </a:bodyPr>
          <a:lstStyle/>
          <a:p>
            <a:pPr algn="l">
              <a:spcAft>
                <a:spcPts val="400"/>
              </a:spcAft>
            </a:pPr>
            <a:r>
              <a:rPr sz="1500" b="0" i="0">
                <a:solidFill>
                  <a:srgbClr val="0B2A4A"/>
                </a:solidFill>
                <a:latin typeface="Arial"/>
              </a:rPr>
              <a:t>El jugador tiene 3 intentos. Si acierta, ¡gana de inmediato!</a:t>
            </a:r>
          </a:p>
        </p:txBody>
      </p:sp>
      <p:sp>
        <p:nvSpPr>
          <p:cNvPr id="20" name="Oval 19"/>
          <p:cNvSpPr/>
          <p:nvPr/>
        </p:nvSpPr>
        <p:spPr>
          <a:xfrm>
            <a:off x="4892040" y="2688336"/>
            <a:ext cx="502920" cy="502920"/>
          </a:xfrm>
          <a:prstGeom prst="ellipse">
            <a:avLst/>
          </a:prstGeom>
          <a:solidFill>
            <a:srgbClr val="7B5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branch_w.png"/>
          <p:cNvPicPr>
            <a:picLocks noChangeAspect="1"/>
          </p:cNvPicPr>
          <p:nvPr/>
        </p:nvPicPr>
        <p:blipFill>
          <a:blip r:embed="rId4"/>
          <a:stretch>
            <a:fillRect/>
          </a:stretch>
        </p:blipFill>
        <p:spPr>
          <a:xfrm>
            <a:off x="5012740" y="2809036"/>
            <a:ext cx="261518" cy="261518"/>
          </a:xfrm>
          <a:prstGeom prst="rect">
            <a:avLst/>
          </a:prstGeom>
        </p:spPr>
      </p:pic>
      <p:sp>
        <p:nvSpPr>
          <p:cNvPr id="22" name="TextBox 21"/>
          <p:cNvSpPr txBox="1"/>
          <p:nvPr/>
        </p:nvSpPr>
        <p:spPr>
          <a:xfrm>
            <a:off x="5577840" y="2688336"/>
            <a:ext cx="5989320" cy="502920"/>
          </a:xfrm>
          <a:prstGeom prst="rect">
            <a:avLst/>
          </a:prstGeom>
          <a:noFill/>
        </p:spPr>
        <p:txBody>
          <a:bodyPr wrap="square" lIns="0" rIns="0" tIns="0" bIns="0" anchor="ctr">
            <a:spAutoFit/>
          </a:bodyPr>
          <a:lstStyle/>
          <a:p>
            <a:pPr algn="l">
              <a:spcAft>
                <a:spcPts val="400"/>
              </a:spcAft>
            </a:pPr>
            <a:r>
              <a:rPr sz="1500" b="0" i="0">
                <a:solidFill>
                  <a:srgbClr val="0B2A4A"/>
                </a:solidFill>
                <a:latin typeface="Arial"/>
              </a:rPr>
              <a:t>Si falla, un if le da la pista: el secreto es MAYOR o MENOR.</a:t>
            </a:r>
          </a:p>
        </p:txBody>
      </p:sp>
      <p:sp>
        <p:nvSpPr>
          <p:cNvPr id="23" name="Oval 22"/>
          <p:cNvSpPr/>
          <p:nvPr/>
        </p:nvSpPr>
        <p:spPr>
          <a:xfrm>
            <a:off x="4892040" y="3346704"/>
            <a:ext cx="502920" cy="502920"/>
          </a:xfrm>
          <a:prstGeom prst="ellipse">
            <a:avLst/>
          </a:prstGeom>
          <a:solidFill>
            <a:srgbClr val="1FB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ist2_w.png"/>
          <p:cNvPicPr>
            <a:picLocks noChangeAspect="1"/>
          </p:cNvPicPr>
          <p:nvPr/>
        </p:nvPicPr>
        <p:blipFill>
          <a:blip r:embed="rId5"/>
          <a:stretch>
            <a:fillRect/>
          </a:stretch>
        </p:blipFill>
        <p:spPr>
          <a:xfrm>
            <a:off x="5012740" y="3467404"/>
            <a:ext cx="261518" cy="261518"/>
          </a:xfrm>
          <a:prstGeom prst="rect">
            <a:avLst/>
          </a:prstGeom>
        </p:spPr>
      </p:pic>
      <p:sp>
        <p:nvSpPr>
          <p:cNvPr id="25" name="TextBox 24"/>
          <p:cNvSpPr txBox="1"/>
          <p:nvPr/>
        </p:nvSpPr>
        <p:spPr>
          <a:xfrm>
            <a:off x="5577840" y="3346704"/>
            <a:ext cx="5989320" cy="502920"/>
          </a:xfrm>
          <a:prstGeom prst="rect">
            <a:avLst/>
          </a:prstGeom>
          <a:noFill/>
        </p:spPr>
        <p:txBody>
          <a:bodyPr wrap="square" lIns="0" rIns="0" tIns="0" bIns="0" anchor="ctr">
            <a:spAutoFit/>
          </a:bodyPr>
          <a:lstStyle/>
          <a:p>
            <a:pPr algn="l">
              <a:spcAft>
                <a:spcPts val="400"/>
              </a:spcAft>
            </a:pPr>
            <a:r>
              <a:rPr sz="1500" b="0" i="0">
                <a:solidFill>
                  <a:srgbClr val="0B2A4A"/>
                </a:solidFill>
                <a:latin typeface="Arial"/>
              </a:rPr>
              <a:t>Al terminar, un menú switch: 1 Jugar otra vez · 2 Salir.</a:t>
            </a:r>
          </a:p>
        </p:txBody>
      </p:sp>
      <p:sp>
        <p:nvSpPr>
          <p:cNvPr id="26" name="Oval 25"/>
          <p:cNvSpPr/>
          <p:nvPr/>
        </p:nvSpPr>
        <p:spPr>
          <a:xfrm>
            <a:off x="4892040" y="4005072"/>
            <a:ext cx="502920" cy="502920"/>
          </a:xfrm>
          <a:prstGeom prst="ellipse">
            <a:avLst/>
          </a:prstGeom>
          <a:solidFill>
            <a:srgbClr val="FFC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sync_n.png"/>
          <p:cNvPicPr>
            <a:picLocks noChangeAspect="1"/>
          </p:cNvPicPr>
          <p:nvPr/>
        </p:nvPicPr>
        <p:blipFill>
          <a:blip r:embed="rId6"/>
          <a:stretch>
            <a:fillRect/>
          </a:stretch>
        </p:blipFill>
        <p:spPr>
          <a:xfrm>
            <a:off x="5012740" y="4125772"/>
            <a:ext cx="261518" cy="261518"/>
          </a:xfrm>
          <a:prstGeom prst="rect">
            <a:avLst/>
          </a:prstGeom>
        </p:spPr>
      </p:pic>
      <p:sp>
        <p:nvSpPr>
          <p:cNvPr id="28" name="TextBox 27"/>
          <p:cNvSpPr txBox="1"/>
          <p:nvPr/>
        </p:nvSpPr>
        <p:spPr>
          <a:xfrm>
            <a:off x="5577840" y="4005072"/>
            <a:ext cx="5989320" cy="502920"/>
          </a:xfrm>
          <a:prstGeom prst="rect">
            <a:avLst/>
          </a:prstGeom>
          <a:noFill/>
        </p:spPr>
        <p:txBody>
          <a:bodyPr wrap="square" lIns="0" rIns="0" tIns="0" bIns="0" anchor="ctr">
            <a:spAutoFit/>
          </a:bodyPr>
          <a:lstStyle/>
          <a:p>
            <a:pPr algn="l">
              <a:spcAft>
                <a:spcPts val="400"/>
              </a:spcAft>
            </a:pPr>
            <a:r>
              <a:rPr sz="1500" b="0" i="0">
                <a:solidFill>
                  <a:srgbClr val="0B2A4A"/>
                </a:solidFill>
                <a:latin typeface="Arial"/>
              </a:rPr>
              <a:t>Un ciclo while repite las partidas hasta que el jugador salga.</a:t>
            </a:r>
          </a:p>
        </p:txBody>
      </p:sp>
      <p:sp>
        <p:nvSpPr>
          <p:cNvPr id="29" name="Rounded Rectangle 28"/>
          <p:cNvSpPr/>
          <p:nvPr/>
        </p:nvSpPr>
        <p:spPr>
          <a:xfrm>
            <a:off x="4892040" y="4754880"/>
            <a:ext cx="6675120" cy="1234440"/>
          </a:xfrm>
          <a:prstGeom prst="roundRect">
            <a:avLst>
              <a:gd name="adj" fmla="val 6000"/>
            </a:avLst>
          </a:prstGeom>
          <a:solidFill>
            <a:srgbClr val="111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0" y="4846320"/>
            <a:ext cx="6309360" cy="1097280"/>
          </a:xfrm>
          <a:prstGeom prst="rect">
            <a:avLst/>
          </a:prstGeom>
          <a:noFill/>
        </p:spPr>
        <p:txBody>
          <a:bodyPr wrap="square" lIns="0" rIns="0" tIns="0" bIns="0" anchor="t">
            <a:spAutoFit/>
          </a:bodyPr>
          <a:lstStyle/>
          <a:p>
            <a:pPr algn="l">
              <a:spcAft>
                <a:spcPts val="200"/>
              </a:spcAft>
            </a:pPr>
            <a:r>
              <a:rPr sz="1500" b="0" i="0">
                <a:solidFill>
                  <a:srgbClr val="E6EDF3"/>
                </a:solidFill>
                <a:latin typeface="Courier New"/>
              </a:rPr>
              <a:t>Intento 1: 5  → </a:t>
            </a:r>
            <a:r>
              <a:rPr sz="1500" b="0" i="0">
                <a:solidFill>
                  <a:srgbClr val="FFC629"/>
                </a:solidFill>
                <a:latin typeface="Courier New"/>
              </a:rPr>
              <a:t>El secreto es MAYOR</a:t>
            </a:r>
          </a:p>
          <a:p>
            <a:pPr algn="l">
              <a:spcAft>
                <a:spcPts val="200"/>
              </a:spcAft>
            </a:pPr>
            <a:r>
              <a:rPr sz="1500" b="0" i="0">
                <a:solidFill>
                  <a:srgbClr val="E6EDF3"/>
                </a:solidFill>
                <a:latin typeface="Courier New"/>
              </a:rPr>
              <a:t>Intento 2: 8  → </a:t>
            </a:r>
            <a:r>
              <a:rPr sz="1500" b="0" i="0">
                <a:solidFill>
                  <a:srgbClr val="FFC629"/>
                </a:solidFill>
                <a:latin typeface="Courier New"/>
              </a:rPr>
              <a:t>El secreto es MENOR</a:t>
            </a:r>
          </a:p>
          <a:p>
            <a:pPr algn="l">
              <a:spcAft>
                <a:spcPts val="200"/>
              </a:spcAft>
            </a:pPr>
            <a:r>
              <a:rPr sz="1500" b="0" i="0">
                <a:solidFill>
                  <a:srgbClr val="E6EDF3"/>
                </a:solidFill>
                <a:latin typeface="Courier New"/>
              </a:rPr>
              <a:t>Intento 3: 7  → </a:t>
            </a:r>
            <a:r>
              <a:rPr sz="1500" b="1" i="0">
                <a:solidFill>
                  <a:srgbClr val="1FB58F"/>
                </a:solidFill>
                <a:latin typeface="Courier New"/>
              </a:rPr>
              <a:t>¡GANASTE!</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5aed54d-a4a1-422d-a2e9-d6c3ab2721f1}" enabled="1" method="Standard" siteId="{9298dcf5-8f4f-4ba9-a331-6f84f599a983}" contentBits="0" removed="0"/>
</clbl:labelList>
</file>

<file path=docProps/app.xml><?xml version="1.0" encoding="utf-8"?>
<Properties xmlns="http://schemas.openxmlformats.org/officeDocument/2006/extended-properties" xmlns:vt="http://schemas.openxmlformats.org/officeDocument/2006/docPropsVTypes">
  <TotalTime>982</TotalTime>
  <Words>1302</Words>
  <Application>Microsoft Office PowerPoint</Application>
  <PresentationFormat>Panorámica</PresentationFormat>
  <Paragraphs>352</Paragraphs>
  <Slides>28</Slides>
  <Notes>2</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28</vt:i4>
      </vt:variant>
    </vt:vector>
  </HeadingPairs>
  <TitlesOfParts>
    <vt:vector size="37" baseType="lpstr">
      <vt:lpstr>Aptos</vt:lpstr>
      <vt:lpstr>Aptos Display</vt:lpstr>
      <vt:lpstr>Arial</vt:lpstr>
      <vt:lpstr>Arial Black</vt:lpstr>
      <vt:lpstr>Calibri</vt:lpstr>
      <vt:lpstr>Century Gothic</vt:lpstr>
      <vt:lpstr>Courier New</vt:lpstr>
      <vt:lpstr>Zapf Dingbats</vt:lpstr>
      <vt:lpstr>Tema de Office</vt:lpstr>
      <vt:lpstr>TÍTULO</vt:lpstr>
      <vt:lpstr>                Objetivo del Curso</vt:lpstr>
      <vt:lpstr> Temas día 2:</vt:lpstr>
      <vt:lpstr>TÍTULO</vt:lpstr>
      <vt:lpstr>Sentencias</vt:lpstr>
      <vt:lpstr>Sentencias de decisión </vt:lpstr>
      <vt:lpstr>Sentencias de decisión </vt:lpstr>
      <vt:lpstr>Sentencias de decisión </vt:lpstr>
      <vt:lpstr>Sentencias de decisión </vt:lpstr>
      <vt:lpstr>Sentencias de decisión </vt:lpstr>
      <vt:lpstr>Sentencias de decisión </vt:lpstr>
      <vt:lpstr>Ejemplos(if)</vt:lpstr>
      <vt:lpstr>Ejemplos(if – else)</vt:lpstr>
      <vt:lpstr>Ejemplos(if anidado)</vt:lpstr>
      <vt:lpstr>Ejemplos( switch)</vt:lpstr>
      <vt:lpstr>ESTRUCTURAS ITERATIVAS</vt:lpstr>
      <vt:lpstr>Sentencias de iteración</vt:lpstr>
      <vt:lpstr>Sentencias de iteración</vt:lpstr>
      <vt:lpstr>Sentencias de iteración</vt:lpstr>
      <vt:lpstr>Sentencias de iteración</vt:lpstr>
      <vt:lpstr>Sentencias de iteración</vt:lpstr>
      <vt:lpstr>Sentencias de iteración</vt:lpstr>
      <vt:lpstr>Sentencias de iteración</vt:lpstr>
      <vt:lpstr>Sentencias de iteración</vt:lpstr>
      <vt:lpstr>Sentencias de iteración</vt:lpstr>
      <vt:lpstr>EJERCICIOS</vt:lpstr>
      <vt:lpstr>Caso 1</vt:lpstr>
      <vt:lpstr>Caso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Oteiza Soto Josue</dc:creator>
  <cp:lastModifiedBy>Oteiza Soto Josue</cp:lastModifiedBy>
  <cp:revision>6</cp:revision>
  <dcterms:created xsi:type="dcterms:W3CDTF">2025-09-01T01:07:17Z</dcterms:created>
  <dcterms:modified xsi:type="dcterms:W3CDTF">2025-09-03T03:43:20Z</dcterms:modified>
</cp:coreProperties>
</file>