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hilo conductor del día: una pizzería. La clase es la receta; los objetos son las pizzas que salen del horno.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el objetivo del curso y presentar los tres bloques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Construimos nuestra primera clase considerando el ejemplo de la experiencia 1. La clase se llama Pizza. Preguntar: ¿qué otra pizza podríamos crear? ¿Qué cambia y qué se mantiene?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en vivo. Sobre el package pizzeria, desplegamos el menú y seleccionamos New / Java Class. Asignamos el nombre y finalizamos.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Definimos los atributos nombre, tamaño y masa, y los métodos preparar y calentar. Remarcar la convención de nombres.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tipos de datos pueden ser primitivos o estructurados. Destacar que al crear la clase Pizza creamos un nuevo tipo de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método en Java tiene encabezado (modificador, tipo de retorno, nombre y lista de parámetros) y cuerpo.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un mismo nombre puede tener firmas distintas. Preguntar: ¿qué debe tener el cuerpo del segundo método para compilar? (un return de tipo String).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 varios tipos de métodos en Java, cada uno con un objetivo particular.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método se crea por defecto al crear el proyecto y se encarga de la ejecución inicial del programa. Es público, estático, no devuelve nada y recibe args.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se quiere crear el objeto pizza1 de la clase Pizza, se escribe la instrucción con new. Pedir a un estudiante que lea la instrucción en voz alta identificando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constructores inicializan objetos. El sin parámetros deja los atributos con valores por defecto: la pizza sin ingredientes.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instrucciones funcionan si los constructores están definidos en la clase. Programarlos en vivo con el menú Insert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ejecutar la instrucción del main se invoca al constructor, construyendo pizza1 y asignando a sus atributos los valores que se ingresan en los parámetros.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se crea el objeto, los parámetros deben ser la misma cantidad, en el mismo orden y del mismo tipo que en el constructor.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Pueden haber muchos constructores en una clase, pero se ejecuta sólo uno al crear un objeto. Diferencia clave: los constructores no devuelven valores, ni siquiera 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métodos para obtener información se llaman accesadores; para modificarla, mutadores. NetBeans los genera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accesador tiene como objetivo obtener el contenido del atributo. Recorrer el flujo paso 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mutador modifica el contenido del atributo. Antes el tamaño era grande y ahora es mediano.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visual antes de los ejercicios. Sugerir que tomen foto de esta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3: ejercicios lúdicos. Formar parejas o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Anotar el XP de cada pareja en la pizarra. Puede haber premio simbólico para el nivel más alto (elegir la música del próximo recreo, un punto de bonificación,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— Clase: Celular, Perro, Videojuego. Objeto: celularDeAna, firulais, miConsola. Atributo: bateria, raza, puntaje. Método: cargar(), ladrar(), encender(). Pista para la clase: las clases empiezan con mayúscula, los métodos llevan paréntesis. Dinámica: leer cada palabra, contar 3 y todos levantan su tarjeta (o dedos 1-4).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— A) Compila. B) NO: no existe constructor de 2 parámetros. C) Compila… ¡trampa! Pero NO es constructor: es un método que se llama Pizza porque tiene void. D) Compila. E) NO: setTamano necesita un String. F) NO: getNombre retorna String, no int. Dinámica: pulgar arriba /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— 1) class mascota → Mascota (convención + debe coincidir con el archivo Mascota.java). 2) Nombre → nombre (convención de atributos). 3) public void Mascota(...) → el constructor NO lleva void. 4) this.nombre no existe porque el atributo se llama Nombre (se arregla con el 2). 5) getNombre retorna int → debe ser String. 6) setEdad: edad = edad no modifica el atributo → this.edad = edad.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Juego.java y Main.java (carpeta de soluciones). puedeSubir(int edad) retorna edad &gt;= edadMinima.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en Mascota.java. Tras 3 jugar(): energia=40, hambre=45 → estaFeliz() = false. Se recupera con dormir() (y comer()).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pedagógica: un objeto usa los getters/setters de OTRO objeto (rival). Con los valores del ejemplo gana Valkiria. setVida no debe permitir vida negativa. Solución en Heroe.java.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= duracionSeg / 60; segundos = duracionSeg % 60; si segundos &lt; 10 anteponer "0". Solución en Cancion.java.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cierre y creatividad. Revisar que los nombres respeten convenciones y que el constructor no tenga retorno.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Contar XP y anunciar el nivel más alto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86868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212080" y="97840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67528" y="97840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22976" y="97840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0" y="9144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161288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¡manos a la masa!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objetos y métodos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receta a la pizza: cómo modelar el mundo con POO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05-09-2025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lograr hoy?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CURSO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aplicaciones simples en Java.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programación estructurada y POO.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128016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481328"/>
            <a:ext cx="603504" cy="6035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151" y="1638239"/>
            <a:ext cx="289682" cy="28968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Clases y objetos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clase Pizza y sus instancias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23360" y="242316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2624328"/>
            <a:ext cx="603504" cy="6035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51" y="2781239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9834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Métodos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constructores, getters, setters y propios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023360" y="356616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06240" y="3767328"/>
            <a:ext cx="603504" cy="60350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51" y="3924239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9834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Ejercicios lúdicos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4983480" y="4096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Juegos, retos y un duelo de héroes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Creando una clase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Moldes, instancias y nuestra primera clase en NetBeans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1188720"/>
            <a:ext cx="2651760" cy="265176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74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es la receta; el objeto, la pizza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103120" cy="1690116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2103120" cy="329184"/>
          </a:xfrm>
          <a:prstGeom prst="rect">
            <a:avLst/>
          </a:prstGeom>
          <a:solidFill>
            <a:srgbClr val="1E1E2E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19202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7460"/>
            <a:ext cx="210312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01468"/>
            <a:ext cx="19202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calentar()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(molde)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2194560"/>
            <a:ext cx="731520" cy="457200"/>
          </a:xfrm>
          <a:prstGeom prst="rightArrow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1417320"/>
            <a:ext cx="2331720" cy="1598041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417320"/>
            <a:ext cx="2331720" cy="329184"/>
          </a:xfrm>
          <a:prstGeom prst="rect">
            <a:avLst/>
          </a:prstGeom>
          <a:solidFill>
            <a:srgbClr val="E4572E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14173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810512"/>
            <a:ext cx="214884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"pepperoni"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 = "grande"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 = "gruesa"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482215"/>
            <a:ext cx="233172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546223"/>
            <a:ext cx="2148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calentar()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1417320"/>
            <a:ext cx="2331720" cy="1598041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417320"/>
            <a:ext cx="2331720" cy="329184"/>
          </a:xfrm>
          <a:prstGeom prst="rect">
            <a:avLst/>
          </a:prstGeom>
          <a:solidFill>
            <a:srgbClr val="17A398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4173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1810512"/>
            <a:ext cx="214884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"vegetariana"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 = "familiar"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 = "delgada"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482215"/>
            <a:ext cx="233172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2546223"/>
            <a:ext cx="21488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calentar()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(instancias con sus propios valores)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8138160" cy="548640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atributos (lo que tiene) y métodos (lo que hace).   </a:t>
            </a:r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ejemplar concreto de esa clase.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crea una clase en NetBeans?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9768" y="1703719"/>
            <a:ext cx="2660904" cy="1256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img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1151"/>
            <a:ext cx="2606040" cy="12011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566160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54787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sobre el package pizzeria → New → Java Class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18688" y="1406090"/>
            <a:ext cx="2660904" cy="1851261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img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33522"/>
            <a:ext cx="2606040" cy="179639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3566160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4612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85032" y="354787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nombre (Pizza) y presiona Finish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07608" y="1569607"/>
            <a:ext cx="2660904" cy="152422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img/image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97039"/>
            <a:ext cx="2606040" cy="146936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35040" y="3566160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350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73952" y="354787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archivo Pizza.java dentro del package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Convención: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 la clase comienza con MAYÚSCULA (Pizza, no pizza).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la clase Pizza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280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27048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pizzeria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atributos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métodos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 está preparando la pizza"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calentar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 está horneando su pizza"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905" y="1478585"/>
            <a:ext cx="197510" cy="19751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72084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pizza TIENE: nombre, tamaño y masa.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0760" y="24231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560320"/>
            <a:ext cx="411480" cy="4114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905" y="2667305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7208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pizza HACE: preparar y calentar.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3611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3749040"/>
            <a:ext cx="411480" cy="4114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3856025"/>
            <a:ext cx="197510" cy="19751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7208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y métodos comienzan con minúscula (camelCase).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en Java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201168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de un byte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corto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largo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flotante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flotante doble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carácter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de caracteres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Pizza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¡Nuestra propia clase!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344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7190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fundamentales: números, caracteres y booleanos. Se escriben en minúscula.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8346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33192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Composiciones a partir de los básicos: String, arreglos… y las clases que creamos, como Pizza.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objetos saben hacer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1188720"/>
            <a:ext cx="2651760" cy="265176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74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un método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463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103120" y="21488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703320" y="21488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66360" y="21488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{…}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92240" y="21488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4930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+ retorno + nombre + (parámetros). Define CÓMO se llama y QUÉ entrega.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4930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entre { } que se ejecutan cada vez que se invoca el método.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métodos, tres firmas distintas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5727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modificador: public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void (nada)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preparar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ninguno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5727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harina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gramos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modificador: public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String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preparar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harina: String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gramos: 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5727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encendido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modificador: public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boolean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preparar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encendido: char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métodos existen?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36192" cy="2240280"/>
          </a:xfrm>
          <a:prstGeom prst="roundRect">
            <a:avLst>
              <a:gd name="adj" fmla="val 595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554480"/>
            <a:ext cx="640080" cy="640080"/>
          </a:xfrm>
          <a:prstGeom prst="ellipse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17209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3317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6974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del programa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39696" y="1325880"/>
            <a:ext cx="1536192" cy="2240280"/>
          </a:xfrm>
          <a:prstGeom prst="roundRect">
            <a:avLst>
              <a:gd name="adj" fmla="val 595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87752" y="15544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73" y="17209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12848" y="23317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49424" y="26974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e inicializan objetos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22192" y="1325880"/>
            <a:ext cx="1536192" cy="2240280"/>
          </a:xfrm>
          <a:prstGeom prst="roundRect">
            <a:avLst>
              <a:gd name="adj" fmla="val 595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0248" y="1554480"/>
            <a:ext cx="640080" cy="64008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669" y="17209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95344" y="23317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Accesadores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26974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getX(): obtienen un valor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504688" y="1325880"/>
            <a:ext cx="1536192" cy="2240280"/>
          </a:xfrm>
          <a:prstGeom prst="roundRect">
            <a:avLst>
              <a:gd name="adj" fmla="val 595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52744" y="1554480"/>
            <a:ext cx="640080" cy="6400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165" y="17209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77840" y="23317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Mutadores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614416" y="26974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setX(): modifican un valor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87184" y="1325880"/>
            <a:ext cx="1536192" cy="2240280"/>
          </a:xfrm>
          <a:prstGeom prst="roundRect">
            <a:avLst>
              <a:gd name="adj" fmla="val 595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35240" y="1554480"/>
            <a:ext cx="640080" cy="6400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61" y="172090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60336" y="23317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296912" y="26974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Propios: lo que tu problema necesite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38221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ejemplos anteriores son métodos customer: </a:t>
            </a:r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 del problema, creados para una funcionalidad específica. Su definición es libre: pueden o no tener retorno y parámetros, pero siempre respetan la estructura.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main: donde todo comienza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2801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Pizzeria.java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2704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Pizzeria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"Bienvenido a la Pizzeria"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54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154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accedido desde cualquier parte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387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35387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a la clase, no al objeto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227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3922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retorna nada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06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args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306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de String llamado args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0" y="123444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MAIN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aplicación Java tiene un main y solo uno.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de entrada y de salida.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ejecutar el proyecto (Run) corre todo lo que está entre sus { }.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encabezado cambia, la aplicación no se ejecuta.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objeto con new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3736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new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Pizza("pepperoni", "grande", "gruesa");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+ parámetros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new crea el objeto y ejecuta automáticamente el constructor definido en la clase Pizza. Su fin: inicializar el objeto.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puede escribir en dos líneas: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218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3218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4376" y="3218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34015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7033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</a:t>
            </a:r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se llama igual que la clase y NO tiene tipo de retorno (ni siquiera void).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parámetros vs. sin parámetros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parámetros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556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556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7556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385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buNone/>
            </a:pPr>
            <a:r>
              <a:rPr lang="en-US" sz="9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pic>
        <p:nvPicPr>
          <p:cNvPr id="13" name="Image 0" descr="img/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58530"/>
            <a:ext cx="1463040" cy="875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057400" y="2724912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0" y="2834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"pepperoni"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 = "grande"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 = "gruesa"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parámetros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6459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17556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56048" y="17556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11496" y="17556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19385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pic>
        <p:nvPicPr>
          <p:cNvPr id="23" name="Image 1" descr="img/imag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339" y="2724912"/>
            <a:ext cx="1453243" cy="11430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63640" y="2724912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0" y="2834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 =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 = null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40416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defecto: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 → 0   ·   boolean → false   ·   String (y objetos) → null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constructores en NetBeans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36747" y="1252728"/>
            <a:ext cx="1646945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img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79" y="1280160"/>
            <a:ext cx="1592081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118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59359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en la clase → Insert Code → Constructor…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93966" y="1252728"/>
            <a:ext cx="1710347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img/image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98" y="1280160"/>
            <a:ext cx="1655483" cy="21031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36118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461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85032" y="359359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parámetros: Select All → Generate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79838" y="1252728"/>
            <a:ext cx="1716445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img/image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270" y="1280160"/>
            <a:ext cx="1661581" cy="21031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35040" y="36118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3504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73952" y="359359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parámetros: Select None → Generate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Atajo: Alt + Insert (Windows) abre el mismo menú Generate.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se ejecuta new?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5727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En Pizzeria.java (main)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9437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572768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En Pizza.java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70832" y="1645920"/>
            <a:ext cx="411480" cy="365760"/>
          </a:xfrm>
          <a:prstGeom prst="rightArrow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main invoca al constructor con 3 valores.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llegan a los parámetros en el mismo orden.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this.nombre (atributo) recibe nombre (parámetro).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56616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35661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this? </a:t>
            </a:r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atributo y parámetro se llaman igual. this.nombre = el del objeto; nombre = el que llegó.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cantidad, mismo orden, mismo tipo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551737"/>
            <a:ext cx="197510" cy="1975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19659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075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075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8136" y="2075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2585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2801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305" y="1551737"/>
            <a:ext cx="197510" cy="19751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76672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compila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846320" y="19659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83480" y="2075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138928" y="2075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94376" y="2075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983480" y="22585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parámetros String, en orden: nombre, tamano, masa.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663440" y="3474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constructor con 2 parámetros (String, int). NetBeans avisa: "no suitable constructor found".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CONSTRUCTORES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varios constructores, uno a la vez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3258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72768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constructor sin parámetros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constructor con parámetros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28016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Pizza();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el constructor sin parámetros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60604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Pizza("a","b","c");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el constructor con 3 parámetros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constructor con distinta lista de parámetros. Java elige cuál ejecutar según los valores que envías.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ACCESADORES Y MUTADORES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y setters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636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499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Accesador (get)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información de un objeto: getNombre()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0954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Mutador (set)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657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información de un objeto: setNombre(...)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1358798"/>
            <a:ext cx="2249424" cy="2951683"/>
          </a:xfrm>
          <a:prstGeom prst="rect">
            <a:avLst/>
          </a:prstGeom>
          <a:solidFill>
            <a:srgbClr val="FFFFFF"/>
          </a:solidFill>
          <a:ln w="12700">
            <a:solidFill>
              <a:srgbClr val="DADD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img/image3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86230"/>
            <a:ext cx="2194560" cy="28968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NetBeans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852160" y="17830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521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91072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en la clase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852160" y="233172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85216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91072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Code → Getter and Setter…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852160" y="288036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85216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291072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→ Generate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852160" y="35204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989320" y="3630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144768" y="3630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00216" y="3630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989320" y="3813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getNombreAtributo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setNombreAtributo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ACCESADORES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accesador en acción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3258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72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el valor de respuesta y termina el método inmediatamente.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EN CONSOLA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 ha comprado una pizza pepperoni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325880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1371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 pizza1 = new Pizza("pepperoni", "grande", "gruesa");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pizza1 con nombre "pepperoni"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2450592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404872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pizza1.getNombre();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2953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getNombre() retorna "pepperoni" y se guarda en la variable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3575304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529584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36210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System.out.println("Ud ha comprado una pizza " + nombre);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782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el valor en consola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· MUTADORES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mutador cambia el estado del objeto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3258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727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setTamano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6243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62432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26243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Pizzeria.java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07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setTamano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"mediano"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29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valor llega por parámetro y se asigna al atributo del objeto.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371600"/>
            <a:ext cx="1691640" cy="1395476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371600"/>
            <a:ext cx="1691640" cy="329184"/>
          </a:xfrm>
          <a:prstGeom prst="rect">
            <a:avLst/>
          </a:prstGeom>
          <a:solidFill>
            <a:srgbClr val="5B6275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1371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764792"/>
            <a:ext cx="150876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436495"/>
            <a:ext cx="169164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4920" y="2500503"/>
            <a:ext cx="150876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2011680"/>
            <a:ext cx="274320" cy="320040"/>
          </a:xfrm>
          <a:prstGeom prst="rightArrow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1371600"/>
            <a:ext cx="1691640" cy="1395476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1371600"/>
            <a:ext cx="1691640" cy="329184"/>
          </a:xfrm>
          <a:prstGeom prst="rect">
            <a:avLst/>
          </a:prstGeom>
          <a:solidFill>
            <a:srgbClr val="17A398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1371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1764792"/>
            <a:ext cx="150876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"pepperoni"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"mediano"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"gruesa"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2436495"/>
            <a:ext cx="169164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2500503"/>
            <a:ext cx="150876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429000"/>
            <a:ext cx="3794760" cy="1188720"/>
          </a:xfrm>
          <a:prstGeom prst="roundRect">
            <a:avLst>
              <a:gd name="adj" fmla="val 7692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modificador: public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void (no retorna)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setTamano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tamano (String)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chuleta del día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28016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Pizza.java  ·  todo en una clase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27048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atributo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constructor vacío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constructor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accesador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mutador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</a:t>
            </a:r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customer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"Preparando "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jugar!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Retos, duelos y bugs: gana XP y sube de nivel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1188720"/>
            <a:ext cx="2651760" cy="265176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74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JUGAMOS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XP y sube de nivel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489740"/>
            <a:ext cx="184343" cy="184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87552" y="1444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XP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562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POO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20240" y="128016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389888"/>
            <a:ext cx="384048" cy="38404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532" y="1489740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50592" y="1444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XP c/u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011680" y="18562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¿Compila o no?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383280" y="128016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74720" y="1389888"/>
            <a:ext cx="384048" cy="38404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572" y="1489740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1444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XP c/bug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18562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846320" y="128016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37760" y="1389888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12" y="1489740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76672" y="1444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XP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937760" y="18562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Diversión Mágica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7200" y="246888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2678460"/>
            <a:ext cx="184343" cy="18434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87552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XP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304495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 Virtual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920240" y="246888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011680" y="2578608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1532" y="2678460"/>
            <a:ext cx="184343" cy="18434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450592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XP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2011680" y="304495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 de Héroes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3383280" y="246888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474720" y="2578608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572" y="2678460"/>
            <a:ext cx="184343" cy="18434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13632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XP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474720" y="304495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Playlist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4846320" y="246888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937760" y="2578608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612" y="2678460"/>
            <a:ext cx="184343" cy="18434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376672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XP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4937760" y="304495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 mi clase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6400800" y="1280160"/>
            <a:ext cx="2286000" cy="2240280"/>
          </a:xfrm>
          <a:prstGeom prst="roundRect">
            <a:avLst>
              <a:gd name="adj" fmla="val 408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537960" y="1417320"/>
            <a:ext cx="411480" cy="4114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4945" y="1524305"/>
            <a:ext cx="197510" cy="19751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0408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1500" dirty="0"/>
          </a:p>
        </p:txBody>
      </p:sp>
      <p:sp>
        <p:nvSpPr>
          <p:cNvPr id="50" name="Text 39"/>
          <p:cNvSpPr txBox="1"/>
          <p:nvPr/>
        </p:nvSpPr>
        <p:spPr>
          <a:xfrm>
            <a:off x="6583680" y="1965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0–60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61–150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Programador/a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151+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Arquitecto/a de objetos</a:t>
            </a:r>
            <a:endParaRPr lang="en-US" sz="1250" dirty="0"/>
          </a:p>
        </p:txBody>
      </p:sp>
      <p:sp>
        <p:nvSpPr>
          <p:cNvPr id="51" name="Shape 4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</a:t>
            </a:r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juega en parejas. Calentamiento (amarillo) en voz alta con toda la clase; retos de código (verde) en NetBeans. El profe valida el XP al ver el programa funcionando.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· 10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POO: ¿qué es cada cosa?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61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2618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1261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261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2618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261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1261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la tarjeta del color correcto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Celular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60320" y="1783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celularDeAna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783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bateria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66560" y="1783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cargar()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60320" y="2651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6032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firulais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2651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ladrar()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Videojuego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560320" y="35204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6032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encender()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6344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miConsola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766560" y="35204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puntaje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· 5 XP C/U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¿Compila o no compila?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clase Pizza que tiene: Pizza(), Pizza(String, String, String), getNombre() y setTamano(String).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7556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17556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2456" y="17556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1938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17556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7556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68696" y="17556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1938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"hawaiana"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"xl"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5292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2651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51560" y="27614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27614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62456" y="27614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5292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20640" y="2651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57800" y="27614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248" y="27614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68696" y="27614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5780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5876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4400" y="36576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51560" y="37673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7008" y="376732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62456" y="37673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39502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setTamano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85876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634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120640" y="36576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257800" y="37673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3248" y="376732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68696" y="37673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57800" y="39502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· 5 XP POR BUG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Hunter: encuentra los 6 errores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2801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Mascota.java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2704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Mascota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234440"/>
            <a:ext cx="2880360" cy="3474720"/>
          </a:xfrm>
          <a:prstGeom prst="roundRect">
            <a:avLst>
              <a:gd name="adj" fmla="val 3175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41732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79" y="154807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62940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210312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los 6 errores (de compilación y de convención).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la línea y cómo lo corregirías.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pareja con los 6 gana +10 XP extra.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30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Diversión Mágica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parque necesita registrar y mostrar información de sus juegos mecánicos.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clase Juego con sus atributos y constructores.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764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322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main, crea al menos 3 juegos.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331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2889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información de cada juego.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28986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329184" cy="329184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3456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si un niño de 10 años puede subirse.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34655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B6275"/>
          </a:solidFill>
          <a:ln w="12700">
            <a:solidFill>
              <a:srgbClr val="5B62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465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+10 XP: </a:t>
            </a:r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alturaMinima y valida edad Y altura.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60720" y="1234440"/>
            <a:ext cx="2926080" cy="1938719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234440"/>
            <a:ext cx="2926080" cy="329184"/>
          </a:xfrm>
          <a:prstGeom prst="rect">
            <a:avLst/>
          </a:prstGeom>
          <a:solidFill>
            <a:srgbClr val="17A398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1234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1627632"/>
            <a:ext cx="2743200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edadMinima: 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duracion: int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2271713"/>
            <a:ext cx="292608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52160" y="2335721"/>
            <a:ext cx="2743200" cy="77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Juego(...)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mostrarInfo(): void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puedeSubir(int edad):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boolean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52044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70448" y="3611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Montaña Rusa | Edad mín: 12 | 3 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¿Niño de 10 puede subir? false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40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 Virtual: ¡mantenla feliz!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834640" cy="2325434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834640" cy="329184"/>
          </a:xfrm>
          <a:prstGeom prst="rect">
            <a:avLst/>
          </a:prstGeom>
          <a:solidFill>
            <a:srgbClr val="17A398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27632"/>
            <a:ext cx="2651760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energia: 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hambre: 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71713"/>
            <a:ext cx="283464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5721"/>
            <a:ext cx="2651760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Mascota(String nombre)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comer(): void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jugar(): void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dormir(): void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estaFeliz(): boolean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mostrarEstado(): void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20440" y="1234440"/>
            <a:ext cx="5166360" cy="420624"/>
          </a:xfrm>
          <a:prstGeom prst="roundRect">
            <a:avLst>
              <a:gd name="adj" fmla="val 2173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234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Mascota(nombre)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2344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con energia = 100 y hambre =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1746504"/>
            <a:ext cx="5166360" cy="420624"/>
          </a:xfrm>
          <a:prstGeom prst="roundRect">
            <a:avLst>
              <a:gd name="adj" fmla="val 2173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17465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comer()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7465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 baja 30 (nunca menos de 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2258568"/>
            <a:ext cx="5166360" cy="420624"/>
          </a:xfrm>
          <a:prstGeom prst="roundRect">
            <a:avLst>
              <a:gd name="adj" fmla="val 2173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2258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jugar()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258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baja 20 y hambre sube 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770632"/>
            <a:ext cx="5166360" cy="420624"/>
          </a:xfrm>
          <a:prstGeom prst="roundRect">
            <a:avLst>
              <a:gd name="adj" fmla="val 2173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0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dormir()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7706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vuelve a 100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282696"/>
            <a:ext cx="5166360" cy="420624"/>
          </a:xfrm>
          <a:prstGeom prst="roundRect">
            <a:avLst>
              <a:gd name="adj" fmla="val 2173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0" y="32826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estaFeliz()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2826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si energia &gt; 50 y hambre &lt; 50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20440" y="384048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03320" y="3840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juego: </a:t>
            </a:r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main, haz jugar a tu mascota 3 veces. ¿Sigue feliz? ¿Qué debes llamar para recuperarla? Bonus +10 XP: menú con Scanner.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50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 de Héroes: objetos que interactúan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1938719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743200" cy="329184"/>
          </a:xfrm>
          <a:prstGeom prst="rect">
            <a:avLst/>
          </a:prstGeom>
          <a:solidFill>
            <a:srgbClr val="E4572E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27632"/>
            <a:ext cx="2560320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vida: 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ataque: 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71713"/>
            <a:ext cx="274320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5721"/>
            <a:ext cx="2560320" cy="77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Heroe(n, v, 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atacar(Heroe rival)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estaVivo(): boolean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getters / setters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23444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16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12801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Pista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1527048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rival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rival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setVida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rival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getVida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en el 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"Valkiria"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"Golem"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estaVivo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estaVivo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0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estaVivo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misión: </a:t>
            </a:r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 clase, crea tus héroes y muestra quién gana. Bonus +10 XP: golpe crítico con Math.random() (doble daño).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· 30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Playlist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834640" cy="2132076"/>
          </a:xfrm>
          <a:prstGeom prst="rect">
            <a:avLst/>
          </a:prstGeom>
          <a:solidFill>
            <a:srgbClr val="FFFF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834640" cy="329184"/>
          </a:xfrm>
          <a:prstGeom prst="rect">
            <a:avLst/>
          </a:prstGeom>
          <a:solidFill>
            <a:srgbClr val="7B61FF"/>
          </a:solidFill>
          <a:ln w="15875">
            <a:solidFill>
              <a:srgbClr val="1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27632"/>
            <a:ext cx="2651760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titulo: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artista: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duracionSeg: 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71713"/>
            <a:ext cx="2834640" cy="0"/>
          </a:xfrm>
          <a:prstGeom prst="line">
            <a:avLst/>
          </a:prstGeom>
          <a:noFill/>
          <a:ln w="15875">
            <a:solidFill>
              <a:srgbClr val="1E1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5721"/>
            <a:ext cx="2651760" cy="966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Cancion()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Cancion(t, a, 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esLarga(): boolean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duracionFormato():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mostrar(): void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1271016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05072" y="1289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constructores: vacío y con parámetros.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1819656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18379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esLarga(): true si dura más de 240 segundos.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368296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2386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duracionFormato(): 185 → "3:05" (usa / y %).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2916936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05072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top 3 de canciones y muéstralas.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3465576"/>
            <a:ext cx="329184" cy="3291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6616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05072" y="34838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setter para cambiar la duración y vuelve a mostrar.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66160" y="4023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03320" y="4023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Balada del bug - Null Pointer (5:02) [larga]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FINAL · 50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 mi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Java · Día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056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Diseña en secreto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parejas, elige algo de tu vida (un food truck, tu videojuego favorito, una mascota…) y dibuja su UML SIN el nombre de la clase.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6056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Intercambia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tu UML a otra pareja. Tienen 1 minuto para adivinar qué es. Si aciertan, ambas parejas ganan +10 XP.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3F8"/>
          </a:solidFill>
          <a:ln w="12700">
            <a:solidFill>
              <a:srgbClr val="F2F3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6056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Prográmala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completo: 3+ atributos, 2 constructores, getters/setters y 1 método propio. Pruébala desde el main.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si el UML es demasiado fácil de adivinar, ¡tus atributos están muy bien elegidos!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clave de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= molde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= instancia con sus propios valores, creada con new.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nombre que la clase, sin retorno. Inicializa el objeto.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set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Obtienen y modifican atributos privados de forma controlada.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salida: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un papel una clase de tu día a día con 2 atributos y 1 método.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Java · Día 3</dc:title>
  <dc:subject>PptxGenJS Presentation</dc:subject>
  <dc:creator>PptxGenJS</dc:creator>
  <cp:lastModifiedBy>PptxGenJS</cp:lastModifiedBy>
  <cp:revision>1</cp:revision>
  <dcterms:created xsi:type="dcterms:W3CDTF">2026-09-28T05:04:22Z</dcterms:created>
  <dcterms:modified xsi:type="dcterms:W3CDTF">2026-09-28T05:04:22Z</dcterms:modified>
</cp:coreProperties>
</file>