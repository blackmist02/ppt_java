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38" d="100"/>
          <a:sy n="138" d="100"/>
        </p:scale>
        <p:origin x="-149" y="-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414165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Bienvenida. Hoy combinamos teoría breve con juegos por equipos: forma los equipos (3–4 personas) antes de empezar.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Anota los puntajes en una esquina de la pizarra. Sugerencia: el equipo ganador elige la música del próximo break o gana 1 décima para la próxima evaluación (a criterio del docente).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Pregunta al curso: ¿qué pasaría si cualquiera pudiera abrir la caja fuerte del cajero? Así se ve un atributo public sin control.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fila "sin modificador" (package-private) no estaba en la versión anterior; es el acceso por defecto cuando no escribes nada.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Mejora respecto de la versión anterior: el setter ahora valida, que es justamente la razón de encapsular. Pide a alguien que descomente p.edad = -5 y muestre el error del compilador.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Respuesta: B y D no compilan. B porque saldo es private. D porque no existe el método setSaldo (y está bien que no exista: el saldo solo cambia con depositar).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Corrección respecto de la versión anterior: no es que "solo acepte clases Object"; acepta cualquier tipo de referencia (clases), no primitivos. También se corrigió "Arraylist" → "ArrayList" (Java distingue mayúsculas).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Corrección: en la versión anterior remove(int) decía "Reemplaza"; en realidad elimina. removeRange() es protected, por eso no está aquí (ver slide de trampas).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Recorre cada paso preguntando al curso qué quedará antes de mostrarlo. Esta slide prepara el Juego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Corrección: el ejemplo anterior usaba Iterator sin tipo (Object). Con Iterator&lt;String&gt; no hace falta castear.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Respuesta: [espada, escudo] 2. Trampa: después de add(0, "mapa") todo se corre una posición, por eso set(2, …) reemplaza a "poción" y no a "espada".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Respuestas: 1 F · 2 V · 3 V · 4 F · 5 F · 6 V. Lee cada afirmación en voz alta y cuenta 3-2-1.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Pista Oro: Collections.sort(productos); luego for clásico imprimiendo (i + 1) + ". " + productos.get(i).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Recordar: después de sc.nextInt() usar sc.nextLine() para limpiar el salto de línea antes de leer nombres.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Solución guía de recibirDanio: vida = Math.max(0, vida - d); curar: if (vida == 0) return; vida = Math.min(100, vida + c); agregarItem: if (mochila.size() &gt;= 5) return false; mochila.add(item); return true; usarItem: if (mochila.remove(item) &amp;&amp; item.equals("poción")) curar(30);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Pregunta 2 (respuesta): en un ArrayList&lt;String&gt;, remove(1) elimina el índice 1 y remove("1") elimina el texto "1".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9.png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25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18872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257CE1"/>
          </a:solidFill>
          <a:ln w="12700">
            <a:solidFill>
              <a:srgbClr val="257C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4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4592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Fundamentos de Java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5146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Encapsulamiento · ArrayList · Retos lúdicos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0632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 4  ·  30-09-2025</a:t>
            </a:r>
            <a:endParaRPr lang="en-US" sz="1400" dirty="0"/>
          </a:p>
        </p:txBody>
      </p:sp>
      <p:pic>
        <p:nvPicPr>
          <p:cNvPr id="7" name="Image 0" descr="/home/claude/build/logo_l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572000"/>
            <a:ext cx="914400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57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DEL CURSO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1206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A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construimos hoy</a:t>
            </a:r>
            <a:endParaRPr lang="en-US" sz="2800" dirty="0"/>
          </a:p>
        </p:txBody>
      </p:sp>
      <p:pic>
        <p:nvPicPr>
          <p:cNvPr id="4" name="Image 0" descr="/home/claude/build/logo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4754880"/>
            <a:ext cx="731520" cy="1828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280160"/>
            <a:ext cx="3749040" cy="3246120"/>
          </a:xfrm>
          <a:prstGeom prst="roundRect">
            <a:avLst>
              <a:gd name="adj" fmla="val 2817"/>
            </a:avLst>
          </a:prstGeom>
          <a:solidFill>
            <a:srgbClr val="0B1530"/>
          </a:solidFill>
          <a:ln w="12700">
            <a:solidFill>
              <a:srgbClr val="0B153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Shape 3"/>
          <p:cNvSpPr/>
          <p:nvPr/>
        </p:nvSpPr>
        <p:spPr>
          <a:xfrm>
            <a:off x="731520" y="1554480"/>
            <a:ext cx="548640" cy="548640"/>
          </a:xfrm>
          <a:prstGeom prst="ellipse">
            <a:avLst/>
          </a:prstGeom>
          <a:solidFill>
            <a:srgbClr val="257CE1"/>
          </a:solidFill>
          <a:ln w="12700">
            <a:solidFill>
              <a:srgbClr val="257C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9653" y="1702613"/>
            <a:ext cx="252374" cy="25237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731520" y="224028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Desarrollar aplicaciones simples en Java comprendiendo la programación estructurada y la POO.</a:t>
            </a:r>
            <a:endParaRPr lang="en-US" sz="1700" dirty="0"/>
          </a:p>
        </p:txBody>
      </p:sp>
      <p:sp>
        <p:nvSpPr>
          <p:cNvPr id="9" name="Text 5"/>
          <p:cNvSpPr txBox="1"/>
          <p:nvPr/>
        </p:nvSpPr>
        <p:spPr>
          <a:xfrm>
            <a:off x="731520" y="38404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Hoy: cómo proteger los datos de un objeto y cómo manejar listas que crecen.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4480560" y="1280160"/>
            <a:ext cx="4206240" cy="914400"/>
          </a:xfrm>
          <a:prstGeom prst="roundRect">
            <a:avLst>
              <a:gd name="adj" fmla="val 10000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Shape 7"/>
          <p:cNvSpPr/>
          <p:nvPr/>
        </p:nvSpPr>
        <p:spPr>
          <a:xfrm>
            <a:off x="4663440" y="1463040"/>
            <a:ext cx="548640" cy="548640"/>
          </a:xfrm>
          <a:prstGeom prst="ellipse">
            <a:avLst/>
          </a:prstGeom>
          <a:solidFill>
            <a:srgbClr val="257CE1"/>
          </a:solidFill>
          <a:ln w="12700">
            <a:solidFill>
              <a:srgbClr val="257C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Text 8"/>
          <p:cNvSpPr txBox="1"/>
          <p:nvPr/>
        </p:nvSpPr>
        <p:spPr>
          <a:xfrm>
            <a:off x="466344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5394960" y="143560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A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Encapsulamiento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5394960" y="17373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Atributos private, getters y setters con validación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4480560" y="2377440"/>
            <a:ext cx="4206240" cy="914400"/>
          </a:xfrm>
          <a:prstGeom prst="roundRect">
            <a:avLst>
              <a:gd name="adj" fmla="val 10000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6" name="Shape 12"/>
          <p:cNvSpPr/>
          <p:nvPr/>
        </p:nvSpPr>
        <p:spPr>
          <a:xfrm>
            <a:off x="4663440" y="2560320"/>
            <a:ext cx="548640" cy="548640"/>
          </a:xfrm>
          <a:prstGeom prst="ellipse">
            <a:avLst/>
          </a:prstGeom>
          <a:solidFill>
            <a:srgbClr val="257CE1"/>
          </a:solidFill>
          <a:ln w="12700">
            <a:solidFill>
              <a:srgbClr val="257C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7" name="Text 13"/>
          <p:cNvSpPr txBox="1"/>
          <p:nvPr/>
        </p:nvSpPr>
        <p:spPr>
          <a:xfrm>
            <a:off x="4663440" y="2560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500" dirty="0"/>
          </a:p>
        </p:txBody>
      </p:sp>
      <p:sp>
        <p:nvSpPr>
          <p:cNvPr id="18" name="Text 14"/>
          <p:cNvSpPr txBox="1"/>
          <p:nvPr/>
        </p:nvSpPr>
        <p:spPr>
          <a:xfrm>
            <a:off x="5394960" y="253288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A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ArrayList</a:t>
            </a:r>
            <a:endParaRPr lang="en-US" sz="1600" dirty="0"/>
          </a:p>
        </p:txBody>
      </p:sp>
      <p:sp>
        <p:nvSpPr>
          <p:cNvPr id="19" name="Text 15"/>
          <p:cNvSpPr txBox="1"/>
          <p:nvPr/>
        </p:nvSpPr>
        <p:spPr>
          <a:xfrm>
            <a:off x="5394960" y="28346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Crear, agregar, modificar, eliminar y recorrer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4480560" y="3474720"/>
            <a:ext cx="4206240" cy="914400"/>
          </a:xfrm>
          <a:prstGeom prst="roundRect">
            <a:avLst>
              <a:gd name="adj" fmla="val 10000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1" name="Shape 17"/>
          <p:cNvSpPr/>
          <p:nvPr/>
        </p:nvSpPr>
        <p:spPr>
          <a:xfrm>
            <a:off x="4663440" y="3657600"/>
            <a:ext cx="548640" cy="548640"/>
          </a:xfrm>
          <a:prstGeom prst="ellipse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2" name="Text 18"/>
          <p:cNvSpPr txBox="1"/>
          <p:nvPr/>
        </p:nvSpPr>
        <p:spPr>
          <a:xfrm>
            <a:off x="4663440" y="3657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500" dirty="0"/>
          </a:p>
        </p:txBody>
      </p:sp>
      <p:sp>
        <p:nvSpPr>
          <p:cNvPr id="23" name="Text 19"/>
          <p:cNvSpPr txBox="1"/>
          <p:nvPr/>
        </p:nvSpPr>
        <p:spPr>
          <a:xfrm>
            <a:off x="5394960" y="363016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A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¡A jugar!</a:t>
            </a:r>
            <a:endParaRPr lang="en-US" sz="1600" dirty="0"/>
          </a:p>
        </p:txBody>
      </p:sp>
      <p:sp>
        <p:nvSpPr>
          <p:cNvPr id="24" name="Text 20"/>
          <p:cNvSpPr txBox="1"/>
          <p:nvPr/>
        </p:nvSpPr>
        <p:spPr>
          <a:xfrm>
            <a:off x="5394960" y="39319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Juegos rápidos y misiones por equipos con puntaje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5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810512" cy="292608"/>
          </a:xfrm>
          <a:prstGeom prst="roundRect">
            <a:avLst>
              <a:gd name="adj" fmla="val 50000"/>
            </a:avLst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20040"/>
            <a:ext cx="201168" cy="20116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04672" y="274320"/>
            <a:ext cx="1444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0B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JUEGA HOY</a:t>
            </a:r>
            <a:endParaRPr lang="en-US" sz="105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685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Equipos, puntos y medallas</a:t>
            </a:r>
            <a:endParaRPr lang="en-US" sz="2800" dirty="0"/>
          </a:p>
        </p:txBody>
      </p:sp>
      <p:pic>
        <p:nvPicPr>
          <p:cNvPr id="6" name="Image 1" descr="/home/claude/build/logo_l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0" y="4754880"/>
            <a:ext cx="731520" cy="18288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57200" y="1417320"/>
            <a:ext cx="2606040" cy="1874520"/>
          </a:xfrm>
          <a:prstGeom prst="roundRect">
            <a:avLst>
              <a:gd name="adj" fmla="val 4878"/>
            </a:avLst>
          </a:prstGeom>
          <a:solidFill>
            <a:srgbClr val="16223F"/>
          </a:solidFill>
          <a:ln w="12700">
            <a:solidFill>
              <a:srgbClr val="16223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Shape 4"/>
          <p:cNvSpPr/>
          <p:nvPr/>
        </p:nvSpPr>
        <p:spPr>
          <a:xfrm>
            <a:off x="685800" y="1645920"/>
            <a:ext cx="548640" cy="548640"/>
          </a:xfrm>
          <a:prstGeom prst="ellipse">
            <a:avLst/>
          </a:prstGeom>
          <a:solidFill>
            <a:srgbClr val="2A3860"/>
          </a:solidFill>
          <a:ln w="12700">
            <a:solidFill>
              <a:srgbClr val="2A386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3933" y="1794053"/>
            <a:ext cx="252374" cy="252374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685800" y="230428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Formen equipos</a:t>
            </a:r>
            <a:endParaRPr lang="en-US" sz="1600" dirty="0"/>
          </a:p>
        </p:txBody>
      </p:sp>
      <p:sp>
        <p:nvSpPr>
          <p:cNvPr id="11" name="Text 6"/>
          <p:cNvSpPr txBox="1"/>
          <p:nvPr/>
        </p:nvSpPr>
        <p:spPr>
          <a:xfrm>
            <a:off x="685800" y="2633472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3 a 4 personas. Pónganle un nombre con estilo Java (ej. "Los NullPointer").</a:t>
            </a:r>
            <a:endParaRPr lang="en-US" sz="1150" dirty="0"/>
          </a:p>
        </p:txBody>
      </p:sp>
      <p:sp>
        <p:nvSpPr>
          <p:cNvPr id="12" name="Shape 7"/>
          <p:cNvSpPr/>
          <p:nvPr/>
        </p:nvSpPr>
        <p:spPr>
          <a:xfrm>
            <a:off x="3246120" y="1417320"/>
            <a:ext cx="2606040" cy="1874520"/>
          </a:xfrm>
          <a:prstGeom prst="roundRect">
            <a:avLst>
              <a:gd name="adj" fmla="val 4878"/>
            </a:avLst>
          </a:prstGeom>
          <a:solidFill>
            <a:srgbClr val="16223F"/>
          </a:solidFill>
          <a:ln w="12700">
            <a:solidFill>
              <a:srgbClr val="16223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Shape 8"/>
          <p:cNvSpPr/>
          <p:nvPr/>
        </p:nvSpPr>
        <p:spPr>
          <a:xfrm>
            <a:off x="3474720" y="1645920"/>
            <a:ext cx="548640" cy="548640"/>
          </a:xfrm>
          <a:prstGeom prst="ellipse">
            <a:avLst/>
          </a:prstGeom>
          <a:solidFill>
            <a:srgbClr val="2A3860"/>
          </a:solidFill>
          <a:ln w="12700">
            <a:solidFill>
              <a:srgbClr val="2A386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22853" y="1794053"/>
            <a:ext cx="252374" cy="252374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3474720" y="230428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Juegos rápidos</a:t>
            </a:r>
            <a:endParaRPr lang="en-US" sz="1600" dirty="0"/>
          </a:p>
        </p:txBody>
      </p:sp>
      <p:sp>
        <p:nvSpPr>
          <p:cNvPr id="16" name="Text 10"/>
          <p:cNvSpPr txBox="1"/>
          <p:nvPr/>
        </p:nvSpPr>
        <p:spPr>
          <a:xfrm>
            <a:off x="3474720" y="2633472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Detective de código, Adivina la salida y V o F relámpago suman puntos al instante.</a:t>
            </a:r>
            <a:endParaRPr lang="en-US" sz="1150" dirty="0"/>
          </a:p>
        </p:txBody>
      </p:sp>
      <p:sp>
        <p:nvSpPr>
          <p:cNvPr id="17" name="Shape 11"/>
          <p:cNvSpPr/>
          <p:nvPr/>
        </p:nvSpPr>
        <p:spPr>
          <a:xfrm>
            <a:off x="6035040" y="1417320"/>
            <a:ext cx="2606040" cy="1874520"/>
          </a:xfrm>
          <a:prstGeom prst="roundRect">
            <a:avLst>
              <a:gd name="adj" fmla="val 4878"/>
            </a:avLst>
          </a:prstGeom>
          <a:solidFill>
            <a:srgbClr val="16223F"/>
          </a:solidFill>
          <a:ln w="12700">
            <a:solidFill>
              <a:srgbClr val="16223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8" name="Shape 12"/>
          <p:cNvSpPr/>
          <p:nvPr/>
        </p:nvSpPr>
        <p:spPr>
          <a:xfrm>
            <a:off x="6263640" y="1645920"/>
            <a:ext cx="548640" cy="548640"/>
          </a:xfrm>
          <a:prstGeom prst="ellipse">
            <a:avLst/>
          </a:prstGeom>
          <a:solidFill>
            <a:srgbClr val="2A3860"/>
          </a:solidFill>
          <a:ln w="12700">
            <a:solidFill>
              <a:srgbClr val="2A386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11773" y="1794053"/>
            <a:ext cx="252374" cy="252374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6263640" y="230428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Misiones</a:t>
            </a:r>
            <a:endParaRPr lang="en-US" sz="1600" dirty="0"/>
          </a:p>
        </p:txBody>
      </p:sp>
      <p:sp>
        <p:nvSpPr>
          <p:cNvPr id="21" name="Text 14"/>
          <p:cNvSpPr txBox="1"/>
          <p:nvPr/>
        </p:nvSpPr>
        <p:spPr>
          <a:xfrm>
            <a:off x="6263640" y="2633472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misión tiene niveles Bronce, Plata y Oro. Más nivel, más puntos.</a:t>
            </a:r>
            <a:endParaRPr lang="en-US" sz="1150" dirty="0"/>
          </a:p>
        </p:txBody>
      </p:sp>
      <p:sp>
        <p:nvSpPr>
          <p:cNvPr id="22" name="Text 15"/>
          <p:cNvSpPr txBox="1"/>
          <p:nvPr/>
        </p:nvSpPr>
        <p:spPr>
          <a:xfrm>
            <a:off x="457200" y="3566160"/>
            <a:ext cx="108421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C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</a:t>
            </a:r>
            <a:endParaRPr lang="en-US" sz="2000" dirty="0"/>
          </a:p>
        </p:txBody>
      </p:sp>
      <p:sp>
        <p:nvSpPr>
          <p:cNvPr id="23" name="Text 16"/>
          <p:cNvSpPr txBox="1"/>
          <p:nvPr/>
        </p:nvSpPr>
        <p:spPr>
          <a:xfrm>
            <a:off x="457200" y="4005072"/>
            <a:ext cx="108421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Detective (c/línea)</a:t>
            </a:r>
            <a:endParaRPr lang="en-US" sz="1100" dirty="0"/>
          </a:p>
        </p:txBody>
      </p:sp>
      <p:sp>
        <p:nvSpPr>
          <p:cNvPr id="24" name="Text 17"/>
          <p:cNvSpPr txBox="1"/>
          <p:nvPr/>
        </p:nvSpPr>
        <p:spPr>
          <a:xfrm>
            <a:off x="1632857" y="3566160"/>
            <a:ext cx="108421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C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</a:t>
            </a:r>
            <a:endParaRPr lang="en-US" sz="2000" dirty="0"/>
          </a:p>
        </p:txBody>
      </p:sp>
      <p:sp>
        <p:nvSpPr>
          <p:cNvPr id="25" name="Text 18"/>
          <p:cNvSpPr txBox="1"/>
          <p:nvPr/>
        </p:nvSpPr>
        <p:spPr>
          <a:xfrm>
            <a:off x="1632857" y="4005072"/>
            <a:ext cx="108421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Adivina la salida</a:t>
            </a:r>
            <a:endParaRPr lang="en-US" sz="1100" dirty="0"/>
          </a:p>
        </p:txBody>
      </p:sp>
      <p:sp>
        <p:nvSpPr>
          <p:cNvPr id="26" name="Text 19"/>
          <p:cNvSpPr txBox="1"/>
          <p:nvPr/>
        </p:nvSpPr>
        <p:spPr>
          <a:xfrm>
            <a:off x="2808514" y="3566160"/>
            <a:ext cx="108421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C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 c/u</a:t>
            </a:r>
            <a:endParaRPr lang="en-US" sz="2000" dirty="0"/>
          </a:p>
        </p:txBody>
      </p:sp>
      <p:sp>
        <p:nvSpPr>
          <p:cNvPr id="27" name="Text 20"/>
          <p:cNvSpPr txBox="1"/>
          <p:nvPr/>
        </p:nvSpPr>
        <p:spPr>
          <a:xfrm>
            <a:off x="2808514" y="4005072"/>
            <a:ext cx="108421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o F</a:t>
            </a:r>
            <a:endParaRPr lang="en-US" sz="1100" dirty="0"/>
          </a:p>
        </p:txBody>
      </p:sp>
      <p:sp>
        <p:nvSpPr>
          <p:cNvPr id="28" name="Text 21"/>
          <p:cNvSpPr txBox="1"/>
          <p:nvPr/>
        </p:nvSpPr>
        <p:spPr>
          <a:xfrm>
            <a:off x="3984171" y="3566160"/>
            <a:ext cx="108421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C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</a:t>
            </a:r>
            <a:endParaRPr lang="en-US" sz="2000" dirty="0"/>
          </a:p>
        </p:txBody>
      </p:sp>
      <p:sp>
        <p:nvSpPr>
          <p:cNvPr id="29" name="Text 22"/>
          <p:cNvSpPr txBox="1"/>
          <p:nvPr/>
        </p:nvSpPr>
        <p:spPr>
          <a:xfrm>
            <a:off x="3984171" y="4005072"/>
            <a:ext cx="108421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Misión Bronce</a:t>
            </a:r>
            <a:endParaRPr lang="en-US" sz="1100" dirty="0"/>
          </a:p>
        </p:txBody>
      </p:sp>
      <p:sp>
        <p:nvSpPr>
          <p:cNvPr id="30" name="Text 23"/>
          <p:cNvSpPr txBox="1"/>
          <p:nvPr/>
        </p:nvSpPr>
        <p:spPr>
          <a:xfrm>
            <a:off x="5159829" y="3566160"/>
            <a:ext cx="108421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C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+20</a:t>
            </a:r>
            <a:endParaRPr lang="en-US" sz="2000" dirty="0"/>
          </a:p>
        </p:txBody>
      </p:sp>
      <p:sp>
        <p:nvSpPr>
          <p:cNvPr id="31" name="Text 24"/>
          <p:cNvSpPr txBox="1"/>
          <p:nvPr/>
        </p:nvSpPr>
        <p:spPr>
          <a:xfrm>
            <a:off x="5159829" y="4005072"/>
            <a:ext cx="108421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</a:t>
            </a:r>
            <a:endParaRPr lang="en-US" sz="1100" dirty="0"/>
          </a:p>
        </p:txBody>
      </p:sp>
      <p:sp>
        <p:nvSpPr>
          <p:cNvPr id="32" name="Text 25"/>
          <p:cNvSpPr txBox="1"/>
          <p:nvPr/>
        </p:nvSpPr>
        <p:spPr>
          <a:xfrm>
            <a:off x="6335486" y="3566160"/>
            <a:ext cx="108421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C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+30</a:t>
            </a:r>
            <a:endParaRPr lang="en-US" sz="2000" dirty="0"/>
          </a:p>
        </p:txBody>
      </p:sp>
      <p:sp>
        <p:nvSpPr>
          <p:cNvPr id="33" name="Text 26"/>
          <p:cNvSpPr txBox="1"/>
          <p:nvPr/>
        </p:nvSpPr>
        <p:spPr>
          <a:xfrm>
            <a:off x="6335486" y="4005072"/>
            <a:ext cx="108421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Oro</a:t>
            </a:r>
            <a:endParaRPr lang="en-US" sz="1100" dirty="0"/>
          </a:p>
        </p:txBody>
      </p:sp>
      <p:sp>
        <p:nvSpPr>
          <p:cNvPr id="34" name="Text 27"/>
          <p:cNvSpPr txBox="1"/>
          <p:nvPr/>
        </p:nvSpPr>
        <p:spPr>
          <a:xfrm>
            <a:off x="7511143" y="3566160"/>
            <a:ext cx="108421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C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+40</a:t>
            </a:r>
            <a:endParaRPr lang="en-US" sz="2000" dirty="0"/>
          </a:p>
        </p:txBody>
      </p:sp>
      <p:sp>
        <p:nvSpPr>
          <p:cNvPr id="35" name="Text 28"/>
          <p:cNvSpPr txBox="1"/>
          <p:nvPr/>
        </p:nvSpPr>
        <p:spPr>
          <a:xfrm>
            <a:off x="7511143" y="4005072"/>
            <a:ext cx="108421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Jefe final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23444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600" b="1" dirty="0">
                <a:solidFill>
                  <a:srgbClr val="257C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46888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Encapsulamiento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2004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i="1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Tus datos, bajo llave.</a:t>
            </a:r>
            <a:endParaRPr lang="en-US" sz="1800" dirty="0"/>
          </a:p>
        </p:txBody>
      </p:sp>
      <p:pic>
        <p:nvPicPr>
          <p:cNvPr id="5" name="Image 0" descr="/home/claude/build/logo_l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572000"/>
            <a:ext cx="914400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57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ENCAPSULAMIENTO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1206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A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es el encapsulamiento?</a:t>
            </a:r>
            <a:endParaRPr lang="en-US" sz="2800" dirty="0"/>
          </a:p>
        </p:txBody>
      </p:sp>
      <p:pic>
        <p:nvPicPr>
          <p:cNvPr id="4" name="Image 0" descr="/home/claude/build/logo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4754880"/>
            <a:ext cx="731520" cy="1828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1325880"/>
            <a:ext cx="3840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agrupar los </a:t>
            </a:r>
            <a:r>
              <a:rPr lang="en-US" sz="16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</a:t>
            </a:r>
            <a:r>
              <a:rPr lang="en-US" sz="16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(atributos) y los </a:t>
            </a:r>
            <a:r>
              <a:rPr lang="en-US" sz="16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comportamientos</a:t>
            </a:r>
            <a:r>
              <a:rPr lang="en-US" sz="16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(métodos) de un objeto dentro de una clase, y </a:t>
            </a:r>
            <a:r>
              <a:rPr lang="en-US" sz="1600" b="1" dirty="0">
                <a:solidFill>
                  <a:srgbClr val="257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controlar quién puede acceder a ellos.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8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afuera nadie modifica los datos directamente: se usan métodos públicos (getters y setters) que pueden validar antes de cambiar algo.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4572000" y="1234440"/>
            <a:ext cx="4114800" cy="3337560"/>
          </a:xfrm>
          <a:prstGeom prst="roundRect">
            <a:avLst>
              <a:gd name="adj" fmla="val 2740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Text 4"/>
          <p:cNvSpPr txBox="1"/>
          <p:nvPr/>
        </p:nvSpPr>
        <p:spPr>
          <a:xfrm>
            <a:off x="4846320" y="1417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A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Piensa en un cajero automático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846320" y="1920240"/>
            <a:ext cx="502920" cy="502920"/>
          </a:xfrm>
          <a:prstGeom prst="ellipse">
            <a:avLst/>
          </a:prstGeom>
          <a:solidFill>
            <a:srgbClr val="257CE1"/>
          </a:solidFill>
          <a:ln w="12700">
            <a:solidFill>
              <a:srgbClr val="257C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2108" y="2056028"/>
            <a:ext cx="231343" cy="231343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486400" y="193852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caja fuerte con el dinero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5486400" y="219456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57C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atributos private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4846320" y="2770632"/>
            <a:ext cx="502920" cy="502920"/>
          </a:xfrm>
          <a:prstGeom prst="ellipse">
            <a:avLst/>
          </a:prstGeom>
          <a:solidFill>
            <a:srgbClr val="257CE1"/>
          </a:solidFill>
          <a:ln w="12700">
            <a:solidFill>
              <a:srgbClr val="257C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2108" y="2906420"/>
            <a:ext cx="231343" cy="231343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486400" y="278892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botones de la pantalla</a:t>
            </a:r>
            <a:endParaRPr lang="en-US" sz="1300" dirty="0"/>
          </a:p>
        </p:txBody>
      </p:sp>
      <p:sp>
        <p:nvSpPr>
          <p:cNvPr id="15" name="Text 10"/>
          <p:cNvSpPr txBox="1"/>
          <p:nvPr/>
        </p:nvSpPr>
        <p:spPr>
          <a:xfrm>
            <a:off x="5486400" y="304495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57C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métodos public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4846320" y="3621024"/>
            <a:ext cx="502920" cy="502920"/>
          </a:xfrm>
          <a:prstGeom prst="ellipse">
            <a:avLst/>
          </a:prstGeom>
          <a:solidFill>
            <a:srgbClr val="257CE1"/>
          </a:solidFill>
          <a:ln w="12700">
            <a:solidFill>
              <a:srgbClr val="257C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82108" y="3756812"/>
            <a:ext cx="231343" cy="231343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5486400" y="363931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"Saldo insuficiente"</a:t>
            </a:r>
            <a:endParaRPr lang="en-US" sz="1300" dirty="0"/>
          </a:p>
        </p:txBody>
      </p:sp>
      <p:sp>
        <p:nvSpPr>
          <p:cNvPr id="19" name="Text 13"/>
          <p:cNvSpPr txBox="1"/>
          <p:nvPr/>
        </p:nvSpPr>
        <p:spPr>
          <a:xfrm>
            <a:off x="5486400" y="389534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57C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validación en el setter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57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ENCAPSULAMIENTO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1206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A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Modificadores de acceso</a:t>
            </a:r>
            <a:endParaRPr lang="en-US" sz="2800" dirty="0"/>
          </a:p>
        </p:txBody>
      </p:sp>
      <p:pic>
        <p:nvPicPr>
          <p:cNvPr id="4" name="Image 0" descr="/home/claude/build/logo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4754880"/>
            <a:ext cx="731520" cy="182880"/>
          </a:xfrm>
          <a:prstGeom prst="rect">
            <a:avLst/>
          </a:prstGeom>
        </p:spPr>
      </p:pic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2505456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Modificador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5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Misma clase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5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Mismo paquete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5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Subclase (otro paquete)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5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Cualquier clase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5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57CE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public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B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 restricciones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F9D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F9D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F9D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F9D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57CE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protected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B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Paquete + herencia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F9D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F9D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F9D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D94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57CE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(sin modificador)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B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Solo el paquete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F9D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F9D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D94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D94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57CE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private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B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Solo dentro de la clase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F9D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D94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D94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D94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457200" y="3977640"/>
            <a:ext cx="8229600" cy="548640"/>
          </a:xfrm>
          <a:prstGeom prst="roundRect">
            <a:avLst>
              <a:gd name="adj" fmla="val 16667"/>
            </a:avLst>
          </a:prstGeom>
          <a:solidFill>
            <a:srgbClr val="FFF4D6"/>
          </a:solidFill>
          <a:ln w="12700">
            <a:solidFill>
              <a:srgbClr val="FFF4D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 txBox="1"/>
          <p:nvPr/>
        </p:nvSpPr>
        <p:spPr>
          <a:xfrm>
            <a:off x="685800" y="39776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de oro: </a:t>
            </a: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atributos private y métodos public solo cuando otras clases realmente los necesiten.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57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ENCAPSULAMIENTO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1206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A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¿Por qué vale la pena encapsular?</a:t>
            </a:r>
            <a:endParaRPr lang="en-US" sz="2800" dirty="0"/>
          </a:p>
        </p:txBody>
      </p:sp>
      <p:pic>
        <p:nvPicPr>
          <p:cNvPr id="4" name="Image 0" descr="/home/claude/build/logo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4754880"/>
            <a:ext cx="731520" cy="1828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325880"/>
            <a:ext cx="2606040" cy="3200400"/>
          </a:xfrm>
          <a:prstGeom prst="roundRect">
            <a:avLst>
              <a:gd name="adj" fmla="val 3509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Shape 3"/>
          <p:cNvSpPr/>
          <p:nvPr/>
        </p:nvSpPr>
        <p:spPr>
          <a:xfrm>
            <a:off x="685800" y="1554480"/>
            <a:ext cx="594360" cy="594360"/>
          </a:xfrm>
          <a:prstGeom prst="ellipse">
            <a:avLst/>
          </a:prstGeom>
          <a:solidFill>
            <a:srgbClr val="257CE1"/>
          </a:solidFill>
          <a:ln w="12700">
            <a:solidFill>
              <a:srgbClr val="257C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6277" y="1714957"/>
            <a:ext cx="273406" cy="273406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85800" y="22860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A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Integridad de datos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685800" y="265176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setter valida antes de guardar: una edad nunca será -5 ni un saldo quedará negativo.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685800" y="3931920"/>
            <a:ext cx="2148840" cy="347472"/>
          </a:xfrm>
          <a:prstGeom prst="roundRect">
            <a:avLst>
              <a:gd name="adj" fmla="val 13158"/>
            </a:avLst>
          </a:prstGeom>
          <a:solidFill>
            <a:srgbClr val="1B2033"/>
          </a:solidFill>
          <a:ln w="12700">
            <a:solidFill>
              <a:srgbClr val="1B203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Text 7"/>
          <p:cNvSpPr txBox="1"/>
          <p:nvPr/>
        </p:nvSpPr>
        <p:spPr>
          <a:xfrm>
            <a:off x="731520" y="3931920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5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setEdad(-5) → rechazado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3246120" y="1325880"/>
            <a:ext cx="2606040" cy="3200400"/>
          </a:xfrm>
          <a:prstGeom prst="roundRect">
            <a:avLst>
              <a:gd name="adj" fmla="val 3509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Shape 9"/>
          <p:cNvSpPr/>
          <p:nvPr/>
        </p:nvSpPr>
        <p:spPr>
          <a:xfrm>
            <a:off x="3474720" y="1554480"/>
            <a:ext cx="594360" cy="594360"/>
          </a:xfrm>
          <a:prstGeom prst="ellipse">
            <a:avLst/>
          </a:prstGeom>
          <a:solidFill>
            <a:srgbClr val="257CE1"/>
          </a:solidFill>
          <a:ln w="12700">
            <a:solidFill>
              <a:srgbClr val="257C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35197" y="1714957"/>
            <a:ext cx="273406" cy="273406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3474720" y="22860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A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lectura</a:t>
            </a:r>
            <a:endParaRPr lang="en-US" sz="1600" dirty="0"/>
          </a:p>
        </p:txBody>
      </p:sp>
      <p:sp>
        <p:nvSpPr>
          <p:cNvPr id="16" name="Text 11"/>
          <p:cNvSpPr txBox="1"/>
          <p:nvPr/>
        </p:nvSpPr>
        <p:spPr>
          <a:xfrm>
            <a:off x="3474720" y="265176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atributo private con getter y sin setter no se puede cambiar desde fuera de la clase.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3474720" y="3931920"/>
            <a:ext cx="2148840" cy="347472"/>
          </a:xfrm>
          <a:prstGeom prst="roundRect">
            <a:avLst>
              <a:gd name="adj" fmla="val 13158"/>
            </a:avLst>
          </a:prstGeom>
          <a:solidFill>
            <a:srgbClr val="1B2033"/>
          </a:solidFill>
          <a:ln w="12700">
            <a:solidFill>
              <a:srgbClr val="1B203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8" name="Text 13"/>
          <p:cNvSpPr txBox="1"/>
          <p:nvPr/>
        </p:nvSpPr>
        <p:spPr>
          <a:xfrm>
            <a:off x="3520440" y="3931920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5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getRut() sin setRut()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6035040" y="1325880"/>
            <a:ext cx="2606040" cy="3200400"/>
          </a:xfrm>
          <a:prstGeom prst="roundRect">
            <a:avLst>
              <a:gd name="adj" fmla="val 3509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0" name="Shape 15"/>
          <p:cNvSpPr/>
          <p:nvPr/>
        </p:nvSpPr>
        <p:spPr>
          <a:xfrm>
            <a:off x="6263640" y="1554480"/>
            <a:ext cx="594360" cy="594360"/>
          </a:xfrm>
          <a:prstGeom prst="ellipse">
            <a:avLst/>
          </a:prstGeom>
          <a:solidFill>
            <a:srgbClr val="257CE1"/>
          </a:solidFill>
          <a:ln w="12700">
            <a:solidFill>
              <a:srgbClr val="257C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24117" y="1714957"/>
            <a:ext cx="273406" cy="273406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6263640" y="22860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A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Ocultar complejidad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6263640" y="265176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Quien usa la clase solo conoce sus métodos, no cómo funciona por dentro. Puedes cambiar el interior sin romper nada.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6263640" y="3931920"/>
            <a:ext cx="2148840" cy="347472"/>
          </a:xfrm>
          <a:prstGeom prst="roundRect">
            <a:avLst>
              <a:gd name="adj" fmla="val 13158"/>
            </a:avLst>
          </a:prstGeom>
          <a:solidFill>
            <a:srgbClr val="1B2033"/>
          </a:solidFill>
          <a:ln w="12700">
            <a:solidFill>
              <a:srgbClr val="1B203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5" name="Text 19"/>
          <p:cNvSpPr txBox="1"/>
          <p:nvPr/>
        </p:nvSpPr>
        <p:spPr>
          <a:xfrm>
            <a:off x="6309360" y="3931920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5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cuenta.depositar(5000)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57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ENCAPSULAMIENTO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1206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A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Ejemplo: una Persona que se protege sola</a:t>
            </a:r>
            <a:endParaRPr lang="en-US" sz="2800" dirty="0"/>
          </a:p>
        </p:txBody>
      </p:sp>
      <p:pic>
        <p:nvPicPr>
          <p:cNvPr id="4" name="Image 0" descr="/home/claude/build/logo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4754880"/>
            <a:ext cx="731520" cy="1828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188720"/>
            <a:ext cx="4343400" cy="3520440"/>
          </a:xfrm>
          <a:prstGeom prst="roundRect">
            <a:avLst>
              <a:gd name="adj" fmla="val 2078"/>
            </a:avLst>
          </a:prstGeom>
          <a:solidFill>
            <a:srgbClr val="1B2033"/>
          </a:solidFill>
          <a:ln w="12700">
            <a:solidFill>
              <a:srgbClr val="1B2033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6" name="Shape 3"/>
          <p:cNvSpPr/>
          <p:nvPr/>
        </p:nvSpPr>
        <p:spPr>
          <a:xfrm>
            <a:off x="594360" y="1298448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Shape 4"/>
          <p:cNvSpPr/>
          <p:nvPr/>
        </p:nvSpPr>
        <p:spPr>
          <a:xfrm>
            <a:off x="749808" y="1298448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Shape 5"/>
          <p:cNvSpPr/>
          <p:nvPr/>
        </p:nvSpPr>
        <p:spPr>
          <a:xfrm>
            <a:off x="905256" y="1298448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Text 6"/>
          <p:cNvSpPr txBox="1"/>
          <p:nvPr/>
        </p:nvSpPr>
        <p:spPr>
          <a:xfrm>
            <a:off x="1097280" y="1243584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390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Persona.java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621792" y="1517904"/>
            <a:ext cx="4069080" cy="3099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20"/>
              </a:lnSpc>
              <a:buNone/>
            </a:pPr>
            <a:r>
              <a:rPr lang="en-US" sz="850" dirty="0">
                <a:solidFill>
                  <a:srgbClr val="C79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8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C79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8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7F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Persona</a:t>
            </a:r>
            <a:r>
              <a:rPr lang="en-US" sz="8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850" dirty="0"/>
          </a:p>
          <a:p>
            <a:pPr marL="0" indent="0">
              <a:lnSpc>
                <a:spcPts val="1020"/>
              </a:lnSpc>
              <a:buNone/>
            </a:pPr>
            <a:r>
              <a:rPr lang="en-US" sz="8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850" dirty="0">
                <a:solidFill>
                  <a:srgbClr val="C79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r>
              <a:rPr lang="en-US" sz="8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7F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r>
              <a:rPr lang="en-US" sz="8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nombre;   </a:t>
            </a:r>
            <a:r>
              <a:rPr lang="en-US" sz="850" i="1" dirty="0">
                <a:solidFill>
                  <a:srgbClr val="8390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oculto</a:t>
            </a:r>
            <a:endParaRPr lang="en-US" sz="850" dirty="0"/>
          </a:p>
          <a:p>
            <a:pPr marL="0" indent="0">
              <a:lnSpc>
                <a:spcPts val="1020"/>
              </a:lnSpc>
              <a:buNone/>
            </a:pPr>
            <a:r>
              <a:rPr lang="en-US" sz="8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850" dirty="0">
                <a:solidFill>
                  <a:srgbClr val="C79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r>
              <a:rPr lang="en-US" sz="8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C79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8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edad;        </a:t>
            </a:r>
            <a:r>
              <a:rPr lang="en-US" sz="850" i="1" dirty="0">
                <a:solidFill>
                  <a:srgbClr val="8390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oculto</a:t>
            </a:r>
            <a:endParaRPr lang="en-US" sz="850" dirty="0"/>
          </a:p>
          <a:p>
            <a:pPr marL="0" indent="0">
              <a:lnSpc>
                <a:spcPts val="1020"/>
              </a:lnSpc>
              <a:buNone/>
            </a:pPr>
            <a:r>
              <a:rPr lang="en-US" sz="8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  <a:p>
            <a:pPr marL="0" indent="0">
              <a:lnSpc>
                <a:spcPts val="1020"/>
              </a:lnSpc>
              <a:buNone/>
            </a:pPr>
            <a:r>
              <a:rPr lang="en-US" sz="8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850" dirty="0">
                <a:solidFill>
                  <a:srgbClr val="C79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8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7F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Persona</a:t>
            </a:r>
            <a:r>
              <a:rPr lang="en-US" sz="8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850" dirty="0">
                <a:solidFill>
                  <a:srgbClr val="7F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r>
              <a:rPr lang="en-US" sz="8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nombre, </a:t>
            </a:r>
            <a:r>
              <a:rPr lang="en-US" sz="850" dirty="0">
                <a:solidFill>
                  <a:srgbClr val="C79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8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edad) {</a:t>
            </a:r>
            <a:endParaRPr lang="en-US" sz="850" dirty="0"/>
          </a:p>
          <a:p>
            <a:pPr marL="0" indent="0">
              <a:lnSpc>
                <a:spcPts val="1020"/>
              </a:lnSpc>
              <a:buNone/>
            </a:pPr>
            <a:r>
              <a:rPr lang="en-US" sz="8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850" dirty="0">
                <a:solidFill>
                  <a:srgbClr val="C79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</a:t>
            </a:r>
            <a:r>
              <a:rPr lang="en-US" sz="8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.nombre = nombre;</a:t>
            </a:r>
            <a:endParaRPr lang="en-US" sz="850" dirty="0"/>
          </a:p>
          <a:p>
            <a:pPr marL="0" indent="0">
              <a:lnSpc>
                <a:spcPts val="1020"/>
              </a:lnSpc>
              <a:buNone/>
            </a:pPr>
            <a:r>
              <a:rPr lang="en-US" sz="8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setEdad(edad);   </a:t>
            </a:r>
            <a:r>
              <a:rPr lang="en-US" sz="850" i="1" dirty="0">
                <a:solidFill>
                  <a:srgbClr val="8390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reutiliza la validación</a:t>
            </a:r>
            <a:endParaRPr lang="en-US" sz="850" dirty="0"/>
          </a:p>
          <a:p>
            <a:pPr marL="0" indent="0">
              <a:lnSpc>
                <a:spcPts val="1020"/>
              </a:lnSpc>
              <a:buNone/>
            </a:pPr>
            <a:r>
              <a:rPr lang="en-US" sz="8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850" dirty="0"/>
          </a:p>
          <a:p>
            <a:pPr marL="0" indent="0">
              <a:lnSpc>
                <a:spcPts val="1020"/>
              </a:lnSpc>
              <a:buNone/>
            </a:pPr>
            <a:r>
              <a:rPr lang="en-US" sz="8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  <a:p>
            <a:pPr marL="0" indent="0">
              <a:lnSpc>
                <a:spcPts val="1020"/>
              </a:lnSpc>
              <a:buNone/>
            </a:pPr>
            <a:r>
              <a:rPr lang="en-US" sz="8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850" dirty="0">
                <a:solidFill>
                  <a:srgbClr val="C79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8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7F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r>
              <a:rPr lang="en-US" sz="8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getNombre() { </a:t>
            </a:r>
            <a:r>
              <a:rPr lang="en-US" sz="850" dirty="0">
                <a:solidFill>
                  <a:srgbClr val="C79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8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nombre; }</a:t>
            </a:r>
            <a:endParaRPr lang="en-US" sz="850" dirty="0"/>
          </a:p>
          <a:p>
            <a:pPr marL="0" indent="0">
              <a:lnSpc>
                <a:spcPts val="1020"/>
              </a:lnSpc>
              <a:buNone/>
            </a:pPr>
            <a:r>
              <a:rPr lang="en-US" sz="8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850" dirty="0">
                <a:solidFill>
                  <a:srgbClr val="C79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8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C79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r>
              <a:rPr lang="en-US" sz="8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setNombre(</a:t>
            </a:r>
            <a:r>
              <a:rPr lang="en-US" sz="850" dirty="0">
                <a:solidFill>
                  <a:srgbClr val="7F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r>
              <a:rPr lang="en-US" sz="8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nombre) {</a:t>
            </a:r>
            <a:endParaRPr lang="en-US" sz="850" dirty="0"/>
          </a:p>
          <a:p>
            <a:pPr marL="0" indent="0">
              <a:lnSpc>
                <a:spcPts val="1020"/>
              </a:lnSpc>
              <a:buNone/>
            </a:pPr>
            <a:r>
              <a:rPr lang="en-US" sz="8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850" dirty="0">
                <a:solidFill>
                  <a:srgbClr val="C79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</a:t>
            </a:r>
            <a:r>
              <a:rPr lang="en-US" sz="8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.nombre = nombre;</a:t>
            </a:r>
            <a:endParaRPr lang="en-US" sz="850" dirty="0"/>
          </a:p>
          <a:p>
            <a:pPr marL="0" indent="0">
              <a:lnSpc>
                <a:spcPts val="1020"/>
              </a:lnSpc>
              <a:buNone/>
            </a:pPr>
            <a:r>
              <a:rPr lang="en-US" sz="8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850" dirty="0"/>
          </a:p>
          <a:p>
            <a:pPr marL="0" indent="0">
              <a:lnSpc>
                <a:spcPts val="1020"/>
              </a:lnSpc>
              <a:buNone/>
            </a:pPr>
            <a:r>
              <a:rPr lang="en-US" sz="8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  <a:p>
            <a:pPr marL="0" indent="0">
              <a:lnSpc>
                <a:spcPts val="1020"/>
              </a:lnSpc>
              <a:buNone/>
            </a:pPr>
            <a:r>
              <a:rPr lang="en-US" sz="8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850" dirty="0">
                <a:solidFill>
                  <a:srgbClr val="C79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8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C79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8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getEdad() { </a:t>
            </a:r>
            <a:r>
              <a:rPr lang="en-US" sz="850" dirty="0">
                <a:solidFill>
                  <a:srgbClr val="C79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8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edad; }</a:t>
            </a:r>
            <a:endParaRPr lang="en-US" sz="850" dirty="0"/>
          </a:p>
          <a:p>
            <a:pPr marL="0" indent="0">
              <a:lnSpc>
                <a:spcPts val="1020"/>
              </a:lnSpc>
              <a:buNone/>
            </a:pPr>
            <a:r>
              <a:rPr lang="en-US" sz="8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850" dirty="0">
                <a:solidFill>
                  <a:srgbClr val="C79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8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C79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r>
              <a:rPr lang="en-US" sz="8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setEdad(</a:t>
            </a:r>
            <a:r>
              <a:rPr lang="en-US" sz="850" dirty="0">
                <a:solidFill>
                  <a:srgbClr val="C79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8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edad) {</a:t>
            </a:r>
            <a:endParaRPr lang="en-US" sz="850" dirty="0"/>
          </a:p>
          <a:p>
            <a:pPr marL="0" indent="0">
              <a:lnSpc>
                <a:spcPts val="1020"/>
              </a:lnSpc>
              <a:buNone/>
            </a:pPr>
            <a:r>
              <a:rPr lang="en-US" sz="8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850" dirty="0">
                <a:solidFill>
                  <a:srgbClr val="C79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8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(edad &lt; </a:t>
            </a:r>
            <a:r>
              <a:rPr lang="en-US" sz="850" dirty="0">
                <a:solidFill>
                  <a:srgbClr val="FF9E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8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|| edad &gt; </a:t>
            </a:r>
            <a:r>
              <a:rPr lang="en-US" sz="850" dirty="0">
                <a:solidFill>
                  <a:srgbClr val="FF9E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120</a:t>
            </a:r>
            <a:r>
              <a:rPr lang="en-US" sz="8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850" dirty="0"/>
          </a:p>
          <a:p>
            <a:pPr marL="0" indent="0">
              <a:lnSpc>
                <a:spcPts val="1020"/>
              </a:lnSpc>
              <a:buNone/>
            </a:pPr>
            <a:r>
              <a:rPr lang="en-US" sz="8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850" dirty="0">
                <a:solidFill>
                  <a:srgbClr val="7F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</a:t>
            </a:r>
            <a:r>
              <a:rPr lang="en-US" sz="8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.out.println(</a:t>
            </a:r>
            <a:r>
              <a:rPr lang="en-US" sz="850" dirty="0">
                <a:solidFill>
                  <a:srgbClr val="B5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"Edad inválida: "</a:t>
            </a:r>
            <a:r>
              <a:rPr lang="en-US" sz="8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edad);</a:t>
            </a:r>
            <a:endParaRPr lang="en-US" sz="850" dirty="0"/>
          </a:p>
          <a:p>
            <a:pPr marL="0" indent="0">
              <a:lnSpc>
                <a:spcPts val="1020"/>
              </a:lnSpc>
              <a:buNone/>
            </a:pPr>
            <a:r>
              <a:rPr lang="en-US" sz="8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850" dirty="0">
                <a:solidFill>
                  <a:srgbClr val="C79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8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850" dirty="0"/>
          </a:p>
          <a:p>
            <a:pPr marL="0" indent="0">
              <a:lnSpc>
                <a:spcPts val="1020"/>
              </a:lnSpc>
              <a:buNone/>
            </a:pPr>
            <a:r>
              <a:rPr lang="en-US" sz="8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50" dirty="0"/>
          </a:p>
          <a:p>
            <a:pPr marL="0" indent="0">
              <a:lnSpc>
                <a:spcPts val="1020"/>
              </a:lnSpc>
              <a:buNone/>
            </a:pPr>
            <a:r>
              <a:rPr lang="en-US" sz="8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850" dirty="0">
                <a:solidFill>
                  <a:srgbClr val="C79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</a:t>
            </a:r>
            <a:r>
              <a:rPr lang="en-US" sz="8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.edad = edad;</a:t>
            </a:r>
            <a:endParaRPr lang="en-US" sz="850" dirty="0"/>
          </a:p>
          <a:p>
            <a:pPr marL="0" indent="0">
              <a:lnSpc>
                <a:spcPts val="1020"/>
              </a:lnSpc>
              <a:buNone/>
            </a:pPr>
            <a:r>
              <a:rPr lang="en-US" sz="8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850" dirty="0"/>
          </a:p>
          <a:p>
            <a:pPr marL="0" indent="0">
              <a:lnSpc>
                <a:spcPts val="1020"/>
              </a:lnSpc>
              <a:buNone/>
            </a:pPr>
            <a:r>
              <a:rPr lang="en-US" sz="8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983480" y="1234440"/>
            <a:ext cx="3703320" cy="2057400"/>
          </a:xfrm>
          <a:prstGeom prst="roundRect">
            <a:avLst>
              <a:gd name="adj" fmla="val 3556"/>
            </a:avLst>
          </a:prstGeom>
          <a:solidFill>
            <a:srgbClr val="1B2033"/>
          </a:solidFill>
          <a:ln w="12700">
            <a:solidFill>
              <a:srgbClr val="1B2033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2" name="Shape 9"/>
          <p:cNvSpPr/>
          <p:nvPr/>
        </p:nvSpPr>
        <p:spPr>
          <a:xfrm>
            <a:off x="5120640" y="1344168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Shape 10"/>
          <p:cNvSpPr/>
          <p:nvPr/>
        </p:nvSpPr>
        <p:spPr>
          <a:xfrm>
            <a:off x="5276088" y="1344168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" name="Shape 11"/>
          <p:cNvSpPr/>
          <p:nvPr/>
        </p:nvSpPr>
        <p:spPr>
          <a:xfrm>
            <a:off x="5431536" y="1344168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5" name="Text 12"/>
          <p:cNvSpPr txBox="1"/>
          <p:nvPr/>
        </p:nvSpPr>
        <p:spPr>
          <a:xfrm>
            <a:off x="5623560" y="1289304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390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Main.java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5148072" y="1563624"/>
            <a:ext cx="3429000" cy="1636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88"/>
              </a:lnSpc>
              <a:buNone/>
            </a:pPr>
            <a:r>
              <a:rPr lang="en-US" sz="850" dirty="0">
                <a:solidFill>
                  <a:srgbClr val="C79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8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C79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8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7F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r>
              <a:rPr lang="en-US" sz="8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850" dirty="0"/>
          </a:p>
          <a:p>
            <a:pPr marL="0" indent="0">
              <a:lnSpc>
                <a:spcPts val="1088"/>
              </a:lnSpc>
              <a:buNone/>
            </a:pPr>
            <a:r>
              <a:rPr lang="en-US" sz="8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850" dirty="0">
                <a:solidFill>
                  <a:srgbClr val="C79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8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C79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</a:t>
            </a:r>
            <a:r>
              <a:rPr lang="en-US" sz="8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C79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r>
              <a:rPr lang="en-US" sz="8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main(</a:t>
            </a:r>
            <a:r>
              <a:rPr lang="en-US" sz="850" dirty="0">
                <a:solidFill>
                  <a:srgbClr val="7F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r>
              <a:rPr lang="en-US" sz="8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[] args) {</a:t>
            </a:r>
            <a:endParaRPr lang="en-US" sz="850" dirty="0"/>
          </a:p>
          <a:p>
            <a:pPr marL="0" indent="0">
              <a:lnSpc>
                <a:spcPts val="1088"/>
              </a:lnSpc>
              <a:buNone/>
            </a:pPr>
            <a:r>
              <a:rPr lang="en-US" sz="8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850" dirty="0">
                <a:solidFill>
                  <a:srgbClr val="7F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Persona</a:t>
            </a:r>
            <a:r>
              <a:rPr lang="en-US" sz="8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 = </a:t>
            </a:r>
            <a:r>
              <a:rPr lang="en-US" sz="850" dirty="0">
                <a:solidFill>
                  <a:srgbClr val="C79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8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7F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Persona</a:t>
            </a:r>
            <a:r>
              <a:rPr lang="en-US" sz="8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850" dirty="0">
                <a:solidFill>
                  <a:srgbClr val="B5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"Ana"</a:t>
            </a:r>
            <a:r>
              <a:rPr lang="en-US" sz="8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850" dirty="0">
                <a:solidFill>
                  <a:srgbClr val="FF9E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r>
              <a:rPr lang="en-US" sz="8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850" dirty="0"/>
          </a:p>
          <a:p>
            <a:pPr marL="0" indent="0">
              <a:lnSpc>
                <a:spcPts val="1088"/>
              </a:lnSpc>
              <a:buNone/>
            </a:pPr>
            <a:r>
              <a:rPr lang="en-US" sz="8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850" dirty="0">
                <a:solidFill>
                  <a:srgbClr val="7F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</a:t>
            </a:r>
            <a:r>
              <a:rPr lang="en-US" sz="8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.out.println(p.getNombre());</a:t>
            </a:r>
            <a:endParaRPr lang="en-US" sz="850" dirty="0"/>
          </a:p>
          <a:p>
            <a:pPr marL="0" indent="0">
              <a:lnSpc>
                <a:spcPts val="1088"/>
              </a:lnSpc>
              <a:buNone/>
            </a:pPr>
            <a:r>
              <a:rPr lang="en-US" sz="8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p.setEdad(</a:t>
            </a:r>
            <a:r>
              <a:rPr lang="en-US" sz="850" dirty="0">
                <a:solidFill>
                  <a:srgbClr val="FF9E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31</a:t>
            </a:r>
            <a:r>
              <a:rPr lang="en-US" sz="8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   </a:t>
            </a:r>
            <a:r>
              <a:rPr lang="en-US" sz="850" i="1" dirty="0">
                <a:solidFill>
                  <a:srgbClr val="8390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válido</a:t>
            </a:r>
            <a:endParaRPr lang="en-US" sz="850" dirty="0"/>
          </a:p>
          <a:p>
            <a:pPr marL="0" indent="0">
              <a:lnSpc>
                <a:spcPts val="1088"/>
              </a:lnSpc>
              <a:buNone/>
            </a:pPr>
            <a:r>
              <a:rPr lang="en-US" sz="8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p.setEdad(-</a:t>
            </a:r>
            <a:r>
              <a:rPr lang="en-US" sz="850" dirty="0">
                <a:solidFill>
                  <a:srgbClr val="FF9E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r>
              <a:rPr lang="en-US" sz="8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   </a:t>
            </a:r>
            <a:r>
              <a:rPr lang="en-US" sz="850" i="1" dirty="0">
                <a:solidFill>
                  <a:srgbClr val="8390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rechazado</a:t>
            </a:r>
            <a:endParaRPr lang="en-US" sz="850" dirty="0"/>
          </a:p>
          <a:p>
            <a:pPr marL="0" indent="0">
              <a:lnSpc>
                <a:spcPts val="1088"/>
              </a:lnSpc>
              <a:buNone/>
            </a:pPr>
            <a:r>
              <a:rPr lang="en-US" sz="8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850" i="1" dirty="0">
                <a:solidFill>
                  <a:srgbClr val="8390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p.edad = -5;  // NO compila</a:t>
            </a:r>
            <a:endParaRPr lang="en-US" sz="850" dirty="0"/>
          </a:p>
          <a:p>
            <a:pPr marL="0" indent="0">
              <a:lnSpc>
                <a:spcPts val="1088"/>
              </a:lnSpc>
              <a:buNone/>
            </a:pPr>
            <a:r>
              <a:rPr lang="en-US" sz="8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850" dirty="0">
                <a:solidFill>
                  <a:srgbClr val="7F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</a:t>
            </a:r>
            <a:r>
              <a:rPr lang="en-US" sz="8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.out.println(p.getEdad());</a:t>
            </a:r>
            <a:endParaRPr lang="en-US" sz="850" dirty="0"/>
          </a:p>
          <a:p>
            <a:pPr marL="0" indent="0">
              <a:lnSpc>
                <a:spcPts val="1088"/>
              </a:lnSpc>
              <a:buNone/>
            </a:pPr>
            <a:r>
              <a:rPr lang="en-US" sz="8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850" dirty="0"/>
          </a:p>
          <a:p>
            <a:pPr marL="0" indent="0">
              <a:lnSpc>
                <a:spcPts val="1088"/>
              </a:lnSpc>
              <a:buNone/>
            </a:pPr>
            <a:r>
              <a:rPr lang="en-US" sz="8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4983480" y="3429000"/>
            <a:ext cx="3703320" cy="1234440"/>
          </a:xfrm>
          <a:prstGeom prst="roundRect">
            <a:avLst>
              <a:gd name="adj" fmla="val 5926"/>
            </a:avLst>
          </a:prstGeom>
          <a:solidFill>
            <a:srgbClr val="0E1220"/>
          </a:solidFill>
          <a:ln w="12700">
            <a:solidFill>
              <a:srgbClr val="2E365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8" name="Text 15"/>
          <p:cNvSpPr txBox="1"/>
          <p:nvPr/>
        </p:nvSpPr>
        <p:spPr>
          <a:xfrm>
            <a:off x="5148072" y="3520440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28C8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▶ Consola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5148072" y="3753860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Edad inválida: -5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31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5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2798064" cy="292608"/>
          </a:xfrm>
          <a:prstGeom prst="roundRect">
            <a:avLst>
              <a:gd name="adj" fmla="val 50000"/>
            </a:avLst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20040"/>
            <a:ext cx="201168" cy="20116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04672" y="274320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0B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JUEGO 1 · DETECTIVE DE CÓDIGO</a:t>
            </a:r>
            <a:endParaRPr lang="en-US" sz="105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685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¿Quién rompe el encapsulamiento?</a:t>
            </a:r>
            <a:endParaRPr lang="en-US" sz="2800" dirty="0"/>
          </a:p>
        </p:txBody>
      </p:sp>
      <p:pic>
        <p:nvPicPr>
          <p:cNvPr id="6" name="Image 1" descr="/home/claude/build/logo_l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0" y="4754880"/>
            <a:ext cx="731520" cy="18288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57200" y="1371600"/>
            <a:ext cx="4114800" cy="2514600"/>
          </a:xfrm>
          <a:prstGeom prst="roundRect">
            <a:avLst>
              <a:gd name="adj" fmla="val 2909"/>
            </a:avLst>
          </a:prstGeom>
          <a:solidFill>
            <a:srgbClr val="1B2033"/>
          </a:solidFill>
          <a:ln w="12700">
            <a:solidFill>
              <a:srgbClr val="1B2033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8" name="Shape 4"/>
          <p:cNvSpPr/>
          <p:nvPr/>
        </p:nvSpPr>
        <p:spPr>
          <a:xfrm>
            <a:off x="594360" y="1481328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Shape 5"/>
          <p:cNvSpPr/>
          <p:nvPr/>
        </p:nvSpPr>
        <p:spPr>
          <a:xfrm>
            <a:off x="749808" y="1481328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Shape 6"/>
          <p:cNvSpPr/>
          <p:nvPr/>
        </p:nvSpPr>
        <p:spPr>
          <a:xfrm>
            <a:off x="905256" y="1481328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Text 7"/>
          <p:cNvSpPr txBox="1"/>
          <p:nvPr/>
        </p:nvSpPr>
        <p:spPr>
          <a:xfrm>
            <a:off x="1097280" y="1426464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390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CuentaBancaria.java</a:t>
            </a:r>
            <a:endParaRPr lang="en-US" sz="900" dirty="0"/>
          </a:p>
        </p:txBody>
      </p:sp>
      <p:sp>
        <p:nvSpPr>
          <p:cNvPr id="12" name="Text 8"/>
          <p:cNvSpPr txBox="1"/>
          <p:nvPr/>
        </p:nvSpPr>
        <p:spPr>
          <a:xfrm>
            <a:off x="621792" y="1700784"/>
            <a:ext cx="3840480" cy="2093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16"/>
              </a:lnSpc>
              <a:buNone/>
            </a:pPr>
            <a:r>
              <a:rPr lang="en-US" sz="950" dirty="0">
                <a:solidFill>
                  <a:srgbClr val="C79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9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79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9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7F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CuentaBancaria</a:t>
            </a:r>
            <a:r>
              <a:rPr lang="en-US" sz="9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950" dirty="0"/>
          </a:p>
          <a:p>
            <a:pPr marL="0" indent="0">
              <a:lnSpc>
                <a:spcPts val="1216"/>
              </a:lnSpc>
              <a:buNone/>
            </a:pPr>
            <a:r>
              <a:rPr lang="en-US" sz="9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50" dirty="0">
                <a:solidFill>
                  <a:srgbClr val="C79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r>
              <a:rPr lang="en-US" sz="9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79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</a:t>
            </a:r>
            <a:r>
              <a:rPr lang="en-US" sz="9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saldo;</a:t>
            </a:r>
            <a:endParaRPr lang="en-US" sz="950" dirty="0"/>
          </a:p>
          <a:p>
            <a:pPr marL="0" indent="0">
              <a:lnSpc>
                <a:spcPts val="1216"/>
              </a:lnSpc>
              <a:buNone/>
            </a:pPr>
            <a:r>
              <a:rPr lang="en-US" sz="9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marL="0" indent="0">
              <a:lnSpc>
                <a:spcPts val="1216"/>
              </a:lnSpc>
              <a:buNone/>
            </a:pPr>
            <a:r>
              <a:rPr lang="en-US" sz="9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50" dirty="0">
                <a:solidFill>
                  <a:srgbClr val="C79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9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79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</a:t>
            </a:r>
            <a:r>
              <a:rPr lang="en-US" sz="9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getSaldo() {</a:t>
            </a:r>
            <a:endParaRPr lang="en-US" sz="950" dirty="0"/>
          </a:p>
          <a:p>
            <a:pPr marL="0" indent="0">
              <a:lnSpc>
                <a:spcPts val="1216"/>
              </a:lnSpc>
              <a:buNone/>
            </a:pPr>
            <a:r>
              <a:rPr lang="en-US" sz="9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50" dirty="0">
                <a:solidFill>
                  <a:srgbClr val="C79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9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saldo;</a:t>
            </a:r>
            <a:endParaRPr lang="en-US" sz="950" dirty="0"/>
          </a:p>
          <a:p>
            <a:pPr marL="0" indent="0">
              <a:lnSpc>
                <a:spcPts val="1216"/>
              </a:lnSpc>
              <a:buNone/>
            </a:pPr>
            <a:r>
              <a:rPr lang="en-US" sz="9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50" dirty="0"/>
          </a:p>
          <a:p>
            <a:pPr marL="0" indent="0">
              <a:lnSpc>
                <a:spcPts val="1216"/>
              </a:lnSpc>
              <a:buNone/>
            </a:pPr>
            <a:r>
              <a:rPr lang="en-US" sz="9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marL="0" indent="0">
              <a:lnSpc>
                <a:spcPts val="1216"/>
              </a:lnSpc>
              <a:buNone/>
            </a:pPr>
            <a:r>
              <a:rPr lang="en-US" sz="9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50" dirty="0">
                <a:solidFill>
                  <a:srgbClr val="C79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9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79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r>
              <a:rPr lang="en-US" sz="9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depositar(</a:t>
            </a:r>
            <a:r>
              <a:rPr lang="en-US" sz="950" dirty="0">
                <a:solidFill>
                  <a:srgbClr val="C79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</a:t>
            </a:r>
            <a:r>
              <a:rPr lang="en-US" sz="9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monto) {</a:t>
            </a:r>
            <a:endParaRPr lang="en-US" sz="950" dirty="0"/>
          </a:p>
          <a:p>
            <a:pPr marL="0" indent="0">
              <a:lnSpc>
                <a:spcPts val="1216"/>
              </a:lnSpc>
              <a:buNone/>
            </a:pPr>
            <a:r>
              <a:rPr lang="en-US" sz="9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50" dirty="0">
                <a:solidFill>
                  <a:srgbClr val="C79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9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(monto &gt; </a:t>
            </a:r>
            <a:r>
              <a:rPr lang="en-US" sz="950" dirty="0">
                <a:solidFill>
                  <a:srgbClr val="FF9E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9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saldo += monto;</a:t>
            </a:r>
            <a:endParaRPr lang="en-US" sz="950" dirty="0"/>
          </a:p>
          <a:p>
            <a:pPr marL="0" indent="0">
              <a:lnSpc>
                <a:spcPts val="1216"/>
              </a:lnSpc>
              <a:buNone/>
            </a:pPr>
            <a:r>
              <a:rPr lang="en-US" sz="9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50" dirty="0"/>
          </a:p>
          <a:p>
            <a:pPr marL="0" indent="0">
              <a:lnSpc>
                <a:spcPts val="1216"/>
              </a:lnSpc>
              <a:buNone/>
            </a:pPr>
            <a:r>
              <a:rPr lang="en-US" sz="9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13" name="Text 9"/>
          <p:cNvSpPr txBox="1"/>
          <p:nvPr/>
        </p:nvSpPr>
        <p:spPr>
          <a:xfrm>
            <a:off x="4846320" y="13716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main tenemos cuenta = new CuentaBancaria(). ¿Qué líneas NO compilan?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4846320" y="1920240"/>
            <a:ext cx="3840480" cy="411480"/>
          </a:xfrm>
          <a:prstGeom prst="roundRect">
            <a:avLst>
              <a:gd name="adj" fmla="val 22222"/>
            </a:avLst>
          </a:prstGeom>
          <a:solidFill>
            <a:srgbClr val="16223F"/>
          </a:solidFill>
          <a:ln w="12700">
            <a:solidFill>
              <a:srgbClr val="16223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5" name="Shape 11"/>
          <p:cNvSpPr/>
          <p:nvPr/>
        </p:nvSpPr>
        <p:spPr>
          <a:xfrm>
            <a:off x="4919472" y="1975104"/>
            <a:ext cx="301752" cy="301752"/>
          </a:xfrm>
          <a:prstGeom prst="ellipse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6" name="Text 12"/>
          <p:cNvSpPr txBox="1"/>
          <p:nvPr/>
        </p:nvSpPr>
        <p:spPr>
          <a:xfrm>
            <a:off x="4919472" y="1975104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5349240" y="19202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cuenta.depositar(5000);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4846320" y="2423160"/>
            <a:ext cx="3840480" cy="411480"/>
          </a:xfrm>
          <a:prstGeom prst="roundRect">
            <a:avLst>
              <a:gd name="adj" fmla="val 22222"/>
            </a:avLst>
          </a:prstGeom>
          <a:solidFill>
            <a:srgbClr val="16223F"/>
          </a:solidFill>
          <a:ln w="12700">
            <a:solidFill>
              <a:srgbClr val="16223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9" name="Shape 15"/>
          <p:cNvSpPr/>
          <p:nvPr/>
        </p:nvSpPr>
        <p:spPr>
          <a:xfrm>
            <a:off x="4919472" y="2478024"/>
            <a:ext cx="301752" cy="301752"/>
          </a:xfrm>
          <a:prstGeom prst="ellipse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0" name="Text 16"/>
          <p:cNvSpPr txBox="1"/>
          <p:nvPr/>
        </p:nvSpPr>
        <p:spPr>
          <a:xfrm>
            <a:off x="4919472" y="2478024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00" dirty="0"/>
          </a:p>
        </p:txBody>
      </p:sp>
      <p:sp>
        <p:nvSpPr>
          <p:cNvPr id="21" name="Text 17"/>
          <p:cNvSpPr txBox="1"/>
          <p:nvPr/>
        </p:nvSpPr>
        <p:spPr>
          <a:xfrm>
            <a:off x="5349240" y="242316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cuenta.saldo = 1000000;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4846320" y="2926080"/>
            <a:ext cx="3840480" cy="411480"/>
          </a:xfrm>
          <a:prstGeom prst="roundRect">
            <a:avLst>
              <a:gd name="adj" fmla="val 22222"/>
            </a:avLst>
          </a:prstGeom>
          <a:solidFill>
            <a:srgbClr val="16223F"/>
          </a:solidFill>
          <a:ln w="12700">
            <a:solidFill>
              <a:srgbClr val="16223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3" name="Shape 19"/>
          <p:cNvSpPr/>
          <p:nvPr/>
        </p:nvSpPr>
        <p:spPr>
          <a:xfrm>
            <a:off x="4919472" y="2980944"/>
            <a:ext cx="301752" cy="301752"/>
          </a:xfrm>
          <a:prstGeom prst="ellipse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4" name="Text 20"/>
          <p:cNvSpPr txBox="1"/>
          <p:nvPr/>
        </p:nvSpPr>
        <p:spPr>
          <a:xfrm>
            <a:off x="4919472" y="2980944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00" dirty="0"/>
          </a:p>
        </p:txBody>
      </p:sp>
      <p:sp>
        <p:nvSpPr>
          <p:cNvPr id="25" name="Text 21"/>
          <p:cNvSpPr txBox="1"/>
          <p:nvPr/>
        </p:nvSpPr>
        <p:spPr>
          <a:xfrm>
            <a:off x="5349240" y="292608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System.out.println(cuenta.getSaldo());</a:t>
            </a:r>
            <a:endParaRPr lang="en-US" sz="1050" dirty="0"/>
          </a:p>
        </p:txBody>
      </p:sp>
      <p:sp>
        <p:nvSpPr>
          <p:cNvPr id="26" name="Shape 22"/>
          <p:cNvSpPr/>
          <p:nvPr/>
        </p:nvSpPr>
        <p:spPr>
          <a:xfrm>
            <a:off x="4846320" y="3429000"/>
            <a:ext cx="3840480" cy="411480"/>
          </a:xfrm>
          <a:prstGeom prst="roundRect">
            <a:avLst>
              <a:gd name="adj" fmla="val 22222"/>
            </a:avLst>
          </a:prstGeom>
          <a:solidFill>
            <a:srgbClr val="16223F"/>
          </a:solidFill>
          <a:ln w="12700">
            <a:solidFill>
              <a:srgbClr val="16223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7" name="Shape 23"/>
          <p:cNvSpPr/>
          <p:nvPr/>
        </p:nvSpPr>
        <p:spPr>
          <a:xfrm>
            <a:off x="4919472" y="3483864"/>
            <a:ext cx="301752" cy="301752"/>
          </a:xfrm>
          <a:prstGeom prst="ellipse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8" name="Text 24"/>
          <p:cNvSpPr txBox="1"/>
          <p:nvPr/>
        </p:nvSpPr>
        <p:spPr>
          <a:xfrm>
            <a:off x="4919472" y="3483864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200" dirty="0"/>
          </a:p>
        </p:txBody>
      </p:sp>
      <p:sp>
        <p:nvSpPr>
          <p:cNvPr id="29" name="Text 25"/>
          <p:cNvSpPr txBox="1"/>
          <p:nvPr/>
        </p:nvSpPr>
        <p:spPr>
          <a:xfrm>
            <a:off x="5349240" y="34290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cuenta.setSaldo(99);</a:t>
            </a:r>
            <a:endParaRPr lang="en-US" sz="1050" dirty="0"/>
          </a:p>
        </p:txBody>
      </p:sp>
      <p:pic>
        <p:nvPicPr>
          <p:cNvPr id="3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4160520"/>
            <a:ext cx="320040" cy="320040"/>
          </a:xfrm>
          <a:prstGeom prst="rect">
            <a:avLst/>
          </a:prstGeom>
        </p:spPr>
      </p:pic>
      <p:sp>
        <p:nvSpPr>
          <p:cNvPr id="31" name="Text 26"/>
          <p:cNvSpPr txBox="1"/>
          <p:nvPr/>
        </p:nvSpPr>
        <p:spPr>
          <a:xfrm>
            <a:off x="868680" y="41605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C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segundos · cada equipo anota sus letras · +10 pts por línea correcta, -5 por error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5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975104" cy="292608"/>
          </a:xfrm>
          <a:prstGeom prst="roundRect">
            <a:avLst>
              <a:gd name="adj" fmla="val 50000"/>
            </a:avLst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20040"/>
            <a:ext cx="201168" cy="20116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04672" y="274320"/>
            <a:ext cx="1609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0B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JUEGO 1 · RESPUESTA</a:t>
            </a:r>
            <a:endParaRPr lang="en-US" sz="105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685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¡Caso resuelto!</a:t>
            </a:r>
            <a:endParaRPr lang="en-US" sz="2800" dirty="0"/>
          </a:p>
        </p:txBody>
      </p:sp>
      <p:pic>
        <p:nvPicPr>
          <p:cNvPr id="6" name="Image 1" descr="/home/claude/build/logo_l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0" y="4754880"/>
            <a:ext cx="731520" cy="18288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57200" y="1417320"/>
            <a:ext cx="8229600" cy="658368"/>
          </a:xfrm>
          <a:prstGeom prst="roundRect">
            <a:avLst>
              <a:gd name="adj" fmla="val 13889"/>
            </a:avLst>
          </a:prstGeom>
          <a:solidFill>
            <a:srgbClr val="16223F"/>
          </a:solidFill>
          <a:ln w="12700">
            <a:solidFill>
              <a:srgbClr val="16223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Shape 4"/>
          <p:cNvSpPr/>
          <p:nvPr/>
        </p:nvSpPr>
        <p:spPr>
          <a:xfrm>
            <a:off x="640080" y="1536192"/>
            <a:ext cx="420624" cy="420624"/>
          </a:xfrm>
          <a:prstGeom prst="ellipse">
            <a:avLst/>
          </a:prstGeom>
          <a:solidFill>
            <a:srgbClr val="1F9D63"/>
          </a:solidFill>
          <a:ln w="12700">
            <a:solidFill>
              <a:srgbClr val="1F9D6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3648" y="1649760"/>
            <a:ext cx="193487" cy="193487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234440" y="1490472"/>
            <a:ext cx="3931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A)  cuenta.depositar(5000);</a:t>
            </a:r>
            <a:endParaRPr lang="en-US" sz="1150" dirty="0"/>
          </a:p>
        </p:txBody>
      </p:sp>
      <p:sp>
        <p:nvSpPr>
          <p:cNvPr id="11" name="Text 6"/>
          <p:cNvSpPr txBox="1"/>
          <p:nvPr/>
        </p:nvSpPr>
        <p:spPr>
          <a:xfrm>
            <a:off x="5212080" y="1490472"/>
            <a:ext cx="3337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 public: es la puerta oficial para cambiar el saldo.</a:t>
            </a:r>
            <a:endParaRPr lang="en-US" sz="1200" dirty="0"/>
          </a:p>
        </p:txBody>
      </p:sp>
      <p:sp>
        <p:nvSpPr>
          <p:cNvPr id="12" name="Shape 7"/>
          <p:cNvSpPr/>
          <p:nvPr/>
        </p:nvSpPr>
        <p:spPr>
          <a:xfrm>
            <a:off x="457200" y="2194560"/>
            <a:ext cx="8229600" cy="658368"/>
          </a:xfrm>
          <a:prstGeom prst="roundRect">
            <a:avLst>
              <a:gd name="adj" fmla="val 13889"/>
            </a:avLst>
          </a:prstGeom>
          <a:solidFill>
            <a:srgbClr val="16223F"/>
          </a:solidFill>
          <a:ln w="12700">
            <a:solidFill>
              <a:srgbClr val="16223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Shape 8"/>
          <p:cNvSpPr/>
          <p:nvPr/>
        </p:nvSpPr>
        <p:spPr>
          <a:xfrm>
            <a:off x="640080" y="2313432"/>
            <a:ext cx="420624" cy="420624"/>
          </a:xfrm>
          <a:prstGeom prst="ellipse">
            <a:avLst/>
          </a:prstGeom>
          <a:solidFill>
            <a:srgbClr val="D9434A"/>
          </a:solidFill>
          <a:ln w="12700">
            <a:solidFill>
              <a:srgbClr val="D9434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3648" y="2427000"/>
            <a:ext cx="193487" cy="193487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234440" y="2267712"/>
            <a:ext cx="3931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B)  cuenta.saldo = 1000000;</a:t>
            </a:r>
            <a:endParaRPr lang="en-US" sz="1150" dirty="0"/>
          </a:p>
        </p:txBody>
      </p:sp>
      <p:sp>
        <p:nvSpPr>
          <p:cNvPr id="16" name="Text 10"/>
          <p:cNvSpPr txBox="1"/>
          <p:nvPr/>
        </p:nvSpPr>
        <p:spPr>
          <a:xfrm>
            <a:off x="5212080" y="2267712"/>
            <a:ext cx="3337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saldo es private: solo se puede tocar dentro de la clase.</a:t>
            </a:r>
            <a:endParaRPr lang="en-US" sz="1200" dirty="0"/>
          </a:p>
        </p:txBody>
      </p:sp>
      <p:sp>
        <p:nvSpPr>
          <p:cNvPr id="17" name="Shape 11"/>
          <p:cNvSpPr/>
          <p:nvPr/>
        </p:nvSpPr>
        <p:spPr>
          <a:xfrm>
            <a:off x="457200" y="2971800"/>
            <a:ext cx="8229600" cy="658368"/>
          </a:xfrm>
          <a:prstGeom prst="roundRect">
            <a:avLst>
              <a:gd name="adj" fmla="val 13889"/>
            </a:avLst>
          </a:prstGeom>
          <a:solidFill>
            <a:srgbClr val="16223F"/>
          </a:solidFill>
          <a:ln w="12700">
            <a:solidFill>
              <a:srgbClr val="16223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8" name="Shape 12"/>
          <p:cNvSpPr/>
          <p:nvPr/>
        </p:nvSpPr>
        <p:spPr>
          <a:xfrm>
            <a:off x="640080" y="3090672"/>
            <a:ext cx="420624" cy="420624"/>
          </a:xfrm>
          <a:prstGeom prst="ellipse">
            <a:avLst/>
          </a:prstGeom>
          <a:solidFill>
            <a:srgbClr val="1F9D63"/>
          </a:solidFill>
          <a:ln w="12700">
            <a:solidFill>
              <a:srgbClr val="1F9D6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3648" y="3204240"/>
            <a:ext cx="193487" cy="193487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1234440" y="3044952"/>
            <a:ext cx="3931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C)  System.out.println(cuenta.getSaldo());</a:t>
            </a:r>
            <a:endParaRPr lang="en-US" sz="1150" dirty="0"/>
          </a:p>
        </p:txBody>
      </p:sp>
      <p:sp>
        <p:nvSpPr>
          <p:cNvPr id="21" name="Text 14"/>
          <p:cNvSpPr txBox="1"/>
          <p:nvPr/>
        </p:nvSpPr>
        <p:spPr>
          <a:xfrm>
            <a:off x="5212080" y="3044952"/>
            <a:ext cx="3337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Leer con el getter está permitido.</a:t>
            </a:r>
            <a:endParaRPr lang="en-US" sz="1200" dirty="0"/>
          </a:p>
        </p:txBody>
      </p:sp>
      <p:sp>
        <p:nvSpPr>
          <p:cNvPr id="22" name="Shape 15"/>
          <p:cNvSpPr/>
          <p:nvPr/>
        </p:nvSpPr>
        <p:spPr>
          <a:xfrm>
            <a:off x="457200" y="3749040"/>
            <a:ext cx="8229600" cy="658368"/>
          </a:xfrm>
          <a:prstGeom prst="roundRect">
            <a:avLst>
              <a:gd name="adj" fmla="val 13889"/>
            </a:avLst>
          </a:prstGeom>
          <a:solidFill>
            <a:srgbClr val="16223F"/>
          </a:solidFill>
          <a:ln w="12700">
            <a:solidFill>
              <a:srgbClr val="16223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3" name="Shape 16"/>
          <p:cNvSpPr/>
          <p:nvPr/>
        </p:nvSpPr>
        <p:spPr>
          <a:xfrm>
            <a:off x="640080" y="3867912"/>
            <a:ext cx="420624" cy="420624"/>
          </a:xfrm>
          <a:prstGeom prst="ellipse">
            <a:avLst/>
          </a:prstGeom>
          <a:solidFill>
            <a:srgbClr val="D9434A"/>
          </a:solidFill>
          <a:ln w="12700">
            <a:solidFill>
              <a:srgbClr val="D9434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3648" y="3981480"/>
            <a:ext cx="193487" cy="193487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1234440" y="3822192"/>
            <a:ext cx="3931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D)  cuenta.setSaldo(99);</a:t>
            </a:r>
            <a:endParaRPr lang="en-US" sz="1150" dirty="0"/>
          </a:p>
        </p:txBody>
      </p:sp>
      <p:sp>
        <p:nvSpPr>
          <p:cNvPr id="26" name="Text 18"/>
          <p:cNvSpPr txBox="1"/>
          <p:nvPr/>
        </p:nvSpPr>
        <p:spPr>
          <a:xfrm>
            <a:off x="5212080" y="3822192"/>
            <a:ext cx="3337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 método no existe: el saldo es de solo lectura desde fuera.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23444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600" b="1" dirty="0">
                <a:solidFill>
                  <a:srgbClr val="257C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46888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ArrayList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2004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i="1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Listas que crecen solas.</a:t>
            </a:r>
            <a:endParaRPr lang="en-US" sz="1800" dirty="0"/>
          </a:p>
        </p:txBody>
      </p:sp>
      <p:pic>
        <p:nvPicPr>
          <p:cNvPr id="5" name="Image 0" descr="/home/claude/build/logo_l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572000"/>
            <a:ext cx="914400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57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ARRAYLIST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1206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A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Arreglo vs ArrayList</a:t>
            </a:r>
            <a:endParaRPr lang="en-US" sz="2800" dirty="0"/>
          </a:p>
        </p:txBody>
      </p:sp>
      <p:pic>
        <p:nvPicPr>
          <p:cNvPr id="4" name="Image 0" descr="/home/claude/build/logo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4754880"/>
            <a:ext cx="731520" cy="1828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280160"/>
            <a:ext cx="4023360" cy="3291840"/>
          </a:xfrm>
          <a:prstGeom prst="roundRect">
            <a:avLst>
              <a:gd name="adj" fmla="val 2778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Text 3"/>
          <p:cNvSpPr txBox="1"/>
          <p:nvPr/>
        </p:nvSpPr>
        <p:spPr>
          <a:xfrm>
            <a:off x="731520" y="14173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A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Arreglo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731520" y="1920240"/>
            <a:ext cx="713232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Text 5"/>
          <p:cNvSpPr txBox="1"/>
          <p:nvPr/>
        </p:nvSpPr>
        <p:spPr>
          <a:xfrm>
            <a:off x="731520" y="1920240"/>
            <a:ext cx="713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1508760" y="1920240"/>
            <a:ext cx="713232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Text 7"/>
          <p:cNvSpPr txBox="1"/>
          <p:nvPr/>
        </p:nvSpPr>
        <p:spPr>
          <a:xfrm>
            <a:off x="1508760" y="1920240"/>
            <a:ext cx="713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Luis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286000" y="1920240"/>
            <a:ext cx="713232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Text 9"/>
          <p:cNvSpPr txBox="1"/>
          <p:nvPr/>
        </p:nvSpPr>
        <p:spPr>
          <a:xfrm>
            <a:off x="2286000" y="1920240"/>
            <a:ext cx="713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3063240" y="192024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lleno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731520" y="2514600"/>
            <a:ext cx="35204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Tamaño fijo desde que se crea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con a[0] y a.length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Admite primitivos: int[], double[]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rápido, pero sin métodos de ayuda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731520" y="4023360"/>
            <a:ext cx="3474720" cy="365760"/>
          </a:xfrm>
          <a:prstGeom prst="roundRect">
            <a:avLst>
              <a:gd name="adj" fmla="val 12500"/>
            </a:avLst>
          </a:prstGeom>
          <a:solidFill>
            <a:srgbClr val="1B2033"/>
          </a:solidFill>
          <a:ln w="12700">
            <a:solidFill>
              <a:srgbClr val="1B203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6" name="Text 13"/>
          <p:cNvSpPr txBox="1"/>
          <p:nvPr/>
        </p:nvSpPr>
        <p:spPr>
          <a:xfrm>
            <a:off x="822960" y="402336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F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r>
              <a:rPr lang="en-US" sz="9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[] a = </a:t>
            </a:r>
            <a:r>
              <a:rPr lang="en-US" sz="950" dirty="0">
                <a:solidFill>
                  <a:srgbClr val="C79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9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7F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r>
              <a:rPr lang="en-US" sz="9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950" dirty="0">
                <a:solidFill>
                  <a:srgbClr val="FF9E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r>
              <a:rPr lang="en-US" sz="9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];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4663440" y="1280160"/>
            <a:ext cx="4023360" cy="3291840"/>
          </a:xfrm>
          <a:prstGeom prst="roundRect">
            <a:avLst>
              <a:gd name="adj" fmla="val 2778"/>
            </a:avLst>
          </a:prstGeom>
          <a:solidFill>
            <a:srgbClr val="E8F1FC"/>
          </a:solidFill>
          <a:ln w="12700">
            <a:solidFill>
              <a:srgbClr val="E8F1F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8" name="Text 15"/>
          <p:cNvSpPr txBox="1"/>
          <p:nvPr/>
        </p:nvSpPr>
        <p:spPr>
          <a:xfrm>
            <a:off x="4937760" y="14173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257C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ArrayList</a:t>
            </a:r>
            <a:endParaRPr lang="en-US" sz="2000" dirty="0"/>
          </a:p>
        </p:txBody>
      </p:sp>
      <p:sp>
        <p:nvSpPr>
          <p:cNvPr id="19" name="Shape 16"/>
          <p:cNvSpPr/>
          <p:nvPr/>
        </p:nvSpPr>
        <p:spPr>
          <a:xfrm>
            <a:off x="4937760" y="1920240"/>
            <a:ext cx="713232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B9D3F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0" name="Text 17"/>
          <p:cNvSpPr txBox="1"/>
          <p:nvPr/>
        </p:nvSpPr>
        <p:spPr>
          <a:xfrm>
            <a:off x="4937760" y="1920240"/>
            <a:ext cx="713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5715000" y="1920240"/>
            <a:ext cx="713232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B9D3F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2" name="Text 19"/>
          <p:cNvSpPr txBox="1"/>
          <p:nvPr/>
        </p:nvSpPr>
        <p:spPr>
          <a:xfrm>
            <a:off x="5715000" y="1920240"/>
            <a:ext cx="713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Luis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6492240" y="1920240"/>
            <a:ext cx="713232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B9D3F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4" name="Text 21"/>
          <p:cNvSpPr txBox="1"/>
          <p:nvPr/>
        </p:nvSpPr>
        <p:spPr>
          <a:xfrm>
            <a:off x="6492240" y="1920240"/>
            <a:ext cx="713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7269480" y="1920240"/>
            <a:ext cx="713232" cy="384048"/>
          </a:xfrm>
          <a:prstGeom prst="roundRect">
            <a:avLst>
              <a:gd name="adj" fmla="val 11905"/>
            </a:avLst>
          </a:prstGeom>
          <a:solidFill>
            <a:srgbClr val="257CE1"/>
          </a:solidFill>
          <a:ln w="12700">
            <a:solidFill>
              <a:srgbClr val="257CE1"/>
            </a:solidFill>
            <a:prstDash val="dash"/>
          </a:ln>
        </p:spPr>
        <p:txBody>
          <a:bodyPr/>
          <a:lstStyle/>
          <a:p>
            <a:endParaRPr lang="es-CL"/>
          </a:p>
        </p:txBody>
      </p:sp>
      <p:sp>
        <p:nvSpPr>
          <p:cNvPr id="26" name="Text 23"/>
          <p:cNvSpPr txBox="1"/>
          <p:nvPr/>
        </p:nvSpPr>
        <p:spPr>
          <a:xfrm>
            <a:off x="7269480" y="1920240"/>
            <a:ext cx="713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add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4937760" y="2514600"/>
            <a:ext cx="35204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Crece y se achica dinámicamente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con a.get(0) y a.size()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objetos: Integer, Double, String…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Métodos listos: add, remove, contains, sort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4937760" y="4023360"/>
            <a:ext cx="3474720" cy="365760"/>
          </a:xfrm>
          <a:prstGeom prst="roundRect">
            <a:avLst>
              <a:gd name="adj" fmla="val 12500"/>
            </a:avLst>
          </a:prstGeom>
          <a:solidFill>
            <a:srgbClr val="1B2033"/>
          </a:solidFill>
          <a:ln w="12700">
            <a:solidFill>
              <a:srgbClr val="1B203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9" name="Text 26"/>
          <p:cNvSpPr txBox="1"/>
          <p:nvPr/>
        </p:nvSpPr>
        <p:spPr>
          <a:xfrm>
            <a:off x="5029200" y="402336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F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ArrayList</a:t>
            </a:r>
            <a:r>
              <a:rPr lang="en-US" sz="9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950" dirty="0">
                <a:solidFill>
                  <a:srgbClr val="7F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r>
              <a:rPr lang="en-US" sz="9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a = </a:t>
            </a:r>
            <a:r>
              <a:rPr lang="en-US" sz="950" dirty="0">
                <a:solidFill>
                  <a:srgbClr val="C79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9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7F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ArrayList</a:t>
            </a:r>
            <a:r>
              <a:rPr lang="en-US" sz="9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&lt;&gt;();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57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ARRAYLIST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1206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A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Crear un ArrayList, paso a paso</a:t>
            </a:r>
            <a:endParaRPr lang="en-US" sz="2800" dirty="0"/>
          </a:p>
        </p:txBody>
      </p:sp>
      <p:pic>
        <p:nvPicPr>
          <p:cNvPr id="4" name="Image 0" descr="/home/claude/build/logo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4754880"/>
            <a:ext cx="731520" cy="1828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234440"/>
            <a:ext cx="5120640" cy="2377440"/>
          </a:xfrm>
          <a:prstGeom prst="roundRect">
            <a:avLst>
              <a:gd name="adj" fmla="val 3077"/>
            </a:avLst>
          </a:prstGeom>
          <a:solidFill>
            <a:srgbClr val="1B2033"/>
          </a:solidFill>
          <a:ln w="12700">
            <a:solidFill>
              <a:srgbClr val="1B2033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6" name="Shape 3"/>
          <p:cNvSpPr/>
          <p:nvPr/>
        </p:nvSpPr>
        <p:spPr>
          <a:xfrm>
            <a:off x="594360" y="1344168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Shape 4"/>
          <p:cNvSpPr/>
          <p:nvPr/>
        </p:nvSpPr>
        <p:spPr>
          <a:xfrm>
            <a:off x="749808" y="1344168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Shape 5"/>
          <p:cNvSpPr/>
          <p:nvPr/>
        </p:nvSpPr>
        <p:spPr>
          <a:xfrm>
            <a:off x="905256" y="1344168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Text 6"/>
          <p:cNvSpPr txBox="1"/>
          <p:nvPr/>
        </p:nvSpPr>
        <p:spPr>
          <a:xfrm>
            <a:off x="1097280" y="1289304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390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Declaraciones.java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621792" y="1563624"/>
            <a:ext cx="4846320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16"/>
              </a:lnSpc>
              <a:buNone/>
            </a:pPr>
            <a:r>
              <a:rPr lang="en-US" sz="950" dirty="0">
                <a:solidFill>
                  <a:srgbClr val="C79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r>
              <a:rPr lang="en-US" sz="9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java.util.</a:t>
            </a:r>
            <a:r>
              <a:rPr lang="en-US" sz="950" dirty="0">
                <a:solidFill>
                  <a:srgbClr val="7F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ArrayList</a:t>
            </a:r>
            <a:r>
              <a:rPr lang="en-US" sz="9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  </a:t>
            </a:r>
            <a:r>
              <a:rPr lang="en-US" sz="950" i="1" dirty="0">
                <a:solidFill>
                  <a:srgbClr val="8390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1. importar</a:t>
            </a:r>
            <a:endParaRPr lang="en-US" sz="950" dirty="0"/>
          </a:p>
          <a:p>
            <a:pPr marL="0" indent="0">
              <a:lnSpc>
                <a:spcPts val="1216"/>
              </a:lnSpc>
              <a:buNone/>
            </a:pPr>
            <a:r>
              <a:rPr lang="en-US" sz="950" dirty="0">
                <a:solidFill>
                  <a:srgbClr val="C79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r>
              <a:rPr lang="en-US" sz="9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java.util.</a:t>
            </a:r>
            <a:r>
              <a:rPr lang="en-US" sz="950" dirty="0">
                <a:solidFill>
                  <a:srgbClr val="7F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</a:t>
            </a:r>
            <a:r>
              <a:rPr lang="en-US" sz="9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50" dirty="0"/>
          </a:p>
          <a:p>
            <a:pPr marL="0" indent="0">
              <a:lnSpc>
                <a:spcPts val="1216"/>
              </a:lnSpc>
              <a:buNone/>
            </a:pPr>
            <a:r>
              <a:rPr lang="en-US" sz="9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marL="0" indent="0">
              <a:lnSpc>
                <a:spcPts val="1216"/>
              </a:lnSpc>
              <a:buNone/>
            </a:pPr>
            <a:r>
              <a:rPr lang="en-US" sz="950" i="1" dirty="0">
                <a:solidFill>
                  <a:srgbClr val="8390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2. declarar con el tipo entre &lt; &gt;</a:t>
            </a:r>
            <a:endParaRPr lang="en-US" sz="950" dirty="0"/>
          </a:p>
          <a:p>
            <a:pPr marL="0" indent="0">
              <a:lnSpc>
                <a:spcPts val="1216"/>
              </a:lnSpc>
              <a:buNone/>
            </a:pPr>
            <a:r>
              <a:rPr lang="en-US" sz="950" dirty="0">
                <a:solidFill>
                  <a:srgbClr val="7F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ArrayList</a:t>
            </a:r>
            <a:r>
              <a:rPr lang="en-US" sz="9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950" dirty="0">
                <a:solidFill>
                  <a:srgbClr val="7F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r>
              <a:rPr lang="en-US" sz="9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nombres = </a:t>
            </a:r>
            <a:r>
              <a:rPr lang="en-US" sz="950" dirty="0">
                <a:solidFill>
                  <a:srgbClr val="C79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9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7F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ArrayList</a:t>
            </a:r>
            <a:r>
              <a:rPr lang="en-US" sz="9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&lt;&gt;();</a:t>
            </a:r>
            <a:endParaRPr lang="en-US" sz="950" dirty="0"/>
          </a:p>
          <a:p>
            <a:pPr marL="0" indent="0">
              <a:lnSpc>
                <a:spcPts val="1216"/>
              </a:lnSpc>
              <a:buNone/>
            </a:pPr>
            <a:r>
              <a:rPr lang="en-US" sz="9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marL="0" indent="0">
              <a:lnSpc>
                <a:spcPts val="1216"/>
              </a:lnSpc>
              <a:buNone/>
            </a:pPr>
            <a:r>
              <a:rPr lang="en-US" sz="950" i="1" dirty="0">
                <a:solidFill>
                  <a:srgbClr val="8390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con capacidad inicial</a:t>
            </a:r>
            <a:endParaRPr lang="en-US" sz="950" dirty="0"/>
          </a:p>
          <a:p>
            <a:pPr marL="0" indent="0">
              <a:lnSpc>
                <a:spcPts val="1216"/>
              </a:lnSpc>
              <a:buNone/>
            </a:pPr>
            <a:r>
              <a:rPr lang="en-US" sz="950" dirty="0">
                <a:solidFill>
                  <a:srgbClr val="7F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ArrayList</a:t>
            </a:r>
            <a:r>
              <a:rPr lang="en-US" sz="9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950" dirty="0">
                <a:solidFill>
                  <a:srgbClr val="7F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Integer</a:t>
            </a:r>
            <a:r>
              <a:rPr lang="en-US" sz="9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notas = </a:t>
            </a:r>
            <a:r>
              <a:rPr lang="en-US" sz="950" dirty="0">
                <a:solidFill>
                  <a:srgbClr val="C79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9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7F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ArrayList</a:t>
            </a:r>
            <a:r>
              <a:rPr lang="en-US" sz="9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&lt;&gt;(</a:t>
            </a:r>
            <a:r>
              <a:rPr lang="en-US" sz="950" dirty="0">
                <a:solidFill>
                  <a:srgbClr val="FF9E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</a:t>
            </a:r>
            <a:r>
              <a:rPr lang="en-US" sz="9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950" dirty="0"/>
          </a:p>
          <a:p>
            <a:pPr marL="0" indent="0">
              <a:lnSpc>
                <a:spcPts val="1216"/>
              </a:lnSpc>
              <a:buNone/>
            </a:pPr>
            <a:r>
              <a:rPr lang="en-US" sz="9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marL="0" indent="0">
              <a:lnSpc>
                <a:spcPts val="1216"/>
              </a:lnSpc>
              <a:buNone/>
            </a:pPr>
            <a:r>
              <a:rPr lang="en-US" sz="950" i="1" dirty="0">
                <a:solidFill>
                  <a:srgbClr val="8390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estilo recomendado: declarar como List</a:t>
            </a:r>
            <a:endParaRPr lang="en-US" sz="950" dirty="0"/>
          </a:p>
          <a:p>
            <a:pPr marL="0" indent="0">
              <a:lnSpc>
                <a:spcPts val="1216"/>
              </a:lnSpc>
              <a:buNone/>
            </a:pPr>
            <a:r>
              <a:rPr lang="en-US" sz="950" dirty="0">
                <a:solidFill>
                  <a:srgbClr val="7F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</a:t>
            </a:r>
            <a:r>
              <a:rPr lang="en-US" sz="9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950" dirty="0">
                <a:solidFill>
                  <a:srgbClr val="7F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r>
              <a:rPr lang="en-US" sz="9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cursos = </a:t>
            </a:r>
            <a:r>
              <a:rPr lang="en-US" sz="950" dirty="0">
                <a:solidFill>
                  <a:srgbClr val="C79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9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7F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ArrayList</a:t>
            </a:r>
            <a:r>
              <a:rPr lang="en-US" sz="9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&lt;&gt;();</a:t>
            </a:r>
            <a:endParaRPr lang="en-US" sz="950" dirty="0"/>
          </a:p>
          <a:p>
            <a:pPr marL="0" indent="0">
              <a:lnSpc>
                <a:spcPts val="1216"/>
              </a:lnSpc>
              <a:buNone/>
            </a:pPr>
            <a:r>
              <a:rPr lang="en-US" sz="9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marL="0" indent="0">
              <a:lnSpc>
                <a:spcPts val="1216"/>
              </a:lnSpc>
              <a:buNone/>
            </a:pPr>
            <a:r>
              <a:rPr lang="en-US" sz="950" i="1" dirty="0">
                <a:solidFill>
                  <a:srgbClr val="8390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ArrayList&lt;int&gt; x = ...;   NO compila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57200" y="3749040"/>
            <a:ext cx="5120640" cy="777240"/>
          </a:xfrm>
          <a:prstGeom prst="roundRect">
            <a:avLst>
              <a:gd name="adj" fmla="val 11765"/>
            </a:avLst>
          </a:prstGeom>
          <a:solidFill>
            <a:srgbClr val="FFF4D6"/>
          </a:solidFill>
          <a:ln w="12700">
            <a:solidFill>
              <a:srgbClr val="FFF4D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Text 9"/>
          <p:cNvSpPr txBox="1"/>
          <p:nvPr/>
        </p:nvSpPr>
        <p:spPr>
          <a:xfrm>
            <a:off x="685800" y="374904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 la forma antigua </a:t>
            </a:r>
            <a:r>
              <a:rPr lang="en-US" sz="1250" b="1" dirty="0">
                <a:solidFill>
                  <a:srgbClr val="1A22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 ArrayList()</a:t>
            </a: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sin tipo: acepta cualquier cosa y los errores aparecen recién al ejecutar.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5852160" y="12344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A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objetos: usa las clases envoltorio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852160" y="1783080"/>
            <a:ext cx="2834640" cy="457200"/>
          </a:xfrm>
          <a:prstGeom prst="roundRect">
            <a:avLst>
              <a:gd name="adj" fmla="val 20000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5" name="Text 12"/>
          <p:cNvSpPr txBox="1"/>
          <p:nvPr/>
        </p:nvSpPr>
        <p:spPr>
          <a:xfrm>
            <a:off x="5989320" y="17830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6903720" y="17830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7315200" y="17830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7C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Integer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5852160" y="2350008"/>
            <a:ext cx="2834640" cy="457200"/>
          </a:xfrm>
          <a:prstGeom prst="roundRect">
            <a:avLst>
              <a:gd name="adj" fmla="val 20000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9" name="Text 16"/>
          <p:cNvSpPr txBox="1"/>
          <p:nvPr/>
        </p:nvSpPr>
        <p:spPr>
          <a:xfrm>
            <a:off x="5989320" y="2350008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6903720" y="235000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7315200" y="235000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7C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5852160" y="2916936"/>
            <a:ext cx="2834640" cy="457200"/>
          </a:xfrm>
          <a:prstGeom prst="roundRect">
            <a:avLst>
              <a:gd name="adj" fmla="val 20000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3" name="Text 20"/>
          <p:cNvSpPr txBox="1"/>
          <p:nvPr/>
        </p:nvSpPr>
        <p:spPr>
          <a:xfrm>
            <a:off x="5989320" y="2916936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6903720" y="2916936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7315200" y="2916936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7C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Character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5852160" y="3483864"/>
            <a:ext cx="2834640" cy="457200"/>
          </a:xfrm>
          <a:prstGeom prst="roundRect">
            <a:avLst>
              <a:gd name="adj" fmla="val 20000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7" name="Text 24"/>
          <p:cNvSpPr txBox="1"/>
          <p:nvPr/>
        </p:nvSpPr>
        <p:spPr>
          <a:xfrm>
            <a:off x="5989320" y="3483864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boolean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6903720" y="3483864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7315200" y="3483864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7C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Boolean</a:t>
            </a:r>
            <a:endParaRPr lang="en-US" sz="1300" dirty="0"/>
          </a:p>
        </p:txBody>
      </p:sp>
      <p:sp>
        <p:nvSpPr>
          <p:cNvPr id="30" name="Text 27"/>
          <p:cNvSpPr txBox="1"/>
          <p:nvPr/>
        </p:nvSpPr>
        <p:spPr>
          <a:xfrm>
            <a:off x="5852160" y="406908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convierte automáticamente entre ambos (autoboxing): notas.add(7) funciona.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57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ARRAYLIST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1206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A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Caja de herramientas: métodos esenciales</a:t>
            </a:r>
            <a:endParaRPr lang="en-US" sz="2800" dirty="0"/>
          </a:p>
        </p:txBody>
      </p:sp>
      <p:pic>
        <p:nvPicPr>
          <p:cNvPr id="4" name="Image 0" descr="/home/claude/build/logo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4754880"/>
            <a:ext cx="731520" cy="1828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280160"/>
            <a:ext cx="1947672" cy="914400"/>
          </a:xfrm>
          <a:prstGeom prst="roundRect">
            <a:avLst>
              <a:gd name="adj" fmla="val 10000"/>
            </a:avLst>
          </a:prstGeom>
          <a:solidFill>
            <a:srgbClr val="E3F5EC"/>
          </a:solidFill>
          <a:ln w="12700">
            <a:solidFill>
              <a:srgbClr val="E3F5E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Text 3"/>
          <p:cNvSpPr txBox="1"/>
          <p:nvPr/>
        </p:nvSpPr>
        <p:spPr>
          <a:xfrm>
            <a:off x="594360" y="1417320"/>
            <a:ext cx="171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F9D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add(e)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594360" y="1737360"/>
            <a:ext cx="1719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 al final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2551176" y="1280160"/>
            <a:ext cx="1947672" cy="914400"/>
          </a:xfrm>
          <a:prstGeom prst="roundRect">
            <a:avLst>
              <a:gd name="adj" fmla="val 10000"/>
            </a:avLst>
          </a:prstGeom>
          <a:solidFill>
            <a:srgbClr val="E3F5EC"/>
          </a:solidFill>
          <a:ln w="12700">
            <a:solidFill>
              <a:srgbClr val="E3F5E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Text 6"/>
          <p:cNvSpPr txBox="1"/>
          <p:nvPr/>
        </p:nvSpPr>
        <p:spPr>
          <a:xfrm>
            <a:off x="2688336" y="1417320"/>
            <a:ext cx="171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F9D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add(i, e)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2688336" y="1737360"/>
            <a:ext cx="1719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Inserta en la posición i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645152" y="1280160"/>
            <a:ext cx="1947672" cy="914400"/>
          </a:xfrm>
          <a:prstGeom prst="roundRect">
            <a:avLst>
              <a:gd name="adj" fmla="val 10000"/>
            </a:avLst>
          </a:prstGeom>
          <a:solidFill>
            <a:srgbClr val="E8F1FC"/>
          </a:solidFill>
          <a:ln w="12700">
            <a:solidFill>
              <a:srgbClr val="E8F1F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Text 9"/>
          <p:cNvSpPr txBox="1"/>
          <p:nvPr/>
        </p:nvSpPr>
        <p:spPr>
          <a:xfrm>
            <a:off x="4782312" y="1417320"/>
            <a:ext cx="171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257C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get(i)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4782312" y="1737360"/>
            <a:ext cx="1719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Devuelve el elemento en i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6739128" y="1280160"/>
            <a:ext cx="1947672" cy="914400"/>
          </a:xfrm>
          <a:prstGeom prst="roundRect">
            <a:avLst>
              <a:gd name="adj" fmla="val 10000"/>
            </a:avLst>
          </a:prstGeom>
          <a:solidFill>
            <a:srgbClr val="FFF4D6"/>
          </a:solidFill>
          <a:ln w="12700">
            <a:solidFill>
              <a:srgbClr val="FFF4D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5" name="Text 12"/>
          <p:cNvSpPr txBox="1"/>
          <p:nvPr/>
        </p:nvSpPr>
        <p:spPr>
          <a:xfrm>
            <a:off x="6876288" y="1417320"/>
            <a:ext cx="171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B779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set(i, e)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6876288" y="1737360"/>
            <a:ext cx="1719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Reemplaza el elemento en i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457200" y="2322576"/>
            <a:ext cx="1947672" cy="914400"/>
          </a:xfrm>
          <a:prstGeom prst="roundRect">
            <a:avLst>
              <a:gd name="adj" fmla="val 10000"/>
            </a:avLst>
          </a:prstGeom>
          <a:solidFill>
            <a:srgbClr val="FBE7E8"/>
          </a:solidFill>
          <a:ln w="12700">
            <a:solidFill>
              <a:srgbClr val="FBE7E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8" name="Text 15"/>
          <p:cNvSpPr txBox="1"/>
          <p:nvPr/>
        </p:nvSpPr>
        <p:spPr>
          <a:xfrm>
            <a:off x="594360" y="2459736"/>
            <a:ext cx="171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D94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remove(i)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94360" y="2779776"/>
            <a:ext cx="1719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 el elemento en i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2551176" y="2322576"/>
            <a:ext cx="1947672" cy="914400"/>
          </a:xfrm>
          <a:prstGeom prst="roundRect">
            <a:avLst>
              <a:gd name="adj" fmla="val 10000"/>
            </a:avLst>
          </a:prstGeom>
          <a:solidFill>
            <a:srgbClr val="FBE7E8"/>
          </a:solidFill>
          <a:ln w="12700">
            <a:solidFill>
              <a:srgbClr val="FBE7E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1" name="Text 18"/>
          <p:cNvSpPr txBox="1"/>
          <p:nvPr/>
        </p:nvSpPr>
        <p:spPr>
          <a:xfrm>
            <a:off x="2688336" y="2459736"/>
            <a:ext cx="171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D94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remove(obj)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2688336" y="2779776"/>
            <a:ext cx="1719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 la 1.ª coincidencia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4645152" y="2322576"/>
            <a:ext cx="1947672" cy="914400"/>
          </a:xfrm>
          <a:prstGeom prst="roundRect">
            <a:avLst>
              <a:gd name="adj" fmla="val 10000"/>
            </a:avLst>
          </a:prstGeom>
          <a:solidFill>
            <a:srgbClr val="FBE7E8"/>
          </a:solidFill>
          <a:ln w="12700">
            <a:solidFill>
              <a:srgbClr val="FBE7E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4" name="Text 21"/>
          <p:cNvSpPr txBox="1"/>
          <p:nvPr/>
        </p:nvSpPr>
        <p:spPr>
          <a:xfrm>
            <a:off x="4782312" y="2459736"/>
            <a:ext cx="171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D94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clear()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4782312" y="2779776"/>
            <a:ext cx="1719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 todo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6739128" y="2322576"/>
            <a:ext cx="1947672" cy="914400"/>
          </a:xfrm>
          <a:prstGeom prst="roundRect">
            <a:avLst>
              <a:gd name="adj" fmla="val 10000"/>
            </a:avLst>
          </a:prstGeom>
          <a:solidFill>
            <a:srgbClr val="EFEAFB"/>
          </a:solidFill>
          <a:ln w="12700">
            <a:solidFill>
              <a:srgbClr val="EFEAF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7" name="Text 24"/>
          <p:cNvSpPr txBox="1"/>
          <p:nvPr/>
        </p:nvSpPr>
        <p:spPr>
          <a:xfrm>
            <a:off x="6876288" y="2459736"/>
            <a:ext cx="171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7C5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size()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6876288" y="2779776"/>
            <a:ext cx="1719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Cantidad de elementos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457200" y="3364992"/>
            <a:ext cx="1947672" cy="914400"/>
          </a:xfrm>
          <a:prstGeom prst="roundRect">
            <a:avLst>
              <a:gd name="adj" fmla="val 10000"/>
            </a:avLst>
          </a:prstGeom>
          <a:solidFill>
            <a:srgbClr val="EFEAFB"/>
          </a:solidFill>
          <a:ln w="12700">
            <a:solidFill>
              <a:srgbClr val="EFEAF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0" name="Text 27"/>
          <p:cNvSpPr txBox="1"/>
          <p:nvPr/>
        </p:nvSpPr>
        <p:spPr>
          <a:xfrm>
            <a:off x="594360" y="3502152"/>
            <a:ext cx="171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7C5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contains(obj)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594360" y="3822192"/>
            <a:ext cx="1719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¿Está en la lista?</a:t>
            </a:r>
            <a:endParaRPr lang="en-US" sz="1150" dirty="0"/>
          </a:p>
        </p:txBody>
      </p:sp>
      <p:sp>
        <p:nvSpPr>
          <p:cNvPr id="32" name="Shape 29"/>
          <p:cNvSpPr/>
          <p:nvPr/>
        </p:nvSpPr>
        <p:spPr>
          <a:xfrm>
            <a:off x="2551176" y="3364992"/>
            <a:ext cx="1947672" cy="914400"/>
          </a:xfrm>
          <a:prstGeom prst="roundRect">
            <a:avLst>
              <a:gd name="adj" fmla="val 10000"/>
            </a:avLst>
          </a:prstGeom>
          <a:solidFill>
            <a:srgbClr val="EFEAFB"/>
          </a:solidFill>
          <a:ln w="12700">
            <a:solidFill>
              <a:srgbClr val="EFEAF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3" name="Text 30"/>
          <p:cNvSpPr txBox="1"/>
          <p:nvPr/>
        </p:nvSpPr>
        <p:spPr>
          <a:xfrm>
            <a:off x="2688336" y="3502152"/>
            <a:ext cx="171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7C5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indexOf(obj)</a:t>
            </a:r>
            <a:endParaRPr lang="en-US" sz="1100" dirty="0"/>
          </a:p>
        </p:txBody>
      </p:sp>
      <p:sp>
        <p:nvSpPr>
          <p:cNvPr id="34" name="Text 31"/>
          <p:cNvSpPr txBox="1"/>
          <p:nvPr/>
        </p:nvSpPr>
        <p:spPr>
          <a:xfrm>
            <a:off x="2688336" y="3822192"/>
            <a:ext cx="1719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Posición, o -1 si no está</a:t>
            </a:r>
            <a:endParaRPr lang="en-US" sz="1150" dirty="0"/>
          </a:p>
        </p:txBody>
      </p:sp>
      <p:sp>
        <p:nvSpPr>
          <p:cNvPr id="35" name="Shape 32"/>
          <p:cNvSpPr/>
          <p:nvPr/>
        </p:nvSpPr>
        <p:spPr>
          <a:xfrm>
            <a:off x="4645152" y="3364992"/>
            <a:ext cx="1947672" cy="914400"/>
          </a:xfrm>
          <a:prstGeom prst="roundRect">
            <a:avLst>
              <a:gd name="adj" fmla="val 10000"/>
            </a:avLst>
          </a:prstGeom>
          <a:solidFill>
            <a:srgbClr val="EFEAFB"/>
          </a:solidFill>
          <a:ln w="12700">
            <a:solidFill>
              <a:srgbClr val="EFEAF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6" name="Text 33"/>
          <p:cNvSpPr txBox="1"/>
          <p:nvPr/>
        </p:nvSpPr>
        <p:spPr>
          <a:xfrm>
            <a:off x="4782312" y="3502152"/>
            <a:ext cx="171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7C5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isEmpty()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4782312" y="3822192"/>
            <a:ext cx="1719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¿Está vacía?</a:t>
            </a:r>
            <a:endParaRPr lang="en-US" sz="1150" dirty="0"/>
          </a:p>
        </p:txBody>
      </p:sp>
      <p:sp>
        <p:nvSpPr>
          <p:cNvPr id="38" name="Shape 35"/>
          <p:cNvSpPr/>
          <p:nvPr/>
        </p:nvSpPr>
        <p:spPr>
          <a:xfrm>
            <a:off x="6739128" y="3364992"/>
            <a:ext cx="1947672" cy="914400"/>
          </a:xfrm>
          <a:prstGeom prst="roundRect">
            <a:avLst>
              <a:gd name="adj" fmla="val 10000"/>
            </a:avLst>
          </a:prstGeom>
          <a:solidFill>
            <a:srgbClr val="FFF4D6"/>
          </a:solidFill>
          <a:ln w="12700">
            <a:solidFill>
              <a:srgbClr val="FFF4D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9" name="Text 36"/>
          <p:cNvSpPr txBox="1"/>
          <p:nvPr/>
        </p:nvSpPr>
        <p:spPr>
          <a:xfrm>
            <a:off x="6876288" y="3502152"/>
            <a:ext cx="171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B779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Collections.sort(a)</a:t>
            </a:r>
            <a:endParaRPr lang="en-US" sz="1100" dirty="0"/>
          </a:p>
        </p:txBody>
      </p:sp>
      <p:sp>
        <p:nvSpPr>
          <p:cNvPr id="40" name="Text 37"/>
          <p:cNvSpPr txBox="1"/>
          <p:nvPr/>
        </p:nvSpPr>
        <p:spPr>
          <a:xfrm>
            <a:off x="6876288" y="3822192"/>
            <a:ext cx="1719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Ordena la lista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457200" y="4754880"/>
            <a:ext cx="128016" cy="128016"/>
          </a:xfrm>
          <a:prstGeom prst="ellipse">
            <a:avLst/>
          </a:prstGeom>
          <a:solidFill>
            <a:srgbClr val="1F9D63"/>
          </a:solidFill>
          <a:ln w="12700">
            <a:solidFill>
              <a:srgbClr val="1F9D6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2" name="Text 39"/>
          <p:cNvSpPr txBox="1"/>
          <p:nvPr/>
        </p:nvSpPr>
        <p:spPr>
          <a:xfrm>
            <a:off x="640080" y="4700016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Agregar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1554480" y="4754880"/>
            <a:ext cx="128016" cy="128016"/>
          </a:xfrm>
          <a:prstGeom prst="ellipse">
            <a:avLst/>
          </a:prstGeom>
          <a:solidFill>
            <a:srgbClr val="257CE1"/>
          </a:solidFill>
          <a:ln w="12700">
            <a:solidFill>
              <a:srgbClr val="257C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4" name="Text 41"/>
          <p:cNvSpPr txBox="1"/>
          <p:nvPr/>
        </p:nvSpPr>
        <p:spPr>
          <a:xfrm>
            <a:off x="1737360" y="4700016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Leer</a:t>
            </a:r>
            <a:endParaRPr lang="en-US" sz="1000" dirty="0"/>
          </a:p>
        </p:txBody>
      </p:sp>
      <p:sp>
        <p:nvSpPr>
          <p:cNvPr id="45" name="Shape 42"/>
          <p:cNvSpPr/>
          <p:nvPr/>
        </p:nvSpPr>
        <p:spPr>
          <a:xfrm>
            <a:off x="2651760" y="4754880"/>
            <a:ext cx="128016" cy="128016"/>
          </a:xfrm>
          <a:prstGeom prst="ellipse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6" name="Text 43"/>
          <p:cNvSpPr txBox="1"/>
          <p:nvPr/>
        </p:nvSpPr>
        <p:spPr>
          <a:xfrm>
            <a:off x="2834640" y="4700016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Modificar</a:t>
            </a:r>
            <a:endParaRPr lang="en-US" sz="1000" dirty="0"/>
          </a:p>
        </p:txBody>
      </p:sp>
      <p:sp>
        <p:nvSpPr>
          <p:cNvPr id="47" name="Shape 44"/>
          <p:cNvSpPr/>
          <p:nvPr/>
        </p:nvSpPr>
        <p:spPr>
          <a:xfrm>
            <a:off x="3749040" y="4754880"/>
            <a:ext cx="128016" cy="128016"/>
          </a:xfrm>
          <a:prstGeom prst="ellipse">
            <a:avLst/>
          </a:prstGeom>
          <a:solidFill>
            <a:srgbClr val="D9434A"/>
          </a:solidFill>
          <a:ln w="12700">
            <a:solidFill>
              <a:srgbClr val="D9434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8" name="Text 45"/>
          <p:cNvSpPr txBox="1"/>
          <p:nvPr/>
        </p:nvSpPr>
        <p:spPr>
          <a:xfrm>
            <a:off x="3931920" y="4700016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Eliminar</a:t>
            </a:r>
            <a:endParaRPr lang="en-US" sz="1000" dirty="0"/>
          </a:p>
        </p:txBody>
      </p:sp>
      <p:sp>
        <p:nvSpPr>
          <p:cNvPr id="49" name="Shape 46"/>
          <p:cNvSpPr/>
          <p:nvPr/>
        </p:nvSpPr>
        <p:spPr>
          <a:xfrm>
            <a:off x="4846320" y="4754880"/>
            <a:ext cx="128016" cy="128016"/>
          </a:xfrm>
          <a:prstGeom prst="ellipse">
            <a:avLst/>
          </a:prstGeom>
          <a:solidFill>
            <a:srgbClr val="7C5CD6"/>
          </a:solidFill>
          <a:ln w="12700">
            <a:solidFill>
              <a:srgbClr val="7C5CD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0" name="Text 47"/>
          <p:cNvSpPr txBox="1"/>
          <p:nvPr/>
        </p:nvSpPr>
        <p:spPr>
          <a:xfrm>
            <a:off x="5029200" y="4700016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Consultar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57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ARRAYLIST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1206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A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Así cambia la lista, línea por línea</a:t>
            </a:r>
            <a:endParaRPr lang="en-US" sz="2800" dirty="0"/>
          </a:p>
        </p:txBody>
      </p:sp>
      <p:pic>
        <p:nvPicPr>
          <p:cNvPr id="4" name="Image 0" descr="/home/claude/build/logo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4754880"/>
            <a:ext cx="731520" cy="1828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371600"/>
            <a:ext cx="3291840" cy="402336"/>
          </a:xfrm>
          <a:prstGeom prst="roundRect">
            <a:avLst>
              <a:gd name="adj" fmla="val 11364"/>
            </a:avLst>
          </a:prstGeom>
          <a:solidFill>
            <a:srgbClr val="1B2033"/>
          </a:solidFill>
          <a:ln w="12700">
            <a:solidFill>
              <a:srgbClr val="1B203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Text 3"/>
          <p:cNvSpPr txBox="1"/>
          <p:nvPr/>
        </p:nvSpPr>
        <p:spPr>
          <a:xfrm>
            <a:off x="594360" y="1371600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a.add(</a:t>
            </a:r>
            <a:r>
              <a:rPr lang="en-US" sz="1100" dirty="0">
                <a:solidFill>
                  <a:srgbClr val="B5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"Ana"</a:t>
            </a:r>
            <a:r>
              <a:rPr lang="en-US" sz="11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3840480" y="1371600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343400" y="1389888"/>
            <a:ext cx="713232" cy="365760"/>
          </a:xfrm>
          <a:prstGeom prst="roundRect">
            <a:avLst>
              <a:gd name="adj" fmla="val 15000"/>
            </a:avLst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Text 6"/>
          <p:cNvSpPr txBox="1"/>
          <p:nvPr/>
        </p:nvSpPr>
        <p:spPr>
          <a:xfrm>
            <a:off x="4343400" y="1389888"/>
            <a:ext cx="713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4343400" y="1207008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800" dirty="0"/>
          </a:p>
        </p:txBody>
      </p:sp>
      <p:sp>
        <p:nvSpPr>
          <p:cNvPr id="11" name="Text 8"/>
          <p:cNvSpPr txBox="1"/>
          <p:nvPr/>
        </p:nvSpPr>
        <p:spPr>
          <a:xfrm>
            <a:off x="7635240" y="1371600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size = 1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57200" y="2011680"/>
            <a:ext cx="3291840" cy="402336"/>
          </a:xfrm>
          <a:prstGeom prst="roundRect">
            <a:avLst>
              <a:gd name="adj" fmla="val 11364"/>
            </a:avLst>
          </a:prstGeom>
          <a:solidFill>
            <a:srgbClr val="1B2033"/>
          </a:solidFill>
          <a:ln w="12700">
            <a:solidFill>
              <a:srgbClr val="1B203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Text 10"/>
          <p:cNvSpPr txBox="1"/>
          <p:nvPr/>
        </p:nvSpPr>
        <p:spPr>
          <a:xfrm>
            <a:off x="594360" y="2011680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a.add(</a:t>
            </a:r>
            <a:r>
              <a:rPr lang="en-US" sz="1100" dirty="0">
                <a:solidFill>
                  <a:srgbClr val="B5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"Luis"</a:t>
            </a:r>
            <a:r>
              <a:rPr lang="en-US" sz="11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3840480" y="2011680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4343400" y="2029968"/>
            <a:ext cx="713232" cy="365760"/>
          </a:xfrm>
          <a:prstGeom prst="roundRect">
            <a:avLst>
              <a:gd name="adj" fmla="val 15000"/>
            </a:avLst>
          </a:prstGeom>
          <a:solidFill>
            <a:srgbClr val="E8F1FC"/>
          </a:solidFill>
          <a:ln w="12700">
            <a:solidFill>
              <a:srgbClr val="B9D3F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6" name="Text 13"/>
          <p:cNvSpPr txBox="1"/>
          <p:nvPr/>
        </p:nvSpPr>
        <p:spPr>
          <a:xfrm>
            <a:off x="4343400" y="2029968"/>
            <a:ext cx="713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4343400" y="1847088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5129784" y="2029968"/>
            <a:ext cx="713232" cy="365760"/>
          </a:xfrm>
          <a:prstGeom prst="roundRect">
            <a:avLst>
              <a:gd name="adj" fmla="val 15000"/>
            </a:avLst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9" name="Text 16"/>
          <p:cNvSpPr txBox="1"/>
          <p:nvPr/>
        </p:nvSpPr>
        <p:spPr>
          <a:xfrm>
            <a:off x="5129784" y="2029968"/>
            <a:ext cx="713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Luis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5129784" y="1847088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800" dirty="0"/>
          </a:p>
        </p:txBody>
      </p:sp>
      <p:sp>
        <p:nvSpPr>
          <p:cNvPr id="21" name="Text 18"/>
          <p:cNvSpPr txBox="1"/>
          <p:nvPr/>
        </p:nvSpPr>
        <p:spPr>
          <a:xfrm>
            <a:off x="7635240" y="2011680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size = 2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457200" y="2651760"/>
            <a:ext cx="3291840" cy="402336"/>
          </a:xfrm>
          <a:prstGeom prst="roundRect">
            <a:avLst>
              <a:gd name="adj" fmla="val 11364"/>
            </a:avLst>
          </a:prstGeom>
          <a:solidFill>
            <a:srgbClr val="1B2033"/>
          </a:solidFill>
          <a:ln w="12700">
            <a:solidFill>
              <a:srgbClr val="1B203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3" name="Text 20"/>
          <p:cNvSpPr txBox="1"/>
          <p:nvPr/>
        </p:nvSpPr>
        <p:spPr>
          <a:xfrm>
            <a:off x="594360" y="2651760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a.add(</a:t>
            </a:r>
            <a:r>
              <a:rPr lang="en-US" sz="1100" dirty="0">
                <a:solidFill>
                  <a:srgbClr val="FF9E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1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100" dirty="0">
                <a:solidFill>
                  <a:srgbClr val="B5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"Eva"</a:t>
            </a:r>
            <a:r>
              <a:rPr lang="en-US" sz="11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3840480" y="2651760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4343400" y="2670048"/>
            <a:ext cx="713232" cy="365760"/>
          </a:xfrm>
          <a:prstGeom prst="roundRect">
            <a:avLst>
              <a:gd name="adj" fmla="val 15000"/>
            </a:avLst>
          </a:prstGeom>
          <a:solidFill>
            <a:srgbClr val="E8F1FC"/>
          </a:solidFill>
          <a:ln w="12700">
            <a:solidFill>
              <a:srgbClr val="B9D3F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6" name="Text 23"/>
          <p:cNvSpPr txBox="1"/>
          <p:nvPr/>
        </p:nvSpPr>
        <p:spPr>
          <a:xfrm>
            <a:off x="4343400" y="2670048"/>
            <a:ext cx="713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4343400" y="2487168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800" dirty="0"/>
          </a:p>
        </p:txBody>
      </p:sp>
      <p:sp>
        <p:nvSpPr>
          <p:cNvPr id="28" name="Shape 25"/>
          <p:cNvSpPr/>
          <p:nvPr/>
        </p:nvSpPr>
        <p:spPr>
          <a:xfrm>
            <a:off x="5129784" y="2670048"/>
            <a:ext cx="713232" cy="365760"/>
          </a:xfrm>
          <a:prstGeom prst="roundRect">
            <a:avLst>
              <a:gd name="adj" fmla="val 15000"/>
            </a:avLst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9" name="Text 26"/>
          <p:cNvSpPr txBox="1"/>
          <p:nvPr/>
        </p:nvSpPr>
        <p:spPr>
          <a:xfrm>
            <a:off x="5129784" y="2670048"/>
            <a:ext cx="713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5129784" y="2487168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5916168" y="2670048"/>
            <a:ext cx="713232" cy="365760"/>
          </a:xfrm>
          <a:prstGeom prst="roundRect">
            <a:avLst>
              <a:gd name="adj" fmla="val 15000"/>
            </a:avLst>
          </a:prstGeom>
          <a:solidFill>
            <a:srgbClr val="E8F1FC"/>
          </a:solidFill>
          <a:ln w="12700">
            <a:solidFill>
              <a:srgbClr val="B9D3F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2" name="Text 29"/>
          <p:cNvSpPr txBox="1"/>
          <p:nvPr/>
        </p:nvSpPr>
        <p:spPr>
          <a:xfrm>
            <a:off x="5916168" y="2670048"/>
            <a:ext cx="713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Luis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5916168" y="2487168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800" dirty="0"/>
          </a:p>
        </p:txBody>
      </p:sp>
      <p:sp>
        <p:nvSpPr>
          <p:cNvPr id="34" name="Text 31"/>
          <p:cNvSpPr txBox="1"/>
          <p:nvPr/>
        </p:nvSpPr>
        <p:spPr>
          <a:xfrm>
            <a:off x="7635240" y="2651760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size = 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3291840"/>
            <a:ext cx="3291840" cy="402336"/>
          </a:xfrm>
          <a:prstGeom prst="roundRect">
            <a:avLst>
              <a:gd name="adj" fmla="val 11364"/>
            </a:avLst>
          </a:prstGeom>
          <a:solidFill>
            <a:srgbClr val="1B2033"/>
          </a:solidFill>
          <a:ln w="12700">
            <a:solidFill>
              <a:srgbClr val="1B203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6" name="Text 33"/>
          <p:cNvSpPr txBox="1"/>
          <p:nvPr/>
        </p:nvSpPr>
        <p:spPr>
          <a:xfrm>
            <a:off x="594360" y="3291840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a.set(</a:t>
            </a:r>
            <a:r>
              <a:rPr lang="en-US" sz="1100" dirty="0">
                <a:solidFill>
                  <a:srgbClr val="FF9E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11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100" dirty="0">
                <a:solidFill>
                  <a:srgbClr val="B5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"Bea"</a:t>
            </a:r>
            <a:r>
              <a:rPr lang="en-US" sz="11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3840480" y="3291840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8" name="Shape 35"/>
          <p:cNvSpPr/>
          <p:nvPr/>
        </p:nvSpPr>
        <p:spPr>
          <a:xfrm>
            <a:off x="4343400" y="3310128"/>
            <a:ext cx="713232" cy="365760"/>
          </a:xfrm>
          <a:prstGeom prst="roundRect">
            <a:avLst>
              <a:gd name="adj" fmla="val 15000"/>
            </a:avLst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9" name="Text 36"/>
          <p:cNvSpPr txBox="1"/>
          <p:nvPr/>
        </p:nvSpPr>
        <p:spPr>
          <a:xfrm>
            <a:off x="4343400" y="3310128"/>
            <a:ext cx="713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</a:t>
            </a:r>
            <a:endParaRPr lang="en-US" sz="1100" dirty="0"/>
          </a:p>
        </p:txBody>
      </p:sp>
      <p:sp>
        <p:nvSpPr>
          <p:cNvPr id="40" name="Text 37"/>
          <p:cNvSpPr txBox="1"/>
          <p:nvPr/>
        </p:nvSpPr>
        <p:spPr>
          <a:xfrm>
            <a:off x="4343400" y="3127248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800" dirty="0"/>
          </a:p>
        </p:txBody>
      </p:sp>
      <p:sp>
        <p:nvSpPr>
          <p:cNvPr id="41" name="Shape 38"/>
          <p:cNvSpPr/>
          <p:nvPr/>
        </p:nvSpPr>
        <p:spPr>
          <a:xfrm>
            <a:off x="5129784" y="3310128"/>
            <a:ext cx="713232" cy="365760"/>
          </a:xfrm>
          <a:prstGeom prst="roundRect">
            <a:avLst>
              <a:gd name="adj" fmla="val 15000"/>
            </a:avLst>
          </a:prstGeom>
          <a:solidFill>
            <a:srgbClr val="E8F1FC"/>
          </a:solidFill>
          <a:ln w="12700">
            <a:solidFill>
              <a:srgbClr val="B9D3F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2" name="Text 39"/>
          <p:cNvSpPr txBox="1"/>
          <p:nvPr/>
        </p:nvSpPr>
        <p:spPr>
          <a:xfrm>
            <a:off x="5129784" y="3310128"/>
            <a:ext cx="713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5129784" y="3127248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800" dirty="0"/>
          </a:p>
        </p:txBody>
      </p:sp>
      <p:sp>
        <p:nvSpPr>
          <p:cNvPr id="44" name="Shape 41"/>
          <p:cNvSpPr/>
          <p:nvPr/>
        </p:nvSpPr>
        <p:spPr>
          <a:xfrm>
            <a:off x="5916168" y="3310128"/>
            <a:ext cx="713232" cy="365760"/>
          </a:xfrm>
          <a:prstGeom prst="roundRect">
            <a:avLst>
              <a:gd name="adj" fmla="val 15000"/>
            </a:avLst>
          </a:prstGeom>
          <a:solidFill>
            <a:srgbClr val="E8F1FC"/>
          </a:solidFill>
          <a:ln w="12700">
            <a:solidFill>
              <a:srgbClr val="B9D3F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5" name="Text 42"/>
          <p:cNvSpPr txBox="1"/>
          <p:nvPr/>
        </p:nvSpPr>
        <p:spPr>
          <a:xfrm>
            <a:off x="5916168" y="3310128"/>
            <a:ext cx="713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Luis</a:t>
            </a:r>
            <a:endParaRPr lang="en-US" sz="1100" dirty="0"/>
          </a:p>
        </p:txBody>
      </p:sp>
      <p:sp>
        <p:nvSpPr>
          <p:cNvPr id="46" name="Text 43"/>
          <p:cNvSpPr txBox="1"/>
          <p:nvPr/>
        </p:nvSpPr>
        <p:spPr>
          <a:xfrm>
            <a:off x="5916168" y="3127248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800" dirty="0"/>
          </a:p>
        </p:txBody>
      </p:sp>
      <p:sp>
        <p:nvSpPr>
          <p:cNvPr id="47" name="Text 44"/>
          <p:cNvSpPr txBox="1"/>
          <p:nvPr/>
        </p:nvSpPr>
        <p:spPr>
          <a:xfrm>
            <a:off x="7635240" y="3291840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size = 3</a:t>
            </a:r>
            <a:endParaRPr lang="en-US" sz="1100" dirty="0"/>
          </a:p>
        </p:txBody>
      </p:sp>
      <p:sp>
        <p:nvSpPr>
          <p:cNvPr id="48" name="Shape 45"/>
          <p:cNvSpPr/>
          <p:nvPr/>
        </p:nvSpPr>
        <p:spPr>
          <a:xfrm>
            <a:off x="457200" y="3931920"/>
            <a:ext cx="3291840" cy="402336"/>
          </a:xfrm>
          <a:prstGeom prst="roundRect">
            <a:avLst>
              <a:gd name="adj" fmla="val 11364"/>
            </a:avLst>
          </a:prstGeom>
          <a:solidFill>
            <a:srgbClr val="1B2033"/>
          </a:solidFill>
          <a:ln w="12700">
            <a:solidFill>
              <a:srgbClr val="1B203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9" name="Text 46"/>
          <p:cNvSpPr txBox="1"/>
          <p:nvPr/>
        </p:nvSpPr>
        <p:spPr>
          <a:xfrm>
            <a:off x="594360" y="3931920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a.remove(</a:t>
            </a:r>
            <a:r>
              <a:rPr lang="en-US" sz="1100" dirty="0">
                <a:solidFill>
                  <a:srgbClr val="B5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"Eva"</a:t>
            </a:r>
            <a:r>
              <a:rPr lang="en-US" sz="11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00" dirty="0"/>
          </a:p>
        </p:txBody>
      </p:sp>
      <p:sp>
        <p:nvSpPr>
          <p:cNvPr id="50" name="Text 47"/>
          <p:cNvSpPr txBox="1"/>
          <p:nvPr/>
        </p:nvSpPr>
        <p:spPr>
          <a:xfrm>
            <a:off x="3840480" y="3931920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51" name="Shape 48"/>
          <p:cNvSpPr/>
          <p:nvPr/>
        </p:nvSpPr>
        <p:spPr>
          <a:xfrm>
            <a:off x="4343400" y="3950208"/>
            <a:ext cx="713232" cy="365760"/>
          </a:xfrm>
          <a:prstGeom prst="roundRect">
            <a:avLst>
              <a:gd name="adj" fmla="val 15000"/>
            </a:avLst>
          </a:prstGeom>
          <a:solidFill>
            <a:srgbClr val="E8F1FC"/>
          </a:solidFill>
          <a:ln w="12700">
            <a:solidFill>
              <a:srgbClr val="B9D3F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2" name="Text 49"/>
          <p:cNvSpPr txBox="1"/>
          <p:nvPr/>
        </p:nvSpPr>
        <p:spPr>
          <a:xfrm>
            <a:off x="4343400" y="3950208"/>
            <a:ext cx="713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</a:t>
            </a:r>
            <a:endParaRPr lang="en-US" sz="1100" dirty="0"/>
          </a:p>
        </p:txBody>
      </p:sp>
      <p:sp>
        <p:nvSpPr>
          <p:cNvPr id="53" name="Text 50"/>
          <p:cNvSpPr txBox="1"/>
          <p:nvPr/>
        </p:nvSpPr>
        <p:spPr>
          <a:xfrm>
            <a:off x="4343400" y="3767328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800" dirty="0"/>
          </a:p>
        </p:txBody>
      </p:sp>
      <p:sp>
        <p:nvSpPr>
          <p:cNvPr id="54" name="Shape 51"/>
          <p:cNvSpPr/>
          <p:nvPr/>
        </p:nvSpPr>
        <p:spPr>
          <a:xfrm>
            <a:off x="5129784" y="3950208"/>
            <a:ext cx="713232" cy="365760"/>
          </a:xfrm>
          <a:prstGeom prst="roundRect">
            <a:avLst>
              <a:gd name="adj" fmla="val 15000"/>
            </a:avLst>
          </a:prstGeom>
          <a:solidFill>
            <a:srgbClr val="E8F1FC"/>
          </a:solidFill>
          <a:ln w="12700">
            <a:solidFill>
              <a:srgbClr val="B9D3F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5" name="Text 52"/>
          <p:cNvSpPr txBox="1"/>
          <p:nvPr/>
        </p:nvSpPr>
        <p:spPr>
          <a:xfrm>
            <a:off x="5129784" y="3950208"/>
            <a:ext cx="713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Luis</a:t>
            </a:r>
            <a:endParaRPr lang="en-US" sz="1100" dirty="0"/>
          </a:p>
        </p:txBody>
      </p:sp>
      <p:sp>
        <p:nvSpPr>
          <p:cNvPr id="56" name="Text 53"/>
          <p:cNvSpPr txBox="1"/>
          <p:nvPr/>
        </p:nvSpPr>
        <p:spPr>
          <a:xfrm>
            <a:off x="5129784" y="3767328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800" dirty="0"/>
          </a:p>
        </p:txBody>
      </p:sp>
      <p:sp>
        <p:nvSpPr>
          <p:cNvPr id="57" name="Text 54"/>
          <p:cNvSpPr txBox="1"/>
          <p:nvPr/>
        </p:nvSpPr>
        <p:spPr>
          <a:xfrm>
            <a:off x="7635240" y="3931920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size = 2</a:t>
            </a:r>
            <a:endParaRPr lang="en-US" sz="1100" dirty="0"/>
          </a:p>
        </p:txBody>
      </p:sp>
      <p:sp>
        <p:nvSpPr>
          <p:cNvPr id="58" name="Text 55"/>
          <p:cNvSpPr txBox="1"/>
          <p:nvPr/>
        </p:nvSpPr>
        <p:spPr>
          <a:xfrm>
            <a:off x="457200" y="45262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índices empiezan en 0 y van hasta size() - 1. Al insertar o eliminar, los demás elementos se desplazan.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57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ARRAYLIST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1206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A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Tres formas de recorrer una lista</a:t>
            </a:r>
            <a:endParaRPr lang="en-US" sz="2800" dirty="0"/>
          </a:p>
        </p:txBody>
      </p:sp>
      <p:pic>
        <p:nvPicPr>
          <p:cNvPr id="4" name="Image 0" descr="/home/claude/build/logo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4754880"/>
            <a:ext cx="731520" cy="1828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128016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57C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clásico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6002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necesitas el índice.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57200" y="1965960"/>
            <a:ext cx="2606040" cy="1783080"/>
          </a:xfrm>
          <a:prstGeom prst="roundRect">
            <a:avLst>
              <a:gd name="adj" fmla="val 4103"/>
            </a:avLst>
          </a:prstGeom>
          <a:solidFill>
            <a:srgbClr val="1B2033"/>
          </a:solidFill>
          <a:ln w="12700">
            <a:solidFill>
              <a:srgbClr val="1B2033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8" name="Shape 5"/>
          <p:cNvSpPr/>
          <p:nvPr/>
        </p:nvSpPr>
        <p:spPr>
          <a:xfrm>
            <a:off x="594360" y="2075688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Shape 6"/>
          <p:cNvSpPr/>
          <p:nvPr/>
        </p:nvSpPr>
        <p:spPr>
          <a:xfrm>
            <a:off x="749808" y="2075688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Shape 7"/>
          <p:cNvSpPr/>
          <p:nvPr/>
        </p:nvSpPr>
        <p:spPr>
          <a:xfrm>
            <a:off x="905256" y="2075688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Text 8"/>
          <p:cNvSpPr txBox="1"/>
          <p:nvPr/>
        </p:nvSpPr>
        <p:spPr>
          <a:xfrm>
            <a:off x="621792" y="2295144"/>
            <a:ext cx="2331720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88"/>
              </a:lnSpc>
              <a:buNone/>
            </a:pPr>
            <a:r>
              <a:rPr lang="en-US" sz="850" dirty="0">
                <a:solidFill>
                  <a:srgbClr val="C79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8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r>
              <a:rPr lang="en-US" sz="850" dirty="0">
                <a:solidFill>
                  <a:srgbClr val="C79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8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i=</a:t>
            </a:r>
            <a:r>
              <a:rPr lang="en-US" sz="850" dirty="0">
                <a:solidFill>
                  <a:srgbClr val="FF9E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8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i&lt;a.size(); i++) {</a:t>
            </a:r>
            <a:endParaRPr lang="en-US" sz="850" dirty="0"/>
          </a:p>
          <a:p>
            <a:pPr marL="0" indent="0">
              <a:lnSpc>
                <a:spcPts val="1088"/>
              </a:lnSpc>
              <a:buNone/>
            </a:pPr>
            <a:r>
              <a:rPr lang="en-US" sz="8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850" dirty="0">
                <a:solidFill>
                  <a:srgbClr val="7F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</a:t>
            </a:r>
            <a:r>
              <a:rPr lang="en-US" sz="8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.out.println(a.get(i));</a:t>
            </a:r>
            <a:endParaRPr lang="en-US" sz="850" dirty="0"/>
          </a:p>
          <a:p>
            <a:pPr marL="0" indent="0">
              <a:lnSpc>
                <a:spcPts val="1088"/>
              </a:lnSpc>
              <a:buNone/>
            </a:pPr>
            <a:r>
              <a:rPr lang="en-US" sz="8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</p:txBody>
      </p:sp>
      <p:sp>
        <p:nvSpPr>
          <p:cNvPr id="12" name="Text 9"/>
          <p:cNvSpPr txBox="1"/>
          <p:nvPr/>
        </p:nvSpPr>
        <p:spPr>
          <a:xfrm>
            <a:off x="3246120" y="128016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57C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for-each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3246120" y="16002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más legible para solo leer.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3246120" y="1965960"/>
            <a:ext cx="2606040" cy="1783080"/>
          </a:xfrm>
          <a:prstGeom prst="roundRect">
            <a:avLst>
              <a:gd name="adj" fmla="val 4103"/>
            </a:avLst>
          </a:prstGeom>
          <a:solidFill>
            <a:srgbClr val="1B2033"/>
          </a:solidFill>
          <a:ln w="12700">
            <a:solidFill>
              <a:srgbClr val="1B2033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5" name="Shape 12"/>
          <p:cNvSpPr/>
          <p:nvPr/>
        </p:nvSpPr>
        <p:spPr>
          <a:xfrm>
            <a:off x="3383280" y="2075688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6" name="Shape 13"/>
          <p:cNvSpPr/>
          <p:nvPr/>
        </p:nvSpPr>
        <p:spPr>
          <a:xfrm>
            <a:off x="3538728" y="2075688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7" name="Shape 14"/>
          <p:cNvSpPr/>
          <p:nvPr/>
        </p:nvSpPr>
        <p:spPr>
          <a:xfrm>
            <a:off x="3694176" y="2075688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8" name="Text 15"/>
          <p:cNvSpPr txBox="1"/>
          <p:nvPr/>
        </p:nvSpPr>
        <p:spPr>
          <a:xfrm>
            <a:off x="3410712" y="2295144"/>
            <a:ext cx="2331720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88"/>
              </a:lnSpc>
              <a:buNone/>
            </a:pPr>
            <a:r>
              <a:rPr lang="en-US" sz="850" dirty="0">
                <a:solidFill>
                  <a:srgbClr val="C79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8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r>
              <a:rPr lang="en-US" sz="850" dirty="0">
                <a:solidFill>
                  <a:srgbClr val="7F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r>
              <a:rPr lang="en-US" sz="8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 : a) {</a:t>
            </a:r>
            <a:endParaRPr lang="en-US" sz="850" dirty="0"/>
          </a:p>
          <a:p>
            <a:pPr marL="0" indent="0">
              <a:lnSpc>
                <a:spcPts val="1088"/>
              </a:lnSpc>
              <a:buNone/>
            </a:pPr>
            <a:r>
              <a:rPr lang="en-US" sz="8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850" dirty="0">
                <a:solidFill>
                  <a:srgbClr val="7F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</a:t>
            </a:r>
            <a:r>
              <a:rPr lang="en-US" sz="8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.out.println(s);</a:t>
            </a:r>
            <a:endParaRPr lang="en-US" sz="850" dirty="0"/>
          </a:p>
          <a:p>
            <a:pPr marL="0" indent="0">
              <a:lnSpc>
                <a:spcPts val="1088"/>
              </a:lnSpc>
              <a:buNone/>
            </a:pPr>
            <a:r>
              <a:rPr lang="en-US" sz="8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</p:txBody>
      </p:sp>
      <p:sp>
        <p:nvSpPr>
          <p:cNvPr id="19" name="Text 16"/>
          <p:cNvSpPr txBox="1"/>
          <p:nvPr/>
        </p:nvSpPr>
        <p:spPr>
          <a:xfrm>
            <a:off x="6035040" y="128016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57C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Iterator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6035040" y="16002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eliminar mientras recorres.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6035040" y="1965960"/>
            <a:ext cx="2606040" cy="1783080"/>
          </a:xfrm>
          <a:prstGeom prst="roundRect">
            <a:avLst>
              <a:gd name="adj" fmla="val 4103"/>
            </a:avLst>
          </a:prstGeom>
          <a:solidFill>
            <a:srgbClr val="1B2033"/>
          </a:solidFill>
          <a:ln w="12700">
            <a:solidFill>
              <a:srgbClr val="1B2033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2" name="Shape 19"/>
          <p:cNvSpPr/>
          <p:nvPr/>
        </p:nvSpPr>
        <p:spPr>
          <a:xfrm>
            <a:off x="6172200" y="2075688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3" name="Shape 20"/>
          <p:cNvSpPr/>
          <p:nvPr/>
        </p:nvSpPr>
        <p:spPr>
          <a:xfrm>
            <a:off x="6327648" y="2075688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4" name="Shape 21"/>
          <p:cNvSpPr/>
          <p:nvPr/>
        </p:nvSpPr>
        <p:spPr>
          <a:xfrm>
            <a:off x="6483096" y="2075688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5" name="Text 22"/>
          <p:cNvSpPr txBox="1"/>
          <p:nvPr/>
        </p:nvSpPr>
        <p:spPr>
          <a:xfrm>
            <a:off x="6199632" y="2295144"/>
            <a:ext cx="2331720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88"/>
              </a:lnSpc>
              <a:buNone/>
            </a:pPr>
            <a:r>
              <a:rPr lang="en-US" sz="850" dirty="0">
                <a:solidFill>
                  <a:srgbClr val="7F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Iterator</a:t>
            </a:r>
            <a:r>
              <a:rPr lang="en-US" sz="8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850" dirty="0">
                <a:solidFill>
                  <a:srgbClr val="7F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r>
              <a:rPr lang="en-US" sz="8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it = a.iterator();</a:t>
            </a:r>
            <a:endParaRPr lang="en-US" sz="850" dirty="0"/>
          </a:p>
          <a:p>
            <a:pPr marL="0" indent="0">
              <a:lnSpc>
                <a:spcPts val="1088"/>
              </a:lnSpc>
              <a:buNone/>
            </a:pPr>
            <a:r>
              <a:rPr lang="en-US" sz="850" dirty="0">
                <a:solidFill>
                  <a:srgbClr val="C79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</a:t>
            </a:r>
            <a:r>
              <a:rPr lang="en-US" sz="8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(it.hasNext()) {</a:t>
            </a:r>
            <a:endParaRPr lang="en-US" sz="850" dirty="0"/>
          </a:p>
          <a:p>
            <a:pPr marL="0" indent="0">
              <a:lnSpc>
                <a:spcPts val="1088"/>
              </a:lnSpc>
              <a:buNone/>
            </a:pPr>
            <a:r>
              <a:rPr lang="en-US" sz="8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850" dirty="0">
                <a:solidFill>
                  <a:srgbClr val="7F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r>
              <a:rPr lang="en-US" sz="8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 = it.next();</a:t>
            </a:r>
            <a:endParaRPr lang="en-US" sz="850" dirty="0"/>
          </a:p>
          <a:p>
            <a:pPr marL="0" indent="0">
              <a:lnSpc>
                <a:spcPts val="1088"/>
              </a:lnSpc>
              <a:buNone/>
            </a:pPr>
            <a:r>
              <a:rPr lang="en-US" sz="8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850" dirty="0">
                <a:solidFill>
                  <a:srgbClr val="C79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8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(s.isEmpty()) it.remove();</a:t>
            </a:r>
            <a:endParaRPr lang="en-US" sz="850" dirty="0"/>
          </a:p>
          <a:p>
            <a:pPr marL="0" indent="0">
              <a:lnSpc>
                <a:spcPts val="1088"/>
              </a:lnSpc>
              <a:buNone/>
            </a:pPr>
            <a:r>
              <a:rPr lang="en-US" sz="8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457200" y="3977640"/>
            <a:ext cx="8229600" cy="548640"/>
          </a:xfrm>
          <a:prstGeom prst="roundRect">
            <a:avLst>
              <a:gd name="adj" fmla="val 16667"/>
            </a:avLst>
          </a:prstGeom>
          <a:solidFill>
            <a:srgbClr val="E8F1FC"/>
          </a:solidFill>
          <a:ln w="12700">
            <a:solidFill>
              <a:srgbClr val="E8F1F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7" name="Text 24"/>
          <p:cNvSpPr txBox="1"/>
          <p:nvPr/>
        </p:nvSpPr>
        <p:spPr>
          <a:xfrm>
            <a:off x="685800" y="39776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 moderno:  </a:t>
            </a:r>
            <a:r>
              <a:rPr lang="en-US" sz="1250" b="1" dirty="0">
                <a:solidFill>
                  <a:srgbClr val="257C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a.forEach(s -&gt; System.out.println(s));</a:t>
            </a: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(Iterator requiere import java.util.Iterator)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57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ARRAYLIST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1206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A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Trampas comunes (y cómo evitarlas)</a:t>
            </a:r>
            <a:endParaRPr lang="en-US" sz="2800" dirty="0"/>
          </a:p>
        </p:txBody>
      </p:sp>
      <p:pic>
        <p:nvPicPr>
          <p:cNvPr id="4" name="Image 0" descr="/home/claude/build/logo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4754880"/>
            <a:ext cx="731520" cy="1828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280160"/>
            <a:ext cx="4023360" cy="1481328"/>
          </a:xfrm>
          <a:prstGeom prst="roundRect">
            <a:avLst>
              <a:gd name="adj" fmla="val 6173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Shape 3"/>
          <p:cNvSpPr/>
          <p:nvPr/>
        </p:nvSpPr>
        <p:spPr>
          <a:xfrm>
            <a:off x="640080" y="1463040"/>
            <a:ext cx="411480" cy="411480"/>
          </a:xfrm>
          <a:prstGeom prst="ellipse">
            <a:avLst/>
          </a:prstGeom>
          <a:solidFill>
            <a:srgbClr val="D9434A"/>
          </a:solidFill>
          <a:ln w="12700">
            <a:solidFill>
              <a:srgbClr val="D9434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180" y="1574140"/>
            <a:ext cx="189281" cy="189281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188720" y="148132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remove(1) con números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640080" y="193852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ArrayList&lt;Integer&gt;, notas.remove(1) borra el índice 1, no el valor 1.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640080" y="2350008"/>
            <a:ext cx="3657600" cy="292608"/>
          </a:xfrm>
          <a:prstGeom prst="roundRect">
            <a:avLst>
              <a:gd name="adj" fmla="val 15625"/>
            </a:avLst>
          </a:prstGeom>
          <a:solidFill>
            <a:srgbClr val="1B2033"/>
          </a:solidFill>
          <a:ln w="12700">
            <a:solidFill>
              <a:srgbClr val="1B203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Text 7"/>
          <p:cNvSpPr txBox="1"/>
          <p:nvPr/>
        </p:nvSpPr>
        <p:spPr>
          <a:xfrm>
            <a:off x="731520" y="2350008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5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✔ notas.remove(Integer.valueOf(1));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4663440" y="1280160"/>
            <a:ext cx="4023360" cy="1481328"/>
          </a:xfrm>
          <a:prstGeom prst="roundRect">
            <a:avLst>
              <a:gd name="adj" fmla="val 6173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Shape 9"/>
          <p:cNvSpPr/>
          <p:nvPr/>
        </p:nvSpPr>
        <p:spPr>
          <a:xfrm>
            <a:off x="4846320" y="1463040"/>
            <a:ext cx="411480" cy="411480"/>
          </a:xfrm>
          <a:prstGeom prst="ellipse">
            <a:avLst/>
          </a:prstGeom>
          <a:solidFill>
            <a:srgbClr val="D9434A"/>
          </a:solidFill>
          <a:ln w="12700">
            <a:solidFill>
              <a:srgbClr val="D9434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7420" y="1574140"/>
            <a:ext cx="189281" cy="189281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5394960" y="148132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Índice fuera de rango</a:t>
            </a:r>
            <a:endParaRPr lang="en-US" sz="1400" dirty="0"/>
          </a:p>
        </p:txBody>
      </p:sp>
      <p:sp>
        <p:nvSpPr>
          <p:cNvPr id="16" name="Text 11"/>
          <p:cNvSpPr txBox="1"/>
          <p:nvPr/>
        </p:nvSpPr>
        <p:spPr>
          <a:xfrm>
            <a:off x="4846320" y="193852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get(a.size()) lanza IndexOutOfBoundsException. El último es size() - 1.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4846320" y="2350008"/>
            <a:ext cx="3657600" cy="292608"/>
          </a:xfrm>
          <a:prstGeom prst="roundRect">
            <a:avLst>
              <a:gd name="adj" fmla="val 15625"/>
            </a:avLst>
          </a:prstGeom>
          <a:solidFill>
            <a:srgbClr val="1B2033"/>
          </a:solidFill>
          <a:ln w="12700">
            <a:solidFill>
              <a:srgbClr val="1B203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8" name="Text 13"/>
          <p:cNvSpPr txBox="1"/>
          <p:nvPr/>
        </p:nvSpPr>
        <p:spPr>
          <a:xfrm>
            <a:off x="4937760" y="2350008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5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✔ a.get(a.size() - 1);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457200" y="2926080"/>
            <a:ext cx="4023360" cy="1481328"/>
          </a:xfrm>
          <a:prstGeom prst="roundRect">
            <a:avLst>
              <a:gd name="adj" fmla="val 6173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0" name="Shape 15"/>
          <p:cNvSpPr/>
          <p:nvPr/>
        </p:nvSpPr>
        <p:spPr>
          <a:xfrm>
            <a:off x="640080" y="3108960"/>
            <a:ext cx="411480" cy="411480"/>
          </a:xfrm>
          <a:prstGeom prst="ellipse">
            <a:avLst/>
          </a:prstGeom>
          <a:solidFill>
            <a:srgbClr val="D9434A"/>
          </a:solidFill>
          <a:ln w="12700">
            <a:solidFill>
              <a:srgbClr val="D9434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180" y="3220060"/>
            <a:ext cx="189281" cy="189281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188720" y="312724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Eliminar dentro de un for-each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640080" y="358444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Lanza ConcurrentModificationException. Usa Iterator o removeIf.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640080" y="3995928"/>
            <a:ext cx="3657600" cy="292608"/>
          </a:xfrm>
          <a:prstGeom prst="roundRect">
            <a:avLst>
              <a:gd name="adj" fmla="val 15625"/>
            </a:avLst>
          </a:prstGeom>
          <a:solidFill>
            <a:srgbClr val="1B2033"/>
          </a:solidFill>
          <a:ln w="12700">
            <a:solidFill>
              <a:srgbClr val="1B203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5" name="Text 19"/>
          <p:cNvSpPr txBox="1"/>
          <p:nvPr/>
        </p:nvSpPr>
        <p:spPr>
          <a:xfrm>
            <a:off x="731520" y="3995928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5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✔ a.removeIf(s -&gt; s.isEmpty());</a:t>
            </a:r>
            <a:endParaRPr lang="en-US" sz="950" dirty="0"/>
          </a:p>
        </p:txBody>
      </p:sp>
      <p:sp>
        <p:nvSpPr>
          <p:cNvPr id="26" name="Shape 20"/>
          <p:cNvSpPr/>
          <p:nvPr/>
        </p:nvSpPr>
        <p:spPr>
          <a:xfrm>
            <a:off x="4663440" y="2926080"/>
            <a:ext cx="4023360" cy="1481328"/>
          </a:xfrm>
          <a:prstGeom prst="roundRect">
            <a:avLst>
              <a:gd name="adj" fmla="val 6173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7" name="Shape 21"/>
          <p:cNvSpPr/>
          <p:nvPr/>
        </p:nvSpPr>
        <p:spPr>
          <a:xfrm>
            <a:off x="4846320" y="3108960"/>
            <a:ext cx="411480" cy="411480"/>
          </a:xfrm>
          <a:prstGeom prst="ellipse">
            <a:avLst/>
          </a:prstGeom>
          <a:solidFill>
            <a:srgbClr val="D9434A"/>
          </a:solidFill>
          <a:ln w="12700">
            <a:solidFill>
              <a:srgbClr val="D9434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7420" y="3220060"/>
            <a:ext cx="189281" cy="189281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5394960" y="312724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removeRange() no es accesible</a:t>
            </a:r>
            <a:endParaRPr lang="en-US" sz="1400" dirty="0"/>
          </a:p>
        </p:txBody>
      </p:sp>
      <p:sp>
        <p:nvSpPr>
          <p:cNvPr id="30" name="Text 23"/>
          <p:cNvSpPr txBox="1"/>
          <p:nvPr/>
        </p:nvSpPr>
        <p:spPr>
          <a:xfrm>
            <a:off x="4846320" y="358444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protected: no puedes llamarlo directamente. Usa una sublista.</a:t>
            </a:r>
            <a:endParaRPr lang="en-US" sz="1150" dirty="0"/>
          </a:p>
        </p:txBody>
      </p:sp>
      <p:sp>
        <p:nvSpPr>
          <p:cNvPr id="31" name="Shape 24"/>
          <p:cNvSpPr/>
          <p:nvPr/>
        </p:nvSpPr>
        <p:spPr>
          <a:xfrm>
            <a:off x="4846320" y="3995928"/>
            <a:ext cx="3657600" cy="292608"/>
          </a:xfrm>
          <a:prstGeom prst="roundRect">
            <a:avLst>
              <a:gd name="adj" fmla="val 15625"/>
            </a:avLst>
          </a:prstGeom>
          <a:solidFill>
            <a:srgbClr val="1B2033"/>
          </a:solidFill>
          <a:ln w="12700">
            <a:solidFill>
              <a:srgbClr val="1B203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2" name="Text 25"/>
          <p:cNvSpPr txBox="1"/>
          <p:nvPr/>
        </p:nvSpPr>
        <p:spPr>
          <a:xfrm>
            <a:off x="4937760" y="3995928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5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✔ a.subList(1, 3).clear();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57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ARRAYLIST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1206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A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 completo</a:t>
            </a:r>
            <a:endParaRPr lang="en-US" sz="2800" dirty="0"/>
          </a:p>
        </p:txBody>
      </p:sp>
      <p:pic>
        <p:nvPicPr>
          <p:cNvPr id="4" name="Image 0" descr="/home/claude/build/logo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4754880"/>
            <a:ext cx="731520" cy="1828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188720"/>
            <a:ext cx="5212080" cy="3520440"/>
          </a:xfrm>
          <a:prstGeom prst="roundRect">
            <a:avLst>
              <a:gd name="adj" fmla="val 2078"/>
            </a:avLst>
          </a:prstGeom>
          <a:solidFill>
            <a:srgbClr val="1B2033"/>
          </a:solidFill>
          <a:ln w="12700">
            <a:solidFill>
              <a:srgbClr val="1B2033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6" name="Shape 3"/>
          <p:cNvSpPr/>
          <p:nvPr/>
        </p:nvSpPr>
        <p:spPr>
          <a:xfrm>
            <a:off x="594360" y="1298448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Shape 4"/>
          <p:cNvSpPr/>
          <p:nvPr/>
        </p:nvSpPr>
        <p:spPr>
          <a:xfrm>
            <a:off x="749808" y="1298448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Shape 5"/>
          <p:cNvSpPr/>
          <p:nvPr/>
        </p:nvSpPr>
        <p:spPr>
          <a:xfrm>
            <a:off x="905256" y="1298448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Text 6"/>
          <p:cNvSpPr txBox="1"/>
          <p:nvPr/>
        </p:nvSpPr>
        <p:spPr>
          <a:xfrm>
            <a:off x="1097280" y="1243584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390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EjemploArrayList.java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621792" y="1517904"/>
            <a:ext cx="4937760" cy="3099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24"/>
              </a:lnSpc>
              <a:buNone/>
            </a:pPr>
            <a:r>
              <a:rPr lang="en-US" sz="800" dirty="0">
                <a:solidFill>
                  <a:srgbClr val="C79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r>
              <a:rPr lang="en-US" sz="8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java.util.</a:t>
            </a:r>
            <a:r>
              <a:rPr lang="en-US" sz="800" dirty="0">
                <a:solidFill>
                  <a:srgbClr val="7F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ArrayList</a:t>
            </a:r>
            <a:r>
              <a:rPr lang="en-US" sz="8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800" dirty="0"/>
          </a:p>
          <a:p>
            <a:pPr marL="0" indent="0">
              <a:lnSpc>
                <a:spcPts val="1024"/>
              </a:lnSpc>
              <a:buNone/>
            </a:pPr>
            <a:r>
              <a:rPr lang="en-US" sz="8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00" dirty="0"/>
          </a:p>
          <a:p>
            <a:pPr marL="0" indent="0">
              <a:lnSpc>
                <a:spcPts val="1024"/>
              </a:lnSpc>
              <a:buNone/>
            </a:pPr>
            <a:r>
              <a:rPr lang="en-US" sz="800" dirty="0">
                <a:solidFill>
                  <a:srgbClr val="C79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8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00" dirty="0">
                <a:solidFill>
                  <a:srgbClr val="C79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8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00" dirty="0">
                <a:solidFill>
                  <a:srgbClr val="7F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EjemploArrayList</a:t>
            </a:r>
            <a:r>
              <a:rPr lang="en-US" sz="8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800" dirty="0"/>
          </a:p>
          <a:p>
            <a:pPr marL="0" indent="0">
              <a:lnSpc>
                <a:spcPts val="1024"/>
              </a:lnSpc>
              <a:buNone/>
            </a:pPr>
            <a:r>
              <a:rPr lang="en-US" sz="8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800" dirty="0">
                <a:solidFill>
                  <a:srgbClr val="C79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8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00" dirty="0">
                <a:solidFill>
                  <a:srgbClr val="C79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</a:t>
            </a:r>
            <a:r>
              <a:rPr lang="en-US" sz="8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00" dirty="0">
                <a:solidFill>
                  <a:srgbClr val="C79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r>
              <a:rPr lang="en-US" sz="8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main(</a:t>
            </a:r>
            <a:r>
              <a:rPr lang="en-US" sz="800" dirty="0">
                <a:solidFill>
                  <a:srgbClr val="7F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r>
              <a:rPr lang="en-US" sz="8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[] args) {</a:t>
            </a:r>
            <a:endParaRPr lang="en-US" sz="800" dirty="0"/>
          </a:p>
          <a:p>
            <a:pPr marL="0" indent="0">
              <a:lnSpc>
                <a:spcPts val="1024"/>
              </a:lnSpc>
              <a:buNone/>
            </a:pPr>
            <a:r>
              <a:rPr lang="en-US" sz="8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800" dirty="0">
                <a:solidFill>
                  <a:srgbClr val="7F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ArrayList</a:t>
            </a:r>
            <a:r>
              <a:rPr lang="en-US" sz="8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800" dirty="0">
                <a:solidFill>
                  <a:srgbClr val="7F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r>
              <a:rPr lang="en-US" sz="8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nombres = </a:t>
            </a:r>
            <a:r>
              <a:rPr lang="en-US" sz="800" dirty="0">
                <a:solidFill>
                  <a:srgbClr val="C79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8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00" dirty="0">
                <a:solidFill>
                  <a:srgbClr val="7F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ArrayList</a:t>
            </a:r>
            <a:r>
              <a:rPr lang="en-US" sz="8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&lt;&gt;();</a:t>
            </a:r>
            <a:endParaRPr lang="en-US" sz="800" dirty="0"/>
          </a:p>
          <a:p>
            <a:pPr marL="0" indent="0">
              <a:lnSpc>
                <a:spcPts val="1024"/>
              </a:lnSpc>
              <a:buNone/>
            </a:pPr>
            <a:r>
              <a:rPr lang="en-US" sz="8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nombres.add(</a:t>
            </a:r>
            <a:r>
              <a:rPr lang="en-US" sz="800" dirty="0">
                <a:solidFill>
                  <a:srgbClr val="B5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"Ana"</a:t>
            </a:r>
            <a:r>
              <a:rPr lang="en-US" sz="8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800" dirty="0"/>
          </a:p>
          <a:p>
            <a:pPr marL="0" indent="0">
              <a:lnSpc>
                <a:spcPts val="1024"/>
              </a:lnSpc>
              <a:buNone/>
            </a:pPr>
            <a:r>
              <a:rPr lang="en-US" sz="8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nombres.add(</a:t>
            </a:r>
            <a:r>
              <a:rPr lang="en-US" sz="800" dirty="0">
                <a:solidFill>
                  <a:srgbClr val="B5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"Pedro"</a:t>
            </a:r>
            <a:r>
              <a:rPr lang="en-US" sz="8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800" dirty="0"/>
          </a:p>
          <a:p>
            <a:pPr marL="0" indent="0">
              <a:lnSpc>
                <a:spcPts val="1024"/>
              </a:lnSpc>
              <a:buNone/>
            </a:pPr>
            <a:r>
              <a:rPr lang="en-US" sz="8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nombres.add(</a:t>
            </a:r>
            <a:r>
              <a:rPr lang="en-US" sz="800" dirty="0">
                <a:solidFill>
                  <a:srgbClr val="B5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"María"</a:t>
            </a:r>
            <a:r>
              <a:rPr lang="en-US" sz="8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800" dirty="0"/>
          </a:p>
          <a:p>
            <a:pPr marL="0" indent="0">
              <a:lnSpc>
                <a:spcPts val="1024"/>
              </a:lnSpc>
              <a:buNone/>
            </a:pPr>
            <a:r>
              <a:rPr lang="en-US" sz="8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nombres.add(</a:t>
            </a:r>
            <a:r>
              <a:rPr lang="en-US" sz="800" dirty="0">
                <a:solidFill>
                  <a:srgbClr val="B5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"Juan"</a:t>
            </a:r>
            <a:r>
              <a:rPr lang="en-US" sz="8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800" dirty="0"/>
          </a:p>
          <a:p>
            <a:pPr marL="0" indent="0">
              <a:lnSpc>
                <a:spcPts val="1024"/>
              </a:lnSpc>
              <a:buNone/>
            </a:pPr>
            <a:r>
              <a:rPr lang="en-US" sz="8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800" dirty="0">
                <a:solidFill>
                  <a:srgbClr val="7F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</a:t>
            </a:r>
            <a:r>
              <a:rPr lang="en-US" sz="8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.out.println(</a:t>
            </a:r>
            <a:r>
              <a:rPr lang="en-US" sz="800" dirty="0">
                <a:solidFill>
                  <a:srgbClr val="B5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"Lista: "</a:t>
            </a:r>
            <a:r>
              <a:rPr lang="en-US" sz="8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nombres);</a:t>
            </a:r>
            <a:endParaRPr lang="en-US" sz="800" dirty="0"/>
          </a:p>
          <a:p>
            <a:pPr marL="0" indent="0">
              <a:lnSpc>
                <a:spcPts val="1024"/>
              </a:lnSpc>
              <a:buNone/>
            </a:pPr>
            <a:r>
              <a:rPr lang="en-US" sz="8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800" dirty="0">
                <a:solidFill>
                  <a:srgbClr val="7F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</a:t>
            </a:r>
            <a:r>
              <a:rPr lang="en-US" sz="8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.out.println(</a:t>
            </a:r>
            <a:r>
              <a:rPr lang="en-US" sz="800" dirty="0">
                <a:solidFill>
                  <a:srgbClr val="B5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"Primero: "</a:t>
            </a:r>
            <a:r>
              <a:rPr lang="en-US" sz="8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nombres.get(</a:t>
            </a:r>
            <a:r>
              <a:rPr lang="en-US" sz="800" dirty="0">
                <a:solidFill>
                  <a:srgbClr val="FF9E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8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));</a:t>
            </a:r>
            <a:endParaRPr lang="en-US" sz="800" dirty="0"/>
          </a:p>
          <a:p>
            <a:pPr marL="0" indent="0">
              <a:lnSpc>
                <a:spcPts val="1024"/>
              </a:lnSpc>
              <a:buNone/>
            </a:pPr>
            <a:r>
              <a:rPr lang="en-US" sz="8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00" dirty="0"/>
          </a:p>
          <a:p>
            <a:pPr marL="0" indent="0">
              <a:lnSpc>
                <a:spcPts val="1024"/>
              </a:lnSpc>
              <a:buNone/>
            </a:pPr>
            <a:r>
              <a:rPr lang="en-US" sz="8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nombres.set(</a:t>
            </a:r>
            <a:r>
              <a:rPr lang="en-US" sz="800" dirty="0">
                <a:solidFill>
                  <a:srgbClr val="FF9E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8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800" dirty="0">
                <a:solidFill>
                  <a:srgbClr val="B5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"Carlos"</a:t>
            </a:r>
            <a:r>
              <a:rPr lang="en-US" sz="8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   </a:t>
            </a:r>
            <a:r>
              <a:rPr lang="en-US" sz="800" i="1" dirty="0">
                <a:solidFill>
                  <a:srgbClr val="8390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Pedro -&gt; Carlos</a:t>
            </a:r>
            <a:endParaRPr lang="en-US" sz="800" dirty="0"/>
          </a:p>
          <a:p>
            <a:pPr marL="0" indent="0">
              <a:lnSpc>
                <a:spcPts val="1024"/>
              </a:lnSpc>
              <a:buNone/>
            </a:pPr>
            <a:r>
              <a:rPr lang="en-US" sz="8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800" dirty="0">
                <a:solidFill>
                  <a:srgbClr val="7F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</a:t>
            </a:r>
            <a:r>
              <a:rPr lang="en-US" sz="8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.out.println(</a:t>
            </a:r>
            <a:r>
              <a:rPr lang="en-US" sz="800" dirty="0">
                <a:solidFill>
                  <a:srgbClr val="B5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"Modificada: "</a:t>
            </a:r>
            <a:r>
              <a:rPr lang="en-US" sz="8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nombres);</a:t>
            </a:r>
            <a:endParaRPr lang="en-US" sz="800" dirty="0"/>
          </a:p>
          <a:p>
            <a:pPr marL="0" indent="0">
              <a:lnSpc>
                <a:spcPts val="1024"/>
              </a:lnSpc>
              <a:buNone/>
            </a:pPr>
            <a:r>
              <a:rPr lang="en-US" sz="8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00" dirty="0"/>
          </a:p>
          <a:p>
            <a:pPr marL="0" indent="0">
              <a:lnSpc>
                <a:spcPts val="1024"/>
              </a:lnSpc>
              <a:buNone/>
            </a:pPr>
            <a:r>
              <a:rPr lang="en-US" sz="8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nombres.remove(</a:t>
            </a:r>
            <a:r>
              <a:rPr lang="en-US" sz="800" dirty="0">
                <a:solidFill>
                  <a:srgbClr val="B5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"María"</a:t>
            </a:r>
            <a:r>
              <a:rPr lang="en-US" sz="8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800" dirty="0"/>
          </a:p>
          <a:p>
            <a:pPr marL="0" indent="0">
              <a:lnSpc>
                <a:spcPts val="1024"/>
              </a:lnSpc>
              <a:buNone/>
            </a:pPr>
            <a:r>
              <a:rPr lang="en-US" sz="8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800" dirty="0">
                <a:solidFill>
                  <a:srgbClr val="7F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</a:t>
            </a:r>
            <a:r>
              <a:rPr lang="en-US" sz="8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.out.println(</a:t>
            </a:r>
            <a:r>
              <a:rPr lang="en-US" sz="800" dirty="0">
                <a:solidFill>
                  <a:srgbClr val="B5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"Sin María: "</a:t>
            </a:r>
            <a:r>
              <a:rPr lang="en-US" sz="8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nombres);</a:t>
            </a:r>
            <a:endParaRPr lang="en-US" sz="800" dirty="0"/>
          </a:p>
          <a:p>
            <a:pPr marL="0" indent="0">
              <a:lnSpc>
                <a:spcPts val="1024"/>
              </a:lnSpc>
              <a:buNone/>
            </a:pPr>
            <a:r>
              <a:rPr lang="en-US" sz="8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00" dirty="0"/>
          </a:p>
          <a:p>
            <a:pPr marL="0" indent="0">
              <a:lnSpc>
                <a:spcPts val="1024"/>
              </a:lnSpc>
              <a:buNone/>
            </a:pPr>
            <a:r>
              <a:rPr lang="en-US" sz="8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800" dirty="0">
                <a:solidFill>
                  <a:srgbClr val="C79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8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r>
              <a:rPr lang="en-US" sz="800" dirty="0">
                <a:solidFill>
                  <a:srgbClr val="7F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r>
              <a:rPr lang="en-US" sz="8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nombre : nombres) {</a:t>
            </a:r>
            <a:endParaRPr lang="en-US" sz="800" dirty="0"/>
          </a:p>
          <a:p>
            <a:pPr marL="0" indent="0">
              <a:lnSpc>
                <a:spcPts val="1024"/>
              </a:lnSpc>
              <a:buNone/>
            </a:pPr>
            <a:r>
              <a:rPr lang="en-US" sz="8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800" dirty="0">
                <a:solidFill>
                  <a:srgbClr val="7F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</a:t>
            </a:r>
            <a:r>
              <a:rPr lang="en-US" sz="8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.out.println(</a:t>
            </a:r>
            <a:r>
              <a:rPr lang="en-US" sz="800" dirty="0">
                <a:solidFill>
                  <a:srgbClr val="B5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"- "</a:t>
            </a:r>
            <a:r>
              <a:rPr lang="en-US" sz="8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nombre);</a:t>
            </a:r>
            <a:endParaRPr lang="en-US" sz="800" dirty="0"/>
          </a:p>
          <a:p>
            <a:pPr marL="0" indent="0">
              <a:lnSpc>
                <a:spcPts val="1024"/>
              </a:lnSpc>
              <a:buNone/>
            </a:pPr>
            <a:r>
              <a:rPr lang="en-US" sz="8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00" dirty="0"/>
          </a:p>
          <a:p>
            <a:pPr marL="0" indent="0">
              <a:lnSpc>
                <a:spcPts val="1024"/>
              </a:lnSpc>
              <a:buNone/>
            </a:pPr>
            <a:r>
              <a:rPr lang="en-US" sz="8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800" dirty="0">
                <a:solidFill>
                  <a:srgbClr val="7F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</a:t>
            </a:r>
            <a:r>
              <a:rPr lang="en-US" sz="8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.out.println(</a:t>
            </a:r>
            <a:r>
              <a:rPr lang="en-US" sz="800" dirty="0">
                <a:solidFill>
                  <a:srgbClr val="B5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"Cantidad: "</a:t>
            </a:r>
            <a:r>
              <a:rPr lang="en-US" sz="8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nombres.size());</a:t>
            </a:r>
            <a:endParaRPr lang="en-US" sz="800" dirty="0"/>
          </a:p>
          <a:p>
            <a:pPr marL="0" indent="0">
              <a:lnSpc>
                <a:spcPts val="1024"/>
              </a:lnSpc>
              <a:buNone/>
            </a:pPr>
            <a:r>
              <a:rPr lang="en-US" sz="8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800" dirty="0"/>
          </a:p>
          <a:p>
            <a:pPr marL="0" indent="0">
              <a:lnSpc>
                <a:spcPts val="1024"/>
              </a:lnSpc>
              <a:buNone/>
            </a:pPr>
            <a:r>
              <a:rPr lang="en-US" sz="8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5852160" y="1188720"/>
            <a:ext cx="2834640" cy="3520440"/>
          </a:xfrm>
          <a:prstGeom prst="roundRect">
            <a:avLst>
              <a:gd name="adj" fmla="val 2581"/>
            </a:avLst>
          </a:prstGeom>
          <a:solidFill>
            <a:srgbClr val="0E1220"/>
          </a:solidFill>
          <a:ln w="12700">
            <a:solidFill>
              <a:srgbClr val="2E365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Text 9"/>
          <p:cNvSpPr txBox="1"/>
          <p:nvPr/>
        </p:nvSpPr>
        <p:spPr>
          <a:xfrm>
            <a:off x="6016752" y="128016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28C8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▶ Consola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6016752" y="1554480"/>
            <a:ext cx="256032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70"/>
              </a:lnSpc>
              <a:buNone/>
            </a:pPr>
            <a:r>
              <a:rPr lang="en-US" sz="9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Lista: [Ana, Pedro,</a:t>
            </a:r>
            <a:endParaRPr lang="en-US" sz="900" dirty="0"/>
          </a:p>
          <a:p>
            <a:pPr marL="0" indent="0">
              <a:lnSpc>
                <a:spcPts val="1170"/>
              </a:lnSpc>
              <a:buNone/>
            </a:pPr>
            <a:r>
              <a:rPr lang="en-US" sz="9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María, Juan]</a:t>
            </a:r>
            <a:endParaRPr lang="en-US" sz="900" dirty="0"/>
          </a:p>
          <a:p>
            <a:pPr marL="0" indent="0">
              <a:lnSpc>
                <a:spcPts val="1170"/>
              </a:lnSpc>
              <a:buNone/>
            </a:pPr>
            <a:r>
              <a:rPr lang="en-US" sz="9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Primero: Ana</a:t>
            </a:r>
            <a:endParaRPr lang="en-US" sz="900" dirty="0"/>
          </a:p>
          <a:p>
            <a:pPr marL="0" indent="0">
              <a:lnSpc>
                <a:spcPts val="1170"/>
              </a:lnSpc>
              <a:buNone/>
            </a:pPr>
            <a:r>
              <a:rPr lang="en-US" sz="9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Modificada: [Ana,</a:t>
            </a:r>
            <a:endParaRPr lang="en-US" sz="900" dirty="0"/>
          </a:p>
          <a:p>
            <a:pPr marL="0" indent="0">
              <a:lnSpc>
                <a:spcPts val="1170"/>
              </a:lnSpc>
              <a:buNone/>
            </a:pPr>
            <a:r>
              <a:rPr lang="en-US" sz="9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Carlos, María, Juan]</a:t>
            </a:r>
            <a:endParaRPr lang="en-US" sz="900" dirty="0"/>
          </a:p>
          <a:p>
            <a:pPr marL="0" indent="0">
              <a:lnSpc>
                <a:spcPts val="1170"/>
              </a:lnSpc>
              <a:buNone/>
            </a:pPr>
            <a:r>
              <a:rPr lang="en-US" sz="9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Sin María: [Ana,</a:t>
            </a:r>
            <a:endParaRPr lang="en-US" sz="900" dirty="0"/>
          </a:p>
          <a:p>
            <a:pPr marL="0" indent="0">
              <a:lnSpc>
                <a:spcPts val="1170"/>
              </a:lnSpc>
              <a:buNone/>
            </a:pPr>
            <a:r>
              <a:rPr lang="en-US" sz="9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Carlos, Juan]</a:t>
            </a:r>
            <a:endParaRPr lang="en-US" sz="900" dirty="0"/>
          </a:p>
          <a:p>
            <a:pPr marL="0" indent="0">
              <a:lnSpc>
                <a:spcPts val="1170"/>
              </a:lnSpc>
              <a:buNone/>
            </a:pPr>
            <a:r>
              <a:rPr lang="en-US" sz="9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Ana</a:t>
            </a:r>
            <a:endParaRPr lang="en-US" sz="900" dirty="0"/>
          </a:p>
          <a:p>
            <a:pPr marL="0" indent="0">
              <a:lnSpc>
                <a:spcPts val="1170"/>
              </a:lnSpc>
              <a:buNone/>
            </a:pPr>
            <a:r>
              <a:rPr lang="en-US" sz="9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Carlos</a:t>
            </a:r>
            <a:endParaRPr lang="en-US" sz="900" dirty="0"/>
          </a:p>
          <a:p>
            <a:pPr marL="0" indent="0">
              <a:lnSpc>
                <a:spcPts val="1170"/>
              </a:lnSpc>
              <a:buNone/>
            </a:pPr>
            <a:r>
              <a:rPr lang="en-US" sz="9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Juan</a:t>
            </a:r>
            <a:endParaRPr lang="en-US" sz="900" dirty="0"/>
          </a:p>
          <a:p>
            <a:pPr marL="0" indent="0">
              <a:lnSpc>
                <a:spcPts val="1170"/>
              </a:lnSpc>
              <a:buNone/>
            </a:pPr>
            <a:r>
              <a:rPr lang="en-US" sz="9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Cantidad: 3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23444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600" b="1" dirty="0">
                <a:solidFill>
                  <a:srgbClr val="257C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46888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¡A jugar!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2004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i="1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Juegos rápidos y misiones por equipos.</a:t>
            </a:r>
            <a:endParaRPr lang="en-US" sz="1800" dirty="0"/>
          </a:p>
        </p:txBody>
      </p:sp>
      <p:pic>
        <p:nvPicPr>
          <p:cNvPr id="5" name="Image 0" descr="/home/claude/build/logo_l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572000"/>
            <a:ext cx="914400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15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2633472" cy="292608"/>
          </a:xfrm>
          <a:prstGeom prst="roundRect">
            <a:avLst>
              <a:gd name="adj" fmla="val 50000"/>
            </a:avLst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20040"/>
            <a:ext cx="201168" cy="20116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04672" y="274320"/>
            <a:ext cx="2267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0B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JUEGO 2 · ADIVINA LA SALIDA</a:t>
            </a:r>
            <a:endParaRPr lang="en-US" sz="105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685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mochila del aventurero</a:t>
            </a:r>
            <a:endParaRPr lang="en-US" sz="2800" dirty="0"/>
          </a:p>
        </p:txBody>
      </p:sp>
      <p:pic>
        <p:nvPicPr>
          <p:cNvPr id="6" name="Image 1" descr="/home/claude/build/logo_l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0" y="4754880"/>
            <a:ext cx="731520" cy="18288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57200" y="1371600"/>
            <a:ext cx="4937760" cy="2606040"/>
          </a:xfrm>
          <a:prstGeom prst="roundRect">
            <a:avLst>
              <a:gd name="adj" fmla="val 2807"/>
            </a:avLst>
          </a:prstGeom>
          <a:solidFill>
            <a:srgbClr val="1B2033"/>
          </a:solidFill>
          <a:ln w="12700">
            <a:solidFill>
              <a:srgbClr val="1B2033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8" name="Shape 4"/>
          <p:cNvSpPr/>
          <p:nvPr/>
        </p:nvSpPr>
        <p:spPr>
          <a:xfrm>
            <a:off x="594360" y="1481328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Shape 5"/>
          <p:cNvSpPr/>
          <p:nvPr/>
        </p:nvSpPr>
        <p:spPr>
          <a:xfrm>
            <a:off x="749808" y="1481328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Shape 6"/>
          <p:cNvSpPr/>
          <p:nvPr/>
        </p:nvSpPr>
        <p:spPr>
          <a:xfrm>
            <a:off x="905256" y="1481328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Text 7"/>
          <p:cNvSpPr txBox="1"/>
          <p:nvPr/>
        </p:nvSpPr>
        <p:spPr>
          <a:xfrm>
            <a:off x="1097280" y="1426464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390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Aventura.java</a:t>
            </a:r>
            <a:endParaRPr lang="en-US" sz="900" dirty="0"/>
          </a:p>
        </p:txBody>
      </p:sp>
      <p:sp>
        <p:nvSpPr>
          <p:cNvPr id="12" name="Text 8"/>
          <p:cNvSpPr txBox="1"/>
          <p:nvPr/>
        </p:nvSpPr>
        <p:spPr>
          <a:xfrm>
            <a:off x="621792" y="1700784"/>
            <a:ext cx="4663440" cy="2185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en-US" sz="1100" dirty="0">
                <a:solidFill>
                  <a:srgbClr val="7F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ArrayList</a:t>
            </a:r>
            <a:r>
              <a:rPr lang="en-US" sz="11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1100" dirty="0">
                <a:solidFill>
                  <a:srgbClr val="7F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r>
              <a:rPr lang="en-US" sz="11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mochila = </a:t>
            </a:r>
            <a:r>
              <a:rPr lang="en-US" sz="1100" dirty="0">
                <a:solidFill>
                  <a:srgbClr val="C79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1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7F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ArrayList</a:t>
            </a:r>
            <a:r>
              <a:rPr lang="en-US" sz="11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&lt;&gt;();</a:t>
            </a:r>
            <a:endParaRPr lang="en-US" sz="1100" dirty="0"/>
          </a:p>
          <a:p>
            <a:pPr marL="0" indent="0">
              <a:lnSpc>
                <a:spcPts val="1650"/>
              </a:lnSpc>
              <a:buNone/>
            </a:pPr>
            <a:r>
              <a:rPr lang="en-US" sz="11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mochila.add(</a:t>
            </a:r>
            <a:r>
              <a:rPr lang="en-US" sz="1100" dirty="0">
                <a:solidFill>
                  <a:srgbClr val="B5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"espada"</a:t>
            </a:r>
            <a:r>
              <a:rPr lang="en-US" sz="11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00" dirty="0"/>
          </a:p>
          <a:p>
            <a:pPr marL="0" indent="0">
              <a:lnSpc>
                <a:spcPts val="1650"/>
              </a:lnSpc>
              <a:buNone/>
            </a:pPr>
            <a:r>
              <a:rPr lang="en-US" sz="11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mochila.add(</a:t>
            </a:r>
            <a:r>
              <a:rPr lang="en-US" sz="1100" dirty="0">
                <a:solidFill>
                  <a:srgbClr val="B5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"poción"</a:t>
            </a:r>
            <a:r>
              <a:rPr lang="en-US" sz="11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00" dirty="0"/>
          </a:p>
          <a:p>
            <a:pPr marL="0" indent="0">
              <a:lnSpc>
                <a:spcPts val="1650"/>
              </a:lnSpc>
              <a:buNone/>
            </a:pPr>
            <a:r>
              <a:rPr lang="en-US" sz="11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mochila.add(</a:t>
            </a:r>
            <a:r>
              <a:rPr lang="en-US" sz="1100" dirty="0">
                <a:solidFill>
                  <a:srgbClr val="FF9E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11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100" dirty="0">
                <a:solidFill>
                  <a:srgbClr val="B5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"mapa"</a:t>
            </a:r>
            <a:r>
              <a:rPr lang="en-US" sz="11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00" dirty="0"/>
          </a:p>
          <a:p>
            <a:pPr marL="0" indent="0">
              <a:lnSpc>
                <a:spcPts val="1650"/>
              </a:lnSpc>
              <a:buNone/>
            </a:pPr>
            <a:r>
              <a:rPr lang="en-US" sz="11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mochila.set(</a:t>
            </a:r>
            <a:r>
              <a:rPr lang="en-US" sz="1100" dirty="0">
                <a:solidFill>
                  <a:srgbClr val="FF9E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r>
              <a:rPr lang="en-US" sz="11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100" dirty="0">
                <a:solidFill>
                  <a:srgbClr val="B5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"escudo"</a:t>
            </a:r>
            <a:r>
              <a:rPr lang="en-US" sz="11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00" dirty="0"/>
          </a:p>
          <a:p>
            <a:pPr marL="0" indent="0">
              <a:lnSpc>
                <a:spcPts val="1650"/>
              </a:lnSpc>
              <a:buNone/>
            </a:pPr>
            <a:r>
              <a:rPr lang="en-US" sz="11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mochila.remove(</a:t>
            </a:r>
            <a:r>
              <a:rPr lang="en-US" sz="1100" dirty="0">
                <a:solidFill>
                  <a:srgbClr val="B5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"mapa"</a:t>
            </a:r>
            <a:r>
              <a:rPr lang="en-US" sz="11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00" dirty="0"/>
          </a:p>
          <a:p>
            <a:pPr marL="0" indent="0">
              <a:lnSpc>
                <a:spcPts val="1650"/>
              </a:lnSpc>
              <a:buNone/>
            </a:pPr>
            <a:r>
              <a:rPr lang="en-US" sz="1100" dirty="0">
                <a:solidFill>
                  <a:srgbClr val="7F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</a:t>
            </a:r>
            <a:r>
              <a:rPr lang="en-US" sz="11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.out.println(mochila + </a:t>
            </a:r>
            <a:r>
              <a:rPr lang="en-US" sz="1100" dirty="0">
                <a:solidFill>
                  <a:srgbClr val="B5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"</a:t>
            </a:r>
            <a:r>
              <a:rPr lang="en-US" sz="11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mochila.size());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5669280" y="1371600"/>
            <a:ext cx="3017520" cy="2606040"/>
          </a:xfrm>
          <a:prstGeom prst="roundRect">
            <a:avLst>
              <a:gd name="adj" fmla="val 3509"/>
            </a:avLst>
          </a:prstGeom>
          <a:solidFill>
            <a:srgbClr val="16223F"/>
          </a:solidFill>
          <a:ln w="12700">
            <a:solidFill>
              <a:srgbClr val="16223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97880" y="1600200"/>
            <a:ext cx="548640" cy="54864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5897880" y="2286000"/>
            <a:ext cx="2651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imprime exactamente?</a:t>
            </a:r>
            <a:endParaRPr lang="en-US" sz="1250" dirty="0"/>
          </a:p>
          <a:p>
            <a:pPr marL="0" indent="0">
              <a:buNone/>
            </a:pPr>
            <a:r>
              <a:rPr lang="en-US" sz="6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Escriban la salida en un papel, sin ejecutar el código.</a:t>
            </a:r>
            <a:endParaRPr lang="en-US" sz="1250" dirty="0"/>
          </a:p>
          <a:p>
            <a:pPr marL="0" indent="0">
              <a:buNone/>
            </a:pPr>
            <a:r>
              <a:rPr lang="en-US" sz="6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FFC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Salida exacta: +10 pts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C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la lista correcta: +5 pts</a:t>
            </a:r>
            <a:endParaRPr lang="en-US" sz="125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420624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868680" y="4206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C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segundos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15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975104" cy="292608"/>
          </a:xfrm>
          <a:prstGeom prst="roundRect">
            <a:avLst>
              <a:gd name="adj" fmla="val 50000"/>
            </a:avLst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20040"/>
            <a:ext cx="201168" cy="20116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04672" y="274320"/>
            <a:ext cx="1609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0B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JUEGO 2 · RESPUESTA</a:t>
            </a:r>
            <a:endParaRPr lang="en-US" sz="105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685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Paso a paso por la mochila</a:t>
            </a:r>
            <a:endParaRPr lang="en-US" sz="2800" dirty="0"/>
          </a:p>
        </p:txBody>
      </p:sp>
      <p:pic>
        <p:nvPicPr>
          <p:cNvPr id="6" name="Image 1" descr="/home/claude/build/logo_l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0" y="4754880"/>
            <a:ext cx="731520" cy="18288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57200" y="146304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add("espada")</a:t>
            </a:r>
            <a:endParaRPr lang="en-US" sz="1150" dirty="0"/>
          </a:p>
        </p:txBody>
      </p:sp>
      <p:sp>
        <p:nvSpPr>
          <p:cNvPr id="8" name="Shape 4"/>
          <p:cNvSpPr/>
          <p:nvPr/>
        </p:nvSpPr>
        <p:spPr>
          <a:xfrm>
            <a:off x="2926080" y="1463040"/>
            <a:ext cx="868680" cy="347472"/>
          </a:xfrm>
          <a:prstGeom prst="roundRect">
            <a:avLst>
              <a:gd name="adj" fmla="val 15789"/>
            </a:avLst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Text 5"/>
          <p:cNvSpPr txBox="1"/>
          <p:nvPr/>
        </p:nvSpPr>
        <p:spPr>
          <a:xfrm>
            <a:off x="2926080" y="1463040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espada</a:t>
            </a:r>
            <a:endParaRPr lang="en-US" sz="1050" dirty="0"/>
          </a:p>
        </p:txBody>
      </p:sp>
      <p:sp>
        <p:nvSpPr>
          <p:cNvPr id="10" name="Text 6"/>
          <p:cNvSpPr txBox="1"/>
          <p:nvPr/>
        </p:nvSpPr>
        <p:spPr>
          <a:xfrm>
            <a:off x="2926080" y="1280160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8FA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800" dirty="0"/>
          </a:p>
        </p:txBody>
      </p:sp>
      <p:sp>
        <p:nvSpPr>
          <p:cNvPr id="11" name="Text 7"/>
          <p:cNvSpPr txBox="1"/>
          <p:nvPr/>
        </p:nvSpPr>
        <p:spPr>
          <a:xfrm>
            <a:off x="457200" y="206654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add("poción")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2926080" y="2066544"/>
            <a:ext cx="868680" cy="347472"/>
          </a:xfrm>
          <a:prstGeom prst="roundRect">
            <a:avLst>
              <a:gd name="adj" fmla="val 15789"/>
            </a:avLst>
          </a:prstGeom>
          <a:solidFill>
            <a:srgbClr val="16223F"/>
          </a:solidFill>
          <a:ln w="12700">
            <a:solidFill>
              <a:srgbClr val="34426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Text 9"/>
          <p:cNvSpPr txBox="1"/>
          <p:nvPr/>
        </p:nvSpPr>
        <p:spPr>
          <a:xfrm>
            <a:off x="2926080" y="2066544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espada</a:t>
            </a:r>
            <a:endParaRPr lang="en-US" sz="1050" dirty="0"/>
          </a:p>
        </p:txBody>
      </p:sp>
      <p:sp>
        <p:nvSpPr>
          <p:cNvPr id="14" name="Text 10"/>
          <p:cNvSpPr txBox="1"/>
          <p:nvPr/>
        </p:nvSpPr>
        <p:spPr>
          <a:xfrm>
            <a:off x="2926080" y="1883664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8FA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800" dirty="0"/>
          </a:p>
        </p:txBody>
      </p:sp>
      <p:sp>
        <p:nvSpPr>
          <p:cNvPr id="15" name="Shape 11"/>
          <p:cNvSpPr/>
          <p:nvPr/>
        </p:nvSpPr>
        <p:spPr>
          <a:xfrm>
            <a:off x="3867912" y="2066544"/>
            <a:ext cx="868680" cy="347472"/>
          </a:xfrm>
          <a:prstGeom prst="roundRect">
            <a:avLst>
              <a:gd name="adj" fmla="val 15789"/>
            </a:avLst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6" name="Text 12"/>
          <p:cNvSpPr txBox="1"/>
          <p:nvPr/>
        </p:nvSpPr>
        <p:spPr>
          <a:xfrm>
            <a:off x="3867912" y="2066544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poción</a:t>
            </a:r>
            <a:endParaRPr lang="en-US" sz="1050" dirty="0"/>
          </a:p>
        </p:txBody>
      </p:sp>
      <p:sp>
        <p:nvSpPr>
          <p:cNvPr id="17" name="Text 13"/>
          <p:cNvSpPr txBox="1"/>
          <p:nvPr/>
        </p:nvSpPr>
        <p:spPr>
          <a:xfrm>
            <a:off x="3867912" y="1883664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8FA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800" dirty="0"/>
          </a:p>
        </p:txBody>
      </p:sp>
      <p:sp>
        <p:nvSpPr>
          <p:cNvPr id="18" name="Text 14"/>
          <p:cNvSpPr txBox="1"/>
          <p:nvPr/>
        </p:nvSpPr>
        <p:spPr>
          <a:xfrm>
            <a:off x="457200" y="267004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add(0, "mapa")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2926080" y="2670048"/>
            <a:ext cx="868680" cy="347472"/>
          </a:xfrm>
          <a:prstGeom prst="roundRect">
            <a:avLst>
              <a:gd name="adj" fmla="val 15789"/>
            </a:avLst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0" name="Text 16"/>
          <p:cNvSpPr txBox="1"/>
          <p:nvPr/>
        </p:nvSpPr>
        <p:spPr>
          <a:xfrm>
            <a:off x="2926080" y="2670048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</a:t>
            </a:r>
            <a:endParaRPr lang="en-US" sz="1050" dirty="0"/>
          </a:p>
        </p:txBody>
      </p:sp>
      <p:sp>
        <p:nvSpPr>
          <p:cNvPr id="21" name="Text 17"/>
          <p:cNvSpPr txBox="1"/>
          <p:nvPr/>
        </p:nvSpPr>
        <p:spPr>
          <a:xfrm>
            <a:off x="2926080" y="2487168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8FA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800" dirty="0"/>
          </a:p>
        </p:txBody>
      </p:sp>
      <p:sp>
        <p:nvSpPr>
          <p:cNvPr id="22" name="Shape 18"/>
          <p:cNvSpPr/>
          <p:nvPr/>
        </p:nvSpPr>
        <p:spPr>
          <a:xfrm>
            <a:off x="3867912" y="2670048"/>
            <a:ext cx="868680" cy="347472"/>
          </a:xfrm>
          <a:prstGeom prst="roundRect">
            <a:avLst>
              <a:gd name="adj" fmla="val 15789"/>
            </a:avLst>
          </a:prstGeom>
          <a:solidFill>
            <a:srgbClr val="16223F"/>
          </a:solidFill>
          <a:ln w="12700">
            <a:solidFill>
              <a:srgbClr val="34426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3" name="Text 19"/>
          <p:cNvSpPr txBox="1"/>
          <p:nvPr/>
        </p:nvSpPr>
        <p:spPr>
          <a:xfrm>
            <a:off x="3867912" y="2670048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espada</a:t>
            </a:r>
            <a:endParaRPr lang="en-US" sz="1050" dirty="0"/>
          </a:p>
        </p:txBody>
      </p:sp>
      <p:sp>
        <p:nvSpPr>
          <p:cNvPr id="24" name="Text 20"/>
          <p:cNvSpPr txBox="1"/>
          <p:nvPr/>
        </p:nvSpPr>
        <p:spPr>
          <a:xfrm>
            <a:off x="3867912" y="2487168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8FA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800" dirty="0"/>
          </a:p>
        </p:txBody>
      </p:sp>
      <p:sp>
        <p:nvSpPr>
          <p:cNvPr id="25" name="Shape 21"/>
          <p:cNvSpPr/>
          <p:nvPr/>
        </p:nvSpPr>
        <p:spPr>
          <a:xfrm>
            <a:off x="4809744" y="2670048"/>
            <a:ext cx="868680" cy="347472"/>
          </a:xfrm>
          <a:prstGeom prst="roundRect">
            <a:avLst>
              <a:gd name="adj" fmla="val 15789"/>
            </a:avLst>
          </a:prstGeom>
          <a:solidFill>
            <a:srgbClr val="16223F"/>
          </a:solidFill>
          <a:ln w="12700">
            <a:solidFill>
              <a:srgbClr val="34426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6" name="Text 22"/>
          <p:cNvSpPr txBox="1"/>
          <p:nvPr/>
        </p:nvSpPr>
        <p:spPr>
          <a:xfrm>
            <a:off x="4809744" y="2670048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poción</a:t>
            </a:r>
            <a:endParaRPr lang="en-US" sz="1050" dirty="0"/>
          </a:p>
        </p:txBody>
      </p:sp>
      <p:sp>
        <p:nvSpPr>
          <p:cNvPr id="27" name="Text 23"/>
          <p:cNvSpPr txBox="1"/>
          <p:nvPr/>
        </p:nvSpPr>
        <p:spPr>
          <a:xfrm>
            <a:off x="4809744" y="2487168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8FA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800" dirty="0"/>
          </a:p>
        </p:txBody>
      </p:sp>
      <p:sp>
        <p:nvSpPr>
          <p:cNvPr id="28" name="Text 24"/>
          <p:cNvSpPr txBox="1"/>
          <p:nvPr/>
        </p:nvSpPr>
        <p:spPr>
          <a:xfrm>
            <a:off x="457200" y="327355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set(2, "escudo")</a:t>
            </a:r>
            <a:endParaRPr lang="en-US" sz="1150" dirty="0"/>
          </a:p>
        </p:txBody>
      </p:sp>
      <p:sp>
        <p:nvSpPr>
          <p:cNvPr id="29" name="Shape 25"/>
          <p:cNvSpPr/>
          <p:nvPr/>
        </p:nvSpPr>
        <p:spPr>
          <a:xfrm>
            <a:off x="2926080" y="3273552"/>
            <a:ext cx="868680" cy="347472"/>
          </a:xfrm>
          <a:prstGeom prst="roundRect">
            <a:avLst>
              <a:gd name="adj" fmla="val 15789"/>
            </a:avLst>
          </a:prstGeom>
          <a:solidFill>
            <a:srgbClr val="16223F"/>
          </a:solidFill>
          <a:ln w="12700">
            <a:solidFill>
              <a:srgbClr val="34426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0" name="Text 26"/>
          <p:cNvSpPr txBox="1"/>
          <p:nvPr/>
        </p:nvSpPr>
        <p:spPr>
          <a:xfrm>
            <a:off x="2926080" y="3273552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</a:t>
            </a:r>
            <a:endParaRPr lang="en-US" sz="1050" dirty="0"/>
          </a:p>
        </p:txBody>
      </p:sp>
      <p:sp>
        <p:nvSpPr>
          <p:cNvPr id="31" name="Text 27"/>
          <p:cNvSpPr txBox="1"/>
          <p:nvPr/>
        </p:nvSpPr>
        <p:spPr>
          <a:xfrm>
            <a:off x="2926080" y="3090672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8FA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800" dirty="0"/>
          </a:p>
        </p:txBody>
      </p:sp>
      <p:sp>
        <p:nvSpPr>
          <p:cNvPr id="32" name="Shape 28"/>
          <p:cNvSpPr/>
          <p:nvPr/>
        </p:nvSpPr>
        <p:spPr>
          <a:xfrm>
            <a:off x="3867912" y="3273552"/>
            <a:ext cx="868680" cy="347472"/>
          </a:xfrm>
          <a:prstGeom prst="roundRect">
            <a:avLst>
              <a:gd name="adj" fmla="val 15789"/>
            </a:avLst>
          </a:prstGeom>
          <a:solidFill>
            <a:srgbClr val="16223F"/>
          </a:solidFill>
          <a:ln w="12700">
            <a:solidFill>
              <a:srgbClr val="34426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3" name="Text 29"/>
          <p:cNvSpPr txBox="1"/>
          <p:nvPr/>
        </p:nvSpPr>
        <p:spPr>
          <a:xfrm>
            <a:off x="3867912" y="3273552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espada</a:t>
            </a:r>
            <a:endParaRPr lang="en-US" sz="1050" dirty="0"/>
          </a:p>
        </p:txBody>
      </p:sp>
      <p:sp>
        <p:nvSpPr>
          <p:cNvPr id="34" name="Text 30"/>
          <p:cNvSpPr txBox="1"/>
          <p:nvPr/>
        </p:nvSpPr>
        <p:spPr>
          <a:xfrm>
            <a:off x="3867912" y="3090672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8FA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800" dirty="0"/>
          </a:p>
        </p:txBody>
      </p:sp>
      <p:sp>
        <p:nvSpPr>
          <p:cNvPr id="35" name="Shape 31"/>
          <p:cNvSpPr/>
          <p:nvPr/>
        </p:nvSpPr>
        <p:spPr>
          <a:xfrm>
            <a:off x="4809744" y="3273552"/>
            <a:ext cx="868680" cy="347472"/>
          </a:xfrm>
          <a:prstGeom prst="roundRect">
            <a:avLst>
              <a:gd name="adj" fmla="val 15789"/>
            </a:avLst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6" name="Text 32"/>
          <p:cNvSpPr txBox="1"/>
          <p:nvPr/>
        </p:nvSpPr>
        <p:spPr>
          <a:xfrm>
            <a:off x="4809744" y="3273552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escudo</a:t>
            </a:r>
            <a:endParaRPr lang="en-US" sz="1050" dirty="0"/>
          </a:p>
        </p:txBody>
      </p:sp>
      <p:sp>
        <p:nvSpPr>
          <p:cNvPr id="37" name="Text 33"/>
          <p:cNvSpPr txBox="1"/>
          <p:nvPr/>
        </p:nvSpPr>
        <p:spPr>
          <a:xfrm>
            <a:off x="4809744" y="3090672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8FA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800" dirty="0"/>
          </a:p>
        </p:txBody>
      </p:sp>
      <p:sp>
        <p:nvSpPr>
          <p:cNvPr id="38" name="Text 34"/>
          <p:cNvSpPr txBox="1"/>
          <p:nvPr/>
        </p:nvSpPr>
        <p:spPr>
          <a:xfrm>
            <a:off x="457200" y="387705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remove("mapa")</a:t>
            </a:r>
            <a:endParaRPr lang="en-US" sz="1150" dirty="0"/>
          </a:p>
        </p:txBody>
      </p:sp>
      <p:sp>
        <p:nvSpPr>
          <p:cNvPr id="39" name="Shape 35"/>
          <p:cNvSpPr/>
          <p:nvPr/>
        </p:nvSpPr>
        <p:spPr>
          <a:xfrm>
            <a:off x="2926080" y="3877056"/>
            <a:ext cx="868680" cy="347472"/>
          </a:xfrm>
          <a:prstGeom prst="roundRect">
            <a:avLst>
              <a:gd name="adj" fmla="val 15789"/>
            </a:avLst>
          </a:prstGeom>
          <a:solidFill>
            <a:srgbClr val="16223F"/>
          </a:solidFill>
          <a:ln w="12700">
            <a:solidFill>
              <a:srgbClr val="34426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0" name="Text 36"/>
          <p:cNvSpPr txBox="1"/>
          <p:nvPr/>
        </p:nvSpPr>
        <p:spPr>
          <a:xfrm>
            <a:off x="2926080" y="3877056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espada</a:t>
            </a:r>
            <a:endParaRPr lang="en-US" sz="1050" dirty="0"/>
          </a:p>
        </p:txBody>
      </p:sp>
      <p:sp>
        <p:nvSpPr>
          <p:cNvPr id="41" name="Text 37"/>
          <p:cNvSpPr txBox="1"/>
          <p:nvPr/>
        </p:nvSpPr>
        <p:spPr>
          <a:xfrm>
            <a:off x="2926080" y="3694176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8FA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800" dirty="0"/>
          </a:p>
        </p:txBody>
      </p:sp>
      <p:sp>
        <p:nvSpPr>
          <p:cNvPr id="42" name="Shape 38"/>
          <p:cNvSpPr/>
          <p:nvPr/>
        </p:nvSpPr>
        <p:spPr>
          <a:xfrm>
            <a:off x="3867912" y="3877056"/>
            <a:ext cx="868680" cy="347472"/>
          </a:xfrm>
          <a:prstGeom prst="roundRect">
            <a:avLst>
              <a:gd name="adj" fmla="val 15789"/>
            </a:avLst>
          </a:prstGeom>
          <a:solidFill>
            <a:srgbClr val="16223F"/>
          </a:solidFill>
          <a:ln w="12700">
            <a:solidFill>
              <a:srgbClr val="34426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3" name="Text 39"/>
          <p:cNvSpPr txBox="1"/>
          <p:nvPr/>
        </p:nvSpPr>
        <p:spPr>
          <a:xfrm>
            <a:off x="3867912" y="3877056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escudo</a:t>
            </a:r>
            <a:endParaRPr lang="en-US" sz="1050" dirty="0"/>
          </a:p>
        </p:txBody>
      </p:sp>
      <p:sp>
        <p:nvSpPr>
          <p:cNvPr id="44" name="Text 40"/>
          <p:cNvSpPr txBox="1"/>
          <p:nvPr/>
        </p:nvSpPr>
        <p:spPr>
          <a:xfrm>
            <a:off x="3867912" y="3694176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8FA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800" dirty="0"/>
          </a:p>
        </p:txBody>
      </p:sp>
      <p:sp>
        <p:nvSpPr>
          <p:cNvPr id="45" name="Shape 41"/>
          <p:cNvSpPr/>
          <p:nvPr/>
        </p:nvSpPr>
        <p:spPr>
          <a:xfrm>
            <a:off x="5852160" y="1417320"/>
            <a:ext cx="2834640" cy="2468880"/>
          </a:xfrm>
          <a:prstGeom prst="roundRect">
            <a:avLst>
              <a:gd name="adj" fmla="val 3704"/>
            </a:avLst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6" name="Text 42"/>
          <p:cNvSpPr txBox="1"/>
          <p:nvPr/>
        </p:nvSpPr>
        <p:spPr>
          <a:xfrm>
            <a:off x="6035040" y="16002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B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consola muestra</a:t>
            </a:r>
            <a:endParaRPr lang="en-US" sz="1200" dirty="0"/>
          </a:p>
        </p:txBody>
      </p:sp>
      <p:sp>
        <p:nvSpPr>
          <p:cNvPr id="47" name="Text 43"/>
          <p:cNvSpPr txBox="1"/>
          <p:nvPr/>
        </p:nvSpPr>
        <p:spPr>
          <a:xfrm>
            <a:off x="6035040" y="20116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B1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[espada, escudo] 2</a:t>
            </a:r>
            <a:endParaRPr lang="en-US" sz="1700" dirty="0"/>
          </a:p>
        </p:txBody>
      </p:sp>
      <p:sp>
        <p:nvSpPr>
          <p:cNvPr id="48" name="Text 44"/>
          <p:cNvSpPr txBox="1"/>
          <p:nvPr/>
        </p:nvSpPr>
        <p:spPr>
          <a:xfrm>
            <a:off x="6035040" y="2697480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0B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trampa: al insertar "mapa" en 0, "poción" pasa al índice 2 y es la que se reemplaza.</a:t>
            </a:r>
            <a:endParaRPr lang="en-US" sz="1150" dirty="0"/>
          </a:p>
        </p:txBody>
      </p:sp>
      <p:sp>
        <p:nvSpPr>
          <p:cNvPr id="49" name="Text 45"/>
          <p:cNvSpPr txBox="1"/>
          <p:nvPr/>
        </p:nvSpPr>
        <p:spPr>
          <a:xfrm>
            <a:off x="457200" y="44348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8F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Fila en amarillo = elemento que cambió en ese paso.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15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2468880" cy="292608"/>
          </a:xfrm>
          <a:prstGeom prst="roundRect">
            <a:avLst>
              <a:gd name="adj" fmla="val 50000"/>
            </a:avLst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20040"/>
            <a:ext cx="201168" cy="20116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04672" y="27432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0B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JUEGO 3 · V O F RELÁMPAGO</a:t>
            </a:r>
            <a:endParaRPr lang="en-US" sz="105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685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pie = Verdadero · Sentado = Falso</a:t>
            </a:r>
            <a:endParaRPr lang="en-US" sz="2800" dirty="0"/>
          </a:p>
        </p:txBody>
      </p:sp>
      <p:pic>
        <p:nvPicPr>
          <p:cNvPr id="6" name="Image 1" descr="/home/claude/build/logo_l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0" y="4754880"/>
            <a:ext cx="731520" cy="18288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57200" y="1371600"/>
            <a:ext cx="4023360" cy="896112"/>
          </a:xfrm>
          <a:prstGeom prst="roundRect">
            <a:avLst>
              <a:gd name="adj" fmla="val 10204"/>
            </a:avLst>
          </a:prstGeom>
          <a:solidFill>
            <a:srgbClr val="16223F"/>
          </a:solidFill>
          <a:ln w="12700">
            <a:solidFill>
              <a:srgbClr val="16223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Shape 4"/>
          <p:cNvSpPr/>
          <p:nvPr/>
        </p:nvSpPr>
        <p:spPr>
          <a:xfrm>
            <a:off x="621792" y="1591056"/>
            <a:ext cx="457200" cy="457200"/>
          </a:xfrm>
          <a:prstGeom prst="ellipse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Text 5"/>
          <p:cNvSpPr txBox="1"/>
          <p:nvPr/>
        </p:nvSpPr>
        <p:spPr>
          <a:xfrm>
            <a:off x="621792" y="15910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1234440" y="1444752"/>
            <a:ext cx="3108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ArrayList&lt;int&gt; es una declaración válida.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4663440" y="1371600"/>
            <a:ext cx="4023360" cy="896112"/>
          </a:xfrm>
          <a:prstGeom prst="roundRect">
            <a:avLst>
              <a:gd name="adj" fmla="val 10204"/>
            </a:avLst>
          </a:prstGeom>
          <a:solidFill>
            <a:srgbClr val="16223F"/>
          </a:solidFill>
          <a:ln w="12700">
            <a:solidFill>
              <a:srgbClr val="16223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Shape 8"/>
          <p:cNvSpPr/>
          <p:nvPr/>
        </p:nvSpPr>
        <p:spPr>
          <a:xfrm>
            <a:off x="4828032" y="1591056"/>
            <a:ext cx="457200" cy="457200"/>
          </a:xfrm>
          <a:prstGeom prst="ellipse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Text 9"/>
          <p:cNvSpPr txBox="1"/>
          <p:nvPr/>
        </p:nvSpPr>
        <p:spPr>
          <a:xfrm>
            <a:off x="4828032" y="15910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5440680" y="1444752"/>
            <a:ext cx="3108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size() devuelve la cantidad de elementos de la lista.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457200" y="2395728"/>
            <a:ext cx="4023360" cy="896112"/>
          </a:xfrm>
          <a:prstGeom prst="roundRect">
            <a:avLst>
              <a:gd name="adj" fmla="val 10204"/>
            </a:avLst>
          </a:prstGeom>
          <a:solidFill>
            <a:srgbClr val="16223F"/>
          </a:solidFill>
          <a:ln w="12700">
            <a:solidFill>
              <a:srgbClr val="16223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6" name="Shape 12"/>
          <p:cNvSpPr/>
          <p:nvPr/>
        </p:nvSpPr>
        <p:spPr>
          <a:xfrm>
            <a:off x="621792" y="2615184"/>
            <a:ext cx="457200" cy="457200"/>
          </a:xfrm>
          <a:prstGeom prst="ellipse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7" name="Text 13"/>
          <p:cNvSpPr txBox="1"/>
          <p:nvPr/>
        </p:nvSpPr>
        <p:spPr>
          <a:xfrm>
            <a:off x="621792" y="26151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4"/>
          <p:cNvSpPr txBox="1"/>
          <p:nvPr/>
        </p:nvSpPr>
        <p:spPr>
          <a:xfrm>
            <a:off x="1234440" y="2468880"/>
            <a:ext cx="3108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atributo private se puede leer desde otra clase usando un getter public.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4663440" y="2395728"/>
            <a:ext cx="4023360" cy="896112"/>
          </a:xfrm>
          <a:prstGeom prst="roundRect">
            <a:avLst>
              <a:gd name="adj" fmla="val 10204"/>
            </a:avLst>
          </a:prstGeom>
          <a:solidFill>
            <a:srgbClr val="16223F"/>
          </a:solidFill>
          <a:ln w="12700">
            <a:solidFill>
              <a:srgbClr val="16223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0" name="Shape 16"/>
          <p:cNvSpPr/>
          <p:nvPr/>
        </p:nvSpPr>
        <p:spPr>
          <a:xfrm>
            <a:off x="4828032" y="2615184"/>
            <a:ext cx="457200" cy="457200"/>
          </a:xfrm>
          <a:prstGeom prst="ellipse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1" name="Text 17"/>
          <p:cNvSpPr txBox="1"/>
          <p:nvPr/>
        </p:nvSpPr>
        <p:spPr>
          <a:xfrm>
            <a:off x="4828032" y="26151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18"/>
          <p:cNvSpPr txBox="1"/>
          <p:nvPr/>
        </p:nvSpPr>
        <p:spPr>
          <a:xfrm>
            <a:off x="5440680" y="2468880"/>
            <a:ext cx="3108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lista.get(lista.size()) devuelve el último elemento.</a:t>
            </a:r>
            <a:endParaRPr lang="en-US" sz="1250" dirty="0"/>
          </a:p>
        </p:txBody>
      </p:sp>
      <p:sp>
        <p:nvSpPr>
          <p:cNvPr id="23" name="Shape 19"/>
          <p:cNvSpPr/>
          <p:nvPr/>
        </p:nvSpPr>
        <p:spPr>
          <a:xfrm>
            <a:off x="457200" y="3419856"/>
            <a:ext cx="4023360" cy="896112"/>
          </a:xfrm>
          <a:prstGeom prst="roundRect">
            <a:avLst>
              <a:gd name="adj" fmla="val 10204"/>
            </a:avLst>
          </a:prstGeom>
          <a:solidFill>
            <a:srgbClr val="16223F"/>
          </a:solidFill>
          <a:ln w="12700">
            <a:solidFill>
              <a:srgbClr val="16223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4" name="Shape 20"/>
          <p:cNvSpPr/>
          <p:nvPr/>
        </p:nvSpPr>
        <p:spPr>
          <a:xfrm>
            <a:off x="621792" y="3639312"/>
            <a:ext cx="457200" cy="457200"/>
          </a:xfrm>
          <a:prstGeom prst="ellipse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5" name="Text 21"/>
          <p:cNvSpPr txBox="1"/>
          <p:nvPr/>
        </p:nvSpPr>
        <p:spPr>
          <a:xfrm>
            <a:off x="621792" y="36393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00" dirty="0"/>
          </a:p>
        </p:txBody>
      </p:sp>
      <p:sp>
        <p:nvSpPr>
          <p:cNvPr id="26" name="Text 22"/>
          <p:cNvSpPr txBox="1"/>
          <p:nvPr/>
        </p:nvSpPr>
        <p:spPr>
          <a:xfrm>
            <a:off x="1234440" y="3493008"/>
            <a:ext cx="3108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remove("x") elimina todas las "x" de la lista.</a:t>
            </a:r>
            <a:endParaRPr lang="en-US" sz="1250" dirty="0"/>
          </a:p>
        </p:txBody>
      </p:sp>
      <p:sp>
        <p:nvSpPr>
          <p:cNvPr id="27" name="Shape 23"/>
          <p:cNvSpPr/>
          <p:nvPr/>
        </p:nvSpPr>
        <p:spPr>
          <a:xfrm>
            <a:off x="4663440" y="3419856"/>
            <a:ext cx="4023360" cy="896112"/>
          </a:xfrm>
          <a:prstGeom prst="roundRect">
            <a:avLst>
              <a:gd name="adj" fmla="val 10204"/>
            </a:avLst>
          </a:prstGeom>
          <a:solidFill>
            <a:srgbClr val="16223F"/>
          </a:solidFill>
          <a:ln w="12700">
            <a:solidFill>
              <a:srgbClr val="16223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8" name="Shape 24"/>
          <p:cNvSpPr/>
          <p:nvPr/>
        </p:nvSpPr>
        <p:spPr>
          <a:xfrm>
            <a:off x="4828032" y="3639312"/>
            <a:ext cx="457200" cy="457200"/>
          </a:xfrm>
          <a:prstGeom prst="ellipse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9" name="Text 25"/>
          <p:cNvSpPr txBox="1"/>
          <p:nvPr/>
        </p:nvSpPr>
        <p:spPr>
          <a:xfrm>
            <a:off x="4828032" y="36393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500" dirty="0"/>
          </a:p>
        </p:txBody>
      </p:sp>
      <p:sp>
        <p:nvSpPr>
          <p:cNvPr id="30" name="Text 26"/>
          <p:cNvSpPr txBox="1"/>
          <p:nvPr/>
        </p:nvSpPr>
        <p:spPr>
          <a:xfrm>
            <a:off x="5440680" y="3493008"/>
            <a:ext cx="3108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atributo private con getter y sin setter es de solo lectura desde fuera.</a:t>
            </a:r>
            <a:endParaRPr lang="en-US" sz="1250" dirty="0"/>
          </a:p>
        </p:txBody>
      </p:sp>
      <p:pic>
        <p:nvPicPr>
          <p:cNvPr id="3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4480560"/>
            <a:ext cx="274320" cy="274320"/>
          </a:xfrm>
          <a:prstGeom prst="rect">
            <a:avLst/>
          </a:prstGeom>
        </p:spPr>
      </p:pic>
      <p:sp>
        <p:nvSpPr>
          <p:cNvPr id="32" name="Text 27"/>
          <p:cNvSpPr txBox="1"/>
          <p:nvPr/>
        </p:nvSpPr>
        <p:spPr>
          <a:xfrm>
            <a:off x="822960" y="448056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C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segundos por afirmación · +5 pts por cada integrante que acierte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15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2057400" cy="292608"/>
          </a:xfrm>
          <a:prstGeom prst="roundRect">
            <a:avLst>
              <a:gd name="adj" fmla="val 50000"/>
            </a:avLst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20040"/>
            <a:ext cx="201168" cy="20116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04672" y="27432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0B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JUEGO 3 · RESPUESTAS</a:t>
            </a:r>
            <a:endParaRPr lang="en-US" sz="105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685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¿Cuántas acertaron?</a:t>
            </a:r>
            <a:endParaRPr lang="en-US" sz="2800" dirty="0"/>
          </a:p>
        </p:txBody>
      </p:sp>
      <p:pic>
        <p:nvPicPr>
          <p:cNvPr id="6" name="Image 1" descr="/home/claude/build/logo_l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0" y="4754880"/>
            <a:ext cx="731520" cy="18288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57200" y="1371600"/>
            <a:ext cx="4023360" cy="896112"/>
          </a:xfrm>
          <a:prstGeom prst="roundRect">
            <a:avLst>
              <a:gd name="adj" fmla="val 10204"/>
            </a:avLst>
          </a:prstGeom>
          <a:solidFill>
            <a:srgbClr val="16223F"/>
          </a:solidFill>
          <a:ln w="12700">
            <a:solidFill>
              <a:srgbClr val="16223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Shape 4"/>
          <p:cNvSpPr/>
          <p:nvPr/>
        </p:nvSpPr>
        <p:spPr>
          <a:xfrm>
            <a:off x="621792" y="1591056"/>
            <a:ext cx="457200" cy="457200"/>
          </a:xfrm>
          <a:prstGeom prst="ellipse">
            <a:avLst/>
          </a:prstGeom>
          <a:solidFill>
            <a:srgbClr val="D9434A"/>
          </a:solidFill>
          <a:ln w="12700">
            <a:solidFill>
              <a:srgbClr val="D9434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Text 5"/>
          <p:cNvSpPr txBox="1"/>
          <p:nvPr/>
        </p:nvSpPr>
        <p:spPr>
          <a:xfrm>
            <a:off x="621792" y="15910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1234440" y="1444752"/>
            <a:ext cx="3108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ArrayList&lt;int&gt; es una declaración válida.</a:t>
            </a:r>
            <a:endParaRPr lang="en-US" sz="1050" dirty="0"/>
          </a:p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Debe ser ArrayList&lt;Integer&gt;.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4663440" y="1371600"/>
            <a:ext cx="4023360" cy="896112"/>
          </a:xfrm>
          <a:prstGeom prst="roundRect">
            <a:avLst>
              <a:gd name="adj" fmla="val 10204"/>
            </a:avLst>
          </a:prstGeom>
          <a:solidFill>
            <a:srgbClr val="16223F"/>
          </a:solidFill>
          <a:ln w="12700">
            <a:solidFill>
              <a:srgbClr val="16223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Shape 8"/>
          <p:cNvSpPr/>
          <p:nvPr/>
        </p:nvSpPr>
        <p:spPr>
          <a:xfrm>
            <a:off x="4828032" y="1591056"/>
            <a:ext cx="457200" cy="457200"/>
          </a:xfrm>
          <a:prstGeom prst="ellipse">
            <a:avLst/>
          </a:prstGeom>
          <a:solidFill>
            <a:srgbClr val="1F9D63"/>
          </a:solidFill>
          <a:ln w="12700">
            <a:solidFill>
              <a:srgbClr val="1F9D6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Text 9"/>
          <p:cNvSpPr txBox="1"/>
          <p:nvPr/>
        </p:nvSpPr>
        <p:spPr>
          <a:xfrm>
            <a:off x="4828032" y="15910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5440680" y="1444752"/>
            <a:ext cx="3108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size() devuelve la cantidad de elementos de la lista.</a:t>
            </a:r>
            <a:endParaRPr lang="en-US" sz="1050" dirty="0"/>
          </a:p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la capacidad interna.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457200" y="2395728"/>
            <a:ext cx="4023360" cy="896112"/>
          </a:xfrm>
          <a:prstGeom prst="roundRect">
            <a:avLst>
              <a:gd name="adj" fmla="val 10204"/>
            </a:avLst>
          </a:prstGeom>
          <a:solidFill>
            <a:srgbClr val="16223F"/>
          </a:solidFill>
          <a:ln w="12700">
            <a:solidFill>
              <a:srgbClr val="16223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6" name="Shape 12"/>
          <p:cNvSpPr/>
          <p:nvPr/>
        </p:nvSpPr>
        <p:spPr>
          <a:xfrm>
            <a:off x="621792" y="2615184"/>
            <a:ext cx="457200" cy="457200"/>
          </a:xfrm>
          <a:prstGeom prst="ellipse">
            <a:avLst/>
          </a:prstGeom>
          <a:solidFill>
            <a:srgbClr val="1F9D63"/>
          </a:solidFill>
          <a:ln w="12700">
            <a:solidFill>
              <a:srgbClr val="1F9D6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7" name="Text 13"/>
          <p:cNvSpPr txBox="1"/>
          <p:nvPr/>
        </p:nvSpPr>
        <p:spPr>
          <a:xfrm>
            <a:off x="621792" y="26151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1500" dirty="0"/>
          </a:p>
        </p:txBody>
      </p:sp>
      <p:sp>
        <p:nvSpPr>
          <p:cNvPr id="18" name="Text 14"/>
          <p:cNvSpPr txBox="1"/>
          <p:nvPr/>
        </p:nvSpPr>
        <p:spPr>
          <a:xfrm>
            <a:off x="1234440" y="2468880"/>
            <a:ext cx="3108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atributo private se puede leer desde otra clase usando un getter public.</a:t>
            </a:r>
            <a:endParaRPr lang="en-US" sz="1050" dirty="0"/>
          </a:p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Esa es la idea del getter.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4663440" y="2395728"/>
            <a:ext cx="4023360" cy="896112"/>
          </a:xfrm>
          <a:prstGeom prst="roundRect">
            <a:avLst>
              <a:gd name="adj" fmla="val 10204"/>
            </a:avLst>
          </a:prstGeom>
          <a:solidFill>
            <a:srgbClr val="16223F"/>
          </a:solidFill>
          <a:ln w="12700">
            <a:solidFill>
              <a:srgbClr val="16223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0" name="Shape 16"/>
          <p:cNvSpPr/>
          <p:nvPr/>
        </p:nvSpPr>
        <p:spPr>
          <a:xfrm>
            <a:off x="4828032" y="2615184"/>
            <a:ext cx="457200" cy="457200"/>
          </a:xfrm>
          <a:prstGeom prst="ellipse">
            <a:avLst/>
          </a:prstGeom>
          <a:solidFill>
            <a:srgbClr val="D9434A"/>
          </a:solidFill>
          <a:ln w="12700">
            <a:solidFill>
              <a:srgbClr val="D9434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1" name="Text 17"/>
          <p:cNvSpPr txBox="1"/>
          <p:nvPr/>
        </p:nvSpPr>
        <p:spPr>
          <a:xfrm>
            <a:off x="4828032" y="26151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1500" dirty="0"/>
          </a:p>
        </p:txBody>
      </p:sp>
      <p:sp>
        <p:nvSpPr>
          <p:cNvPr id="22" name="Text 18"/>
          <p:cNvSpPr txBox="1"/>
          <p:nvPr/>
        </p:nvSpPr>
        <p:spPr>
          <a:xfrm>
            <a:off x="5440680" y="2468880"/>
            <a:ext cx="3108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lista.get(lista.size()) devuelve el último elemento.</a:t>
            </a:r>
            <a:endParaRPr lang="en-US" sz="1050" dirty="0"/>
          </a:p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Error: el último es size() - 1.</a:t>
            </a:r>
            <a:endParaRPr lang="en-US" sz="1050" dirty="0"/>
          </a:p>
        </p:txBody>
      </p:sp>
      <p:sp>
        <p:nvSpPr>
          <p:cNvPr id="23" name="Shape 19"/>
          <p:cNvSpPr/>
          <p:nvPr/>
        </p:nvSpPr>
        <p:spPr>
          <a:xfrm>
            <a:off x="457200" y="3419856"/>
            <a:ext cx="4023360" cy="896112"/>
          </a:xfrm>
          <a:prstGeom prst="roundRect">
            <a:avLst>
              <a:gd name="adj" fmla="val 10204"/>
            </a:avLst>
          </a:prstGeom>
          <a:solidFill>
            <a:srgbClr val="16223F"/>
          </a:solidFill>
          <a:ln w="12700">
            <a:solidFill>
              <a:srgbClr val="16223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4" name="Shape 20"/>
          <p:cNvSpPr/>
          <p:nvPr/>
        </p:nvSpPr>
        <p:spPr>
          <a:xfrm>
            <a:off x="621792" y="3639312"/>
            <a:ext cx="457200" cy="457200"/>
          </a:xfrm>
          <a:prstGeom prst="ellipse">
            <a:avLst/>
          </a:prstGeom>
          <a:solidFill>
            <a:srgbClr val="D9434A"/>
          </a:solidFill>
          <a:ln w="12700">
            <a:solidFill>
              <a:srgbClr val="D9434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5" name="Text 21"/>
          <p:cNvSpPr txBox="1"/>
          <p:nvPr/>
        </p:nvSpPr>
        <p:spPr>
          <a:xfrm>
            <a:off x="621792" y="36393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1500" dirty="0"/>
          </a:p>
        </p:txBody>
      </p:sp>
      <p:sp>
        <p:nvSpPr>
          <p:cNvPr id="26" name="Text 22"/>
          <p:cNvSpPr txBox="1"/>
          <p:nvPr/>
        </p:nvSpPr>
        <p:spPr>
          <a:xfrm>
            <a:off x="1234440" y="3493008"/>
            <a:ext cx="3108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remove("x") elimina todas las "x" de la lista.</a:t>
            </a:r>
            <a:endParaRPr lang="en-US" sz="1050" dirty="0"/>
          </a:p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la primera coincidencia.</a:t>
            </a:r>
            <a:endParaRPr lang="en-US" sz="1050" dirty="0"/>
          </a:p>
        </p:txBody>
      </p:sp>
      <p:sp>
        <p:nvSpPr>
          <p:cNvPr id="27" name="Shape 23"/>
          <p:cNvSpPr/>
          <p:nvPr/>
        </p:nvSpPr>
        <p:spPr>
          <a:xfrm>
            <a:off x="4663440" y="3419856"/>
            <a:ext cx="4023360" cy="896112"/>
          </a:xfrm>
          <a:prstGeom prst="roundRect">
            <a:avLst>
              <a:gd name="adj" fmla="val 10204"/>
            </a:avLst>
          </a:prstGeom>
          <a:solidFill>
            <a:srgbClr val="16223F"/>
          </a:solidFill>
          <a:ln w="12700">
            <a:solidFill>
              <a:srgbClr val="16223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8" name="Shape 24"/>
          <p:cNvSpPr/>
          <p:nvPr/>
        </p:nvSpPr>
        <p:spPr>
          <a:xfrm>
            <a:off x="4828032" y="3639312"/>
            <a:ext cx="457200" cy="457200"/>
          </a:xfrm>
          <a:prstGeom prst="ellipse">
            <a:avLst/>
          </a:prstGeom>
          <a:solidFill>
            <a:srgbClr val="1F9D63"/>
          </a:solidFill>
          <a:ln w="12700">
            <a:solidFill>
              <a:srgbClr val="1F9D6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9" name="Text 25"/>
          <p:cNvSpPr txBox="1"/>
          <p:nvPr/>
        </p:nvSpPr>
        <p:spPr>
          <a:xfrm>
            <a:off x="4828032" y="36393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1500" dirty="0"/>
          </a:p>
        </p:txBody>
      </p:sp>
      <p:sp>
        <p:nvSpPr>
          <p:cNvPr id="30" name="Text 26"/>
          <p:cNvSpPr txBox="1"/>
          <p:nvPr/>
        </p:nvSpPr>
        <p:spPr>
          <a:xfrm>
            <a:off x="5440680" y="3493008"/>
            <a:ext cx="3108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atributo private con getter y sin setter es de solo lectura desde fuera.</a:t>
            </a:r>
            <a:endParaRPr lang="en-US" sz="1050" dirty="0"/>
          </a:p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Nadie externo puede cambiarlo.</a:t>
            </a:r>
            <a:endParaRPr lang="en-US" sz="10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57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MISIONES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1206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A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Misión 1: Inventario de la tienda</a:t>
            </a:r>
            <a:endParaRPr lang="en-US" sz="2800" dirty="0"/>
          </a:p>
        </p:txBody>
      </p:sp>
      <p:pic>
        <p:nvPicPr>
          <p:cNvPr id="4" name="Image 0" descr="/home/claude/build/logo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4754880"/>
            <a:ext cx="731520" cy="1828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280160"/>
            <a:ext cx="2834640" cy="3291840"/>
          </a:xfrm>
          <a:prstGeom prst="roundRect">
            <a:avLst>
              <a:gd name="adj" fmla="val 3226"/>
            </a:avLst>
          </a:prstGeom>
          <a:solidFill>
            <a:srgbClr val="0B1530"/>
          </a:solidFill>
          <a:ln w="12700">
            <a:solidFill>
              <a:srgbClr val="0B153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Shape 3"/>
          <p:cNvSpPr/>
          <p:nvPr/>
        </p:nvSpPr>
        <p:spPr>
          <a:xfrm>
            <a:off x="685800" y="1508760"/>
            <a:ext cx="594360" cy="594360"/>
          </a:xfrm>
          <a:prstGeom prst="ellipse">
            <a:avLst/>
          </a:prstGeom>
          <a:solidFill>
            <a:srgbClr val="257CE1"/>
          </a:solidFill>
          <a:ln w="12700">
            <a:solidFill>
              <a:srgbClr val="257C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6277" y="1669237"/>
            <a:ext cx="273406" cy="273406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85800" y="2286000"/>
            <a:ext cx="24231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tienda quiere registrar los nombres de sus productos en un sistema simple usando un ArrayList&lt;String&gt;.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3520440" y="1280160"/>
            <a:ext cx="5166360" cy="1307592"/>
          </a:xfrm>
          <a:prstGeom prst="roundRect">
            <a:avLst>
              <a:gd name="adj" fmla="val 6993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75888" y="1389888"/>
            <a:ext cx="256032" cy="256032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4023360" y="1371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8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Bronce · +10</a:t>
            </a:r>
            <a:endParaRPr lang="en-US" sz="1300" dirty="0"/>
          </a:p>
        </p:txBody>
      </p:sp>
      <p:sp>
        <p:nvSpPr>
          <p:cNvPr id="12" name="Text 7"/>
          <p:cNvSpPr txBox="1"/>
          <p:nvPr/>
        </p:nvSpPr>
        <p:spPr>
          <a:xfrm>
            <a:off x="3703320" y="1673352"/>
            <a:ext cx="48463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Agregar al menos 5 productos y mostrarlos todos</a:t>
            </a:r>
            <a:endParaRPr lang="en-US" sz="1250" dirty="0"/>
          </a:p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Reemplazar un producto por otro con set()</a:t>
            </a:r>
            <a:endParaRPr lang="en-US" sz="1250" dirty="0"/>
          </a:p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Eliminar un producto y mostrar el total restante</a:t>
            </a:r>
            <a:endParaRPr lang="en-US" sz="1250" dirty="0"/>
          </a:p>
        </p:txBody>
      </p:sp>
      <p:sp>
        <p:nvSpPr>
          <p:cNvPr id="13" name="Shape 8"/>
          <p:cNvSpPr/>
          <p:nvPr/>
        </p:nvSpPr>
        <p:spPr>
          <a:xfrm>
            <a:off x="3520440" y="2679192"/>
            <a:ext cx="5166360" cy="1024128"/>
          </a:xfrm>
          <a:prstGeom prst="roundRect">
            <a:avLst>
              <a:gd name="adj" fmla="val 8929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75888" y="2788920"/>
            <a:ext cx="256032" cy="256032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4023360" y="27706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B86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Plata · +20</a:t>
            </a:r>
            <a:endParaRPr lang="en-US" sz="1300" dirty="0"/>
          </a:p>
        </p:txBody>
      </p:sp>
      <p:sp>
        <p:nvSpPr>
          <p:cNvPr id="16" name="Text 10"/>
          <p:cNvSpPr txBox="1"/>
          <p:nvPr/>
        </p:nvSpPr>
        <p:spPr>
          <a:xfrm>
            <a:off x="3703320" y="3072384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eliminar, verificar con contains() y avisar si no existe</a:t>
            </a:r>
            <a:endParaRPr lang="en-US" sz="1250" dirty="0"/>
          </a:p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Mostrar la posición de un producto con indexOf()</a:t>
            </a:r>
            <a:endParaRPr lang="en-US" sz="1250" dirty="0"/>
          </a:p>
        </p:txBody>
      </p:sp>
      <p:sp>
        <p:nvSpPr>
          <p:cNvPr id="17" name="Shape 11"/>
          <p:cNvSpPr/>
          <p:nvPr/>
        </p:nvSpPr>
        <p:spPr>
          <a:xfrm>
            <a:off x="3520440" y="3794760"/>
            <a:ext cx="5166360" cy="740664"/>
          </a:xfrm>
          <a:prstGeom prst="roundRect">
            <a:avLst>
              <a:gd name="adj" fmla="val 12346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75888" y="3904488"/>
            <a:ext cx="256032" cy="256032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4023360" y="3886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98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Oro · +30</a:t>
            </a:r>
            <a:endParaRPr lang="en-US" sz="1300" dirty="0"/>
          </a:p>
        </p:txBody>
      </p:sp>
      <p:sp>
        <p:nvSpPr>
          <p:cNvPr id="20" name="Text 13"/>
          <p:cNvSpPr txBox="1"/>
          <p:nvPr/>
        </p:nvSpPr>
        <p:spPr>
          <a:xfrm>
            <a:off x="3703320" y="4187952"/>
            <a:ext cx="48463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Mostrar los productos ordenados y numerados (1. Arroz, 2. Pan…)</a:t>
            </a:r>
            <a:endParaRPr lang="en-US" sz="12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57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MISIONES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1206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A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Misión 2: La lista del curso</a:t>
            </a:r>
            <a:endParaRPr lang="en-US" sz="2800" dirty="0"/>
          </a:p>
        </p:txBody>
      </p:sp>
      <p:pic>
        <p:nvPicPr>
          <p:cNvPr id="4" name="Image 0" descr="/home/claude/build/logo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4754880"/>
            <a:ext cx="731520" cy="1828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280160"/>
            <a:ext cx="2834640" cy="3291840"/>
          </a:xfrm>
          <a:prstGeom prst="roundRect">
            <a:avLst>
              <a:gd name="adj" fmla="val 3226"/>
            </a:avLst>
          </a:prstGeom>
          <a:solidFill>
            <a:srgbClr val="0B1530"/>
          </a:solidFill>
          <a:ln w="12700">
            <a:solidFill>
              <a:srgbClr val="0B153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Shape 3"/>
          <p:cNvSpPr/>
          <p:nvPr/>
        </p:nvSpPr>
        <p:spPr>
          <a:xfrm>
            <a:off x="685800" y="1508760"/>
            <a:ext cx="594360" cy="594360"/>
          </a:xfrm>
          <a:prstGeom prst="ellipse">
            <a:avLst/>
          </a:prstGeom>
          <a:solidFill>
            <a:srgbClr val="257CE1"/>
          </a:solidFill>
          <a:ln w="12700">
            <a:solidFill>
              <a:srgbClr val="257C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6277" y="1669237"/>
            <a:ext cx="273406" cy="273406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85800" y="2286000"/>
            <a:ext cx="24231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colegio quiere registrar a sus estudiantes en una lista dinámica, ingresando los datos por consola con Scanner.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3520440" y="1280160"/>
            <a:ext cx="5166360" cy="1307592"/>
          </a:xfrm>
          <a:prstGeom prst="roundRect">
            <a:avLst>
              <a:gd name="adj" fmla="val 6993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75888" y="1389888"/>
            <a:ext cx="256032" cy="256032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4023360" y="1371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8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Bronce · +10</a:t>
            </a:r>
            <a:endParaRPr lang="en-US" sz="1300" dirty="0"/>
          </a:p>
        </p:txBody>
      </p:sp>
      <p:sp>
        <p:nvSpPr>
          <p:cNvPr id="12" name="Text 7"/>
          <p:cNvSpPr txBox="1"/>
          <p:nvPr/>
        </p:nvSpPr>
        <p:spPr>
          <a:xfrm>
            <a:off x="3703320" y="1673352"/>
            <a:ext cx="48463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Pedir cuántos estudiantes se registrarán e ingresar sus nombres</a:t>
            </a:r>
            <a:endParaRPr lang="en-US" sz="1250" dirty="0"/>
          </a:p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Mostrar la lista, eliminar un estudiante por nombre</a:t>
            </a:r>
            <a:endParaRPr lang="en-US" sz="1250" dirty="0"/>
          </a:p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Mostrar la lista final y la cantidad restante</a:t>
            </a:r>
            <a:endParaRPr lang="en-US" sz="1250" dirty="0"/>
          </a:p>
        </p:txBody>
      </p:sp>
      <p:sp>
        <p:nvSpPr>
          <p:cNvPr id="13" name="Shape 8"/>
          <p:cNvSpPr/>
          <p:nvPr/>
        </p:nvSpPr>
        <p:spPr>
          <a:xfrm>
            <a:off x="3520440" y="2679192"/>
            <a:ext cx="5166360" cy="1024128"/>
          </a:xfrm>
          <a:prstGeom prst="roundRect">
            <a:avLst>
              <a:gd name="adj" fmla="val 8929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75888" y="2788920"/>
            <a:ext cx="256032" cy="256032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4023360" y="27706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B86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Plata · +20</a:t>
            </a:r>
            <a:endParaRPr lang="en-US" sz="1300" dirty="0"/>
          </a:p>
        </p:txBody>
      </p:sp>
      <p:sp>
        <p:nvSpPr>
          <p:cNvPr id="16" name="Text 10"/>
          <p:cNvSpPr txBox="1"/>
          <p:nvPr/>
        </p:nvSpPr>
        <p:spPr>
          <a:xfrm>
            <a:off x="3703320" y="3072384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aceptar nombres vacíos ni repetidos</a:t>
            </a:r>
            <a:endParaRPr lang="en-US" sz="1250" dirty="0"/>
          </a:p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Avisar si el nombre a eliminar no existe</a:t>
            </a:r>
            <a:endParaRPr lang="en-US" sz="1250" dirty="0"/>
          </a:p>
        </p:txBody>
      </p:sp>
      <p:sp>
        <p:nvSpPr>
          <p:cNvPr id="17" name="Shape 11"/>
          <p:cNvSpPr/>
          <p:nvPr/>
        </p:nvSpPr>
        <p:spPr>
          <a:xfrm>
            <a:off x="3520440" y="3794760"/>
            <a:ext cx="5166360" cy="740664"/>
          </a:xfrm>
          <a:prstGeom prst="roundRect">
            <a:avLst>
              <a:gd name="adj" fmla="val 12346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75888" y="3904488"/>
            <a:ext cx="256032" cy="256032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4023360" y="3886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98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Oro · +30</a:t>
            </a:r>
            <a:endParaRPr lang="en-US" sz="1300" dirty="0"/>
          </a:p>
        </p:txBody>
      </p:sp>
      <p:sp>
        <p:nvSpPr>
          <p:cNvPr id="20" name="Text 13"/>
          <p:cNvSpPr txBox="1"/>
          <p:nvPr/>
        </p:nvSpPr>
        <p:spPr>
          <a:xfrm>
            <a:off x="3703320" y="4187952"/>
            <a:ext cx="48463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Menú con do-while + switch: 1 Agregar, 2 Eliminar, 3 Buscar, 4 Salir</a:t>
            </a:r>
            <a:endParaRPr lang="en-US" sz="12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57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JEFE FINAL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1206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A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Misión 3: El héroe y su mochila</a:t>
            </a:r>
            <a:endParaRPr lang="en-US" sz="2800" dirty="0"/>
          </a:p>
        </p:txBody>
      </p:sp>
      <p:pic>
        <p:nvPicPr>
          <p:cNvPr id="4" name="Image 0" descr="/home/claude/build/logo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4754880"/>
            <a:ext cx="731520" cy="1828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234440"/>
            <a:ext cx="4846320" cy="2971800"/>
          </a:xfrm>
          <a:prstGeom prst="roundRect">
            <a:avLst>
              <a:gd name="adj" fmla="val 2462"/>
            </a:avLst>
          </a:prstGeom>
          <a:solidFill>
            <a:srgbClr val="1B2033"/>
          </a:solidFill>
          <a:ln w="12700">
            <a:solidFill>
              <a:srgbClr val="1B2033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6" name="Shape 3"/>
          <p:cNvSpPr/>
          <p:nvPr/>
        </p:nvSpPr>
        <p:spPr>
          <a:xfrm>
            <a:off x="594360" y="1344168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Shape 4"/>
          <p:cNvSpPr/>
          <p:nvPr/>
        </p:nvSpPr>
        <p:spPr>
          <a:xfrm>
            <a:off x="749808" y="1344168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Shape 5"/>
          <p:cNvSpPr/>
          <p:nvPr/>
        </p:nvSpPr>
        <p:spPr>
          <a:xfrm>
            <a:off x="905256" y="1344168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Text 6"/>
          <p:cNvSpPr txBox="1"/>
          <p:nvPr/>
        </p:nvSpPr>
        <p:spPr>
          <a:xfrm>
            <a:off x="1097280" y="1289304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390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Heroe.java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621792" y="1563624"/>
            <a:ext cx="4572000" cy="2551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88"/>
              </a:lnSpc>
              <a:buNone/>
            </a:pPr>
            <a:r>
              <a:rPr lang="en-US" sz="850" dirty="0">
                <a:solidFill>
                  <a:srgbClr val="C79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r>
              <a:rPr lang="en-US" sz="8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java.util.</a:t>
            </a:r>
            <a:r>
              <a:rPr lang="en-US" sz="850" dirty="0">
                <a:solidFill>
                  <a:srgbClr val="7F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ArrayList</a:t>
            </a:r>
            <a:r>
              <a:rPr lang="en-US" sz="8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850" dirty="0"/>
          </a:p>
          <a:p>
            <a:pPr marL="0" indent="0">
              <a:lnSpc>
                <a:spcPts val="1088"/>
              </a:lnSpc>
              <a:buNone/>
            </a:pPr>
            <a:r>
              <a:rPr lang="en-US" sz="8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  <a:p>
            <a:pPr marL="0" indent="0">
              <a:lnSpc>
                <a:spcPts val="1088"/>
              </a:lnSpc>
              <a:buNone/>
            </a:pPr>
            <a:r>
              <a:rPr lang="en-US" sz="850" dirty="0">
                <a:solidFill>
                  <a:srgbClr val="C79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8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C79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8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7F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Heroe</a:t>
            </a:r>
            <a:r>
              <a:rPr lang="en-US" sz="8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850" dirty="0"/>
          </a:p>
          <a:p>
            <a:pPr marL="0" indent="0">
              <a:lnSpc>
                <a:spcPts val="1088"/>
              </a:lnSpc>
              <a:buNone/>
            </a:pPr>
            <a:r>
              <a:rPr lang="en-US" sz="8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850" dirty="0">
                <a:solidFill>
                  <a:srgbClr val="C79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r>
              <a:rPr lang="en-US" sz="8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7F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r>
              <a:rPr lang="en-US" sz="8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nombre;</a:t>
            </a:r>
            <a:endParaRPr lang="en-US" sz="850" dirty="0"/>
          </a:p>
          <a:p>
            <a:pPr marL="0" indent="0">
              <a:lnSpc>
                <a:spcPts val="1088"/>
              </a:lnSpc>
              <a:buNone/>
            </a:pPr>
            <a:r>
              <a:rPr lang="en-US" sz="8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850" dirty="0">
                <a:solidFill>
                  <a:srgbClr val="C79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r>
              <a:rPr lang="en-US" sz="8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C79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8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vida = </a:t>
            </a:r>
            <a:r>
              <a:rPr lang="en-US" sz="850" dirty="0">
                <a:solidFill>
                  <a:srgbClr val="FF9E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</a:t>
            </a:r>
            <a:r>
              <a:rPr lang="en-US" sz="8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                </a:t>
            </a:r>
            <a:r>
              <a:rPr lang="en-US" sz="850" i="1" dirty="0">
                <a:solidFill>
                  <a:srgbClr val="8390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entre 0 y 100</a:t>
            </a:r>
            <a:endParaRPr lang="en-US" sz="850" dirty="0"/>
          </a:p>
          <a:p>
            <a:pPr marL="0" indent="0">
              <a:lnSpc>
                <a:spcPts val="1088"/>
              </a:lnSpc>
              <a:buNone/>
            </a:pPr>
            <a:r>
              <a:rPr lang="en-US" sz="8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850" dirty="0">
                <a:solidFill>
                  <a:srgbClr val="C79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r>
              <a:rPr lang="en-US" sz="8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7F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ArrayList</a:t>
            </a:r>
            <a:r>
              <a:rPr lang="en-US" sz="8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850" dirty="0">
                <a:solidFill>
                  <a:srgbClr val="7F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r>
              <a:rPr lang="en-US" sz="8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mochila = </a:t>
            </a:r>
            <a:r>
              <a:rPr lang="en-US" sz="850" dirty="0">
                <a:solidFill>
                  <a:srgbClr val="C79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8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7F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ArrayList</a:t>
            </a:r>
            <a:r>
              <a:rPr lang="en-US" sz="8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&lt;&gt;();</a:t>
            </a:r>
            <a:endParaRPr lang="en-US" sz="850" dirty="0"/>
          </a:p>
          <a:p>
            <a:pPr marL="0" indent="0">
              <a:lnSpc>
                <a:spcPts val="1088"/>
              </a:lnSpc>
              <a:buNone/>
            </a:pPr>
            <a:r>
              <a:rPr lang="en-US" sz="8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  <a:p>
            <a:pPr marL="0" indent="0">
              <a:lnSpc>
                <a:spcPts val="1088"/>
              </a:lnSpc>
              <a:buNone/>
            </a:pPr>
            <a:r>
              <a:rPr lang="en-US" sz="8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850" dirty="0">
                <a:solidFill>
                  <a:srgbClr val="C79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8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7F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Heroe</a:t>
            </a:r>
            <a:r>
              <a:rPr lang="en-US" sz="8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850" dirty="0">
                <a:solidFill>
                  <a:srgbClr val="7F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r>
              <a:rPr lang="en-US" sz="8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nombre) { </a:t>
            </a:r>
            <a:r>
              <a:rPr lang="en-US" sz="850" dirty="0">
                <a:solidFill>
                  <a:srgbClr val="C79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</a:t>
            </a:r>
            <a:r>
              <a:rPr lang="en-US" sz="8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.nombre = nombre; }</a:t>
            </a:r>
            <a:endParaRPr lang="en-US" sz="850" dirty="0"/>
          </a:p>
          <a:p>
            <a:pPr marL="0" indent="0">
              <a:lnSpc>
                <a:spcPts val="1088"/>
              </a:lnSpc>
              <a:buNone/>
            </a:pPr>
            <a:r>
              <a:rPr lang="en-US" sz="8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  <a:p>
            <a:pPr marL="0" indent="0">
              <a:lnSpc>
                <a:spcPts val="1088"/>
              </a:lnSpc>
              <a:buNone/>
            </a:pPr>
            <a:r>
              <a:rPr lang="en-US" sz="8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850" dirty="0">
                <a:solidFill>
                  <a:srgbClr val="C79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8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C79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8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getVida() { </a:t>
            </a:r>
            <a:r>
              <a:rPr lang="en-US" sz="850" dirty="0">
                <a:solidFill>
                  <a:srgbClr val="C79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8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vida; }</a:t>
            </a:r>
            <a:endParaRPr lang="en-US" sz="850" dirty="0"/>
          </a:p>
          <a:p>
            <a:pPr marL="0" indent="0">
              <a:lnSpc>
                <a:spcPts val="1088"/>
              </a:lnSpc>
              <a:buNone/>
            </a:pPr>
            <a:r>
              <a:rPr lang="en-US" sz="8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850" dirty="0">
                <a:solidFill>
                  <a:srgbClr val="C79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8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C79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r>
              <a:rPr lang="en-US" sz="8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recibirDanio(</a:t>
            </a:r>
            <a:r>
              <a:rPr lang="en-US" sz="850" dirty="0">
                <a:solidFill>
                  <a:srgbClr val="C79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8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d) { </a:t>
            </a:r>
            <a:r>
              <a:rPr lang="en-US" sz="850" i="1" dirty="0">
                <a:solidFill>
                  <a:srgbClr val="8390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vida nunca &lt; 0 */</a:t>
            </a:r>
            <a:r>
              <a:rPr lang="en-US" sz="8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</a:t>
            </a:r>
            <a:endParaRPr lang="en-US" sz="850" dirty="0"/>
          </a:p>
          <a:p>
            <a:pPr marL="0" indent="0">
              <a:lnSpc>
                <a:spcPts val="1088"/>
              </a:lnSpc>
              <a:buNone/>
            </a:pPr>
            <a:r>
              <a:rPr lang="en-US" sz="8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850" dirty="0">
                <a:solidFill>
                  <a:srgbClr val="C79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8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C79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r>
              <a:rPr lang="en-US" sz="8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curar(</a:t>
            </a:r>
            <a:r>
              <a:rPr lang="en-US" sz="850" dirty="0">
                <a:solidFill>
                  <a:srgbClr val="C79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8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c)        { </a:t>
            </a:r>
            <a:r>
              <a:rPr lang="en-US" sz="850" i="1" dirty="0">
                <a:solidFill>
                  <a:srgbClr val="8390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vida nunca &gt; 100 */</a:t>
            </a:r>
            <a:r>
              <a:rPr lang="en-US" sz="8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</a:t>
            </a:r>
            <a:endParaRPr lang="en-US" sz="850" dirty="0"/>
          </a:p>
          <a:p>
            <a:pPr marL="0" indent="0">
              <a:lnSpc>
                <a:spcPts val="1088"/>
              </a:lnSpc>
              <a:buNone/>
            </a:pPr>
            <a:r>
              <a:rPr lang="en-US" sz="8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850" dirty="0">
                <a:solidFill>
                  <a:srgbClr val="C79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8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C79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boolean</a:t>
            </a:r>
            <a:r>
              <a:rPr lang="en-US" sz="8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agregarItem(</a:t>
            </a:r>
            <a:r>
              <a:rPr lang="en-US" sz="850" dirty="0">
                <a:solidFill>
                  <a:srgbClr val="7F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r>
              <a:rPr lang="en-US" sz="8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item) { </a:t>
            </a:r>
            <a:r>
              <a:rPr lang="en-US" sz="850" i="1" dirty="0">
                <a:solidFill>
                  <a:srgbClr val="8390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máx. 5 */</a:t>
            </a:r>
            <a:r>
              <a:rPr lang="en-US" sz="8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</a:t>
            </a:r>
            <a:endParaRPr lang="en-US" sz="850" dirty="0"/>
          </a:p>
          <a:p>
            <a:pPr marL="0" indent="0">
              <a:lnSpc>
                <a:spcPts val="1088"/>
              </a:lnSpc>
              <a:buNone/>
            </a:pPr>
            <a:r>
              <a:rPr lang="en-US" sz="8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850" dirty="0">
                <a:solidFill>
                  <a:srgbClr val="C79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8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C79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r>
              <a:rPr lang="en-US" sz="8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usarItem(</a:t>
            </a:r>
            <a:r>
              <a:rPr lang="en-US" sz="850" dirty="0">
                <a:solidFill>
                  <a:srgbClr val="7F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r>
              <a:rPr lang="en-US" sz="8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item) { </a:t>
            </a:r>
            <a:r>
              <a:rPr lang="en-US" sz="850" i="1" dirty="0">
                <a:solidFill>
                  <a:srgbClr val="8390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"poción" cura 30 */</a:t>
            </a:r>
            <a:r>
              <a:rPr lang="en-US" sz="8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</a:t>
            </a:r>
            <a:endParaRPr lang="en-US" sz="850" dirty="0"/>
          </a:p>
          <a:p>
            <a:pPr marL="0" indent="0">
              <a:lnSpc>
                <a:spcPts val="1088"/>
              </a:lnSpc>
              <a:buNone/>
            </a:pPr>
            <a:r>
              <a:rPr lang="en-US" sz="8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850" dirty="0">
                <a:solidFill>
                  <a:srgbClr val="C79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8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C79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r>
              <a:rPr lang="en-US" sz="8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mostrarEstado() { </a:t>
            </a:r>
            <a:r>
              <a:rPr lang="en-US" sz="850" i="1" dirty="0">
                <a:solidFill>
                  <a:srgbClr val="8390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nombre, vida, mochila */</a:t>
            </a:r>
            <a:r>
              <a:rPr lang="en-US" sz="8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</a:t>
            </a:r>
            <a:endParaRPr lang="en-US" sz="850" dirty="0"/>
          </a:p>
          <a:p>
            <a:pPr marL="0" indent="0">
              <a:lnSpc>
                <a:spcPts val="1088"/>
              </a:lnSpc>
              <a:buNone/>
            </a:pPr>
            <a:r>
              <a:rPr lang="en-US" sz="8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4315968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 lo de hoy: encapsulamiento + ArrayList. Completa los métodos y simula una batalla en el main.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532120" y="1234440"/>
            <a:ext cx="3154680" cy="3474720"/>
          </a:xfrm>
          <a:prstGeom prst="roundRect">
            <a:avLst>
              <a:gd name="adj" fmla="val 2899"/>
            </a:avLst>
          </a:prstGeom>
          <a:solidFill>
            <a:srgbClr val="0B1530"/>
          </a:solidFill>
          <a:ln w="12700">
            <a:solidFill>
              <a:srgbClr val="0B153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0" y="1417320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6309360" y="14630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Reglas del jefe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5760720" y="2011680"/>
            <a:ext cx="27432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E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vida nunca baja de 0 ni supera 100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E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mochila guarda máximo 5 ítems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E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usarItem() quita el ítem de la mochila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E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vida 0, el héroe no puede curarse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E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existe setVida(): solo se cambia con recibirDanio() y curar()</a:t>
            </a:r>
            <a:endParaRPr lang="en-US" sz="115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0720" y="4224528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126480" y="42245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C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Jefe derrotado: +40 pts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B15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C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te llevas hoy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48640" cy="548640"/>
          </a:xfrm>
          <a:prstGeom prst="ellipse">
            <a:avLst/>
          </a:prstGeom>
          <a:solidFill>
            <a:srgbClr val="257CE1"/>
          </a:solidFill>
          <a:ln w="12700">
            <a:solidFill>
              <a:srgbClr val="257C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333" y="1519733"/>
            <a:ext cx="252374" cy="25237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88720" y="137160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Atributos private + métodos public = datos protegidos y validados.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57200" y="2331720"/>
            <a:ext cx="548640" cy="548640"/>
          </a:xfrm>
          <a:prstGeom prst="ellipse">
            <a:avLst/>
          </a:prstGeom>
          <a:solidFill>
            <a:srgbClr val="257CE1"/>
          </a:solidFill>
          <a:ln w="12700">
            <a:solidFill>
              <a:srgbClr val="257C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333" y="2479853"/>
            <a:ext cx="252374" cy="25237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188720" y="233172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ArrayList crece sola: add, get, set, remove y size() son tu base.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457200" y="3291840"/>
            <a:ext cx="548640" cy="548640"/>
          </a:xfrm>
          <a:prstGeom prst="ellipse">
            <a:avLst/>
          </a:prstGeom>
          <a:solidFill>
            <a:srgbClr val="257CE1"/>
          </a:solidFill>
          <a:ln w="12700">
            <a:solidFill>
              <a:srgbClr val="257C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5333" y="3439973"/>
            <a:ext cx="252374" cy="25237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188720" y="329184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Índices de 0 a size() - 1; al insertar o eliminar, todo se desplaza.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5120640" y="1280160"/>
            <a:ext cx="3566160" cy="2926080"/>
          </a:xfrm>
          <a:prstGeom prst="roundRect">
            <a:avLst>
              <a:gd name="adj" fmla="val 3125"/>
            </a:avLst>
          </a:prstGeom>
          <a:solidFill>
            <a:srgbClr val="16223F"/>
          </a:solidFill>
          <a:ln w="12700">
            <a:solidFill>
              <a:srgbClr val="16223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49240" y="1481328"/>
            <a:ext cx="384048" cy="384048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5852160" y="148132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Ticket de salida</a:t>
            </a:r>
            <a:endParaRPr lang="en-US" sz="1600" dirty="0"/>
          </a:p>
        </p:txBody>
      </p:sp>
      <p:sp>
        <p:nvSpPr>
          <p:cNvPr id="16" name="Text 10"/>
          <p:cNvSpPr txBox="1"/>
          <p:nvPr/>
        </p:nvSpPr>
        <p:spPr>
          <a:xfrm>
            <a:off x="5349240" y="205740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FC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7" name="Text 11"/>
          <p:cNvSpPr txBox="1"/>
          <p:nvPr/>
        </p:nvSpPr>
        <p:spPr>
          <a:xfrm>
            <a:off x="5715000" y="2057400"/>
            <a:ext cx="2788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E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un atributo debería ser private?</a:t>
            </a:r>
            <a:endParaRPr lang="en-US" sz="1250" dirty="0"/>
          </a:p>
        </p:txBody>
      </p:sp>
      <p:sp>
        <p:nvSpPr>
          <p:cNvPr id="18" name="Text 12"/>
          <p:cNvSpPr txBox="1"/>
          <p:nvPr/>
        </p:nvSpPr>
        <p:spPr>
          <a:xfrm>
            <a:off x="5349240" y="274320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FC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9" name="Text 13"/>
          <p:cNvSpPr txBox="1"/>
          <p:nvPr/>
        </p:nvSpPr>
        <p:spPr>
          <a:xfrm>
            <a:off x="5715000" y="2743200"/>
            <a:ext cx="2788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E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diferencia hay entre remove(1) y remove("1")?</a:t>
            </a:r>
            <a:endParaRPr lang="en-US" sz="1250" dirty="0"/>
          </a:p>
        </p:txBody>
      </p:sp>
      <p:sp>
        <p:nvSpPr>
          <p:cNvPr id="20" name="Text 14"/>
          <p:cNvSpPr txBox="1"/>
          <p:nvPr/>
        </p:nvSpPr>
        <p:spPr>
          <a:xfrm>
            <a:off x="5349240" y="342900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FC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5"/>
          <p:cNvSpPr txBox="1"/>
          <p:nvPr/>
        </p:nvSpPr>
        <p:spPr>
          <a:xfrm>
            <a:off x="5715000" y="3429000"/>
            <a:ext cx="2788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E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duda que te llevas para la próxima clase.</a:t>
            </a:r>
            <a:endParaRPr lang="en-US" sz="1250" dirty="0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20640" y="4389120"/>
            <a:ext cx="274320" cy="274320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5486400" y="43891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C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Anuncio del equipo ganador del día</a:t>
            </a:r>
            <a:endParaRPr lang="en-US" sz="1200" dirty="0"/>
          </a:p>
        </p:txBody>
      </p:sp>
      <p:pic>
        <p:nvPicPr>
          <p:cNvPr id="24" name="Image 5" descr="/home/claude/build/logo_ligh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200" y="4617720"/>
            <a:ext cx="822960" cy="2057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</TotalTime>
  <Words>3485</Words>
  <Application>Microsoft Office PowerPoint</Application>
  <PresentationFormat>Presentación en pantalla (16:9)</PresentationFormat>
  <Paragraphs>567</Paragraphs>
  <Slides>27</Slides>
  <Notes>27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27</vt:i4>
      </vt:variant>
    </vt:vector>
  </HeadingPairs>
  <TitlesOfParts>
    <vt:vector size="31" baseType="lpstr">
      <vt:lpstr>Arial</vt:lpstr>
      <vt:lpstr>Calibri</vt:lpstr>
      <vt:lpstr>Courier New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Fundamentos de Java – Clase 4</dc:title>
  <dc:subject>PptxGenJS Presentation</dc:subject>
  <dc:creator>PptxGenJS</dc:creator>
  <cp:lastModifiedBy>IGNACIO ANDRES MELLA CORDERO</cp:lastModifiedBy>
  <cp:revision>2</cp:revision>
  <dcterms:created xsi:type="dcterms:W3CDTF">2026-09-29T23:25:16Z</dcterms:created>
  <dcterms:modified xsi:type="dcterms:W3CDTF">2026-09-30T18:46:13Z</dcterms:modified>
</cp:coreProperties>
</file>